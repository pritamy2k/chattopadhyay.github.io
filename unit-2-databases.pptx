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xls" ContentType="application/vnd.ms-excel"/>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60"/>
  </p:notesMasterIdLst>
  <p:sldIdLst>
    <p:sldId id="256" r:id="rId2"/>
    <p:sldId id="273" r:id="rId3"/>
    <p:sldId id="274" r:id="rId4"/>
    <p:sldId id="415" r:id="rId5"/>
    <p:sldId id="413" r:id="rId6"/>
    <p:sldId id="278" r:id="rId7"/>
    <p:sldId id="279" r:id="rId8"/>
    <p:sldId id="277" r:id="rId9"/>
    <p:sldId id="416" r:id="rId10"/>
    <p:sldId id="443" r:id="rId11"/>
    <p:sldId id="281" r:id="rId12"/>
    <p:sldId id="418" r:id="rId13"/>
    <p:sldId id="261" r:id="rId14"/>
    <p:sldId id="262" r:id="rId15"/>
    <p:sldId id="275" r:id="rId16"/>
    <p:sldId id="414" r:id="rId17"/>
    <p:sldId id="436" r:id="rId18"/>
    <p:sldId id="430" r:id="rId19"/>
    <p:sldId id="276" r:id="rId20"/>
    <p:sldId id="419" r:id="rId21"/>
    <p:sldId id="417" r:id="rId22"/>
    <p:sldId id="445" r:id="rId23"/>
    <p:sldId id="420" r:id="rId24"/>
    <p:sldId id="421" r:id="rId25"/>
    <p:sldId id="444" r:id="rId26"/>
    <p:sldId id="422" r:id="rId27"/>
    <p:sldId id="423" r:id="rId28"/>
    <p:sldId id="424" r:id="rId29"/>
    <p:sldId id="425" r:id="rId30"/>
    <p:sldId id="426" r:id="rId31"/>
    <p:sldId id="427" r:id="rId32"/>
    <p:sldId id="428" r:id="rId33"/>
    <p:sldId id="429" r:id="rId34"/>
    <p:sldId id="283" r:id="rId35"/>
    <p:sldId id="300" r:id="rId36"/>
    <p:sldId id="284" r:id="rId37"/>
    <p:sldId id="434" r:id="rId38"/>
    <p:sldId id="304" r:id="rId39"/>
    <p:sldId id="310" r:id="rId40"/>
    <p:sldId id="311" r:id="rId41"/>
    <p:sldId id="432" r:id="rId42"/>
    <p:sldId id="312" r:id="rId43"/>
    <p:sldId id="313" r:id="rId44"/>
    <p:sldId id="431" r:id="rId45"/>
    <p:sldId id="440" r:id="rId46"/>
    <p:sldId id="437" r:id="rId47"/>
    <p:sldId id="438" r:id="rId48"/>
    <p:sldId id="439" r:id="rId49"/>
    <p:sldId id="446" r:id="rId50"/>
    <p:sldId id="447" r:id="rId51"/>
    <p:sldId id="441" r:id="rId52"/>
    <p:sldId id="442" r:id="rId53"/>
    <p:sldId id="451" r:id="rId54"/>
    <p:sldId id="452" r:id="rId55"/>
    <p:sldId id="453" r:id="rId56"/>
    <p:sldId id="454" r:id="rId57"/>
    <p:sldId id="450" r:id="rId58"/>
    <p:sldId id="299" r:id="rId59"/>
  </p:sldIdLst>
  <p:sldSz cx="10287000" cy="6858000" type="35mm"/>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50" d="100"/>
          <a:sy n="50" d="100"/>
        </p:scale>
        <p:origin x="-1544" y="-476"/>
      </p:cViewPr>
      <p:guideLst>
        <p:guide orient="horz" pos="2160"/>
        <p:guide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9BF85-77C1-41AE-9F39-6050061EDF6A}" type="datetimeFigureOut">
              <a:rPr lang="en-US" smtClean="0"/>
              <a:t>12/24/2021</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76B26-3396-4668-8E95-206BD960031C}" type="slidenum">
              <a:rPr lang="en-US" smtClean="0"/>
              <a:t>‹#›</a:t>
            </a:fld>
            <a:endParaRPr lang="en-US"/>
          </a:p>
        </p:txBody>
      </p:sp>
    </p:spTree>
    <p:extLst>
      <p:ext uri="{BB962C8B-B14F-4D97-AF65-F5344CB8AC3E}">
        <p14:creationId xmlns:p14="http://schemas.microsoft.com/office/powerpoint/2010/main" val="2202817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FD507E-DBDA-45E2-AC87-F79F57D9A6BF}" type="slidenum">
              <a:rPr lang="en-US"/>
              <a:pPr/>
              <a:t>17</a:t>
            </a:fld>
            <a:endParaRPr lang="en-US"/>
          </a:p>
        </p:txBody>
      </p:sp>
      <p:sp>
        <p:nvSpPr>
          <p:cNvPr id="288770" name="Rectangle 2"/>
          <p:cNvSpPr>
            <a:spLocks noGrp="1" noRot="1" noChangeAspect="1" noChangeArrowheads="1" noTextEdit="1"/>
          </p:cNvSpPr>
          <p:nvPr>
            <p:ph type="sldImg"/>
          </p:nvPr>
        </p:nvSpPr>
        <p:spPr bwMode="auto">
          <a:xfrm>
            <a:off x="858838" y="685800"/>
            <a:ext cx="5141912" cy="3429000"/>
          </a:xfrm>
          <a:prstGeom prst="rect">
            <a:avLst/>
          </a:prstGeom>
          <a:solidFill>
            <a:srgbClr val="FFFFFF"/>
          </a:solidFill>
          <a:ln>
            <a:solidFill>
              <a:srgbClr val="000000"/>
            </a:solidFill>
            <a:miter lim="800000"/>
            <a:headEnd/>
            <a:tailEnd/>
          </a:ln>
        </p:spPr>
      </p:sp>
      <p:sp>
        <p:nvSpPr>
          <p:cNvPr id="2887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dirty="0"/>
              <a:t>The 1960s marked the beginning of bioinformatics. Prior to the advent of high-level computer languages in 1957, programmers needed a detailed knowledge of a computer’s design and were forced to use languages that were unintuitive to humans. High-level computer languages allowed computer scientists to spend more time designing complex algorithms and less time worrying about the technical details of the particular computer model they were using. By the 1960s, mainframe computers like the one pictured in the slide were becoming common at universities and research institutions, giving academics unprecedented access to computers. (As useful as these computers were, they filled entire rooms and had processing power far below that of consumer-grade personal computers today!) Margaret Oakley </a:t>
            </a:r>
            <a:r>
              <a:rPr lang="en-US" dirty="0" err="1"/>
              <a:t>Dayhoff</a:t>
            </a:r>
            <a:r>
              <a:rPr lang="en-US" dirty="0"/>
              <a:t> and colleagues took advantage of these developments and the accumulation of protein sequence data to create some of the first bioinformatics applications. For example, </a:t>
            </a:r>
            <a:r>
              <a:rPr lang="en-US" dirty="0" err="1"/>
              <a:t>Dayhoff</a:t>
            </a:r>
            <a:r>
              <a:rPr lang="en-US" dirty="0"/>
              <a:t> wrote the first computer program to automate sequence assembly, enabling a task that previously took human workers months to be accomplished in minutes. She and her colleagues also published (in paper form) the first protein sequence database and performed many groundbreaking studies regarding phylogeny and scoring sequence comparisons. For these reasons, she is considered one of the great pioneers of computational biology and bioinformatics.</a:t>
            </a:r>
            <a:endParaRPr lang="en-US" sz="1300" dirty="0">
              <a:solidFill>
                <a:srgbClr val="008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C6C723-AB57-464D-B092-32DBD4BADAA9}" type="slidenum">
              <a:rPr lang="en-US"/>
              <a:pPr/>
              <a:t>46</a:t>
            </a:fld>
            <a:endParaRPr lang="en-US"/>
          </a:p>
        </p:txBody>
      </p:sp>
      <p:sp>
        <p:nvSpPr>
          <p:cNvPr id="295938" name="Rectangle 2"/>
          <p:cNvSpPr>
            <a:spLocks noGrp="1" noRot="1" noChangeAspect="1" noChangeArrowheads="1" noTextEdit="1"/>
          </p:cNvSpPr>
          <p:nvPr>
            <p:ph type="sldImg"/>
          </p:nvPr>
        </p:nvSpPr>
        <p:spPr>
          <a:ln/>
        </p:spPr>
      </p:sp>
      <p:sp>
        <p:nvSpPr>
          <p:cNvPr id="295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E45399-9877-44B2-A45D-CEE108FE337E}" type="slidenum">
              <a:rPr lang="en-US"/>
              <a:pPr/>
              <a:t>47</a:t>
            </a:fld>
            <a:endParaRPr lang="en-US"/>
          </a:p>
        </p:txBody>
      </p:sp>
      <p:sp>
        <p:nvSpPr>
          <p:cNvPr id="177154" name="Rectangle 2"/>
          <p:cNvSpPr>
            <a:spLocks noGrp="1" noRot="1" noChangeAspect="1" noChangeArrowheads="1"/>
          </p:cNvSpPr>
          <p:nvPr>
            <p:ph type="sldImg"/>
          </p:nvPr>
        </p:nvSpPr>
        <p:spPr bwMode="auto">
          <a:xfrm>
            <a:off x="858838" y="685800"/>
            <a:ext cx="5141912" cy="3429000"/>
          </a:xfrm>
          <a:prstGeom prst="rect">
            <a:avLst/>
          </a:prstGeom>
          <a:solidFill>
            <a:srgbClr val="FFFFFF"/>
          </a:solidFill>
          <a:ln>
            <a:solidFill>
              <a:srgbClr val="000000"/>
            </a:solidFill>
            <a:miter lim="800000"/>
            <a:headEnd/>
            <a:tailEnd/>
          </a:ln>
        </p:spPr>
      </p:sp>
      <p:sp>
        <p:nvSpPr>
          <p:cNvPr id="17715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37E1E4-4D00-46CA-89E6-D3D992B8DF48}" type="slidenum">
              <a:rPr lang="en-US"/>
              <a:pPr/>
              <a:t>48</a:t>
            </a:fld>
            <a:endParaRPr lang="en-US"/>
          </a:p>
        </p:txBody>
      </p:sp>
      <p:sp>
        <p:nvSpPr>
          <p:cNvPr id="296962" name="Rectangle 2"/>
          <p:cNvSpPr>
            <a:spLocks noGrp="1" noRot="1" noChangeAspect="1" noChangeArrowheads="1" noTextEdit="1"/>
          </p:cNvSpPr>
          <p:nvPr>
            <p:ph type="sldImg"/>
          </p:nvPr>
        </p:nvSpPr>
        <p:spPr>
          <a:ln/>
        </p:spPr>
      </p:sp>
      <p:sp>
        <p:nvSpPr>
          <p:cNvPr id="2969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FCF376-D1B9-4734-A859-259063C187D0}" type="slidenum">
              <a:rPr lang="en-US"/>
              <a:pPr/>
              <a:t>51</a:t>
            </a:fld>
            <a:endParaRPr lang="en-US"/>
          </a:p>
        </p:txBody>
      </p:sp>
      <p:sp>
        <p:nvSpPr>
          <p:cNvPr id="140290" name="Rectangle 2"/>
          <p:cNvSpPr>
            <a:spLocks noGrp="1" noRot="1" noChangeAspect="1" noChangeArrowheads="1"/>
          </p:cNvSpPr>
          <p:nvPr>
            <p:ph type="sldImg"/>
          </p:nvPr>
        </p:nvSpPr>
        <p:spPr bwMode="auto">
          <a:xfrm>
            <a:off x="858838" y="685800"/>
            <a:ext cx="5141912" cy="3429000"/>
          </a:xfrm>
          <a:prstGeom prst="rect">
            <a:avLst/>
          </a:prstGeom>
          <a:solidFill>
            <a:srgbClr val="FFFFFF"/>
          </a:solidFill>
          <a:ln>
            <a:solidFill>
              <a:srgbClr val="000000"/>
            </a:solidFill>
            <a:miter lim="800000"/>
            <a:headEnd/>
            <a:tailEnd/>
          </a:ln>
        </p:spPr>
      </p:sp>
      <p:sp>
        <p:nvSpPr>
          <p:cNvPr id="1402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28C2BE-8BB0-4A36-83E8-F64A7A820EB3}" type="slidenum">
              <a:rPr lang="en-US"/>
              <a:pPr/>
              <a:t>52</a:t>
            </a:fld>
            <a:endParaRPr lang="en-US"/>
          </a:p>
        </p:txBody>
      </p:sp>
      <p:sp>
        <p:nvSpPr>
          <p:cNvPr id="190466" name="Rectangle 2"/>
          <p:cNvSpPr>
            <a:spLocks noGrp="1" noRot="1" noChangeAspect="1" noChangeArrowheads="1" noTextEdit="1"/>
          </p:cNvSpPr>
          <p:nvPr>
            <p:ph type="sldImg"/>
          </p:nvPr>
        </p:nvSpPr>
        <p:spPr>
          <a:ln/>
        </p:spPr>
      </p:sp>
      <p:sp>
        <p:nvSpPr>
          <p:cNvPr id="190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3177D0-A644-4E1C-B881-20E1A77EF2A1}" type="slidenum">
              <a:rPr lang="en-US"/>
              <a:pPr/>
              <a:t>53</a:t>
            </a:fld>
            <a:endParaRPr lang="en-US"/>
          </a:p>
        </p:txBody>
      </p:sp>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EFB541-93E7-458D-ACC7-C847C6F1A5E0}" type="slidenum">
              <a:rPr lang="en-US"/>
              <a:pPr/>
              <a:t>54</a:t>
            </a:fld>
            <a:endParaRPr lang="en-US"/>
          </a:p>
        </p:txBody>
      </p:sp>
      <p:sp>
        <p:nvSpPr>
          <p:cNvPr id="129026" name="Rectangle 2"/>
          <p:cNvSpPr>
            <a:spLocks noGrp="1" noRot="1" noChangeAspect="1" noChangeArrowheads="1"/>
          </p:cNvSpPr>
          <p:nvPr>
            <p:ph type="sldImg"/>
          </p:nvPr>
        </p:nvSpPr>
        <p:spPr bwMode="auto">
          <a:xfrm>
            <a:off x="858838" y="685800"/>
            <a:ext cx="5141912" cy="3429000"/>
          </a:xfrm>
          <a:prstGeom prst="rect">
            <a:avLst/>
          </a:prstGeom>
          <a:solidFill>
            <a:srgbClr val="FFFFFF"/>
          </a:solidFill>
          <a:ln>
            <a:solidFill>
              <a:srgbClr val="000000"/>
            </a:solidFill>
            <a:miter lim="800000"/>
            <a:headEnd/>
            <a:tailEnd/>
          </a:ln>
        </p:spPr>
      </p:sp>
      <p:sp>
        <p:nvSpPr>
          <p:cNvPr id="1290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10D31A-505E-4BF7-A3B4-45B2D5A17BF1}" type="slidenum">
              <a:rPr lang="en-US"/>
              <a:pPr/>
              <a:t>55</a:t>
            </a:fld>
            <a:endParaRPr lang="en-US"/>
          </a:p>
        </p:txBody>
      </p:sp>
      <p:sp>
        <p:nvSpPr>
          <p:cNvPr id="131074" name="Rectangle 2"/>
          <p:cNvSpPr>
            <a:spLocks noGrp="1" noRot="1" noChangeAspect="1" noChangeArrowheads="1"/>
          </p:cNvSpPr>
          <p:nvPr>
            <p:ph type="sldImg"/>
          </p:nvPr>
        </p:nvSpPr>
        <p:spPr bwMode="auto">
          <a:xfrm>
            <a:off x="858838" y="685800"/>
            <a:ext cx="5141912" cy="3429000"/>
          </a:xfrm>
          <a:prstGeom prst="rect">
            <a:avLst/>
          </a:prstGeom>
          <a:solidFill>
            <a:srgbClr val="FFFFFF"/>
          </a:solidFill>
          <a:ln>
            <a:solidFill>
              <a:srgbClr val="000000"/>
            </a:solidFill>
            <a:miter lim="800000"/>
            <a:headEnd/>
            <a:tailEnd/>
          </a:ln>
        </p:spPr>
      </p:sp>
      <p:sp>
        <p:nvSpPr>
          <p:cNvPr id="1310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4F26A-0CE0-4961-90AE-02A8F29753C0}" type="slidenum">
              <a:rPr lang="en-US"/>
              <a:pPr/>
              <a:t>56</a:t>
            </a:fld>
            <a:endParaRPr lang="en-US"/>
          </a:p>
        </p:txBody>
      </p:sp>
      <p:sp>
        <p:nvSpPr>
          <p:cNvPr id="142338" name="Rectangle 2"/>
          <p:cNvSpPr>
            <a:spLocks noGrp="1" noRot="1" noChangeAspect="1" noChangeArrowheads="1"/>
          </p:cNvSpPr>
          <p:nvPr>
            <p:ph type="sldImg"/>
          </p:nvPr>
        </p:nvSpPr>
        <p:spPr bwMode="auto">
          <a:xfrm>
            <a:off x="858838" y="685800"/>
            <a:ext cx="5141912" cy="3429000"/>
          </a:xfrm>
          <a:prstGeom prst="rect">
            <a:avLst/>
          </a:prstGeom>
          <a:solidFill>
            <a:srgbClr val="FFFFFF"/>
          </a:solidFill>
          <a:ln>
            <a:solidFill>
              <a:srgbClr val="000000"/>
            </a:solidFill>
            <a:miter lim="800000"/>
            <a:headEnd/>
            <a:tailEnd/>
          </a:ln>
        </p:spPr>
      </p:sp>
      <p:sp>
        <p:nvSpPr>
          <p:cNvPr id="14233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22469" cy="6858000"/>
          </a:xfrm>
          <a:prstGeom prst="rect">
            <a:avLst/>
          </a:prstGeom>
        </p:spPr>
      </p:pic>
      <p:sp>
        <p:nvSpPr>
          <p:cNvPr id="2" name="Title 1"/>
          <p:cNvSpPr>
            <a:spLocks noGrp="1"/>
          </p:cNvSpPr>
          <p:nvPr>
            <p:ph type="ctrTitle"/>
          </p:nvPr>
        </p:nvSpPr>
        <p:spPr>
          <a:xfrm>
            <a:off x="3086969" y="1964267"/>
            <a:ext cx="6428507" cy="2421464"/>
          </a:xfrm>
        </p:spPr>
        <p:txBody>
          <a:bodyPr anchor="b">
            <a:normAutofit/>
          </a:bodyPr>
          <a:lstStyle>
            <a:lvl1pPr algn="r">
              <a:defRPr sz="4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086969" y="4385734"/>
            <a:ext cx="6428507"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96350" y="5870577"/>
            <a:ext cx="1363695" cy="377825"/>
          </a:xfrm>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a:xfrm>
            <a:off x="3086970" y="5870577"/>
            <a:ext cx="4423654" cy="377825"/>
          </a:xfrm>
        </p:spPr>
        <p:txBody>
          <a:bodyPr/>
          <a:lstStyle/>
          <a:p>
            <a:endParaRPr lang="en-US"/>
          </a:p>
        </p:txBody>
      </p:sp>
      <p:sp>
        <p:nvSpPr>
          <p:cNvPr id="6" name="Slide Number Placeholder 5"/>
          <p:cNvSpPr>
            <a:spLocks noGrp="1"/>
          </p:cNvSpPr>
          <p:nvPr>
            <p:ph type="sldNum" sz="quarter" idx="12"/>
          </p:nvPr>
        </p:nvSpPr>
        <p:spPr>
          <a:xfrm>
            <a:off x="9045770" y="5870577"/>
            <a:ext cx="469706" cy="377825"/>
          </a:xfrm>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570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32262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308581"/>
            <a:ext cx="874395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4351" y="4777381"/>
            <a:ext cx="874395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7026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4351" y="2142068"/>
            <a:ext cx="4289679"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68622" y="2142069"/>
            <a:ext cx="4289679"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136626-2AE9-4567-8D5E-94F038CBDAA7}" type="datetimeFigureOut">
              <a:rPr lang="en-US" smtClean="0"/>
              <a:t>12/24/2021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865625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36416" y="2218267"/>
            <a:ext cx="398317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14350"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300010" y="2218267"/>
            <a:ext cx="395829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68621"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136626-2AE9-4567-8D5E-94F038CBDAA7}" type="datetimeFigureOut">
              <a:rPr lang="en-US" smtClean="0"/>
              <a:t>12/24/2021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7214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609602"/>
            <a:ext cx="8743950" cy="1456267"/>
          </a:xfrm>
        </p:spPr>
        <p:txBody>
          <a:bodyPr>
            <a:normAutofit/>
          </a:bodyPr>
          <a:lstStyle>
            <a:lvl1pPr>
              <a:defRPr sz="3200"/>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4136626-2AE9-4567-8D5E-94F038CBDAA7}" type="datetimeFigureOut">
              <a:rPr lang="en-US" smtClean="0"/>
              <a:t>12/24/2021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604770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Date Placeholder 1"/>
          <p:cNvSpPr>
            <a:spLocks noGrp="1"/>
          </p:cNvSpPr>
          <p:nvPr>
            <p:ph type="dt" sz="half" idx="10"/>
          </p:nvPr>
        </p:nvSpPr>
        <p:spPr/>
        <p:txBody>
          <a:bodyPr/>
          <a:lstStyle/>
          <a:p>
            <a:fld id="{E4136626-2AE9-4567-8D5E-94F038CBDAA7}" type="datetimeFigureOut">
              <a:rPr lang="en-US" smtClean="0"/>
              <a:t>12/24/2021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633771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433" y="1557868"/>
            <a:ext cx="3220774" cy="1439332"/>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056913" y="609601"/>
            <a:ext cx="5206472"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9433" y="2997201"/>
            <a:ext cx="3220774"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12/24/2021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260361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894" y="1735672"/>
            <a:ext cx="4609355" cy="1371600"/>
          </a:xfrm>
        </p:spPr>
        <p:txBody>
          <a:bodyPr anchor="b">
            <a:normAutofit/>
          </a:bodyPr>
          <a:lstStyle>
            <a:lvl1pPr algn="l">
              <a:defRPr sz="24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57850" y="914400"/>
            <a:ext cx="360045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9894" y="3107272"/>
            <a:ext cx="460935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12/24/2021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455269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4732865"/>
            <a:ext cx="8743950" cy="566738"/>
          </a:xfrm>
        </p:spPr>
        <p:txBody>
          <a:bodyPr anchor="b">
            <a:normAutofit/>
          </a:bodyPr>
          <a:lstStyle>
            <a:lvl1pPr algn="l">
              <a:defRPr sz="2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8701" y="932112"/>
            <a:ext cx="771525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4351" y="5299603"/>
            <a:ext cx="874395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12/24/2021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034304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4" y="609603"/>
            <a:ext cx="8743949"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3" y="4343400"/>
            <a:ext cx="874394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3701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4" name="TextBox 13"/>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2255" y="3352800"/>
            <a:ext cx="7735650"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20049" y="4343400"/>
            <a:ext cx="874395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66956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291648"/>
            <a:ext cx="8743951" cy="1468800"/>
          </a:xfrm>
        </p:spPr>
        <p:txBody>
          <a:bodyPr anchor="b">
            <a:normAutofit/>
          </a:bodyPr>
          <a:lstStyle>
            <a:lvl1pPr algn="l">
              <a:defRPr sz="2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0" y="4760448"/>
            <a:ext cx="874395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005130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1" name="TextBox 10"/>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4351" y="3886200"/>
            <a:ext cx="874395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14351" y="4775200"/>
            <a:ext cx="874395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131742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22496" y="609603"/>
            <a:ext cx="8743951" cy="2743199"/>
          </a:xfrm>
        </p:spPr>
        <p:txBody>
          <a:bodyPr vert="horz" lIns="91440" tIns="45720" rIns="91440" bIns="45720" rtlCol="0" anchor="ctr">
            <a:normAutofit/>
          </a:bodyPr>
          <a:lstStyle>
            <a:lvl1pPr>
              <a:defRPr lang="en-US" sz="2800"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22496" y="3505200"/>
            <a:ext cx="874395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22495" y="4343400"/>
            <a:ext cx="874395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50754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8" name="Title 1"/>
          <p:cNvSpPr>
            <a:spLocks noGrp="1"/>
          </p:cNvSpPr>
          <p:nvPr>
            <p:ph type="title"/>
          </p:nvPr>
        </p:nvSpPr>
        <p:spPr>
          <a:xfrm>
            <a:off x="514350" y="609602"/>
            <a:ext cx="8743950" cy="1456267"/>
          </a:xfrm>
        </p:spPr>
        <p:txBody>
          <a:bodyPr>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378535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Vertical Title 1"/>
          <p:cNvSpPr>
            <a:spLocks noGrp="1"/>
          </p:cNvSpPr>
          <p:nvPr>
            <p:ph type="title" orient="vert"/>
          </p:nvPr>
        </p:nvSpPr>
        <p:spPr>
          <a:xfrm>
            <a:off x="7372101" y="609601"/>
            <a:ext cx="1886199" cy="5181601"/>
          </a:xfrm>
        </p:spPr>
        <p:txBody>
          <a:bodyPr vert="eaVert">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609600"/>
            <a:ext cx="6738957"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12/24/2021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9639079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71525" y="609600"/>
            <a:ext cx="874395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771525" y="1981200"/>
            <a:ext cx="428625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29225" y="1981200"/>
            <a:ext cx="428625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771525" y="6248400"/>
            <a:ext cx="2143125" cy="457200"/>
          </a:xfrm>
        </p:spPr>
        <p:txBody>
          <a:bodyPr/>
          <a:lstStyle>
            <a:lvl1pPr>
              <a:defRPr/>
            </a:lvl1pPr>
          </a:lstStyle>
          <a:p>
            <a:endParaRPr lang="en-US"/>
          </a:p>
        </p:txBody>
      </p:sp>
      <p:sp>
        <p:nvSpPr>
          <p:cNvPr id="6" name="Footer Placeholder 5"/>
          <p:cNvSpPr>
            <a:spLocks noGrp="1"/>
          </p:cNvSpPr>
          <p:nvPr>
            <p:ph type="ftr" sz="quarter" idx="11"/>
          </p:nvPr>
        </p:nvSpPr>
        <p:spPr>
          <a:xfrm>
            <a:off x="3514725" y="6248400"/>
            <a:ext cx="325755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7372350" y="6248400"/>
            <a:ext cx="2143125" cy="457200"/>
          </a:xfrm>
        </p:spPr>
        <p:txBody>
          <a:bodyPr/>
          <a:lstStyle>
            <a:lvl1pPr>
              <a:defRPr/>
            </a:lvl1pPr>
          </a:lstStyle>
          <a:p>
            <a:fld id="{0802989F-FDDB-4B57-BC52-4B1FC236123A}" type="slidenum">
              <a:rPr lang="en-US"/>
              <a:pPr/>
              <a:t>‹#›</a:t>
            </a:fld>
            <a:endParaRPr lang="en-US"/>
          </a:p>
        </p:txBody>
      </p:sp>
    </p:spTree>
    <p:extLst>
      <p:ext uri="{BB962C8B-B14F-4D97-AF65-F5344CB8AC3E}">
        <p14:creationId xmlns:p14="http://schemas.microsoft.com/office/powerpoint/2010/main" val="4117753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609602"/>
            <a:ext cx="8743950"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0" y="2142069"/>
            <a:ext cx="8743950"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39176" y="5870577"/>
            <a:ext cx="136369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4136626-2AE9-4567-8D5E-94F038CBDAA7}" type="datetimeFigureOut">
              <a:rPr lang="en-US" smtClean="0"/>
              <a:t>12/24/2021</a:t>
            </a:fld>
            <a:endParaRPr lang="en-US"/>
          </a:p>
        </p:txBody>
      </p:sp>
      <p:sp>
        <p:nvSpPr>
          <p:cNvPr id="5" name="Footer Placeholder 4"/>
          <p:cNvSpPr>
            <a:spLocks noGrp="1"/>
          </p:cNvSpPr>
          <p:nvPr>
            <p:ph type="ftr" sz="quarter" idx="3"/>
          </p:nvPr>
        </p:nvSpPr>
        <p:spPr>
          <a:xfrm>
            <a:off x="514351" y="5870577"/>
            <a:ext cx="6739100"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788595" y="5870577"/>
            <a:ext cx="46970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2276F9-8EC0-4ED6-B069-0CC0FD5EB513}" type="slidenum">
              <a:rPr lang="en-US" smtClean="0"/>
              <a:t>‹#›</a:t>
            </a:fld>
            <a:endParaRPr lang="en-US"/>
          </a:p>
        </p:txBody>
      </p:sp>
    </p:spTree>
    <p:extLst>
      <p:ext uri="{BB962C8B-B14F-4D97-AF65-F5344CB8AC3E}">
        <p14:creationId xmlns:p14="http://schemas.microsoft.com/office/powerpoint/2010/main" val="246596487"/>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0.wmf"/><Relationship Id="rId5" Type="http://schemas.openxmlformats.org/officeDocument/2006/relationships/image" Target="../media/image19.emf"/><Relationship Id="rId4" Type="http://schemas.openxmlformats.org/officeDocument/2006/relationships/oleObject" Target="../embeddings/Microsoft_Excel_97-2003_Worksheet1.xls"/></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6.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hyperlink" Target="http://www.rcsb.org/pdb"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image" Target="../media/image44.gi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http://www.sanger.ac.uk/Projects/C_elegans/wormpep/" TargetMode="External"/><Relationship Id="rId2" Type="http://schemas.openxmlformats.org/officeDocument/2006/relationships/hyperlink" Target="ftp://ftp.sanger.ac.uk/pub/PomBase/" TargetMode="External"/><Relationship Id="rId1" Type="http://schemas.openxmlformats.org/officeDocument/2006/relationships/slideLayout" Target="../slideLayouts/slideLayout7.xml"/><Relationship Id="rId4" Type="http://schemas.openxmlformats.org/officeDocument/2006/relationships/hyperlink" Target="Acedb/"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hyperlink" Target="http://www.ebi.ac.uk/MPsrch/" TargetMode="External"/><Relationship Id="rId7" Type="http://schemas.openxmlformats.org/officeDocument/2006/relationships/hyperlink" Target="http://www.arabidopsis.org/cgi-bin/fasta/nph-TAIRfasta.pl"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www.ebi.ac.uk/fasta33/" TargetMode="External"/><Relationship Id="rId5" Type="http://schemas.openxmlformats.org/officeDocument/2006/relationships/hyperlink" Target="http://fasta.genome.jp" TargetMode="External"/><Relationship Id="rId4" Type="http://schemas.openxmlformats.org/officeDocument/2006/relationships/hyperlink" Target="http://www.ncbi.nih.gov"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6.w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7168866" y="5903188"/>
            <a:ext cx="311841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Helvetica" charset="0"/>
              </a:defRPr>
            </a:lvl1pPr>
            <a:lvl2pPr marL="742950" indent="-285750">
              <a:defRPr sz="2400">
                <a:solidFill>
                  <a:schemeClr val="tx1"/>
                </a:solidFill>
                <a:latin typeface="Helvetica" charset="0"/>
              </a:defRPr>
            </a:lvl2pPr>
            <a:lvl3pPr marL="1143000" indent="-228600">
              <a:defRPr sz="2400">
                <a:solidFill>
                  <a:schemeClr val="tx1"/>
                </a:solidFill>
                <a:latin typeface="Helvetica" charset="0"/>
              </a:defRPr>
            </a:lvl3pPr>
            <a:lvl4pPr marL="1600200" indent="-228600">
              <a:defRPr sz="2400">
                <a:solidFill>
                  <a:schemeClr val="tx1"/>
                </a:solidFill>
                <a:latin typeface="Helvetica" charset="0"/>
              </a:defRPr>
            </a:lvl4pPr>
            <a:lvl5pPr marL="2057400" indent="-228600">
              <a:defRPr sz="2400">
                <a:solidFill>
                  <a:schemeClr val="tx1"/>
                </a:solidFill>
                <a:latin typeface="Helvetica" charset="0"/>
              </a:defRPr>
            </a:lvl5pPr>
            <a:lvl6pPr marL="2514600" indent="-228600" eaLnBrk="0" fontAlgn="base" hangingPunct="0">
              <a:spcBef>
                <a:spcPct val="0"/>
              </a:spcBef>
              <a:spcAft>
                <a:spcPct val="0"/>
              </a:spcAft>
              <a:defRPr sz="2400">
                <a:solidFill>
                  <a:schemeClr val="tx1"/>
                </a:solidFill>
                <a:latin typeface="Helvetica" charset="0"/>
              </a:defRPr>
            </a:lvl6pPr>
            <a:lvl7pPr marL="2971800" indent="-228600" eaLnBrk="0" fontAlgn="base" hangingPunct="0">
              <a:spcBef>
                <a:spcPct val="0"/>
              </a:spcBef>
              <a:spcAft>
                <a:spcPct val="0"/>
              </a:spcAft>
              <a:defRPr sz="2400">
                <a:solidFill>
                  <a:schemeClr val="tx1"/>
                </a:solidFill>
                <a:latin typeface="Helvetica" charset="0"/>
              </a:defRPr>
            </a:lvl7pPr>
            <a:lvl8pPr marL="3429000" indent="-228600" eaLnBrk="0" fontAlgn="base" hangingPunct="0">
              <a:spcBef>
                <a:spcPct val="0"/>
              </a:spcBef>
              <a:spcAft>
                <a:spcPct val="0"/>
              </a:spcAft>
              <a:defRPr sz="2400">
                <a:solidFill>
                  <a:schemeClr val="tx1"/>
                </a:solidFill>
                <a:latin typeface="Helvetica" charset="0"/>
              </a:defRPr>
            </a:lvl8pPr>
            <a:lvl9pPr marL="3886200" indent="-228600" eaLnBrk="0" fontAlgn="base" hangingPunct="0">
              <a:spcBef>
                <a:spcPct val="0"/>
              </a:spcBef>
              <a:spcAft>
                <a:spcPct val="0"/>
              </a:spcAft>
              <a:defRPr sz="2400">
                <a:solidFill>
                  <a:schemeClr val="tx1"/>
                </a:solidFill>
                <a:latin typeface="Helvetica" charset="0"/>
              </a:defRPr>
            </a:lvl9pPr>
          </a:lstStyle>
          <a:p>
            <a:pPr algn="ctr"/>
            <a:r>
              <a:rPr lang="en-US" sz="2000" dirty="0"/>
              <a:t>Dr. </a:t>
            </a:r>
            <a:r>
              <a:rPr lang="en-US" sz="2000" dirty="0" err="1"/>
              <a:t>Pritam</a:t>
            </a:r>
            <a:r>
              <a:rPr lang="en-US" sz="2000" dirty="0"/>
              <a:t> </a:t>
            </a:r>
            <a:r>
              <a:rPr lang="en-US" sz="2000" dirty="0" err="1"/>
              <a:t>Chattopadhyay</a:t>
            </a:r>
            <a:endParaRPr lang="en-US" sz="2000" dirty="0"/>
          </a:p>
          <a:p>
            <a:pPr algn="ctr"/>
            <a:r>
              <a:rPr lang="en-US" sz="1800" dirty="0"/>
              <a:t>Department of Botany</a:t>
            </a:r>
          </a:p>
          <a:p>
            <a:pPr algn="ctr"/>
            <a:r>
              <a:rPr lang="en-US" sz="1800" dirty="0"/>
              <a:t>MUC Women’s College </a:t>
            </a:r>
          </a:p>
        </p:txBody>
      </p:sp>
      <p:sp>
        <p:nvSpPr>
          <p:cNvPr id="4" name="AutoShape 2" descr="Emerging Computing Technologies: Bioinformatics Certificate | NYU Tandon  School of Engineer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p:cNvSpPr txBox="1">
            <a:spLocks noChangeArrowheads="1"/>
          </p:cNvSpPr>
          <p:nvPr/>
        </p:nvSpPr>
        <p:spPr>
          <a:xfrm>
            <a:off x="1215030" y="419016"/>
            <a:ext cx="8465923"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4400" dirty="0" smtClean="0">
                <a:solidFill>
                  <a:schemeClr val="tx1">
                    <a:lumMod val="95000"/>
                  </a:schemeClr>
                </a:solidFill>
              </a:rPr>
              <a:t>Unit 2: Databases in Bioinformatics</a:t>
            </a:r>
            <a:endParaRPr lang="en-US" sz="4400" dirty="0">
              <a:solidFill>
                <a:schemeClr val="tx1">
                  <a:lumMod val="95000"/>
                </a:schemeClr>
              </a:solidFill>
            </a:endParaRPr>
          </a:p>
        </p:txBody>
      </p:sp>
    </p:spTree>
    <p:extLst>
      <p:ext uri="{BB962C8B-B14F-4D97-AF65-F5344CB8AC3E}">
        <p14:creationId xmlns:p14="http://schemas.microsoft.com/office/powerpoint/2010/main" val="2317018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419"/>
            <a:ext cx="10287284" cy="617237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Introduction</a:t>
            </a:r>
            <a:endParaRPr lang="en-US" sz="44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82018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p:cNvSpPr txBox="1">
            <a:spLocks noChangeArrowheads="1"/>
          </p:cNvSpPr>
          <p:nvPr/>
        </p:nvSpPr>
        <p:spPr>
          <a:xfrm>
            <a:off x="597198" y="2791058"/>
            <a:ext cx="9439940" cy="12192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2400" dirty="0" smtClean="0"/>
              <a:t>Database: collection and storage of information in organized manner.</a:t>
            </a:r>
            <a:endParaRPr lang="en-US" sz="2400" b="1" dirty="0">
              <a:solidFill>
                <a:srgbClr val="990033"/>
              </a:solidFill>
              <a:latin typeface="Arial" panose="020B0604020202020204" pitchFamily="34" charset="0"/>
            </a:endParaRPr>
          </a:p>
        </p:txBody>
      </p:sp>
      <p:sp>
        <p:nvSpPr>
          <p:cNvPr id="4" name="Text Box 1029"/>
          <p:cNvSpPr txBox="1">
            <a:spLocks noChangeArrowheads="1"/>
          </p:cNvSpPr>
          <p:nvPr/>
        </p:nvSpPr>
        <p:spPr bwMode="auto">
          <a:xfrm>
            <a:off x="533400" y="2133619"/>
            <a:ext cx="5562600" cy="617538"/>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3200" b="1">
                <a:solidFill>
                  <a:schemeClr val="folHlink"/>
                </a:solidFill>
                <a:latin typeface="Arial" panose="020B0604020202020204" pitchFamily="34" charset="0"/>
              </a:rPr>
              <a:t>What is Database?</a:t>
            </a:r>
          </a:p>
        </p:txBody>
      </p:sp>
      <p:sp>
        <p:nvSpPr>
          <p:cNvPr id="7" name="Text Box 1029"/>
          <p:cNvSpPr txBox="1">
            <a:spLocks noChangeArrowheads="1"/>
          </p:cNvSpPr>
          <p:nvPr/>
        </p:nvSpPr>
        <p:spPr bwMode="auto">
          <a:xfrm>
            <a:off x="547571" y="393345"/>
            <a:ext cx="5562600"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3200" b="1" dirty="0">
                <a:solidFill>
                  <a:schemeClr val="folHlink"/>
                </a:solidFill>
                <a:latin typeface="Arial" panose="020B0604020202020204" pitchFamily="34" charset="0"/>
              </a:rPr>
              <a:t>What is </a:t>
            </a:r>
            <a:r>
              <a:rPr lang="en-GB" sz="3200" b="1" dirty="0" smtClean="0">
                <a:solidFill>
                  <a:schemeClr val="folHlink"/>
                </a:solidFill>
                <a:latin typeface="Arial" panose="020B0604020202020204" pitchFamily="34" charset="0"/>
              </a:rPr>
              <a:t>Data?</a:t>
            </a:r>
            <a:endParaRPr lang="en-GB" sz="3200" b="1" dirty="0">
              <a:solidFill>
                <a:schemeClr val="folHlink"/>
              </a:solidFill>
              <a:latin typeface="Arial" panose="020B0604020202020204" pitchFamily="34" charset="0"/>
            </a:endParaRPr>
          </a:p>
        </p:txBody>
      </p:sp>
      <p:sp>
        <p:nvSpPr>
          <p:cNvPr id="8" name="Rectangle 7"/>
          <p:cNvSpPr/>
          <p:nvPr/>
        </p:nvSpPr>
        <p:spPr>
          <a:xfrm>
            <a:off x="966670" y="978120"/>
            <a:ext cx="9198055" cy="830997"/>
          </a:xfrm>
          <a:prstGeom prst="rect">
            <a:avLst/>
          </a:prstGeom>
        </p:spPr>
        <p:txBody>
          <a:bodyPr wrap="square">
            <a:spAutoFit/>
          </a:bodyPr>
          <a:lstStyle/>
          <a:p>
            <a:r>
              <a:rPr lang="en-US" sz="2400" dirty="0"/>
              <a:t>Data is raw , unorganized facts need to </a:t>
            </a:r>
            <a:r>
              <a:rPr lang="en-US" sz="2400" dirty="0" smtClean="0"/>
              <a:t>be processed</a:t>
            </a:r>
            <a:r>
              <a:rPr lang="en-US" sz="2400" dirty="0"/>
              <a:t>.</a:t>
            </a:r>
          </a:p>
          <a:p>
            <a:r>
              <a:rPr lang="en-US" sz="2400" dirty="0"/>
              <a:t>• Example: Each students test score is one piece </a:t>
            </a:r>
            <a:r>
              <a:rPr lang="en-US" sz="2400" dirty="0" smtClean="0"/>
              <a:t>of data</a:t>
            </a:r>
            <a:r>
              <a:rPr lang="en-US" sz="2400" dirty="0"/>
              <a:t>.</a:t>
            </a:r>
          </a:p>
        </p:txBody>
      </p:sp>
      <p:sp>
        <p:nvSpPr>
          <p:cNvPr id="9" name="Rectangle 8"/>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pic>
        <p:nvPicPr>
          <p:cNvPr id="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305" r="11277" b="53392"/>
          <a:stretch/>
        </p:blipFill>
        <p:spPr bwMode="auto">
          <a:xfrm>
            <a:off x="596900" y="4382094"/>
            <a:ext cx="9567826" cy="1929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1029"/>
          <p:cNvSpPr txBox="1">
            <a:spLocks noChangeArrowheads="1"/>
          </p:cNvSpPr>
          <p:nvPr/>
        </p:nvSpPr>
        <p:spPr bwMode="auto">
          <a:xfrm>
            <a:off x="546100" y="3619519"/>
            <a:ext cx="5562600"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3200" b="1" dirty="0" smtClean="0">
                <a:solidFill>
                  <a:schemeClr val="folHlink"/>
                </a:solidFill>
                <a:latin typeface="Arial" panose="020B0604020202020204" pitchFamily="34" charset="0"/>
              </a:rPr>
              <a:t>Database or Databank?</a:t>
            </a:r>
            <a:endParaRPr lang="en-GB" sz="3200" b="1" dirty="0">
              <a:solidFill>
                <a:schemeClr val="folHlink"/>
              </a:solidFill>
              <a:latin typeface="Arial" panose="020B0604020202020204" pitchFamily="34" charset="0"/>
            </a:endParaRPr>
          </a:p>
        </p:txBody>
      </p:sp>
    </p:spTree>
    <p:extLst>
      <p:ext uri="{BB962C8B-B14F-4D97-AF65-F5344CB8AC3E}">
        <p14:creationId xmlns:p14="http://schemas.microsoft.com/office/powerpoint/2010/main" val="2672349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4301" t="15663"/>
          <a:stretch/>
        </p:blipFill>
        <p:spPr bwMode="auto">
          <a:xfrm>
            <a:off x="533400" y="1981200"/>
            <a:ext cx="9613900" cy="21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1029"/>
          <p:cNvSpPr txBox="1">
            <a:spLocks noChangeArrowheads="1"/>
          </p:cNvSpPr>
          <p:nvPr/>
        </p:nvSpPr>
        <p:spPr bwMode="auto">
          <a:xfrm>
            <a:off x="533400" y="977919"/>
            <a:ext cx="5562600"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3200" b="1" dirty="0" smtClean="0">
                <a:solidFill>
                  <a:schemeClr val="folHlink"/>
                </a:solidFill>
                <a:latin typeface="Arial" panose="020B0604020202020204" pitchFamily="34" charset="0"/>
              </a:rPr>
              <a:t>Properties of Database</a:t>
            </a:r>
            <a:r>
              <a:rPr lang="en-GB" sz="3200" b="1" dirty="0">
                <a:solidFill>
                  <a:schemeClr val="folHlink"/>
                </a:solidFill>
                <a:latin typeface="Arial" panose="020B0604020202020204" pitchFamily="34" charset="0"/>
              </a:rPr>
              <a:t>?</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336552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30"/>
          <p:cNvSpPr txBox="1">
            <a:spLocks noChangeArrowheads="1"/>
          </p:cNvSpPr>
          <p:nvPr/>
        </p:nvSpPr>
        <p:spPr bwMode="auto">
          <a:xfrm>
            <a:off x="533400" y="3650505"/>
            <a:ext cx="3287713"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3200" b="1" dirty="0" smtClean="0">
                <a:solidFill>
                  <a:schemeClr val="folHlink"/>
                </a:solidFill>
                <a:latin typeface="Arial" panose="020B0604020202020204" pitchFamily="34" charset="0"/>
              </a:rPr>
              <a:t>DBMS </a:t>
            </a:r>
            <a:r>
              <a:rPr lang="en-GB" sz="3200" b="1" dirty="0">
                <a:solidFill>
                  <a:schemeClr val="folHlink"/>
                </a:solidFill>
                <a:latin typeface="Arial" panose="020B0604020202020204" pitchFamily="34" charset="0"/>
              </a:rPr>
              <a:t>Tasks</a:t>
            </a:r>
          </a:p>
        </p:txBody>
      </p:sp>
      <p:sp>
        <p:nvSpPr>
          <p:cNvPr id="3" name="Text Box 1031"/>
          <p:cNvSpPr txBox="1">
            <a:spLocks noChangeArrowheads="1"/>
          </p:cNvSpPr>
          <p:nvPr/>
        </p:nvSpPr>
        <p:spPr bwMode="auto">
          <a:xfrm>
            <a:off x="508579" y="4460348"/>
            <a:ext cx="9624248" cy="208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rgbClr val="880148"/>
              </a:buClr>
              <a:buFont typeface="Wingdings" panose="05000000000000000000" pitchFamily="2" charset="2"/>
              <a:buChar char="q"/>
            </a:pPr>
            <a:r>
              <a:rPr lang="en-GB" sz="2400" b="1" dirty="0">
                <a:latin typeface="Arial" panose="020B0604020202020204" pitchFamily="34" charset="0"/>
              </a:rPr>
              <a:t> GET </a:t>
            </a:r>
            <a:r>
              <a:rPr lang="en-GB" sz="2400" b="1" dirty="0" smtClean="0">
                <a:latin typeface="Arial" panose="020B0604020202020204" pitchFamily="34" charset="0"/>
              </a:rPr>
              <a:t>DATA: Data Submission</a:t>
            </a:r>
            <a:r>
              <a:rPr lang="en-GB" sz="2400" b="1" dirty="0">
                <a:latin typeface="Arial" panose="020B0604020202020204" pitchFamily="34" charset="0"/>
              </a:rPr>
              <a:t/>
            </a:r>
            <a:br>
              <a:rPr lang="en-GB" sz="2400" b="1" dirty="0">
                <a:latin typeface="Arial" panose="020B0604020202020204" pitchFamily="34" charset="0"/>
              </a:rPr>
            </a:br>
            <a:endParaRPr lang="en-GB" sz="2400" b="1" dirty="0">
              <a:latin typeface="Arial" panose="020B0604020202020204" pitchFamily="34" charset="0"/>
            </a:endParaRPr>
          </a:p>
          <a:p>
            <a:pPr>
              <a:spcBef>
                <a:spcPct val="20000"/>
              </a:spcBef>
              <a:buClr>
                <a:srgbClr val="880148"/>
              </a:buClr>
              <a:buFont typeface="Wingdings" panose="05000000000000000000" pitchFamily="2" charset="2"/>
              <a:buChar char="q"/>
            </a:pPr>
            <a:r>
              <a:rPr lang="en-GB" sz="2400" b="1" dirty="0">
                <a:solidFill>
                  <a:schemeClr val="tx2"/>
                </a:solidFill>
                <a:latin typeface="Arial" panose="020B0604020202020204" pitchFamily="34" charset="0"/>
              </a:rPr>
              <a:t> ORGANISE AND STORE DATA</a:t>
            </a:r>
            <a:br>
              <a:rPr lang="en-GB" sz="2400" b="1" dirty="0">
                <a:solidFill>
                  <a:schemeClr val="tx2"/>
                </a:solidFill>
                <a:latin typeface="Arial" panose="020B0604020202020204" pitchFamily="34" charset="0"/>
              </a:rPr>
            </a:br>
            <a:endParaRPr lang="en-GB" sz="2400" b="1" dirty="0">
              <a:solidFill>
                <a:schemeClr val="tx2"/>
              </a:solidFill>
              <a:latin typeface="Arial" panose="020B0604020202020204" pitchFamily="34" charset="0"/>
            </a:endParaRPr>
          </a:p>
          <a:p>
            <a:pPr>
              <a:spcBef>
                <a:spcPct val="20000"/>
              </a:spcBef>
              <a:buClr>
                <a:srgbClr val="880148"/>
              </a:buClr>
              <a:buFont typeface="Wingdings" panose="05000000000000000000" pitchFamily="2" charset="2"/>
              <a:buChar char="q"/>
            </a:pPr>
            <a:r>
              <a:rPr lang="en-GB" sz="2400" b="1" dirty="0">
                <a:latin typeface="Arial" panose="020B0604020202020204" pitchFamily="34" charset="0"/>
              </a:rPr>
              <a:t> GIVE IT </a:t>
            </a:r>
            <a:r>
              <a:rPr lang="en-GB" sz="2400" b="1" dirty="0" smtClean="0">
                <a:latin typeface="Arial" panose="020B0604020202020204" pitchFamily="34" charset="0"/>
              </a:rPr>
              <a:t>BACK: Data Retrieval</a:t>
            </a:r>
            <a:endParaRPr lang="en-GB" sz="2400" b="1" dirty="0">
              <a:solidFill>
                <a:srgbClr val="1A2948"/>
              </a:solidFill>
              <a:latin typeface="Microsoft Sans Serif" panose="020B0604020202020204" pitchFamily="34"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524" y="1625600"/>
            <a:ext cx="9721476"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1029"/>
          <p:cNvSpPr txBox="1">
            <a:spLocks noChangeArrowheads="1"/>
          </p:cNvSpPr>
          <p:nvPr/>
        </p:nvSpPr>
        <p:spPr bwMode="auto">
          <a:xfrm>
            <a:off x="565524" y="622319"/>
            <a:ext cx="8476876"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a:solidFill>
                  <a:schemeClr val="folHlink"/>
                </a:solidFill>
                <a:latin typeface="Arial" panose="020B0604020202020204" pitchFamily="34" charset="0"/>
              </a:rPr>
              <a:t>What is </a:t>
            </a:r>
            <a:r>
              <a:rPr lang="en-GB" sz="3200" b="1" dirty="0" smtClean="0">
                <a:solidFill>
                  <a:schemeClr val="folHlink"/>
                </a:solidFill>
                <a:latin typeface="Arial" panose="020B0604020202020204" pitchFamily="34" charset="0"/>
              </a:rPr>
              <a:t>Database Management System?</a:t>
            </a:r>
            <a:endParaRPr lang="en-GB" sz="3200" b="1" dirty="0">
              <a:solidFill>
                <a:schemeClr val="folHlink"/>
              </a:solidFill>
              <a:latin typeface="Arial" panose="020B0604020202020204" pitchFamily="34" charset="0"/>
            </a:endParaRPr>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5185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6"/>
          <p:cNvSpPr txBox="1">
            <a:spLocks noChangeArrowheads="1"/>
          </p:cNvSpPr>
          <p:nvPr/>
        </p:nvSpPr>
        <p:spPr>
          <a:xfrm>
            <a:off x="533400" y="1295400"/>
            <a:ext cx="3352800" cy="533400"/>
          </a:xfrm>
          <a:prstGeom prst="rect">
            <a:avLst/>
          </a:prstGeom>
        </p:spPr>
        <p:txBody>
          <a:bodyPr>
            <a:noAutofit/>
          </a:bodyP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latin typeface="Times New Roman" pitchFamily="18" charset="0"/>
                <a:cs typeface="Times New Roman" pitchFamily="18" charset="0"/>
              </a:rPr>
              <a:t>FLAT FILE</a:t>
            </a:r>
            <a:endParaRPr lang="en-US" dirty="0">
              <a:latin typeface="Times New Roman" pitchFamily="18" charset="0"/>
              <a:cs typeface="Times New Roman" pitchFamily="18" charset="0"/>
            </a:endParaRPr>
          </a:p>
        </p:txBody>
      </p:sp>
      <p:sp>
        <p:nvSpPr>
          <p:cNvPr id="3" name="Rectangle 1027"/>
          <p:cNvSpPr txBox="1">
            <a:spLocks noChangeArrowheads="1"/>
          </p:cNvSpPr>
          <p:nvPr/>
        </p:nvSpPr>
        <p:spPr>
          <a:xfrm>
            <a:off x="762000" y="2133600"/>
            <a:ext cx="7772400" cy="1371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lnSpc>
                <a:spcPct val="90000"/>
              </a:lnSpc>
            </a:pPr>
            <a:r>
              <a:rPr lang="en-US" sz="2800" dirty="0" smtClean="0"/>
              <a:t>Complete Information is stored in the form of flat files.</a:t>
            </a:r>
          </a:p>
          <a:p>
            <a:pPr marL="0" indent="0">
              <a:lnSpc>
                <a:spcPct val="90000"/>
              </a:lnSpc>
              <a:buNone/>
            </a:pPr>
            <a:r>
              <a:rPr lang="en-US" sz="2800" dirty="0" smtClean="0"/>
              <a:t>		For </a:t>
            </a:r>
            <a:r>
              <a:rPr lang="en-US" sz="2800" dirty="0" err="1" smtClean="0"/>
              <a:t>eg</a:t>
            </a:r>
            <a:r>
              <a:rPr lang="en-US" sz="2800" dirty="0" smtClean="0"/>
              <a:t>, Student record in one page</a:t>
            </a:r>
            <a:endParaRPr lang="en-US" sz="2800" dirty="0"/>
          </a:p>
        </p:txBody>
      </p:sp>
      <p:sp>
        <p:nvSpPr>
          <p:cNvPr id="4" name="Rectangle 1028"/>
          <p:cNvSpPr>
            <a:spLocks noChangeArrowheads="1"/>
          </p:cNvSpPr>
          <p:nvPr/>
        </p:nvSpPr>
        <p:spPr bwMode="auto">
          <a:xfrm>
            <a:off x="533400" y="3763926"/>
            <a:ext cx="3276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marL="457200" fontAlgn="base">
              <a:spcBef>
                <a:spcPct val="0"/>
              </a:spcBef>
              <a:spcAft>
                <a:spcPct val="0"/>
              </a:spcAft>
              <a:defRPr sz="2400">
                <a:solidFill>
                  <a:schemeClr val="tx1"/>
                </a:solidFill>
                <a:latin typeface="Tahoma" panose="020B0604030504040204" pitchFamily="34" charset="0"/>
              </a:defRPr>
            </a:lvl6pPr>
            <a:lvl7pPr marL="914400" fontAlgn="base">
              <a:spcBef>
                <a:spcPct val="0"/>
              </a:spcBef>
              <a:spcAft>
                <a:spcPct val="0"/>
              </a:spcAft>
              <a:defRPr sz="2400">
                <a:solidFill>
                  <a:schemeClr val="tx1"/>
                </a:solidFill>
                <a:latin typeface="Tahoma" panose="020B0604030504040204" pitchFamily="34" charset="0"/>
              </a:defRPr>
            </a:lvl7pPr>
            <a:lvl8pPr marL="1371600" fontAlgn="base">
              <a:spcBef>
                <a:spcPct val="0"/>
              </a:spcBef>
              <a:spcAft>
                <a:spcPct val="0"/>
              </a:spcAft>
              <a:defRPr sz="2400">
                <a:solidFill>
                  <a:schemeClr val="tx1"/>
                </a:solidFill>
                <a:latin typeface="Tahoma" panose="020B0604030504040204" pitchFamily="34" charset="0"/>
              </a:defRPr>
            </a:lvl8pPr>
            <a:lvl9pPr marL="1828800" fontAlgn="base">
              <a:spcBef>
                <a:spcPct val="0"/>
              </a:spcBef>
              <a:spcAft>
                <a:spcPct val="0"/>
              </a:spcAft>
              <a:defRPr sz="2400">
                <a:solidFill>
                  <a:schemeClr val="tx1"/>
                </a:solidFill>
                <a:latin typeface="Tahoma" panose="020B0604030504040204" pitchFamily="34" charset="0"/>
              </a:defRPr>
            </a:lvl9pPr>
          </a:lstStyle>
          <a:p>
            <a:r>
              <a:rPr lang="en-US" sz="2800" dirty="0">
                <a:solidFill>
                  <a:schemeClr val="tx2"/>
                </a:solidFill>
                <a:latin typeface="Times New Roman" panose="02020603050405020304" pitchFamily="18" charset="0"/>
              </a:rPr>
              <a:t>RELATIONAL</a:t>
            </a:r>
          </a:p>
        </p:txBody>
      </p:sp>
      <p:sp>
        <p:nvSpPr>
          <p:cNvPr id="5" name="Rectangle 1029"/>
          <p:cNvSpPr>
            <a:spLocks noChangeArrowheads="1"/>
          </p:cNvSpPr>
          <p:nvPr/>
        </p:nvSpPr>
        <p:spPr bwMode="auto">
          <a:xfrm>
            <a:off x="762000" y="4648200"/>
            <a:ext cx="77724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fontAlgn="base">
              <a:spcBef>
                <a:spcPct val="0"/>
              </a:spcBef>
              <a:spcAft>
                <a:spcPct val="0"/>
              </a:spcAft>
              <a:defRPr sz="2400">
                <a:solidFill>
                  <a:schemeClr val="tx1"/>
                </a:solidFill>
                <a:latin typeface="Tahoma" panose="020B0604030504040204" pitchFamily="34" charset="0"/>
              </a:defRPr>
            </a:lvl6pPr>
            <a:lvl7pPr marL="2971800" indent="-228600" fontAlgn="base">
              <a:spcBef>
                <a:spcPct val="0"/>
              </a:spcBef>
              <a:spcAft>
                <a:spcPct val="0"/>
              </a:spcAft>
              <a:defRPr sz="2400">
                <a:solidFill>
                  <a:schemeClr val="tx1"/>
                </a:solidFill>
                <a:latin typeface="Tahoma" panose="020B0604030504040204" pitchFamily="34" charset="0"/>
              </a:defRPr>
            </a:lvl7pPr>
            <a:lvl8pPr marL="3429000" indent="-228600" fontAlgn="base">
              <a:spcBef>
                <a:spcPct val="0"/>
              </a:spcBef>
              <a:spcAft>
                <a:spcPct val="0"/>
              </a:spcAft>
              <a:defRPr sz="2400">
                <a:solidFill>
                  <a:schemeClr val="tx1"/>
                </a:solidFill>
                <a:latin typeface="Tahoma" panose="020B0604030504040204" pitchFamily="34" charset="0"/>
              </a:defRPr>
            </a:lvl8pPr>
            <a:lvl9pPr marL="3886200" indent="-228600" fontAlgn="base">
              <a:spcBef>
                <a:spcPct val="0"/>
              </a:spcBef>
              <a:spcAft>
                <a:spcPct val="0"/>
              </a:spcAft>
              <a:defRPr sz="2400">
                <a:solidFill>
                  <a:schemeClr val="tx1"/>
                </a:solidFill>
                <a:latin typeface="Tahoma" panose="020B0604030504040204" pitchFamily="34" charset="0"/>
              </a:defRPr>
            </a:lvl9pPr>
          </a:lstStyle>
          <a:p>
            <a:pPr>
              <a:spcBef>
                <a:spcPct val="20000"/>
              </a:spcBef>
              <a:buFontTx/>
              <a:buChar char="•"/>
            </a:pPr>
            <a:r>
              <a:rPr lang="en-US" sz="2800" dirty="0">
                <a:latin typeface="Times New Roman" panose="02020603050405020304" pitchFamily="18" charset="0"/>
              </a:rPr>
              <a:t>Complete Information is stored in the form of tables.</a:t>
            </a:r>
          </a:p>
          <a:p>
            <a:pPr marL="0" indent="0">
              <a:spcBef>
                <a:spcPct val="20000"/>
              </a:spcBef>
            </a:pPr>
            <a:r>
              <a:rPr lang="en-US" sz="2800" dirty="0" smtClean="0">
                <a:latin typeface="Times New Roman" panose="02020603050405020304" pitchFamily="18" charset="0"/>
              </a:rPr>
              <a:t>	For </a:t>
            </a:r>
            <a:r>
              <a:rPr lang="en-US" sz="2800" dirty="0" err="1">
                <a:latin typeface="Times New Roman" panose="02020603050405020304" pitchFamily="18" charset="0"/>
              </a:rPr>
              <a:t>eg</a:t>
            </a:r>
            <a:r>
              <a:rPr lang="en-US" sz="2800" dirty="0">
                <a:latin typeface="Times New Roman" panose="02020603050405020304" pitchFamily="18" charset="0"/>
              </a:rPr>
              <a:t>, Name and </a:t>
            </a:r>
            <a:r>
              <a:rPr lang="en-US" sz="2800" dirty="0" err="1">
                <a:latin typeface="Times New Roman" panose="02020603050405020304" pitchFamily="18" charset="0"/>
              </a:rPr>
              <a:t>Adress</a:t>
            </a:r>
            <a:r>
              <a:rPr lang="en-US" sz="2800" dirty="0">
                <a:latin typeface="Times New Roman" panose="02020603050405020304" pitchFamily="18" charset="0"/>
              </a:rPr>
              <a:t> of Student</a:t>
            </a:r>
          </a:p>
        </p:txBody>
      </p:sp>
      <p:sp>
        <p:nvSpPr>
          <p:cNvPr id="6" name="Text Box 1030"/>
          <p:cNvSpPr txBox="1">
            <a:spLocks noChangeArrowheads="1"/>
          </p:cNvSpPr>
          <p:nvPr/>
        </p:nvSpPr>
        <p:spPr bwMode="auto">
          <a:xfrm>
            <a:off x="520978" y="296863"/>
            <a:ext cx="9016721" cy="769441"/>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4400" dirty="0">
                <a:solidFill>
                  <a:schemeClr val="tx2"/>
                </a:solidFill>
              </a:rPr>
              <a:t>Technical Design </a:t>
            </a:r>
            <a:r>
              <a:rPr lang="en-US" sz="4400" dirty="0" smtClean="0">
                <a:solidFill>
                  <a:schemeClr val="tx2"/>
                </a:solidFill>
              </a:rPr>
              <a:t>Types of Database</a:t>
            </a:r>
            <a:endParaRPr lang="en-GB" sz="4400" dirty="0">
              <a:solidFill>
                <a:schemeClr val="tx2"/>
              </a:solidFill>
            </a:endParaRPr>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677697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What Is RDBMS ? | What Is Relational Database Management System ? |  Relational Model Explained.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35" y="1349667"/>
            <a:ext cx="8860834" cy="5433925"/>
          </a:xfrm>
          <a:prstGeom prst="rect">
            <a:avLst/>
          </a:prstGeom>
          <a:noFill/>
          <a:extLst>
            <a:ext uri="{909E8E84-426E-40DD-AFC4-6F175D3DCCD1}">
              <a14:hiddenFill xmlns:a14="http://schemas.microsoft.com/office/drawing/2010/main">
                <a:solidFill>
                  <a:srgbClr val="FFFFFF"/>
                </a:solidFill>
              </a14:hiddenFill>
            </a:ext>
          </a:extLst>
        </p:spPr>
      </p:pic>
      <p:sp>
        <p:nvSpPr>
          <p:cNvPr id="3" name="Text Box 1027"/>
          <p:cNvSpPr txBox="1">
            <a:spLocks noChangeArrowheads="1"/>
          </p:cNvSpPr>
          <p:nvPr/>
        </p:nvSpPr>
        <p:spPr bwMode="auto">
          <a:xfrm>
            <a:off x="887827" y="685800"/>
            <a:ext cx="8458200"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sz="3200" b="1">
                <a:solidFill>
                  <a:schemeClr val="tx2"/>
                </a:solidFill>
                <a:latin typeface="Arial" panose="020B0604020202020204" pitchFamily="34" charset="0"/>
              </a:rPr>
              <a:t>Example: Relational Databases Tables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190943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706" t="5664" r="10047" b="10542"/>
          <a:stretch/>
        </p:blipFill>
        <p:spPr bwMode="auto">
          <a:xfrm>
            <a:off x="533400" y="2307266"/>
            <a:ext cx="5182425" cy="3870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030"/>
          <p:cNvSpPr txBox="1">
            <a:spLocks noChangeArrowheads="1"/>
          </p:cNvSpPr>
          <p:nvPr/>
        </p:nvSpPr>
        <p:spPr bwMode="auto">
          <a:xfrm>
            <a:off x="533400" y="450105"/>
            <a:ext cx="4479851"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a:solidFill>
                  <a:schemeClr val="folHlink"/>
                </a:solidFill>
                <a:latin typeface="Arial" panose="020B0604020202020204" pitchFamily="34" charset="0"/>
              </a:rPr>
              <a:t>Database </a:t>
            </a:r>
            <a:r>
              <a:rPr lang="en-GB" sz="3200" b="1" dirty="0" smtClean="0">
                <a:solidFill>
                  <a:schemeClr val="folHlink"/>
                </a:solidFill>
                <a:latin typeface="Arial" panose="020B0604020202020204" pitchFamily="34" charset="0"/>
              </a:rPr>
              <a:t>Architecture</a:t>
            </a:r>
            <a:endParaRPr lang="en-GB" sz="3200" b="1" dirty="0">
              <a:solidFill>
                <a:schemeClr val="folHlink"/>
              </a:solidFill>
              <a:latin typeface="Arial" panose="020B0604020202020204" pitchFamily="34" charset="0"/>
            </a:endParaRPr>
          </a:p>
        </p:txBody>
      </p:sp>
      <p:pic>
        <p:nvPicPr>
          <p:cNvPr id="921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1389" b="12772"/>
          <a:stretch/>
        </p:blipFill>
        <p:spPr bwMode="auto">
          <a:xfrm>
            <a:off x="6428060" y="4962600"/>
            <a:ext cx="1924039" cy="1446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t="12026" b="12190"/>
          <a:stretch/>
        </p:blipFill>
        <p:spPr bwMode="auto">
          <a:xfrm>
            <a:off x="7044749" y="2869011"/>
            <a:ext cx="1924039" cy="2093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t="12735" b="13669"/>
          <a:stretch/>
        </p:blipFill>
        <p:spPr bwMode="auto">
          <a:xfrm>
            <a:off x="7592099" y="1460198"/>
            <a:ext cx="1924039" cy="1392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2" name="Picture 6"/>
          <p:cNvPicPr>
            <a:picLocks noChangeAspect="1" noChangeArrowheads="1"/>
          </p:cNvPicPr>
          <p:nvPr/>
        </p:nvPicPr>
        <p:blipFill rotWithShape="1">
          <a:blip r:embed="rId6">
            <a:extLst>
              <a:ext uri="{28A0092B-C50C-407E-A947-70E740481C1C}">
                <a14:useLocalDpi xmlns:a14="http://schemas.microsoft.com/office/drawing/2010/main" val="0"/>
              </a:ext>
            </a:extLst>
          </a:blip>
          <a:srcRect t="18581" b="12083"/>
          <a:stretch/>
        </p:blipFill>
        <p:spPr bwMode="auto">
          <a:xfrm>
            <a:off x="8171120" y="513901"/>
            <a:ext cx="1924039" cy="946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Elbow Connector 3"/>
          <p:cNvCxnSpPr/>
          <p:nvPr/>
        </p:nvCxnSpPr>
        <p:spPr>
          <a:xfrm>
            <a:off x="2179675" y="5411972"/>
            <a:ext cx="4269651" cy="273643"/>
          </a:xfrm>
          <a:prstGeom prst="bentConnector3">
            <a:avLst/>
          </a:prstGeom>
          <a:ln w="635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Elbow Connector 11"/>
          <p:cNvCxnSpPr>
            <a:endCxn id="9220" idx="1"/>
          </p:cNvCxnSpPr>
          <p:nvPr/>
        </p:nvCxnSpPr>
        <p:spPr>
          <a:xfrm flipV="1">
            <a:off x="4635795" y="3915806"/>
            <a:ext cx="2408954" cy="1262250"/>
          </a:xfrm>
          <a:prstGeom prst="bentConnector3">
            <a:avLst/>
          </a:prstGeom>
          <a:ln w="63500">
            <a:solidFill>
              <a:schemeClr val="bg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Elbow Connector 13"/>
          <p:cNvCxnSpPr>
            <a:endCxn id="9221" idx="1"/>
          </p:cNvCxnSpPr>
          <p:nvPr/>
        </p:nvCxnSpPr>
        <p:spPr>
          <a:xfrm flipV="1">
            <a:off x="5013251" y="2156631"/>
            <a:ext cx="2578848" cy="2542960"/>
          </a:xfrm>
          <a:prstGeom prst="bentConnector3">
            <a:avLst/>
          </a:prstGeom>
          <a:ln w="635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9218" idx="3"/>
            <a:endCxn id="9222" idx="1"/>
          </p:cNvCxnSpPr>
          <p:nvPr/>
        </p:nvCxnSpPr>
        <p:spPr>
          <a:xfrm flipV="1">
            <a:off x="5715825" y="987050"/>
            <a:ext cx="2455295" cy="3255342"/>
          </a:xfrm>
          <a:prstGeom prst="bentConnector3">
            <a:avLst/>
          </a:prstGeom>
          <a:ln w="63500">
            <a:solidFill>
              <a:srgbClr val="00CC99"/>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60094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419"/>
            <a:ext cx="10287284" cy="617237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Biological Databases</a:t>
            </a:r>
            <a:endParaRPr lang="en-US" sz="44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23662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160463"/>
            <a:ext cx="9753600" cy="5187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030"/>
          <p:cNvSpPr txBox="1">
            <a:spLocks noChangeArrowheads="1"/>
          </p:cNvSpPr>
          <p:nvPr/>
        </p:nvSpPr>
        <p:spPr bwMode="auto">
          <a:xfrm>
            <a:off x="533400" y="450105"/>
            <a:ext cx="5005498"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folHlink"/>
                </a:solidFill>
                <a:latin typeface="Arial" panose="020B0604020202020204" pitchFamily="34" charset="0"/>
              </a:rPr>
              <a:t>Biological Data</a:t>
            </a:r>
            <a:endParaRPr lang="en-GB" sz="3200" b="1" dirty="0">
              <a:solidFill>
                <a:schemeClr val="folHlink"/>
              </a:solidFill>
              <a:latin typeface="Arial" panose="020B0604020202020204" pitchFamily="34" charset="0"/>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91132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30"/>
          <p:cNvSpPr txBox="1">
            <a:spLocks noChangeArrowheads="1"/>
          </p:cNvSpPr>
          <p:nvPr/>
        </p:nvSpPr>
        <p:spPr bwMode="auto">
          <a:xfrm>
            <a:off x="533400" y="450105"/>
            <a:ext cx="5005498"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folHlink"/>
                </a:solidFill>
                <a:latin typeface="Arial" panose="020B0604020202020204" pitchFamily="34" charset="0"/>
              </a:rPr>
              <a:t>Biological Database</a:t>
            </a:r>
            <a:endParaRPr lang="en-GB" sz="3200" b="1" dirty="0">
              <a:solidFill>
                <a:schemeClr val="folHlink"/>
              </a:solidFill>
              <a:latin typeface="Arial" panose="020B0604020202020204" pitchFamily="34" charset="0"/>
            </a:endParaRPr>
          </a:p>
        </p:txBody>
      </p:sp>
      <p:sp>
        <p:nvSpPr>
          <p:cNvPr id="3" name="Rectangle 2"/>
          <p:cNvSpPr/>
          <p:nvPr/>
        </p:nvSpPr>
        <p:spPr>
          <a:xfrm>
            <a:off x="1263945" y="1382805"/>
            <a:ext cx="8549906" cy="3785652"/>
          </a:xfrm>
          <a:prstGeom prst="rect">
            <a:avLst/>
          </a:prstGeom>
        </p:spPr>
        <p:txBody>
          <a:bodyPr wrap="square">
            <a:spAutoFit/>
          </a:bodyPr>
          <a:lstStyle/>
          <a:p>
            <a:pPr marL="342900" indent="-342900" algn="just">
              <a:buFont typeface="Wingdings" pitchFamily="2" charset="2"/>
              <a:buChar char="Ø"/>
            </a:pPr>
            <a:r>
              <a:rPr lang="en-US" sz="2400" b="1" dirty="0"/>
              <a:t>Biological databases</a:t>
            </a:r>
            <a:r>
              <a:rPr lang="en-US" sz="2400" dirty="0"/>
              <a:t> are libraries of biological sciences, collected from scientific experiments, published literature, high-throughput experiment technology, and computational analysis</a:t>
            </a:r>
            <a:r>
              <a:rPr lang="en-US" sz="2400" dirty="0" smtClean="0"/>
              <a:t>.</a:t>
            </a:r>
          </a:p>
          <a:p>
            <a:pPr marL="342900" indent="-342900" algn="just">
              <a:buFont typeface="Wingdings" pitchFamily="2" charset="2"/>
              <a:buChar char="Ø"/>
            </a:pPr>
            <a:endParaRPr lang="en-US" sz="2400" dirty="0"/>
          </a:p>
          <a:p>
            <a:pPr marL="342900" indent="-342900">
              <a:buFont typeface="Wingdings" pitchFamily="2" charset="2"/>
              <a:buChar char="Ø"/>
            </a:pPr>
            <a:r>
              <a:rPr lang="en-US" sz="2400" dirty="0" smtClean="0"/>
              <a:t>The </a:t>
            </a:r>
            <a:r>
              <a:rPr lang="en-US" sz="2400" dirty="0"/>
              <a:t>main purpose of a biological database is to store and manage biological data and information in computer readable forms. </a:t>
            </a:r>
            <a:endParaRPr lang="en-US" sz="2400" dirty="0" smtClean="0"/>
          </a:p>
          <a:p>
            <a:pPr marL="342900" indent="-342900">
              <a:buFont typeface="Wingdings" pitchFamily="2" charset="2"/>
              <a:buChar char="Ø"/>
            </a:pPr>
            <a:endParaRPr lang="en-US" sz="2400" dirty="0"/>
          </a:p>
          <a:p>
            <a:pPr marL="342900" indent="-342900">
              <a:buFont typeface="Wingdings" pitchFamily="2" charset="2"/>
              <a:buChar char="Ø"/>
            </a:pPr>
            <a:r>
              <a:rPr lang="en-US" sz="2400" dirty="0" smtClean="0"/>
              <a:t>Biological </a:t>
            </a:r>
            <a:r>
              <a:rPr lang="en-US" sz="2400" dirty="0"/>
              <a:t>data are complex, exception-ridden, vast and incomplete.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294418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365" t="16507"/>
          <a:stretch/>
        </p:blipFill>
        <p:spPr bwMode="auto">
          <a:xfrm>
            <a:off x="384537" y="1460499"/>
            <a:ext cx="9891221" cy="2082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030"/>
          <p:cNvSpPr txBox="1">
            <a:spLocks noChangeArrowheads="1"/>
          </p:cNvSpPr>
          <p:nvPr/>
        </p:nvSpPr>
        <p:spPr bwMode="auto">
          <a:xfrm>
            <a:off x="384537" y="551914"/>
            <a:ext cx="5427927"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folHlink"/>
                </a:solidFill>
                <a:latin typeface="Arial" panose="020B0604020202020204" pitchFamily="34" charset="0"/>
              </a:rPr>
              <a:t>Why Biological Database?</a:t>
            </a:r>
            <a:endParaRPr lang="en-GB" sz="3200" b="1" dirty="0">
              <a:solidFill>
                <a:schemeClr val="folHlink"/>
              </a:solidFill>
              <a:latin typeface="Arial" panose="020B0604020202020204" pitchFamily="34" charset="0"/>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3727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0" y="891946"/>
            <a:ext cx="10287000" cy="595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44509" y="901182"/>
            <a:ext cx="2752436" cy="5919874"/>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600792" y="444447"/>
            <a:ext cx="718466" cy="461665"/>
          </a:xfrm>
          <a:prstGeom prst="rect">
            <a:avLst/>
          </a:prstGeom>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US" sz="2400" dirty="0" smtClean="0"/>
              <a:t>NGS</a:t>
            </a:r>
            <a:endParaRPr lang="en-US" sz="2400" dirty="0"/>
          </a:p>
        </p:txBody>
      </p:sp>
      <p:sp>
        <p:nvSpPr>
          <p:cNvPr id="2" name="Rectangle 1"/>
          <p:cNvSpPr/>
          <p:nvPr/>
        </p:nvSpPr>
        <p:spPr>
          <a:xfrm>
            <a:off x="0" y="259781"/>
            <a:ext cx="5919826" cy="461665"/>
          </a:xfrm>
          <a:prstGeom prst="rect">
            <a:avLst/>
          </a:prstGeom>
        </p:spPr>
        <p:txBody>
          <a:bodyPr wrap="none">
            <a:spAutoFit/>
          </a:bodyPr>
          <a:lstStyle/>
          <a:p>
            <a:pPr marL="342900" indent="-342900">
              <a:spcBef>
                <a:spcPct val="50000"/>
              </a:spcBef>
              <a:buFont typeface="Arial" pitchFamily="34" charset="0"/>
              <a:buChar char="•"/>
            </a:pPr>
            <a:r>
              <a:rPr lang="en-GB" sz="2400" b="1" dirty="0">
                <a:solidFill>
                  <a:schemeClr val="tx2"/>
                </a:solidFill>
                <a:latin typeface="Arial" panose="020B0604020202020204" pitchFamily="34" charset="0"/>
              </a:rPr>
              <a:t>Evolution of Sequencing Technology</a:t>
            </a:r>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solidFill>
                  <a:srgbClr val="00B050"/>
                </a:solidFill>
              </a:rPr>
              <a:t>© Dr</a:t>
            </a:r>
            <a:r>
              <a:rPr lang="en-US" dirty="0">
                <a:solidFill>
                  <a:srgbClr val="00B050"/>
                </a:solidFill>
              </a:rPr>
              <a:t>. </a:t>
            </a:r>
            <a:r>
              <a:rPr lang="en-US" dirty="0" err="1">
                <a:solidFill>
                  <a:srgbClr val="00B050"/>
                </a:solidFill>
              </a:rPr>
              <a:t>Pritam</a:t>
            </a:r>
            <a:r>
              <a:rPr lang="en-US" dirty="0">
                <a:solidFill>
                  <a:srgbClr val="00B050"/>
                </a:solidFill>
              </a:rPr>
              <a:t> </a:t>
            </a:r>
            <a:r>
              <a:rPr lang="en-US" dirty="0" err="1">
                <a:solidFill>
                  <a:srgbClr val="00B050"/>
                </a:solidFill>
              </a:rPr>
              <a:t>Chattopadhyay</a:t>
            </a:r>
            <a:endParaRPr lang="en-US" dirty="0">
              <a:solidFill>
                <a:srgbClr val="00B050"/>
              </a:solidFill>
            </a:endParaRPr>
          </a:p>
        </p:txBody>
      </p:sp>
    </p:spTree>
    <p:extLst>
      <p:ext uri="{BB962C8B-B14F-4D97-AF65-F5344CB8AC3E}">
        <p14:creationId xmlns:p14="http://schemas.microsoft.com/office/powerpoint/2010/main" val="2177690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Welcome to immense discovery p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9460"/>
            <a:ext cx="4661535" cy="585853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717438" y="1373926"/>
            <a:ext cx="5143500" cy="1569660"/>
          </a:xfrm>
          <a:prstGeom prst="rect">
            <a:avLst/>
          </a:prstGeom>
        </p:spPr>
        <p:txBody>
          <a:bodyPr>
            <a:spAutoFit/>
          </a:bodyPr>
          <a:lstStyle/>
          <a:p>
            <a:pPr marL="342900" indent="-342900">
              <a:buFont typeface="Wingdings" pitchFamily="2" charset="2"/>
              <a:buChar char="Ø"/>
            </a:pPr>
            <a:r>
              <a:rPr lang="en-US" sz="2400" dirty="0" smtClean="0"/>
              <a:t>Output </a:t>
            </a:r>
            <a:r>
              <a:rPr lang="en-US" sz="2400" dirty="0"/>
              <a:t>of up to 6 Tb and 20 </a:t>
            </a:r>
            <a:r>
              <a:rPr lang="en-US" sz="2400" dirty="0" smtClean="0"/>
              <a:t>B </a:t>
            </a:r>
            <a:r>
              <a:rPr lang="en-US" sz="2400" dirty="0"/>
              <a:t>reads in &lt; 2 days </a:t>
            </a:r>
            <a:endParaRPr lang="en-US" sz="2400" dirty="0" smtClean="0"/>
          </a:p>
          <a:p>
            <a:pPr marL="342900" indent="-342900">
              <a:buFont typeface="Wingdings" pitchFamily="2" charset="2"/>
              <a:buChar char="Ø"/>
            </a:pPr>
            <a:r>
              <a:rPr lang="en-US" sz="2400" dirty="0" smtClean="0"/>
              <a:t>Suitable for </a:t>
            </a:r>
            <a:r>
              <a:rPr lang="en-US" sz="2400" dirty="0"/>
              <a:t>Large Whole-Genome Sequencing (human, plant, animal</a:t>
            </a:r>
            <a:r>
              <a:rPr lang="en-US" sz="2400" dirty="0" smtClean="0"/>
              <a:t>)</a:t>
            </a:r>
            <a:endParaRPr lang="en-US" sz="2400" dirty="0"/>
          </a:p>
        </p:txBody>
      </p:sp>
      <p:sp>
        <p:nvSpPr>
          <p:cNvPr id="6" name="Rectangle 5"/>
          <p:cNvSpPr/>
          <p:nvPr/>
        </p:nvSpPr>
        <p:spPr>
          <a:xfrm>
            <a:off x="5531143" y="800758"/>
            <a:ext cx="3883564" cy="584775"/>
          </a:xfrm>
          <a:prstGeom prst="rect">
            <a:avLst/>
          </a:prstGeom>
        </p:spPr>
        <p:txBody>
          <a:bodyPr wrap="none">
            <a:spAutoFit/>
          </a:bodyPr>
          <a:lstStyle/>
          <a:p>
            <a:r>
              <a:rPr lang="en-US" sz="3200" b="1" dirty="0" err="1" smtClean="0"/>
              <a:t>Illumina</a:t>
            </a:r>
            <a:r>
              <a:rPr lang="en-US" sz="3200" b="1" dirty="0" smtClean="0"/>
              <a:t> </a:t>
            </a:r>
            <a:r>
              <a:rPr lang="en-US" sz="3200" b="1" dirty="0" err="1" smtClean="0"/>
              <a:t>NovaSeq</a:t>
            </a:r>
            <a:r>
              <a:rPr lang="en-US" sz="3200" b="1" dirty="0" smtClean="0"/>
              <a:t> 600</a:t>
            </a:r>
            <a:endParaRPr lang="en-US" sz="2800" dirty="0"/>
          </a:p>
        </p:txBody>
      </p:sp>
      <p:sp>
        <p:nvSpPr>
          <p:cNvPr id="4" name="TextBox 3"/>
          <p:cNvSpPr txBox="1"/>
          <p:nvPr/>
        </p:nvSpPr>
        <p:spPr>
          <a:xfrm>
            <a:off x="4544840" y="3358852"/>
            <a:ext cx="5632953" cy="2862322"/>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2000" dirty="0" smtClean="0"/>
              <a:t>Human Genome Project (HGP)</a:t>
            </a:r>
          </a:p>
          <a:p>
            <a:pPr algn="ctr"/>
            <a:r>
              <a:rPr lang="en-US" sz="2000" dirty="0" smtClean="0"/>
              <a:t>Human Genome (Genetic Makeup): </a:t>
            </a:r>
          </a:p>
          <a:p>
            <a:pPr algn="ctr"/>
            <a:r>
              <a:rPr lang="en-US" sz="2000" dirty="0" smtClean="0"/>
              <a:t>0.00625 Tb that includes 6.4 B reads</a:t>
            </a:r>
          </a:p>
          <a:p>
            <a:pPr algn="ctr"/>
            <a:endParaRPr lang="en-US" sz="2000" dirty="0"/>
          </a:p>
          <a:p>
            <a:pPr algn="ctr"/>
            <a:r>
              <a:rPr lang="en-US" sz="2000" dirty="0" smtClean="0"/>
              <a:t>HGP uses Automated Sanger Method (2</a:t>
            </a:r>
            <a:r>
              <a:rPr lang="en-US" sz="2000" baseline="30000" dirty="0" smtClean="0"/>
              <a:t>nd</a:t>
            </a:r>
            <a:r>
              <a:rPr lang="en-US" sz="2000" dirty="0" smtClean="0"/>
              <a:t> Generation)</a:t>
            </a:r>
          </a:p>
          <a:p>
            <a:pPr algn="ctr"/>
            <a:r>
              <a:rPr lang="en-US" sz="2000" dirty="0" smtClean="0"/>
              <a:t>No of individual: 1 (RP11) 70% + </a:t>
            </a:r>
            <a:r>
              <a:rPr lang="en-US" sz="2000" dirty="0" err="1" smtClean="0"/>
              <a:t>HapMap</a:t>
            </a:r>
            <a:r>
              <a:rPr lang="en-US" sz="2000" dirty="0" smtClean="0"/>
              <a:t> from 270 individual</a:t>
            </a:r>
          </a:p>
          <a:p>
            <a:pPr algn="ctr"/>
            <a:r>
              <a:rPr lang="en-US" sz="2000" dirty="0" smtClean="0"/>
              <a:t>Time taken: 13 years</a:t>
            </a:r>
          </a:p>
        </p:txBody>
      </p:sp>
      <p:sp>
        <p:nvSpPr>
          <p:cNvPr id="8" name="Rectangle 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7" name="Rectangle 6"/>
          <p:cNvSpPr/>
          <p:nvPr/>
        </p:nvSpPr>
        <p:spPr>
          <a:xfrm>
            <a:off x="0" y="259781"/>
            <a:ext cx="1899879" cy="461665"/>
          </a:xfrm>
          <a:prstGeom prst="rect">
            <a:avLst/>
          </a:prstGeom>
        </p:spPr>
        <p:txBody>
          <a:bodyPr wrap="none">
            <a:spAutoFit/>
          </a:bodyPr>
          <a:lstStyle/>
          <a:p>
            <a:pPr marL="342900" indent="-342900">
              <a:spcBef>
                <a:spcPct val="50000"/>
              </a:spcBef>
              <a:buFont typeface="Arial" pitchFamily="34" charset="0"/>
              <a:buChar char="•"/>
            </a:pPr>
            <a:r>
              <a:rPr lang="en-GB" sz="2400" b="1" dirty="0" smtClean="0">
                <a:solidFill>
                  <a:schemeClr val="tx2"/>
                </a:solidFill>
                <a:latin typeface="Arial" panose="020B0604020202020204" pitchFamily="34" charset="0"/>
              </a:rPr>
              <a:t>Example:</a:t>
            </a:r>
            <a:endParaRPr lang="en-GB" sz="2400" b="1" dirty="0">
              <a:solidFill>
                <a:schemeClr val="tx2"/>
              </a:solidFill>
              <a:latin typeface="Arial" panose="020B0604020202020204" pitchFamily="34" charset="0"/>
            </a:endParaRPr>
          </a:p>
        </p:txBody>
      </p:sp>
    </p:spTree>
    <p:extLst>
      <p:ext uri="{BB962C8B-B14F-4D97-AF65-F5344CB8AC3E}">
        <p14:creationId xmlns:p14="http://schemas.microsoft.com/office/powerpoint/2010/main" val="2897318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85800" y="584200"/>
            <a:ext cx="7772400" cy="533400"/>
          </a:xfrm>
          <a:prstGeom prst="rect">
            <a:avLst/>
          </a:prstGeom>
        </p:spPr>
        <p:txBody>
          <a:bodyP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smtClean="0"/>
              <a:t>Genbank</a:t>
            </a:r>
            <a:r>
              <a:rPr lang="en-US" dirty="0" smtClean="0"/>
              <a:t> NCBI</a:t>
            </a:r>
            <a:endParaRPr lang="en-US" dirty="0"/>
          </a:p>
        </p:txBody>
      </p:sp>
      <p:sp>
        <p:nvSpPr>
          <p:cNvPr id="3" name="Rectangle 3"/>
          <p:cNvSpPr txBox="1">
            <a:spLocks noChangeArrowheads="1"/>
          </p:cNvSpPr>
          <p:nvPr/>
        </p:nvSpPr>
        <p:spPr>
          <a:xfrm>
            <a:off x="304799" y="1346200"/>
            <a:ext cx="9806763" cy="1447800"/>
          </a:xfrm>
          <a:prstGeom prst="rect">
            <a:avLst/>
          </a:prstGeom>
        </p:spPr>
        <p:txBody>
          <a:bodyPr>
            <a:normAutofit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lnSpc>
                <a:spcPct val="90000"/>
              </a:lnSpc>
            </a:pPr>
            <a:r>
              <a:rPr lang="en-US" sz="2400" dirty="0" smtClean="0">
                <a:solidFill>
                  <a:schemeClr val="folHlink"/>
                </a:solidFill>
                <a:latin typeface="Arial Unicode MS" panose="020B0604020202020204" pitchFamily="34" charset="-128"/>
                <a:cs typeface="Times New Roman" panose="02020603050405020304" pitchFamily="18" charset="0"/>
              </a:rPr>
              <a:t>August 15 2004</a:t>
            </a:r>
            <a:r>
              <a:rPr lang="en-US" sz="2400" dirty="0" smtClean="0">
                <a:solidFill>
                  <a:schemeClr val="folHlink"/>
                </a:solidFill>
                <a:cs typeface="Times New Roman" panose="02020603050405020304" pitchFamily="18" charset="0"/>
              </a:rPr>
              <a:t>, GenBank releases 143.0</a:t>
            </a:r>
            <a:r>
              <a:rPr lang="en-US" sz="2400" dirty="0" smtClean="0">
                <a:solidFill>
                  <a:schemeClr val="folHlink"/>
                </a:solidFill>
                <a:latin typeface="Verdana" panose="020B0604030504040204" pitchFamily="34" charset="0"/>
                <a:cs typeface="Times New Roman" panose="02020603050405020304" pitchFamily="18" charset="0"/>
              </a:rPr>
              <a:t> contains </a:t>
            </a:r>
            <a:r>
              <a:rPr lang="en-US" sz="2400" dirty="0" smtClean="0">
                <a:solidFill>
                  <a:schemeClr val="folHlink"/>
                </a:solidFill>
                <a:latin typeface="Arial Unicode MS" panose="020B0604020202020204" pitchFamily="34" charset="-128"/>
                <a:cs typeface="Times New Roman" panose="02020603050405020304" pitchFamily="18" charset="0"/>
              </a:rPr>
              <a:t>37343937 loci, 41808045653 bases, from 37343937 reported sequences </a:t>
            </a:r>
            <a:r>
              <a:rPr lang="en-US" sz="2400" dirty="0" smtClean="0">
                <a:solidFill>
                  <a:schemeClr val="folHlink"/>
                </a:solidFill>
                <a:cs typeface="Times New Roman" panose="02020603050405020304" pitchFamily="18" charset="0"/>
              </a:rPr>
              <a:t>.</a:t>
            </a:r>
            <a:r>
              <a:rPr lang="en-US" sz="2400" dirty="0" smtClean="0">
                <a:solidFill>
                  <a:schemeClr val="folHlink"/>
                </a:solidFill>
                <a:latin typeface="Verdana" panose="020B0604030504040204" pitchFamily="34" charset="0"/>
              </a:rPr>
              <a:t> </a:t>
            </a:r>
          </a:p>
          <a:p>
            <a:pPr>
              <a:lnSpc>
                <a:spcPct val="90000"/>
              </a:lnSpc>
            </a:pPr>
            <a:r>
              <a:rPr lang="en-US" sz="2400" dirty="0" smtClean="0">
                <a:solidFill>
                  <a:schemeClr val="folHlink"/>
                </a:solidFill>
                <a:cs typeface="Times New Roman" panose="02020603050405020304" pitchFamily="18" charset="0"/>
              </a:rPr>
              <a:t>Uncompressed, the Release 142.0 </a:t>
            </a:r>
            <a:r>
              <a:rPr lang="en-US" sz="2400" dirty="0" err="1" smtClean="0">
                <a:solidFill>
                  <a:schemeClr val="folHlink"/>
                </a:solidFill>
                <a:cs typeface="Times New Roman" panose="02020603050405020304" pitchFamily="18" charset="0"/>
              </a:rPr>
              <a:t>flatfiles</a:t>
            </a:r>
            <a:r>
              <a:rPr lang="en-US" sz="2400" dirty="0" smtClean="0">
                <a:solidFill>
                  <a:schemeClr val="folHlink"/>
                </a:solidFill>
                <a:cs typeface="Times New Roman" panose="02020603050405020304" pitchFamily="18" charset="0"/>
              </a:rPr>
              <a:t> require approximately </a:t>
            </a:r>
            <a:r>
              <a:rPr lang="en-US" sz="2400" dirty="0" smtClean="0">
                <a:solidFill>
                  <a:schemeClr val="hlink"/>
                </a:solidFill>
                <a:cs typeface="Times New Roman" panose="02020603050405020304" pitchFamily="18" charset="0"/>
              </a:rPr>
              <a:t>140 gigabytes</a:t>
            </a:r>
            <a:endParaRPr lang="en-US" sz="2400" dirty="0">
              <a:solidFill>
                <a:schemeClr val="hlink"/>
              </a:solidFill>
              <a:cs typeface="Times New Roman" panose="02020603050405020304" pitchFamily="18" charset="0"/>
            </a:endParaRPr>
          </a:p>
        </p:txBody>
      </p:sp>
      <p:pic>
        <p:nvPicPr>
          <p:cNvPr id="4" name="Picture 7" descr="Grivell_fig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491" y="2557443"/>
            <a:ext cx="6236016" cy="37534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6" name="Rectangle 2"/>
          <p:cNvSpPr>
            <a:spLocks noChangeArrowheads="1"/>
          </p:cNvSpPr>
          <p:nvPr/>
        </p:nvSpPr>
        <p:spPr bwMode="auto">
          <a:xfrm>
            <a:off x="-2" y="0"/>
            <a:ext cx="10287287" cy="492443"/>
          </a:xfrm>
          <a:prstGeom prst="rect">
            <a:avLst/>
          </a:prstGeom>
          <a:noFill/>
          <a:ln w="9525">
            <a:noFill/>
            <a:miter lim="800000"/>
            <a:headEnd/>
            <a:tailEnd/>
          </a:ln>
        </p:spPr>
        <p:txBody>
          <a:bodyPr wrap="square">
            <a:spAutoFit/>
          </a:bodyPr>
          <a:lstStyle/>
          <a:p>
            <a:pPr marL="457200" indent="-457200" algn="ctr">
              <a:buFont typeface="Arial" pitchFamily="34" charset="0"/>
              <a:buChar char="•"/>
            </a:pPr>
            <a:r>
              <a:rPr lang="en-US" sz="2600" dirty="0">
                <a:solidFill>
                  <a:schemeClr val="accent2"/>
                </a:solidFill>
              </a:rPr>
              <a:t>The trend of data growth</a:t>
            </a:r>
            <a:endParaRPr lang="en-US" sz="3000" dirty="0">
              <a:solidFill>
                <a:schemeClr val="accent2"/>
              </a:solidFill>
              <a:latin typeface="Tahoma" pitchFamily="1" charset="0"/>
            </a:endParaRPr>
          </a:p>
        </p:txBody>
      </p:sp>
      <p:sp>
        <p:nvSpPr>
          <p:cNvPr id="7" name="Line 3"/>
          <p:cNvSpPr>
            <a:spLocks noChangeShapeType="1"/>
          </p:cNvSpPr>
          <p:nvPr/>
        </p:nvSpPr>
        <p:spPr bwMode="auto">
          <a:xfrm>
            <a:off x="-1" y="546100"/>
            <a:ext cx="10287001" cy="0"/>
          </a:xfrm>
          <a:prstGeom prst="line">
            <a:avLst/>
          </a:prstGeom>
          <a:noFill/>
          <a:ln w="57150" cmpd="thickThin">
            <a:solidFill>
              <a:schemeClr val="tx1"/>
            </a:solidFill>
            <a:round/>
            <a:headEnd/>
            <a:tailEnd/>
          </a:ln>
        </p:spPr>
        <p:txBody>
          <a:bodyPr wrap="none" anchor="ctr"/>
          <a:lstStyle/>
          <a:p>
            <a:endParaRPr lang="en-US"/>
          </a:p>
        </p:txBody>
      </p:sp>
    </p:spTree>
    <p:extLst>
      <p:ext uri="{BB962C8B-B14F-4D97-AF65-F5344CB8AC3E}">
        <p14:creationId xmlns:p14="http://schemas.microsoft.com/office/powerpoint/2010/main" val="1105006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0276945" cy="492443"/>
          </a:xfrm>
          <a:prstGeom prst="rect">
            <a:avLst/>
          </a:prstGeom>
          <a:noFill/>
          <a:ln w="9525">
            <a:noFill/>
            <a:miter lim="800000"/>
            <a:headEnd/>
            <a:tailEnd/>
          </a:ln>
        </p:spPr>
        <p:txBody>
          <a:bodyPr wrap="square">
            <a:spAutoFit/>
          </a:bodyPr>
          <a:lstStyle/>
          <a:p>
            <a:pPr marL="457200" indent="-457200" algn="ctr">
              <a:buFont typeface="Arial" pitchFamily="34" charset="0"/>
              <a:buChar char="•"/>
            </a:pPr>
            <a:r>
              <a:rPr lang="en-US" sz="2600" dirty="0">
                <a:solidFill>
                  <a:schemeClr val="accent2"/>
                </a:solidFill>
              </a:rPr>
              <a:t>The trend of data growth</a:t>
            </a:r>
            <a:endParaRPr lang="en-US" sz="3000" dirty="0">
              <a:solidFill>
                <a:schemeClr val="accent2"/>
              </a:solidFill>
              <a:latin typeface="Tahoma" pitchFamily="1" charset="0"/>
            </a:endParaRPr>
          </a:p>
        </p:txBody>
      </p:sp>
      <p:sp>
        <p:nvSpPr>
          <p:cNvPr id="3" name="Line 3"/>
          <p:cNvSpPr>
            <a:spLocks noChangeShapeType="1"/>
          </p:cNvSpPr>
          <p:nvPr/>
        </p:nvSpPr>
        <p:spPr bwMode="auto">
          <a:xfrm>
            <a:off x="-1" y="546100"/>
            <a:ext cx="10287001" cy="0"/>
          </a:xfrm>
          <a:prstGeom prst="line">
            <a:avLst/>
          </a:prstGeom>
          <a:noFill/>
          <a:ln w="57150" cmpd="thickThin">
            <a:solidFill>
              <a:schemeClr val="tx1"/>
            </a:solidFill>
            <a:round/>
            <a:headEnd/>
            <a:tailEnd/>
          </a:ln>
        </p:spPr>
        <p:txBody>
          <a:bodyPr wrap="none" anchor="ctr"/>
          <a:lstStyle/>
          <a:p>
            <a:endParaRPr lang="en-US"/>
          </a:p>
        </p:txBody>
      </p:sp>
      <p:graphicFrame>
        <p:nvGraphicFramePr>
          <p:cNvPr id="4" name="Object 4"/>
          <p:cNvGraphicFramePr>
            <a:graphicFrameLocks noChangeAspect="1"/>
          </p:cNvGraphicFramePr>
          <p:nvPr>
            <p:extLst>
              <p:ext uri="{D42A27DB-BD31-4B8C-83A1-F6EECF244321}">
                <p14:modId xmlns:p14="http://schemas.microsoft.com/office/powerpoint/2010/main" val="1644188225"/>
              </p:ext>
            </p:extLst>
          </p:nvPr>
        </p:nvGraphicFramePr>
        <p:xfrm>
          <a:off x="6752562" y="595314"/>
          <a:ext cx="3432837" cy="2363786"/>
        </p:xfrm>
        <a:graphic>
          <a:graphicData uri="http://schemas.openxmlformats.org/presentationml/2006/ole">
            <mc:AlternateContent xmlns:mc="http://schemas.openxmlformats.org/markup-compatibility/2006">
              <mc:Choice xmlns:v="urn:schemas-microsoft-com:vml" Requires="v">
                <p:oleObj spid="_x0000_s9238" name="Worksheet" r:id="rId4" imgW="3619500" imgH="2286000" progId="Excel.Sheet.8">
                  <p:embed/>
                </p:oleObj>
              </mc:Choice>
              <mc:Fallback>
                <p:oleObj name="Worksheet" r:id="rId4" imgW="3619500" imgH="2286000" progId="Excel.Shee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2562" y="595314"/>
                        <a:ext cx="3432837" cy="2363786"/>
                      </a:xfrm>
                      <a:prstGeom prst="rect">
                        <a:avLst/>
                      </a:prstGeom>
                      <a:solidFill>
                        <a:schemeClr val="tx1"/>
                      </a:solidFill>
                      <a:ln>
                        <a:noFill/>
                      </a:ln>
                      <a:effectLst/>
                      <a:extLst/>
                    </p:spPr>
                  </p:pic>
                </p:oleObj>
              </mc:Fallback>
            </mc:AlternateContent>
          </a:graphicData>
        </a:graphic>
      </p:graphicFrame>
      <p:sp>
        <p:nvSpPr>
          <p:cNvPr id="5" name="Rectangle 6"/>
          <p:cNvSpPr>
            <a:spLocks noChangeArrowheads="1"/>
          </p:cNvSpPr>
          <p:nvPr/>
        </p:nvSpPr>
        <p:spPr bwMode="auto">
          <a:xfrm>
            <a:off x="74613" y="620713"/>
            <a:ext cx="10212387" cy="430887"/>
          </a:xfrm>
          <a:prstGeom prst="rect">
            <a:avLst/>
          </a:prstGeom>
          <a:noFill/>
          <a:ln w="9525">
            <a:noFill/>
            <a:miter lim="800000"/>
            <a:headEnd/>
            <a:tailEnd/>
          </a:ln>
        </p:spPr>
        <p:txBody>
          <a:bodyPr wrap="square">
            <a:spAutoFit/>
          </a:bodyPr>
          <a:lstStyle/>
          <a:p>
            <a:r>
              <a:rPr lang="en-CA" sz="1600" b="1" dirty="0">
                <a:solidFill>
                  <a:srgbClr val="FA1113"/>
                </a:solidFill>
                <a:sym typeface="Webdings" pitchFamily="1" charset="2"/>
              </a:rPr>
              <a:t></a:t>
            </a:r>
            <a:r>
              <a:rPr lang="en-US" sz="2200" dirty="0"/>
              <a:t>21</a:t>
            </a:r>
            <a:r>
              <a:rPr lang="en-US" sz="2200" baseline="30000" dirty="0"/>
              <a:t>st</a:t>
            </a:r>
            <a:r>
              <a:rPr lang="en-US" sz="2200" dirty="0"/>
              <a:t> century is a century of </a:t>
            </a:r>
            <a:r>
              <a:rPr lang="en-US" sz="2200" dirty="0" smtClean="0"/>
              <a:t>biotechnology and OMICS:</a:t>
            </a:r>
            <a:endParaRPr lang="en-US" sz="2200" dirty="0"/>
          </a:p>
        </p:txBody>
      </p:sp>
      <p:sp>
        <p:nvSpPr>
          <p:cNvPr id="6" name="Rectangle 9"/>
          <p:cNvSpPr>
            <a:spLocks noChangeArrowheads="1"/>
          </p:cNvSpPr>
          <p:nvPr/>
        </p:nvSpPr>
        <p:spPr bwMode="auto">
          <a:xfrm>
            <a:off x="329531" y="2903503"/>
            <a:ext cx="8115969" cy="1015663"/>
          </a:xfrm>
          <a:prstGeom prst="rect">
            <a:avLst/>
          </a:prstGeom>
          <a:noFill/>
          <a:ln w="9525">
            <a:noFill/>
            <a:miter lim="800000"/>
            <a:headEnd/>
            <a:tailEnd/>
          </a:ln>
        </p:spPr>
        <p:txBody>
          <a:bodyPr wrap="square">
            <a:spAutoFit/>
          </a:bodyPr>
          <a:lstStyle/>
          <a:p>
            <a:r>
              <a:rPr lang="en-CA" sz="1200" b="1" dirty="0" smtClean="0">
                <a:solidFill>
                  <a:schemeClr val="accent2"/>
                </a:solidFill>
                <a:sym typeface="Webdings" pitchFamily="1" charset="2"/>
              </a:rPr>
              <a:t></a:t>
            </a:r>
            <a:r>
              <a:rPr lang="en-US" sz="2000" dirty="0" err="1">
                <a:solidFill>
                  <a:srgbClr val="F91402"/>
                </a:solidFill>
                <a:sym typeface="Webdings" pitchFamily="1" charset="2"/>
              </a:rPr>
              <a:t>T</a:t>
            </a:r>
            <a:r>
              <a:rPr lang="en-US" sz="2000" dirty="0" err="1" smtClean="0">
                <a:solidFill>
                  <a:srgbClr val="F91402"/>
                </a:solidFill>
              </a:rPr>
              <a:t>ranscriptomics</a:t>
            </a:r>
            <a:r>
              <a:rPr lang="en-US" sz="2000" dirty="0" smtClean="0">
                <a:solidFill>
                  <a:srgbClr val="F91402"/>
                </a:solidFill>
              </a:rPr>
              <a:t>: Microarray</a:t>
            </a:r>
            <a:r>
              <a:rPr lang="en-US" sz="2200" dirty="0"/>
              <a:t>: </a:t>
            </a:r>
            <a:r>
              <a:rPr lang="en-US" sz="1800" i="1" dirty="0"/>
              <a:t>Global expression analysis: RNA levels of </a:t>
            </a:r>
            <a:r>
              <a:rPr lang="en-US" sz="1800" i="1" dirty="0" smtClean="0"/>
              <a:t>every gene </a:t>
            </a:r>
            <a:r>
              <a:rPr lang="en-US" sz="1800" i="1" dirty="0"/>
              <a:t>in the genome analyzed in parallel</a:t>
            </a:r>
            <a:r>
              <a:rPr lang="en-US" sz="1800" i="1" dirty="0" smtClean="0"/>
              <a:t>. </a:t>
            </a:r>
          </a:p>
          <a:p>
            <a:r>
              <a:rPr lang="en-US" sz="1800" i="1" dirty="0">
                <a:solidFill>
                  <a:srgbClr val="FF0000"/>
                </a:solidFill>
              </a:rPr>
              <a:t>	</a:t>
            </a:r>
            <a:r>
              <a:rPr lang="en-US" sz="1800" i="1" dirty="0" smtClean="0">
                <a:solidFill>
                  <a:srgbClr val="FF0000"/>
                </a:solidFill>
              </a:rPr>
              <a:t>	</a:t>
            </a:r>
            <a:r>
              <a:rPr lang="en-US" sz="1800" i="1" dirty="0">
                <a:solidFill>
                  <a:srgbClr val="FF0000"/>
                </a:solidFill>
              </a:rPr>
              <a:t> </a:t>
            </a:r>
            <a:r>
              <a:rPr lang="en-US" sz="1800" i="1" dirty="0" smtClean="0">
                <a:solidFill>
                  <a:srgbClr val="FF0000"/>
                </a:solidFill>
              </a:rPr>
              <a:t>Progressively replaced by </a:t>
            </a:r>
            <a:r>
              <a:rPr lang="en-US" sz="2000" i="1" dirty="0" smtClean="0">
                <a:solidFill>
                  <a:srgbClr val="FF0000"/>
                </a:solidFill>
              </a:rPr>
              <a:t>RNA-</a:t>
            </a:r>
            <a:r>
              <a:rPr lang="en-US" sz="2000" i="1" dirty="0" err="1" smtClean="0">
                <a:solidFill>
                  <a:srgbClr val="FF0000"/>
                </a:solidFill>
              </a:rPr>
              <a:t>seq</a:t>
            </a:r>
            <a:endParaRPr lang="en-US" sz="2000" dirty="0">
              <a:solidFill>
                <a:srgbClr val="FF0000"/>
              </a:solidFill>
            </a:endParaRPr>
          </a:p>
        </p:txBody>
      </p:sp>
      <p:sp>
        <p:nvSpPr>
          <p:cNvPr id="7" name="Rectangle 10"/>
          <p:cNvSpPr>
            <a:spLocks noChangeArrowheads="1"/>
          </p:cNvSpPr>
          <p:nvPr/>
        </p:nvSpPr>
        <p:spPr bwMode="auto">
          <a:xfrm>
            <a:off x="329530" y="4093370"/>
            <a:ext cx="11351291" cy="769441"/>
          </a:xfrm>
          <a:prstGeom prst="rect">
            <a:avLst/>
          </a:prstGeom>
          <a:noFill/>
          <a:ln w="9525">
            <a:noFill/>
            <a:miter lim="800000"/>
            <a:headEnd/>
            <a:tailEnd/>
          </a:ln>
        </p:spPr>
        <p:txBody>
          <a:bodyPr wrap="square">
            <a:spAutoFit/>
          </a:bodyPr>
          <a:lstStyle/>
          <a:p>
            <a:r>
              <a:rPr lang="en-CA" sz="1200" b="1" dirty="0">
                <a:solidFill>
                  <a:schemeClr val="accent2"/>
                </a:solidFill>
                <a:sym typeface="Webdings" pitchFamily="1" charset="2"/>
              </a:rPr>
              <a:t></a:t>
            </a:r>
            <a:r>
              <a:rPr lang="en-US" sz="2000" dirty="0">
                <a:solidFill>
                  <a:srgbClr val="F91402"/>
                </a:solidFill>
              </a:rPr>
              <a:t>Proteomics</a:t>
            </a:r>
            <a:r>
              <a:rPr lang="en-US" sz="2600" dirty="0" smtClean="0"/>
              <a:t>: </a:t>
            </a:r>
            <a:r>
              <a:rPr lang="en-US" sz="1800" i="1" dirty="0" smtClean="0"/>
              <a:t>Global </a:t>
            </a:r>
            <a:r>
              <a:rPr lang="en-US" sz="1800" i="1" dirty="0"/>
              <a:t>protein analysis generates by large mass</a:t>
            </a:r>
          </a:p>
          <a:p>
            <a:r>
              <a:rPr lang="en-US" sz="1800" i="1" dirty="0"/>
              <a:t>	          spectra libraries.</a:t>
            </a:r>
            <a:endParaRPr lang="en-US" sz="1800" dirty="0"/>
          </a:p>
        </p:txBody>
      </p:sp>
      <p:pic>
        <p:nvPicPr>
          <p:cNvPr id="8" name="Picture 11"/>
          <p:cNvPicPr>
            <a:picLocks noChangeAspect="1" noChangeArrowheads="1"/>
          </p:cNvPicPr>
          <p:nvPr/>
        </p:nvPicPr>
        <p:blipFill>
          <a:blip r:embed="rId6" cstate="print"/>
          <a:srcRect/>
          <a:stretch>
            <a:fillRect/>
          </a:stretch>
        </p:blipFill>
        <p:spPr bwMode="auto">
          <a:xfrm>
            <a:off x="8052432" y="3094834"/>
            <a:ext cx="1718898" cy="1997071"/>
          </a:xfrm>
          <a:prstGeom prst="rect">
            <a:avLst/>
          </a:prstGeom>
          <a:noFill/>
          <a:ln w="9525">
            <a:noFill/>
            <a:miter lim="800000"/>
            <a:headEnd/>
            <a:tailEnd/>
          </a:ln>
          <a:effectLst/>
        </p:spPr>
      </p:pic>
      <p:sp>
        <p:nvSpPr>
          <p:cNvPr id="9" name="Rectangle 13"/>
          <p:cNvSpPr>
            <a:spLocks noChangeArrowheads="1"/>
          </p:cNvSpPr>
          <p:nvPr/>
        </p:nvSpPr>
        <p:spPr bwMode="auto">
          <a:xfrm>
            <a:off x="325438" y="5393553"/>
            <a:ext cx="4964112" cy="677108"/>
          </a:xfrm>
          <a:prstGeom prst="rect">
            <a:avLst/>
          </a:prstGeom>
          <a:noFill/>
          <a:ln w="9525">
            <a:noFill/>
            <a:miter lim="800000"/>
            <a:headEnd/>
            <a:tailEnd/>
          </a:ln>
        </p:spPr>
        <p:txBody>
          <a:bodyPr wrap="square">
            <a:spAutoFit/>
          </a:bodyPr>
          <a:lstStyle/>
          <a:p>
            <a:r>
              <a:rPr lang="en-CA" sz="1200" b="1" dirty="0">
                <a:solidFill>
                  <a:schemeClr val="accent2"/>
                </a:solidFill>
                <a:sym typeface="Webdings" pitchFamily="1" charset="2"/>
              </a:rPr>
              <a:t></a:t>
            </a:r>
            <a:r>
              <a:rPr lang="en-US" sz="2000" dirty="0">
                <a:solidFill>
                  <a:srgbClr val="F91402"/>
                </a:solidFill>
              </a:rPr>
              <a:t>Metabolomics</a:t>
            </a:r>
            <a:r>
              <a:rPr lang="en-US" sz="2000" dirty="0" smtClean="0"/>
              <a:t>: </a:t>
            </a:r>
            <a:r>
              <a:rPr lang="en-US" sz="1800" i="1" dirty="0" smtClean="0"/>
              <a:t>Global </a:t>
            </a:r>
            <a:r>
              <a:rPr lang="en-US" sz="1800" i="1" dirty="0"/>
              <a:t>metabolite analysis: 25,000 secondary </a:t>
            </a:r>
            <a:r>
              <a:rPr lang="en-US" sz="1800" i="1" dirty="0" smtClean="0"/>
              <a:t>metabolites </a:t>
            </a:r>
            <a:r>
              <a:rPr lang="en-US" sz="1800" i="1" dirty="0"/>
              <a:t>characterized</a:t>
            </a:r>
            <a:endParaRPr lang="en-US" sz="1800" dirty="0"/>
          </a:p>
        </p:txBody>
      </p:sp>
      <p:pic>
        <p:nvPicPr>
          <p:cNvPr id="10" name="Picture 14"/>
          <p:cNvPicPr>
            <a:picLocks noChangeAspect="1" noChangeArrowheads="1"/>
          </p:cNvPicPr>
          <p:nvPr/>
        </p:nvPicPr>
        <p:blipFill>
          <a:blip r:embed="rId7" cstate="print">
            <a:lum bright="-12000" contrast="6000"/>
          </a:blip>
          <a:srcRect/>
          <a:stretch>
            <a:fillRect/>
          </a:stretch>
        </p:blipFill>
        <p:spPr bwMode="auto">
          <a:xfrm>
            <a:off x="5322887" y="4727673"/>
            <a:ext cx="2750238" cy="1585061"/>
          </a:xfrm>
          <a:prstGeom prst="rect">
            <a:avLst/>
          </a:prstGeom>
          <a:noFill/>
          <a:ln w="9525">
            <a:noFill/>
            <a:miter lim="800000"/>
            <a:headEnd/>
            <a:tailEnd/>
          </a:ln>
          <a:effectLst/>
        </p:spPr>
      </p:pic>
      <p:sp>
        <p:nvSpPr>
          <p:cNvPr id="11" name="Rectangle 19"/>
          <p:cNvSpPr>
            <a:spLocks noChangeArrowheads="1"/>
          </p:cNvSpPr>
          <p:nvPr/>
        </p:nvSpPr>
        <p:spPr bwMode="auto">
          <a:xfrm>
            <a:off x="325438" y="1738313"/>
            <a:ext cx="9143028" cy="984885"/>
          </a:xfrm>
          <a:prstGeom prst="rect">
            <a:avLst/>
          </a:prstGeom>
          <a:noFill/>
          <a:ln w="9525">
            <a:noFill/>
            <a:miter lim="800000"/>
            <a:headEnd/>
            <a:tailEnd/>
          </a:ln>
        </p:spPr>
        <p:txBody>
          <a:bodyPr wrap="square">
            <a:spAutoFit/>
          </a:bodyPr>
          <a:lstStyle/>
          <a:p>
            <a:r>
              <a:rPr lang="en-CA" sz="1200" b="1" dirty="0">
                <a:solidFill>
                  <a:schemeClr val="accent2"/>
                </a:solidFill>
                <a:sym typeface="Webdings" pitchFamily="1" charset="2"/>
              </a:rPr>
              <a:t></a:t>
            </a:r>
            <a:r>
              <a:rPr lang="en-US" sz="2000" dirty="0">
                <a:solidFill>
                  <a:srgbClr val="F91402"/>
                </a:solidFill>
              </a:rPr>
              <a:t>Genomics</a:t>
            </a:r>
            <a:r>
              <a:rPr lang="en-US" sz="2200" dirty="0"/>
              <a:t>: </a:t>
            </a:r>
            <a:r>
              <a:rPr lang="en-US" sz="1800" i="1" dirty="0"/>
              <a:t>New sequence information is being </a:t>
            </a:r>
          </a:p>
          <a:p>
            <a:r>
              <a:rPr lang="en-US" sz="1800" i="1" dirty="0"/>
              <a:t>                       produced at increasing rates</a:t>
            </a:r>
            <a:r>
              <a:rPr lang="en-US" sz="1800" i="1" dirty="0">
                <a:solidFill>
                  <a:schemeClr val="accent2"/>
                </a:solidFill>
              </a:rPr>
              <a:t>. (</a:t>
            </a:r>
            <a:r>
              <a:rPr lang="en-US" sz="1600" i="1" dirty="0">
                <a:solidFill>
                  <a:srgbClr val="F91402"/>
                </a:solidFill>
              </a:rPr>
              <a:t>The </a:t>
            </a:r>
          </a:p>
          <a:p>
            <a:r>
              <a:rPr lang="en-US" sz="1600" i="1" dirty="0">
                <a:solidFill>
                  <a:srgbClr val="F91402"/>
                </a:solidFill>
              </a:rPr>
              <a:t>	         contents of </a:t>
            </a:r>
            <a:r>
              <a:rPr lang="en-US" sz="1600" i="1" dirty="0" err="1">
                <a:solidFill>
                  <a:srgbClr val="F91402"/>
                </a:solidFill>
              </a:rPr>
              <a:t>GenBank</a:t>
            </a:r>
            <a:r>
              <a:rPr lang="en-US" sz="1600" i="1" dirty="0">
                <a:solidFill>
                  <a:srgbClr val="F91402"/>
                </a:solidFill>
              </a:rPr>
              <a:t> double every year</a:t>
            </a:r>
            <a:r>
              <a:rPr lang="en-US" sz="1800" i="1" dirty="0">
                <a:solidFill>
                  <a:schemeClr val="accent2"/>
                </a:solidFill>
              </a:rPr>
              <a:t>)</a:t>
            </a:r>
            <a:endParaRPr lang="en-US" sz="2000" i="1" dirty="0">
              <a:solidFill>
                <a:schemeClr val="accent2"/>
              </a:solidFill>
            </a:endParaRPr>
          </a:p>
        </p:txBody>
      </p:sp>
      <p:sp>
        <p:nvSpPr>
          <p:cNvPr id="12" name="Rectangle 11"/>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869866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a:xfrm>
            <a:off x="0" y="37628"/>
            <a:ext cx="10286999" cy="446088"/>
          </a:xfrm>
        </p:spPr>
        <p:txBody>
          <a:bodyPr>
            <a:normAutofit fontScale="90000"/>
          </a:bodyPr>
          <a:lstStyle/>
          <a:p>
            <a:pPr algn="ctr"/>
            <a:r>
              <a:rPr lang="en-US" sz="2800" dirty="0" smtClean="0">
                <a:solidFill>
                  <a:schemeClr val="accent2"/>
                </a:solidFill>
              </a:rPr>
              <a:t>History OF BIOLOGICAL DATABASE</a:t>
            </a:r>
            <a:endParaRPr lang="en-US" sz="2800" dirty="0">
              <a:solidFill>
                <a:schemeClr val="accent2"/>
              </a:solidFill>
            </a:endParaRPr>
          </a:p>
        </p:txBody>
      </p:sp>
      <p:pic>
        <p:nvPicPr>
          <p:cNvPr id="287748" name="Picture 4" descr="Mainframe"/>
          <p:cNvPicPr>
            <a:picLocks noGrp="1" noChangeAspect="1" noChangeArrowheads="1"/>
          </p:cNvPicPr>
          <p:nvPr>
            <p:ph sz="half" idx="2"/>
          </p:nvPr>
        </p:nvPicPr>
        <p:blipFill>
          <a:blip r:embed="rId3" cstate="print">
            <a:lum bright="6000" contrast="18000"/>
          </a:blip>
          <a:srcRect/>
          <a:stretch>
            <a:fillRect/>
          </a:stretch>
        </p:blipFill>
        <p:spPr>
          <a:xfrm>
            <a:off x="4532710" y="1058391"/>
            <a:ext cx="5539978" cy="3319462"/>
          </a:xfrm>
          <a:ln/>
        </p:spPr>
      </p:pic>
      <p:sp>
        <p:nvSpPr>
          <p:cNvPr id="287749" name="Text Box 5"/>
          <p:cNvSpPr txBox="1">
            <a:spLocks noChangeArrowheads="1"/>
          </p:cNvSpPr>
          <p:nvPr/>
        </p:nvSpPr>
        <p:spPr bwMode="auto">
          <a:xfrm>
            <a:off x="6084941" y="3904779"/>
            <a:ext cx="2260491" cy="400110"/>
          </a:xfrm>
          <a:prstGeom prst="rect">
            <a:avLst/>
          </a:prstGeom>
          <a:noFill/>
          <a:ln w="9525">
            <a:noFill/>
            <a:miter lim="800000"/>
            <a:headEnd/>
            <a:tailEnd/>
          </a:ln>
          <a:effectLst/>
        </p:spPr>
        <p:txBody>
          <a:bodyPr wrap="none">
            <a:spAutoFit/>
          </a:bodyPr>
          <a:lstStyle/>
          <a:p>
            <a:pPr algn="ctr"/>
            <a:r>
              <a:rPr lang="en-US" sz="2000">
                <a:solidFill>
                  <a:schemeClr val="bg1"/>
                </a:solidFill>
              </a:rPr>
              <a:t>IBM 7090 computer</a:t>
            </a:r>
          </a:p>
        </p:txBody>
      </p:sp>
      <p:sp>
        <p:nvSpPr>
          <p:cNvPr id="287750" name="Line 6"/>
          <p:cNvSpPr>
            <a:spLocks noChangeShapeType="1"/>
          </p:cNvSpPr>
          <p:nvPr/>
        </p:nvSpPr>
        <p:spPr bwMode="auto">
          <a:xfrm>
            <a:off x="0" y="574203"/>
            <a:ext cx="10287000" cy="0"/>
          </a:xfrm>
          <a:prstGeom prst="line">
            <a:avLst/>
          </a:prstGeom>
          <a:noFill/>
          <a:ln w="57150" cmpd="thickThin">
            <a:solidFill>
              <a:schemeClr val="tx1"/>
            </a:solidFill>
            <a:round/>
            <a:headEnd/>
            <a:tailEnd/>
          </a:ln>
        </p:spPr>
        <p:txBody>
          <a:bodyPr wrap="none" anchor="ctr"/>
          <a:lstStyle/>
          <a:p>
            <a:endParaRPr lang="en-US"/>
          </a:p>
        </p:txBody>
      </p:sp>
      <p:sp>
        <p:nvSpPr>
          <p:cNvPr id="287751" name="Rectangle 7"/>
          <p:cNvSpPr>
            <a:spLocks noChangeArrowheads="1"/>
          </p:cNvSpPr>
          <p:nvPr/>
        </p:nvSpPr>
        <p:spPr bwMode="auto">
          <a:xfrm>
            <a:off x="103585" y="674217"/>
            <a:ext cx="5918597" cy="341632"/>
          </a:xfrm>
          <a:prstGeom prst="rect">
            <a:avLst/>
          </a:prstGeom>
          <a:noFill/>
          <a:ln w="9525">
            <a:noFill/>
            <a:miter lim="800000"/>
            <a:headEnd/>
            <a:tailEnd/>
          </a:ln>
        </p:spPr>
        <p:txBody>
          <a:bodyPr>
            <a:spAutoFit/>
          </a:bodyPr>
          <a:lstStyle/>
          <a:p>
            <a:pPr eaLnBrk="1" hangingPunct="1">
              <a:lnSpc>
                <a:spcPct val="90000"/>
              </a:lnSpc>
              <a:spcBef>
                <a:spcPct val="20000"/>
              </a:spcBef>
            </a:pPr>
            <a:r>
              <a:rPr lang="en-CA" sz="1600" b="1">
                <a:solidFill>
                  <a:srgbClr val="FA1113"/>
                </a:solidFill>
                <a:sym typeface="Webdings" pitchFamily="1" charset="2"/>
              </a:rPr>
              <a:t></a:t>
            </a:r>
            <a:r>
              <a:rPr lang="en-US"/>
              <a:t>In1960s: the birth of bioinformatics</a:t>
            </a:r>
            <a:endParaRPr lang="en-US" sz="2000"/>
          </a:p>
        </p:txBody>
      </p:sp>
      <p:sp>
        <p:nvSpPr>
          <p:cNvPr id="287753" name="Rectangle 9"/>
          <p:cNvSpPr>
            <a:spLocks noChangeArrowheads="1"/>
          </p:cNvSpPr>
          <p:nvPr/>
        </p:nvSpPr>
        <p:spPr bwMode="auto">
          <a:xfrm>
            <a:off x="150019" y="4542953"/>
            <a:ext cx="8329613" cy="1031051"/>
          </a:xfrm>
          <a:prstGeom prst="rect">
            <a:avLst/>
          </a:prstGeom>
          <a:noFill/>
          <a:ln w="9525">
            <a:noFill/>
            <a:miter lim="800000"/>
            <a:headEnd/>
            <a:tailEnd/>
          </a:ln>
        </p:spPr>
        <p:txBody>
          <a:bodyPr>
            <a:spAutoFit/>
          </a:bodyPr>
          <a:lstStyle/>
          <a:p>
            <a:pPr eaLnBrk="1" hangingPunct="1">
              <a:spcBef>
                <a:spcPct val="20000"/>
              </a:spcBef>
            </a:pPr>
            <a:r>
              <a:rPr lang="en-CA" sz="1600" b="1">
                <a:solidFill>
                  <a:srgbClr val="FA1113"/>
                </a:solidFill>
                <a:sym typeface="Webdings" pitchFamily="1" charset="2"/>
              </a:rPr>
              <a:t></a:t>
            </a:r>
            <a:r>
              <a:rPr lang="en-US"/>
              <a:t>Margaret Oakley Dayhoff created:</a:t>
            </a:r>
          </a:p>
          <a:p>
            <a:pPr lvl="1" eaLnBrk="1" hangingPunct="1">
              <a:spcBef>
                <a:spcPct val="20000"/>
              </a:spcBef>
            </a:pPr>
            <a:r>
              <a:rPr lang="en-CA" sz="1200" b="1">
                <a:solidFill>
                  <a:schemeClr val="accent2"/>
                </a:solidFill>
                <a:sym typeface="Webdings" pitchFamily="1" charset="2"/>
              </a:rPr>
              <a:t>	</a:t>
            </a:r>
            <a:r>
              <a:rPr lang="en-US" sz="2000"/>
              <a:t>The first protein database</a:t>
            </a:r>
          </a:p>
          <a:p>
            <a:pPr lvl="1" eaLnBrk="1" hangingPunct="1">
              <a:lnSpc>
                <a:spcPct val="75000"/>
              </a:lnSpc>
              <a:spcBef>
                <a:spcPct val="20000"/>
              </a:spcBef>
            </a:pPr>
            <a:r>
              <a:rPr lang="en-CA" sz="1200" b="1">
                <a:solidFill>
                  <a:schemeClr val="accent2"/>
                </a:solidFill>
                <a:sym typeface="Webdings" pitchFamily="1" charset="2"/>
              </a:rPr>
              <a:t>	</a:t>
            </a:r>
            <a:r>
              <a:rPr lang="en-US" sz="2000"/>
              <a:t>The first program for sequence assembly</a:t>
            </a:r>
          </a:p>
        </p:txBody>
      </p:sp>
      <p:sp>
        <p:nvSpPr>
          <p:cNvPr id="287754" name="Rectangle 10"/>
          <p:cNvSpPr>
            <a:spLocks noChangeArrowheads="1"/>
          </p:cNvSpPr>
          <p:nvPr/>
        </p:nvSpPr>
        <p:spPr bwMode="auto">
          <a:xfrm>
            <a:off x="130374" y="5806603"/>
            <a:ext cx="10092332" cy="762000"/>
          </a:xfrm>
          <a:prstGeom prst="rect">
            <a:avLst/>
          </a:prstGeom>
          <a:noFill/>
          <a:ln w="9525">
            <a:noFill/>
            <a:miter lim="800000"/>
            <a:headEnd/>
            <a:tailEnd/>
          </a:ln>
        </p:spPr>
        <p:txBody>
          <a:bodyPr>
            <a:spAutoFit/>
          </a:bodyPr>
          <a:lstStyle/>
          <a:p>
            <a:r>
              <a:rPr lang="en-CA" sz="1600" b="1">
                <a:solidFill>
                  <a:srgbClr val="FA1113"/>
                </a:solidFill>
                <a:sym typeface="Webdings" pitchFamily="1" charset="2"/>
              </a:rPr>
              <a:t></a:t>
            </a:r>
            <a:r>
              <a:rPr lang="en-US" sz="2200"/>
              <a:t>There is a need for </a:t>
            </a:r>
            <a:r>
              <a:rPr lang="en-US" sz="2200" u="sng"/>
              <a:t>computers</a:t>
            </a:r>
            <a:r>
              <a:rPr lang="en-US" sz="2200"/>
              <a:t> and </a:t>
            </a:r>
            <a:r>
              <a:rPr lang="en-US" sz="2200" u="sng"/>
              <a:t>algorithms</a:t>
            </a:r>
            <a:r>
              <a:rPr lang="en-US" sz="2200"/>
              <a:t> that allow:</a:t>
            </a:r>
          </a:p>
          <a:p>
            <a:r>
              <a:rPr lang="en-US" sz="2200"/>
              <a:t> </a:t>
            </a:r>
            <a:r>
              <a:rPr lang="en-US" sz="2000"/>
              <a:t>  </a:t>
            </a:r>
            <a:r>
              <a:rPr lang="en-US" sz="2000" i="1">
                <a:solidFill>
                  <a:schemeClr val="accent2"/>
                </a:solidFill>
              </a:rPr>
              <a:t>Access, processing, storing, sharing, retrieving, visualizing, annotating…</a:t>
            </a:r>
          </a:p>
        </p:txBody>
      </p:sp>
      <p:sp>
        <p:nvSpPr>
          <p:cNvPr id="9" name="Rectangle 8"/>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731662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050"/>
          <p:cNvSpPr txBox="1">
            <a:spLocks noChangeArrowheads="1"/>
          </p:cNvSpPr>
          <p:nvPr/>
        </p:nvSpPr>
        <p:spPr>
          <a:xfrm>
            <a:off x="1308100" y="1524001"/>
            <a:ext cx="7772400" cy="1456267"/>
          </a:xfrm>
          <a:prstGeom prst="rect">
            <a:avLst/>
          </a:prstGeom>
        </p:spPr>
        <p:txBody>
          <a:bodyP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smtClean="0"/>
              <a:t>Types of Tools</a:t>
            </a:r>
          </a:p>
        </p:txBody>
      </p:sp>
      <p:grpSp>
        <p:nvGrpSpPr>
          <p:cNvPr id="3" name="Group 2051"/>
          <p:cNvGrpSpPr>
            <a:grpSpLocks/>
          </p:cNvGrpSpPr>
          <p:nvPr/>
        </p:nvGrpSpPr>
        <p:grpSpPr bwMode="auto">
          <a:xfrm>
            <a:off x="2184400" y="2501900"/>
            <a:ext cx="5943600" cy="2667000"/>
            <a:chOff x="432" y="1344"/>
            <a:chExt cx="3744" cy="1680"/>
          </a:xfrm>
        </p:grpSpPr>
        <p:sp>
          <p:nvSpPr>
            <p:cNvPr id="4" name="Text Box 2052"/>
            <p:cNvSpPr txBox="1">
              <a:spLocks noChangeArrowheads="1"/>
            </p:cNvSpPr>
            <p:nvPr/>
          </p:nvSpPr>
          <p:spPr bwMode="auto">
            <a:xfrm>
              <a:off x="1814" y="1418"/>
              <a:ext cx="8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t>Sequence</a:t>
              </a:r>
            </a:p>
          </p:txBody>
        </p:sp>
        <p:sp>
          <p:nvSpPr>
            <p:cNvPr id="5" name="Text Box 2053"/>
            <p:cNvSpPr txBox="1">
              <a:spLocks noChangeArrowheads="1"/>
            </p:cNvSpPr>
            <p:nvPr/>
          </p:nvSpPr>
          <p:spPr bwMode="auto">
            <a:xfrm>
              <a:off x="614" y="2618"/>
              <a:ext cx="8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t>Structure</a:t>
              </a:r>
            </a:p>
          </p:txBody>
        </p:sp>
        <p:sp>
          <p:nvSpPr>
            <p:cNvPr id="6" name="Text Box 2054"/>
            <p:cNvSpPr txBox="1">
              <a:spLocks noChangeArrowheads="1"/>
            </p:cNvSpPr>
            <p:nvPr/>
          </p:nvSpPr>
          <p:spPr bwMode="auto">
            <a:xfrm>
              <a:off x="3158" y="2570"/>
              <a:ext cx="7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t>Function</a:t>
              </a:r>
            </a:p>
          </p:txBody>
        </p:sp>
        <p:sp>
          <p:nvSpPr>
            <p:cNvPr id="7" name="Oval 2055"/>
            <p:cNvSpPr>
              <a:spLocks noChangeArrowheads="1"/>
            </p:cNvSpPr>
            <p:nvPr/>
          </p:nvSpPr>
          <p:spPr bwMode="auto">
            <a:xfrm>
              <a:off x="1584" y="1344"/>
              <a:ext cx="1200" cy="4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p>
          </p:txBody>
        </p:sp>
        <p:sp>
          <p:nvSpPr>
            <p:cNvPr id="8" name="Oval 2056"/>
            <p:cNvSpPr>
              <a:spLocks noChangeArrowheads="1"/>
            </p:cNvSpPr>
            <p:nvPr/>
          </p:nvSpPr>
          <p:spPr bwMode="auto">
            <a:xfrm>
              <a:off x="432" y="2544"/>
              <a:ext cx="1200" cy="4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p>
          </p:txBody>
        </p:sp>
        <p:sp>
          <p:nvSpPr>
            <p:cNvPr id="9" name="Oval 2057"/>
            <p:cNvSpPr>
              <a:spLocks noChangeArrowheads="1"/>
            </p:cNvSpPr>
            <p:nvPr/>
          </p:nvSpPr>
          <p:spPr bwMode="auto">
            <a:xfrm>
              <a:off x="2976" y="2496"/>
              <a:ext cx="1200" cy="48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p>
          </p:txBody>
        </p:sp>
        <p:sp>
          <p:nvSpPr>
            <p:cNvPr id="10" name="Line 2058"/>
            <p:cNvSpPr>
              <a:spLocks noChangeShapeType="1"/>
            </p:cNvSpPr>
            <p:nvPr/>
          </p:nvSpPr>
          <p:spPr bwMode="auto">
            <a:xfrm>
              <a:off x="2592" y="1824"/>
              <a:ext cx="624" cy="62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2059"/>
            <p:cNvSpPr>
              <a:spLocks noChangeShapeType="1"/>
            </p:cNvSpPr>
            <p:nvPr/>
          </p:nvSpPr>
          <p:spPr bwMode="auto">
            <a:xfrm flipH="1">
              <a:off x="1296" y="1824"/>
              <a:ext cx="480" cy="6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2060"/>
            <p:cNvSpPr>
              <a:spLocks noChangeShapeType="1"/>
            </p:cNvSpPr>
            <p:nvPr/>
          </p:nvSpPr>
          <p:spPr bwMode="auto">
            <a:xfrm>
              <a:off x="1776" y="2784"/>
              <a:ext cx="1104"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4" name="Text Box 1027"/>
          <p:cNvSpPr txBox="1">
            <a:spLocks noChangeArrowheads="1"/>
          </p:cNvSpPr>
          <p:nvPr/>
        </p:nvSpPr>
        <p:spPr bwMode="auto">
          <a:xfrm>
            <a:off x="21267" y="152059"/>
            <a:ext cx="7134446"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Challenges of Biological Databases</a:t>
            </a:r>
            <a:endParaRPr lang="en-GB" sz="3200" b="1" dirty="0">
              <a:solidFill>
                <a:schemeClr val="tx2"/>
              </a:solidFill>
              <a:latin typeface="Arial" panose="020B0604020202020204" pitchFamily="34" charset="0"/>
            </a:endParaRPr>
          </a:p>
        </p:txBody>
      </p:sp>
      <p:sp>
        <p:nvSpPr>
          <p:cNvPr id="15" name="Circular Arrow 14"/>
          <p:cNvSpPr/>
          <p:nvPr/>
        </p:nvSpPr>
        <p:spPr>
          <a:xfrm rot="5400000">
            <a:off x="5435600" y="2476500"/>
            <a:ext cx="782637" cy="792163"/>
          </a:xfrm>
          <a:prstGeom prst="circularArrow">
            <a:avLst>
              <a:gd name="adj1" fmla="val 12500"/>
              <a:gd name="adj2" fmla="val 1142319"/>
              <a:gd name="adj3" fmla="val 20457681"/>
              <a:gd name="adj4" fmla="val 10800000"/>
              <a:gd name="adj5" fmla="val 11387"/>
            </a:avLst>
          </a:prstGeom>
          <a:solidFill>
            <a:schemeClr val="tx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Rectangle 1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681231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457200" y="1684849"/>
            <a:ext cx="7772400" cy="3649133"/>
          </a:xfrm>
          <a:prstGeom prst="rect">
            <a:avLst/>
          </a:prstGeom>
        </p:spPr>
        <p:txBody>
          <a:bodyPr>
            <a:normAutofit fontScale="92500" lnSpcReduction="1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2800" dirty="0" smtClean="0"/>
              <a:t>Storage</a:t>
            </a:r>
          </a:p>
          <a:p>
            <a:pPr lvl="1"/>
            <a:r>
              <a:rPr lang="en-US" sz="2400" dirty="0" smtClean="0"/>
              <a:t>Indexing, physical layout, memory management</a:t>
            </a:r>
          </a:p>
          <a:p>
            <a:r>
              <a:rPr lang="en-US" sz="2800" dirty="0" smtClean="0"/>
              <a:t>Modeling</a:t>
            </a:r>
          </a:p>
          <a:p>
            <a:pPr lvl="1"/>
            <a:r>
              <a:rPr lang="en-US" sz="2400" dirty="0" smtClean="0"/>
              <a:t>Relational, hierarchical, semi-structured</a:t>
            </a:r>
          </a:p>
          <a:p>
            <a:r>
              <a:rPr lang="en-US" sz="2800" dirty="0" smtClean="0"/>
              <a:t>Efficiency</a:t>
            </a:r>
          </a:p>
          <a:p>
            <a:pPr lvl="1"/>
            <a:r>
              <a:rPr lang="en-US" sz="2400" dirty="0" smtClean="0"/>
              <a:t>Update, query, analysis</a:t>
            </a:r>
          </a:p>
          <a:p>
            <a:r>
              <a:rPr lang="en-US" sz="2800" dirty="0" smtClean="0"/>
              <a:t>Interpretation</a:t>
            </a:r>
          </a:p>
          <a:p>
            <a:pPr lvl="1"/>
            <a:r>
              <a:rPr lang="en-US" sz="2400" dirty="0" smtClean="0"/>
              <a:t>Visualization</a:t>
            </a:r>
            <a:endParaRPr lang="en-US" sz="2400" dirty="0"/>
          </a:p>
        </p:txBody>
      </p:sp>
      <p:sp>
        <p:nvSpPr>
          <p:cNvPr id="4" name="Rectangle 3"/>
          <p:cNvSpPr/>
          <p:nvPr/>
        </p:nvSpPr>
        <p:spPr>
          <a:xfrm>
            <a:off x="457200" y="5689547"/>
            <a:ext cx="9452344" cy="830997"/>
          </a:xfrm>
          <a:prstGeom prst="rect">
            <a:avLst/>
          </a:prstGeom>
        </p:spPr>
        <p:txBody>
          <a:bodyPr wrap="square">
            <a:spAutoFit/>
          </a:bodyPr>
          <a:lstStyle/>
          <a:p>
            <a:pPr marL="342900" indent="-342900">
              <a:buFont typeface="Wingdings" pitchFamily="2" charset="2"/>
              <a:buChar char="Ø"/>
            </a:pPr>
            <a:r>
              <a:rPr lang="en-US" sz="2400" dirty="0">
                <a:solidFill>
                  <a:srgbClr val="FF0000"/>
                </a:solidFill>
              </a:rPr>
              <a:t>Therefore several databases has been created and interpreted to ensure unambiguous results.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6" name="Text Box 1027"/>
          <p:cNvSpPr txBox="1">
            <a:spLocks noChangeArrowheads="1"/>
          </p:cNvSpPr>
          <p:nvPr/>
        </p:nvSpPr>
        <p:spPr bwMode="auto">
          <a:xfrm>
            <a:off x="21267" y="152059"/>
            <a:ext cx="7134446"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Challenges of Biological Databases</a:t>
            </a:r>
            <a:endParaRPr lang="en-GB" sz="3200" b="1" dirty="0">
              <a:solidFill>
                <a:schemeClr val="tx2"/>
              </a:solidFill>
              <a:latin typeface="Arial" panose="020B0604020202020204" pitchFamily="34" charset="0"/>
            </a:endParaRPr>
          </a:p>
        </p:txBody>
      </p:sp>
    </p:spTree>
    <p:extLst>
      <p:ext uri="{BB962C8B-B14F-4D97-AF65-F5344CB8AC3E}">
        <p14:creationId xmlns:p14="http://schemas.microsoft.com/office/powerpoint/2010/main" val="698153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299" y="928688"/>
            <a:ext cx="9684797" cy="352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398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419"/>
            <a:ext cx="10287284" cy="617237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Classification format of Biological Databases</a:t>
            </a:r>
            <a:endParaRPr lang="en-US" sz="44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604294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1622424"/>
            <a:ext cx="9780802"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1027"/>
          <p:cNvSpPr txBox="1">
            <a:spLocks noChangeArrowheads="1"/>
          </p:cNvSpPr>
          <p:nvPr/>
        </p:nvSpPr>
        <p:spPr bwMode="auto">
          <a:xfrm>
            <a:off x="21267" y="152059"/>
            <a:ext cx="7134446"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Types of Biological Databases</a:t>
            </a:r>
            <a:endParaRPr lang="en-GB" sz="3200" b="1" dirty="0">
              <a:solidFill>
                <a:schemeClr val="tx2"/>
              </a:solidFill>
              <a:latin typeface="Arial" panose="020B0604020202020204" pitchFamily="34" charset="0"/>
            </a:endParaRPr>
          </a:p>
        </p:txBody>
      </p:sp>
      <p:sp>
        <p:nvSpPr>
          <p:cNvPr id="5" name="Rectangle 4"/>
          <p:cNvSpPr/>
          <p:nvPr/>
        </p:nvSpPr>
        <p:spPr>
          <a:xfrm>
            <a:off x="3126103" y="820107"/>
            <a:ext cx="3744936" cy="5232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spAutoFit/>
          </a:bodyPr>
          <a:lstStyle/>
          <a:p>
            <a:r>
              <a:rPr lang="en-US" sz="2800" dirty="0"/>
              <a:t>On the basis of </a:t>
            </a:r>
            <a:r>
              <a:rPr lang="en-US" sz="2800" dirty="0" smtClean="0"/>
              <a:t>purpose:</a:t>
            </a:r>
            <a:endParaRPr lang="en-US" sz="2800" dirty="0"/>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938773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027"/>
          <p:cNvSpPr txBox="1">
            <a:spLocks noChangeArrowheads="1"/>
          </p:cNvSpPr>
          <p:nvPr/>
        </p:nvSpPr>
        <p:spPr bwMode="auto">
          <a:xfrm>
            <a:off x="21267" y="152059"/>
            <a:ext cx="7134446"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Types of Biological Databases</a:t>
            </a:r>
            <a:endParaRPr lang="en-GB" sz="3200" b="1" dirty="0">
              <a:solidFill>
                <a:schemeClr val="tx2"/>
              </a:solidFill>
              <a:latin typeface="Arial" panose="020B0604020202020204" pitchFamily="34" charset="0"/>
            </a:endParaRPr>
          </a:p>
        </p:txBody>
      </p:sp>
      <p:sp>
        <p:nvSpPr>
          <p:cNvPr id="2" name="Rectangle 1"/>
          <p:cNvSpPr/>
          <p:nvPr/>
        </p:nvSpPr>
        <p:spPr>
          <a:xfrm>
            <a:off x="3126103" y="820107"/>
            <a:ext cx="3513654" cy="5232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spAutoFit/>
          </a:bodyPr>
          <a:lstStyle/>
          <a:p>
            <a:r>
              <a:rPr lang="en-US" sz="2800" dirty="0"/>
              <a:t>On the basis of source:</a:t>
            </a:r>
          </a:p>
        </p:txBody>
      </p:sp>
      <p:sp>
        <p:nvSpPr>
          <p:cNvPr id="13" name="TextBox 12"/>
          <p:cNvSpPr txBox="1"/>
          <p:nvPr/>
        </p:nvSpPr>
        <p:spPr>
          <a:xfrm>
            <a:off x="470499" y="4214964"/>
            <a:ext cx="2259419" cy="1754326"/>
          </a:xfrm>
          <a:prstGeom prst="rect">
            <a:avLst/>
          </a:prstGeom>
          <a:noFill/>
        </p:spPr>
        <p:txBody>
          <a:bodyPr wrap="square" rtlCol="0">
            <a:spAutoFit/>
          </a:bodyPr>
          <a:lstStyle/>
          <a:p>
            <a:r>
              <a:rPr lang="en-US" dirty="0" smtClean="0"/>
              <a:t>Nucleotide database </a:t>
            </a:r>
          </a:p>
          <a:p>
            <a:pPr algn="ctr"/>
            <a:r>
              <a:rPr lang="en-US" dirty="0" smtClean="0"/>
              <a:t>of NCBI</a:t>
            </a:r>
          </a:p>
          <a:p>
            <a:pPr algn="ctr"/>
            <a:r>
              <a:rPr lang="en-US" dirty="0" smtClean="0"/>
              <a:t>EMBL Nucleotide Sequence </a:t>
            </a:r>
          </a:p>
          <a:p>
            <a:pPr algn="ctr"/>
            <a:r>
              <a:rPr lang="en-US" dirty="0" err="1" smtClean="0"/>
              <a:t>UniPrac</a:t>
            </a:r>
            <a:r>
              <a:rPr lang="en-US" dirty="0" smtClean="0"/>
              <a:t> of </a:t>
            </a:r>
            <a:r>
              <a:rPr lang="en-US" dirty="0" err="1" smtClean="0"/>
              <a:t>Uni-Prot</a:t>
            </a:r>
            <a:endParaRPr lang="en-US" dirty="0" smtClean="0"/>
          </a:p>
          <a:p>
            <a:pPr algn="ctr"/>
            <a:endParaRPr lang="en-US" dirty="0"/>
          </a:p>
        </p:txBody>
      </p:sp>
      <p:sp>
        <p:nvSpPr>
          <p:cNvPr id="16" name="Rectangle 15"/>
          <p:cNvSpPr/>
          <p:nvPr/>
        </p:nvSpPr>
        <p:spPr>
          <a:xfrm>
            <a:off x="3664534" y="1617582"/>
            <a:ext cx="2729017" cy="461665"/>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r>
              <a:rPr lang="en-US" sz="2400" dirty="0" smtClean="0">
                <a:solidFill>
                  <a:schemeClr val="tx1"/>
                </a:solidFill>
              </a:rPr>
              <a:t>Biological </a:t>
            </a:r>
            <a:r>
              <a:rPr lang="en-US" sz="2400" dirty="0">
                <a:solidFill>
                  <a:schemeClr val="tx1"/>
                </a:solidFill>
              </a:rPr>
              <a:t>Databases</a:t>
            </a:r>
          </a:p>
        </p:txBody>
      </p:sp>
      <p:sp>
        <p:nvSpPr>
          <p:cNvPr id="17" name="Rectangle 16"/>
          <p:cNvSpPr/>
          <p:nvPr/>
        </p:nvSpPr>
        <p:spPr>
          <a:xfrm>
            <a:off x="866001" y="2881599"/>
            <a:ext cx="1468415"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Primary </a:t>
            </a:r>
          </a:p>
          <a:p>
            <a:pPr algn="ctr"/>
            <a:r>
              <a:rPr lang="en-US" sz="2400" dirty="0" smtClean="0">
                <a:solidFill>
                  <a:schemeClr val="tx1"/>
                </a:solidFill>
              </a:rPr>
              <a:t>Databases</a:t>
            </a:r>
            <a:endParaRPr lang="en-US" sz="2400" dirty="0">
              <a:solidFill>
                <a:schemeClr val="tx1"/>
              </a:solidFill>
            </a:endParaRPr>
          </a:p>
        </p:txBody>
      </p:sp>
      <p:sp>
        <p:nvSpPr>
          <p:cNvPr id="18" name="Rectangle 17"/>
          <p:cNvSpPr/>
          <p:nvPr/>
        </p:nvSpPr>
        <p:spPr>
          <a:xfrm>
            <a:off x="4227195" y="2902183"/>
            <a:ext cx="1609479"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Secondary </a:t>
            </a:r>
          </a:p>
          <a:p>
            <a:pPr algn="ctr"/>
            <a:r>
              <a:rPr lang="en-US" sz="2400" dirty="0" smtClean="0">
                <a:solidFill>
                  <a:schemeClr val="tx1"/>
                </a:solidFill>
              </a:rPr>
              <a:t>Databases</a:t>
            </a:r>
            <a:endParaRPr lang="en-US" sz="2400" dirty="0">
              <a:solidFill>
                <a:schemeClr val="tx1"/>
              </a:solidFill>
            </a:endParaRPr>
          </a:p>
        </p:txBody>
      </p:sp>
      <p:sp>
        <p:nvSpPr>
          <p:cNvPr id="19" name="Rectangle 18"/>
          <p:cNvSpPr/>
          <p:nvPr/>
        </p:nvSpPr>
        <p:spPr>
          <a:xfrm>
            <a:off x="7932880" y="2881598"/>
            <a:ext cx="1523046"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Composite</a:t>
            </a:r>
          </a:p>
          <a:p>
            <a:pPr algn="ctr"/>
            <a:r>
              <a:rPr lang="en-US" sz="2400" dirty="0" smtClean="0">
                <a:solidFill>
                  <a:schemeClr val="tx1"/>
                </a:solidFill>
              </a:rPr>
              <a:t>Databases</a:t>
            </a:r>
            <a:endParaRPr lang="en-US" sz="2400" dirty="0">
              <a:solidFill>
                <a:schemeClr val="tx1"/>
              </a:solidFill>
            </a:endParaRPr>
          </a:p>
        </p:txBody>
      </p:sp>
      <p:cxnSp>
        <p:nvCxnSpPr>
          <p:cNvPr id="20" name="Straight Connector 19"/>
          <p:cNvCxnSpPr/>
          <p:nvPr/>
        </p:nvCxnSpPr>
        <p:spPr>
          <a:xfrm>
            <a:off x="1600209" y="2360457"/>
            <a:ext cx="7094196" cy="2126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17" idx="0"/>
          </p:cNvCxnSpPr>
          <p:nvPr/>
        </p:nvCxnSpPr>
        <p:spPr>
          <a:xfrm>
            <a:off x="1600209" y="2360457"/>
            <a:ext cx="0" cy="521142"/>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6" idx="2"/>
            <a:endCxn id="18" idx="0"/>
          </p:cNvCxnSpPr>
          <p:nvPr/>
        </p:nvCxnSpPr>
        <p:spPr>
          <a:xfrm>
            <a:off x="5029043" y="2079247"/>
            <a:ext cx="2892" cy="822936"/>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8694405" y="2402987"/>
            <a:ext cx="0" cy="521142"/>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903544" y="3733180"/>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25" name="Rectangle 24"/>
          <p:cNvSpPr/>
          <p:nvPr/>
        </p:nvSpPr>
        <p:spPr>
          <a:xfrm>
            <a:off x="4325338" y="3756404"/>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26" name="Rectangle 25"/>
          <p:cNvSpPr/>
          <p:nvPr/>
        </p:nvSpPr>
        <p:spPr>
          <a:xfrm>
            <a:off x="7997740" y="3733180"/>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29" name="Rectangle 28"/>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30" name="Rectangle 29"/>
          <p:cNvSpPr/>
          <p:nvPr/>
        </p:nvSpPr>
        <p:spPr>
          <a:xfrm>
            <a:off x="3664534" y="4216395"/>
            <a:ext cx="2716620" cy="2308324"/>
          </a:xfrm>
          <a:prstGeom prst="rect">
            <a:avLst/>
          </a:prstGeom>
        </p:spPr>
        <p:txBody>
          <a:bodyPr wrap="square">
            <a:spAutoFit/>
          </a:bodyPr>
          <a:lstStyle/>
          <a:p>
            <a:pPr algn="ctr"/>
            <a:r>
              <a:rPr lang="en-US" dirty="0" smtClean="0"/>
              <a:t>UniProt </a:t>
            </a:r>
            <a:r>
              <a:rPr lang="en-US" dirty="0"/>
              <a:t>Knowledgebase (sequence and functional information on proteins</a:t>
            </a:r>
            <a:r>
              <a:rPr lang="en-US" dirty="0" smtClean="0"/>
              <a:t>)</a:t>
            </a:r>
          </a:p>
          <a:p>
            <a:pPr algn="ctr"/>
            <a:r>
              <a:rPr lang="en-US" dirty="0"/>
              <a:t> Ensembl (variation, function, regulation and more layered onto whole genome sequences)</a:t>
            </a:r>
          </a:p>
        </p:txBody>
      </p:sp>
      <p:sp>
        <p:nvSpPr>
          <p:cNvPr id="31" name="TextBox 30"/>
          <p:cNvSpPr txBox="1"/>
          <p:nvPr/>
        </p:nvSpPr>
        <p:spPr>
          <a:xfrm>
            <a:off x="8208791" y="4194845"/>
            <a:ext cx="971228" cy="1200329"/>
          </a:xfrm>
          <a:prstGeom prst="rect">
            <a:avLst/>
          </a:prstGeom>
          <a:noFill/>
        </p:spPr>
        <p:txBody>
          <a:bodyPr wrap="none" rtlCol="0">
            <a:spAutoFit/>
          </a:bodyPr>
          <a:lstStyle/>
          <a:p>
            <a:pPr algn="ctr"/>
            <a:r>
              <a:rPr lang="en-US" dirty="0" smtClean="0"/>
              <a:t>NCBI</a:t>
            </a:r>
            <a:br>
              <a:rPr lang="en-US" dirty="0" smtClean="0"/>
            </a:br>
            <a:r>
              <a:rPr lang="en-US" dirty="0" smtClean="0"/>
              <a:t>EMBL</a:t>
            </a:r>
          </a:p>
          <a:p>
            <a:pPr algn="ctr"/>
            <a:r>
              <a:rPr lang="en-US" dirty="0" smtClean="0"/>
              <a:t>DDBJ</a:t>
            </a:r>
          </a:p>
          <a:p>
            <a:pPr algn="ctr"/>
            <a:r>
              <a:rPr lang="en-US" dirty="0" err="1" smtClean="0"/>
              <a:t>Uni-Prot</a:t>
            </a:r>
            <a:endParaRPr lang="en-US" dirty="0"/>
          </a:p>
        </p:txBody>
      </p:sp>
    </p:spTree>
    <p:extLst>
      <p:ext uri="{BB962C8B-B14F-4D97-AF65-F5344CB8AC3E}">
        <p14:creationId xmlns:p14="http://schemas.microsoft.com/office/powerpoint/2010/main" val="1452600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2074" y="1288953"/>
            <a:ext cx="9501226" cy="1938992"/>
          </a:xfrm>
          <a:prstGeom prst="rect">
            <a:avLst/>
          </a:prstGeom>
        </p:spPr>
        <p:txBody>
          <a:bodyPr wrap="square">
            <a:spAutoFit/>
          </a:bodyPr>
          <a:lstStyle/>
          <a:p>
            <a:pPr marL="342900" indent="-342900">
              <a:buFont typeface="Wingdings" pitchFamily="2" charset="2"/>
              <a:buChar char="q"/>
            </a:pPr>
            <a:r>
              <a:rPr lang="en-US" sz="2000" dirty="0" smtClean="0"/>
              <a:t>They </a:t>
            </a:r>
            <a:r>
              <a:rPr lang="en-US" sz="2000" dirty="0"/>
              <a:t>contains </a:t>
            </a:r>
            <a:r>
              <a:rPr lang="en-US" sz="2000" dirty="0" smtClean="0"/>
              <a:t>bimolecular </a:t>
            </a:r>
            <a:r>
              <a:rPr lang="en-US" sz="2000" dirty="0"/>
              <a:t>data in its original form.</a:t>
            </a:r>
          </a:p>
          <a:p>
            <a:pPr marL="342900" indent="-342900">
              <a:buFont typeface="Wingdings" pitchFamily="2" charset="2"/>
              <a:buChar char="q"/>
            </a:pPr>
            <a:r>
              <a:rPr lang="en-US" sz="2000" dirty="0" smtClean="0"/>
              <a:t>Experimental </a:t>
            </a:r>
            <a:r>
              <a:rPr lang="en-US" sz="2000" dirty="0"/>
              <a:t>results are submitted directly into the </a:t>
            </a:r>
            <a:r>
              <a:rPr lang="en-US" sz="2000" dirty="0" smtClean="0"/>
              <a:t>database by </a:t>
            </a:r>
            <a:r>
              <a:rPr lang="en-US" sz="2000" dirty="0"/>
              <a:t>researchers, and the data are essentially archival in nature.</a:t>
            </a:r>
          </a:p>
          <a:p>
            <a:pPr marL="342900" indent="-342900">
              <a:buFont typeface="Wingdings" pitchFamily="2" charset="2"/>
              <a:buChar char="q"/>
            </a:pPr>
            <a:r>
              <a:rPr lang="en-US" sz="2000" dirty="0" smtClean="0"/>
              <a:t>Once </a:t>
            </a:r>
            <a:r>
              <a:rPr lang="en-US" sz="2000" dirty="0"/>
              <a:t>a database accession no. is given to an kind of data </a:t>
            </a:r>
            <a:r>
              <a:rPr lang="en-US" sz="2000" dirty="0" smtClean="0"/>
              <a:t>in primary </a:t>
            </a:r>
            <a:r>
              <a:rPr lang="en-US" sz="2000" dirty="0"/>
              <a:t>database then that data can’t be changed </a:t>
            </a:r>
            <a:r>
              <a:rPr lang="en-US" sz="2000" dirty="0" smtClean="0"/>
              <a:t>further.</a:t>
            </a:r>
          </a:p>
          <a:p>
            <a:pPr marL="342900" indent="-342900">
              <a:buFont typeface="Wingdings" pitchFamily="2" charset="2"/>
              <a:buChar char="q"/>
            </a:pPr>
            <a:r>
              <a:rPr lang="en-US" sz="2000" dirty="0" smtClean="0"/>
              <a:t>May be redundant.</a:t>
            </a:r>
          </a:p>
        </p:txBody>
      </p:sp>
      <p:sp>
        <p:nvSpPr>
          <p:cNvPr id="4" name="TextBox 3"/>
          <p:cNvSpPr txBox="1"/>
          <p:nvPr/>
        </p:nvSpPr>
        <p:spPr>
          <a:xfrm>
            <a:off x="392074" y="3998726"/>
            <a:ext cx="3712092" cy="1200329"/>
          </a:xfrm>
          <a:prstGeom prst="rect">
            <a:avLst/>
          </a:prstGeom>
          <a:noFill/>
        </p:spPr>
        <p:txBody>
          <a:bodyPr wrap="square" rtlCol="0">
            <a:spAutoFit/>
          </a:bodyPr>
          <a:lstStyle/>
          <a:p>
            <a:r>
              <a:rPr lang="en-US" dirty="0" smtClean="0"/>
              <a:t>Nucleotide database of NCBI</a:t>
            </a:r>
          </a:p>
          <a:p>
            <a:r>
              <a:rPr lang="en-US" dirty="0" smtClean="0"/>
              <a:t>EMBL Nucleotide Sequence </a:t>
            </a:r>
          </a:p>
          <a:p>
            <a:r>
              <a:rPr lang="en-US" dirty="0" err="1" smtClean="0"/>
              <a:t>UniPrac</a:t>
            </a:r>
            <a:r>
              <a:rPr lang="en-US" dirty="0" smtClean="0"/>
              <a:t> of </a:t>
            </a:r>
            <a:r>
              <a:rPr lang="en-US" dirty="0" err="1" smtClean="0"/>
              <a:t>Uni-Prot</a:t>
            </a:r>
            <a:endParaRPr lang="en-US" dirty="0" smtClean="0"/>
          </a:p>
          <a:p>
            <a:pPr algn="ctr"/>
            <a:endParaRPr lang="en-US"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6" name="Rectangle 5"/>
          <p:cNvSpPr/>
          <p:nvPr/>
        </p:nvSpPr>
        <p:spPr>
          <a:xfrm>
            <a:off x="3808941" y="685137"/>
            <a:ext cx="2515047" cy="461665"/>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r>
              <a:rPr lang="en-US" sz="2400" dirty="0" smtClean="0">
                <a:solidFill>
                  <a:schemeClr val="tx1"/>
                </a:solidFill>
              </a:rPr>
              <a:t>Primary </a:t>
            </a:r>
            <a:r>
              <a:rPr lang="en-US" sz="2400" dirty="0">
                <a:solidFill>
                  <a:schemeClr val="tx1"/>
                </a:solidFill>
              </a:rPr>
              <a:t>Databases</a:t>
            </a:r>
          </a:p>
        </p:txBody>
      </p:sp>
      <p:sp>
        <p:nvSpPr>
          <p:cNvPr id="7" name="Rectangle 6"/>
          <p:cNvSpPr/>
          <p:nvPr/>
        </p:nvSpPr>
        <p:spPr>
          <a:xfrm>
            <a:off x="392074" y="3537061"/>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pic>
        <p:nvPicPr>
          <p:cNvPr id="22530" name="Picture 2" descr="High-Availability Data Replication (HD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2038" y="2715982"/>
            <a:ext cx="4873583" cy="3765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3697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553" y="1359368"/>
            <a:ext cx="9975447" cy="4863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0" y="271406"/>
            <a:ext cx="5097934" cy="461665"/>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r>
              <a:rPr lang="en-US" sz="2400" dirty="0" smtClean="0">
                <a:solidFill>
                  <a:schemeClr val="tx1"/>
                </a:solidFill>
              </a:rPr>
              <a:t>Types of Primary/Sequence Databases</a:t>
            </a:r>
            <a:endParaRPr lang="en-US" sz="2400" dirty="0">
              <a:solidFill>
                <a:schemeClr val="tx1"/>
              </a:solidFill>
            </a:endParaRPr>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654113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5143" y="1340239"/>
            <a:ext cx="9542457" cy="1015663"/>
          </a:xfrm>
          <a:prstGeom prst="rect">
            <a:avLst/>
          </a:prstGeom>
        </p:spPr>
        <p:txBody>
          <a:bodyPr wrap="square">
            <a:spAutoFit/>
          </a:bodyPr>
          <a:lstStyle/>
          <a:p>
            <a:pPr marL="342900" indent="-342900">
              <a:buFont typeface="Wingdings" pitchFamily="2" charset="2"/>
              <a:buChar char="q"/>
            </a:pPr>
            <a:r>
              <a:rPr lang="en-US" sz="2000" dirty="0" smtClean="0"/>
              <a:t>It </a:t>
            </a:r>
            <a:r>
              <a:rPr lang="en-US" sz="2000" dirty="0"/>
              <a:t>contains Data derived from results of </a:t>
            </a:r>
            <a:r>
              <a:rPr lang="en-US" sz="2000" dirty="0" smtClean="0"/>
              <a:t>analyzed </a:t>
            </a:r>
            <a:r>
              <a:rPr lang="en-US" sz="2000" dirty="0"/>
              <a:t>primary data.</a:t>
            </a:r>
          </a:p>
          <a:p>
            <a:pPr marL="342900" indent="-342900">
              <a:buFont typeface="Wingdings" pitchFamily="2" charset="2"/>
              <a:buChar char="q"/>
            </a:pPr>
            <a:r>
              <a:rPr lang="en-US" sz="2000" dirty="0" smtClean="0"/>
              <a:t>The </a:t>
            </a:r>
            <a:r>
              <a:rPr lang="en-US" sz="2000" dirty="0"/>
              <a:t>data in secondary database is either manually </a:t>
            </a:r>
            <a:r>
              <a:rPr lang="en-US" sz="2000" dirty="0" smtClean="0"/>
              <a:t>curated or generated </a:t>
            </a:r>
            <a:r>
              <a:rPr lang="en-US" sz="2000" dirty="0"/>
              <a:t>automatically</a:t>
            </a:r>
            <a:r>
              <a:rPr lang="en-US" sz="2000" dirty="0" smtClean="0"/>
              <a:t>.</a:t>
            </a:r>
          </a:p>
          <a:p>
            <a:pPr marL="342900" indent="-342900">
              <a:buFont typeface="Wingdings" pitchFamily="2" charset="2"/>
              <a:buChar char="q"/>
            </a:pPr>
            <a:r>
              <a:rPr lang="en-US" sz="2000" dirty="0" smtClean="0"/>
              <a:t>Non-redundant</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6" name="Rectangle 5"/>
          <p:cNvSpPr/>
          <p:nvPr/>
        </p:nvSpPr>
        <p:spPr>
          <a:xfrm>
            <a:off x="3808941" y="685137"/>
            <a:ext cx="2841099" cy="461665"/>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r>
              <a:rPr lang="en-US" sz="2400" dirty="0" smtClean="0">
                <a:solidFill>
                  <a:schemeClr val="tx1"/>
                </a:solidFill>
              </a:rPr>
              <a:t>Secondary </a:t>
            </a:r>
            <a:r>
              <a:rPr lang="en-US" sz="2400" dirty="0">
                <a:solidFill>
                  <a:schemeClr val="tx1"/>
                </a:solidFill>
              </a:rPr>
              <a:t>Databases</a:t>
            </a:r>
          </a:p>
        </p:txBody>
      </p:sp>
      <p:pic>
        <p:nvPicPr>
          <p:cNvPr id="23554" name="Picture 2" descr="Secondary databases"/>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76134" y="2211571"/>
            <a:ext cx="6013240" cy="4252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459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Primary and secondary databases ppt by puneet kulyana"/>
          <p:cNvPicPr>
            <a:picLocks noChangeAspect="1" noChangeArrowheads="1"/>
          </p:cNvPicPr>
          <p:nvPr/>
        </p:nvPicPr>
        <p:blipFill rotWithShape="1">
          <a:blip r:embed="rId2">
            <a:extLst>
              <a:ext uri="{28A0092B-C50C-407E-A947-70E740481C1C}">
                <a14:useLocalDpi xmlns:a14="http://schemas.microsoft.com/office/drawing/2010/main" val="0"/>
              </a:ext>
            </a:extLst>
          </a:blip>
          <a:srcRect l="4638" t="14619" r="17277" b="1374"/>
          <a:stretch/>
        </p:blipFill>
        <p:spPr bwMode="auto">
          <a:xfrm>
            <a:off x="520994" y="914397"/>
            <a:ext cx="9229062" cy="558704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20994" y="354086"/>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590154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79761" y="1504621"/>
            <a:ext cx="9302192" cy="1015663"/>
          </a:xfrm>
          <a:prstGeom prst="rect">
            <a:avLst/>
          </a:prstGeom>
        </p:spPr>
        <p:txBody>
          <a:bodyPr wrap="square">
            <a:spAutoFit/>
          </a:bodyPr>
          <a:lstStyle/>
          <a:p>
            <a:pPr marL="342900" indent="-342900" algn="just">
              <a:buFont typeface="Wingdings" pitchFamily="2" charset="2"/>
              <a:buChar char="q"/>
            </a:pPr>
            <a:r>
              <a:rPr lang="en-US" sz="2000" b="1" dirty="0" smtClean="0"/>
              <a:t>It</a:t>
            </a:r>
            <a:r>
              <a:rPr lang="en-US" sz="2000" dirty="0"/>
              <a:t> </a:t>
            </a:r>
            <a:r>
              <a:rPr lang="en-US" sz="2000" dirty="0" smtClean="0"/>
              <a:t>contains </a:t>
            </a:r>
            <a:r>
              <a:rPr lang="en-US" sz="2000" dirty="0"/>
              <a:t>a variety of </a:t>
            </a:r>
            <a:r>
              <a:rPr lang="en-US" sz="2000" dirty="0" smtClean="0"/>
              <a:t>primary and/or secondary</a:t>
            </a:r>
            <a:r>
              <a:rPr lang="en-US" sz="2000" dirty="0"/>
              <a:t> </a:t>
            </a:r>
            <a:r>
              <a:rPr lang="en-US" sz="2000" b="1" dirty="0"/>
              <a:t>databases</a:t>
            </a:r>
            <a:r>
              <a:rPr lang="en-US" sz="2000" dirty="0"/>
              <a:t>, which eliminates the need to search each one separately. </a:t>
            </a:r>
            <a:endParaRPr lang="en-US" sz="2000" dirty="0" smtClean="0"/>
          </a:p>
          <a:p>
            <a:pPr marL="342900" indent="-342900" algn="just">
              <a:buFont typeface="Wingdings" pitchFamily="2" charset="2"/>
              <a:buChar char="q"/>
            </a:pPr>
            <a:r>
              <a:rPr lang="en-US" sz="2000" dirty="0" smtClean="0"/>
              <a:t>Each</a:t>
            </a:r>
            <a:r>
              <a:rPr lang="en-US" sz="2000" dirty="0"/>
              <a:t> </a:t>
            </a:r>
            <a:r>
              <a:rPr lang="en-US" sz="2000" b="1" dirty="0"/>
              <a:t>composite database</a:t>
            </a:r>
            <a:r>
              <a:rPr lang="en-US" sz="2000" dirty="0"/>
              <a:t> has different search algorithms and data structures.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6" name="Rectangle 5"/>
          <p:cNvSpPr/>
          <p:nvPr/>
        </p:nvSpPr>
        <p:spPr>
          <a:xfrm>
            <a:off x="3808941" y="685137"/>
            <a:ext cx="2875724" cy="461665"/>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r>
              <a:rPr lang="en-US" sz="2400" dirty="0" smtClean="0">
                <a:solidFill>
                  <a:schemeClr val="tx1"/>
                </a:solidFill>
              </a:rPr>
              <a:t>Composite </a:t>
            </a:r>
            <a:r>
              <a:rPr lang="en-US" sz="2400" dirty="0">
                <a:solidFill>
                  <a:schemeClr val="tx1"/>
                </a:solidFill>
              </a:rPr>
              <a:t>Databases</a:t>
            </a:r>
          </a:p>
        </p:txBody>
      </p:sp>
      <p:pic>
        <p:nvPicPr>
          <p:cNvPr id="24578" name="Picture 2" descr="DBMS Convert ER into table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8941" y="2640046"/>
            <a:ext cx="5981700" cy="385762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606054" y="2640046"/>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9" name="TextBox 8"/>
          <p:cNvSpPr txBox="1"/>
          <p:nvPr/>
        </p:nvSpPr>
        <p:spPr>
          <a:xfrm>
            <a:off x="606059" y="3110219"/>
            <a:ext cx="971227" cy="1477328"/>
          </a:xfrm>
          <a:prstGeom prst="rect">
            <a:avLst/>
          </a:prstGeom>
          <a:noFill/>
        </p:spPr>
        <p:txBody>
          <a:bodyPr wrap="none" rtlCol="0">
            <a:spAutoFit/>
          </a:bodyPr>
          <a:lstStyle/>
          <a:p>
            <a:r>
              <a:rPr lang="en-US" dirty="0" smtClean="0"/>
              <a:t>OWL</a:t>
            </a:r>
          </a:p>
          <a:p>
            <a:r>
              <a:rPr lang="en-US" dirty="0" smtClean="0"/>
              <a:t>NCBI</a:t>
            </a:r>
            <a:br>
              <a:rPr lang="en-US" dirty="0" smtClean="0"/>
            </a:br>
            <a:r>
              <a:rPr lang="en-US" dirty="0" smtClean="0"/>
              <a:t>EMBL</a:t>
            </a:r>
          </a:p>
          <a:p>
            <a:r>
              <a:rPr lang="en-US" dirty="0" smtClean="0"/>
              <a:t>DDBJ</a:t>
            </a:r>
          </a:p>
          <a:p>
            <a:r>
              <a:rPr lang="en-US" dirty="0" err="1" smtClean="0"/>
              <a:t>Uni-Prot</a:t>
            </a:r>
            <a:endParaRPr lang="en-US" dirty="0"/>
          </a:p>
        </p:txBody>
      </p:sp>
    </p:spTree>
    <p:extLst>
      <p:ext uri="{BB962C8B-B14F-4D97-AF65-F5344CB8AC3E}">
        <p14:creationId xmlns:p14="http://schemas.microsoft.com/office/powerpoint/2010/main" val="3599880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0390" y="1519700"/>
            <a:ext cx="6021144" cy="1585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69649" y="3104705"/>
            <a:ext cx="6115050" cy="2677656"/>
          </a:xfrm>
          <a:prstGeom prst="rect">
            <a:avLst/>
          </a:prstGeom>
        </p:spPr>
        <p:txBody>
          <a:bodyPr wrap="square">
            <a:spAutoFit/>
          </a:bodyPr>
          <a:lstStyle/>
          <a:p>
            <a:pPr algn="just"/>
            <a:r>
              <a:rPr lang="en-US" sz="2400" dirty="0"/>
              <a:t>OWL is a non-redundant composite of 4 publicly-available primary sources: </a:t>
            </a:r>
            <a:r>
              <a:rPr lang="en-US" sz="2400" u="sng" dirty="0"/>
              <a:t>SWISS-PROT</a:t>
            </a:r>
            <a:r>
              <a:rPr lang="en-US" sz="2400" dirty="0"/>
              <a:t>, </a:t>
            </a:r>
            <a:r>
              <a:rPr lang="en-US" sz="2400" u="sng" dirty="0"/>
              <a:t>PIR (1-3)</a:t>
            </a:r>
            <a:r>
              <a:rPr lang="en-US" sz="2400" dirty="0"/>
              <a:t>, </a:t>
            </a:r>
            <a:r>
              <a:rPr lang="en-US" sz="2400" u="sng" dirty="0"/>
              <a:t>GenBank </a:t>
            </a:r>
            <a:r>
              <a:rPr lang="en-US" sz="2400" dirty="0"/>
              <a:t>(translation) and </a:t>
            </a:r>
            <a:r>
              <a:rPr lang="en-US" sz="2400" u="sng" dirty="0"/>
              <a:t>NRL-3D </a:t>
            </a:r>
            <a:r>
              <a:rPr lang="en-US" sz="2400" dirty="0"/>
              <a:t>. SWISS-PROT is the highest priority source, all others being compared against it to eliminate identical and trivially-different sequences. </a:t>
            </a:r>
          </a:p>
        </p:txBody>
      </p:sp>
      <p:sp>
        <p:nvSpPr>
          <p:cNvPr id="7" name="Rectangle 6"/>
          <p:cNvSpPr/>
          <p:nvPr/>
        </p:nvSpPr>
        <p:spPr>
          <a:xfrm>
            <a:off x="3317352" y="278035"/>
            <a:ext cx="4054125"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ctr"/>
            <a:r>
              <a:rPr lang="en-US" sz="2400" dirty="0" smtClean="0"/>
              <a:t>OWL</a:t>
            </a:r>
            <a:endParaRPr lang="en-US" sz="2400" dirty="0"/>
          </a:p>
        </p:txBody>
      </p:sp>
      <p:sp>
        <p:nvSpPr>
          <p:cNvPr id="3" name="Rectangle 2"/>
          <p:cNvSpPr/>
          <p:nvPr/>
        </p:nvSpPr>
        <p:spPr>
          <a:xfrm>
            <a:off x="3094407" y="766953"/>
            <a:ext cx="4502195" cy="369332"/>
          </a:xfrm>
          <a:prstGeom prst="rect">
            <a:avLst/>
          </a:prstGeom>
        </p:spPr>
        <p:txBody>
          <a:bodyPr wrap="none">
            <a:spAutoFit/>
          </a:bodyPr>
          <a:lstStyle/>
          <a:p>
            <a:pPr algn="ctr"/>
            <a:r>
              <a:rPr lang="en-US" dirty="0"/>
              <a:t>http://130.88.97.239/bioactivity/owlinfo.html</a:t>
            </a:r>
          </a:p>
        </p:txBody>
      </p:sp>
      <p:sp>
        <p:nvSpPr>
          <p:cNvPr id="9" name="Rectangle 8"/>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63780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6091" y="1491616"/>
            <a:ext cx="10074610" cy="4796998"/>
          </a:xfrm>
          <a:prstGeom prst="rect">
            <a:avLst/>
          </a:prstGeom>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5" name="Rectangle 4"/>
          <p:cNvSpPr/>
          <p:nvPr/>
        </p:nvSpPr>
        <p:spPr>
          <a:xfrm>
            <a:off x="3317352" y="278035"/>
            <a:ext cx="4054125"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ctr"/>
            <a:r>
              <a:rPr lang="en-US" sz="2400" dirty="0" smtClean="0"/>
              <a:t>NCBI</a:t>
            </a:r>
            <a:endParaRPr lang="en-US" sz="2400" dirty="0"/>
          </a:p>
        </p:txBody>
      </p:sp>
      <p:sp>
        <p:nvSpPr>
          <p:cNvPr id="2" name="Rectangle 1"/>
          <p:cNvSpPr/>
          <p:nvPr/>
        </p:nvSpPr>
        <p:spPr>
          <a:xfrm>
            <a:off x="3893544" y="739700"/>
            <a:ext cx="3095335" cy="369332"/>
          </a:xfrm>
          <a:prstGeom prst="rect">
            <a:avLst/>
          </a:prstGeom>
        </p:spPr>
        <p:txBody>
          <a:bodyPr wrap="none">
            <a:spAutoFit/>
          </a:bodyPr>
          <a:lstStyle/>
          <a:p>
            <a:pPr algn="ctr"/>
            <a:r>
              <a:rPr lang="en-US" dirty="0"/>
              <a:t>https://</a:t>
            </a:r>
            <a:r>
              <a:rPr lang="en-US" dirty="0" smtClean="0"/>
              <a:t>www.ncbi.nlm.nih.gov</a:t>
            </a:r>
            <a:endParaRPr lang="en-US" dirty="0"/>
          </a:p>
        </p:txBody>
      </p:sp>
    </p:spTree>
    <p:extLst>
      <p:ext uri="{BB962C8B-B14F-4D97-AF65-F5344CB8AC3E}">
        <p14:creationId xmlns:p14="http://schemas.microsoft.com/office/powerpoint/2010/main" val="233126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3778" r="1084" b="13852"/>
          <a:stretch/>
        </p:blipFill>
        <p:spPr>
          <a:xfrm>
            <a:off x="1244010" y="1428577"/>
            <a:ext cx="7793680" cy="2875459"/>
          </a:xfrm>
          <a:prstGeom prst="rect">
            <a:avLst/>
          </a:prstGeom>
        </p:spPr>
      </p:pic>
      <p:pic>
        <p:nvPicPr>
          <p:cNvPr id="3" name="Picture 2"/>
          <p:cNvPicPr>
            <a:picLocks noChangeAspect="1"/>
          </p:cNvPicPr>
          <p:nvPr/>
        </p:nvPicPr>
        <p:blipFill rotWithShape="1">
          <a:blip r:embed="rId3"/>
          <a:srcRect t="13259" r="1084" b="24519"/>
          <a:stretch/>
        </p:blipFill>
        <p:spPr>
          <a:xfrm>
            <a:off x="1244009" y="4296832"/>
            <a:ext cx="7793681" cy="2216869"/>
          </a:xfrm>
          <a:prstGeom prst="rect">
            <a:avLst/>
          </a:prstGeom>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5" name="Rectangle 4"/>
          <p:cNvSpPr/>
          <p:nvPr/>
        </p:nvSpPr>
        <p:spPr>
          <a:xfrm>
            <a:off x="3317352" y="278035"/>
            <a:ext cx="4054125"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ctr"/>
            <a:r>
              <a:rPr lang="en-US" sz="2400" dirty="0" smtClean="0"/>
              <a:t>EMBL</a:t>
            </a:r>
            <a:endParaRPr lang="en-US" sz="2400" dirty="0"/>
          </a:p>
        </p:txBody>
      </p:sp>
      <p:sp>
        <p:nvSpPr>
          <p:cNvPr id="6" name="Rectangle 5"/>
          <p:cNvSpPr/>
          <p:nvPr/>
        </p:nvSpPr>
        <p:spPr>
          <a:xfrm>
            <a:off x="3317352" y="741104"/>
            <a:ext cx="4054125" cy="369332"/>
          </a:xfrm>
          <a:prstGeom prst="rect">
            <a:avLst/>
          </a:prstGeom>
        </p:spPr>
        <p:txBody>
          <a:bodyPr wrap="square">
            <a:spAutoFit/>
          </a:bodyPr>
          <a:lstStyle/>
          <a:p>
            <a:pPr algn="ctr"/>
            <a:r>
              <a:rPr lang="en-US" dirty="0"/>
              <a:t>https://</a:t>
            </a:r>
            <a:r>
              <a:rPr lang="en-US" dirty="0" smtClean="0"/>
              <a:t>www.embl.org</a:t>
            </a:r>
            <a:endParaRPr lang="en-US" dirty="0"/>
          </a:p>
        </p:txBody>
      </p:sp>
    </p:spTree>
    <p:extLst>
      <p:ext uri="{BB962C8B-B14F-4D97-AF65-F5344CB8AC3E}">
        <p14:creationId xmlns:p14="http://schemas.microsoft.com/office/powerpoint/2010/main" val="1523333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 y="1476967"/>
            <a:ext cx="10263592" cy="2836654"/>
          </a:xfrm>
          <a:prstGeom prst="rect">
            <a:avLst/>
          </a:prstGeom>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4" name="Rectangle 3"/>
          <p:cNvSpPr/>
          <p:nvPr/>
        </p:nvSpPr>
        <p:spPr>
          <a:xfrm>
            <a:off x="1" y="4292355"/>
            <a:ext cx="10263592" cy="1938992"/>
          </a:xfrm>
          <a:prstGeom prst="rect">
            <a:avLst/>
          </a:prstGeom>
          <a:solidFill>
            <a:schemeClr val="tx1"/>
          </a:solidFill>
        </p:spPr>
        <p:txBody>
          <a:bodyPr wrap="square">
            <a:spAutoFit/>
          </a:bodyPr>
          <a:lstStyle/>
          <a:p>
            <a:pPr algn="just" fontAlgn="base"/>
            <a:r>
              <a:rPr lang="en-US" sz="2000" dirty="0">
                <a:solidFill>
                  <a:schemeClr val="bg1"/>
                </a:solidFill>
                <a:latin typeface="Times New Roman" pitchFamily="18" charset="0"/>
                <a:cs typeface="Times New Roman" pitchFamily="18" charset="0"/>
              </a:rPr>
              <a:t>Currently, DDBJ Center is in operation at Research Organization of Information and System National Institute of Genetics(NIG) in </a:t>
            </a:r>
            <a:r>
              <a:rPr lang="en-US" sz="2000" dirty="0" err="1">
                <a:solidFill>
                  <a:schemeClr val="bg1"/>
                </a:solidFill>
                <a:latin typeface="Times New Roman" pitchFamily="18" charset="0"/>
                <a:cs typeface="Times New Roman" pitchFamily="18" charset="0"/>
              </a:rPr>
              <a:t>Mishima</a:t>
            </a:r>
            <a:r>
              <a:rPr lang="en-US" sz="2000" dirty="0">
                <a:solidFill>
                  <a:schemeClr val="bg1"/>
                </a:solidFill>
                <a:latin typeface="Times New Roman" pitchFamily="18" charset="0"/>
                <a:cs typeface="Times New Roman" pitchFamily="18" charset="0"/>
              </a:rPr>
              <a:t>, Japan with endorsement of MEXT; Japanese Ministry of Education, Culture, Sports, Science and Technology.</a:t>
            </a:r>
          </a:p>
          <a:p>
            <a:pPr algn="just" fontAlgn="base"/>
            <a:r>
              <a:rPr lang="en-US" sz="2000" dirty="0">
                <a:solidFill>
                  <a:schemeClr val="bg1"/>
                </a:solidFill>
                <a:latin typeface="Times New Roman" pitchFamily="18" charset="0"/>
                <a:cs typeface="Times New Roman" pitchFamily="18" charset="0"/>
              </a:rPr>
              <a:t>DDBJ Center is reviewed and advised by its own advisory board, DNA Database Advisory Committee (an outside committee of NIG), and also by the advisory board to INSDC, International Advisory Committee.</a:t>
            </a:r>
          </a:p>
        </p:txBody>
      </p:sp>
      <p:sp>
        <p:nvSpPr>
          <p:cNvPr id="5" name="Rectangle 4"/>
          <p:cNvSpPr/>
          <p:nvPr/>
        </p:nvSpPr>
        <p:spPr>
          <a:xfrm>
            <a:off x="3317352" y="278035"/>
            <a:ext cx="4054125"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ctr"/>
            <a:r>
              <a:rPr lang="en-US" sz="2400" dirty="0" smtClean="0"/>
              <a:t>DDBJ</a:t>
            </a:r>
            <a:endParaRPr lang="en-US" sz="2400" dirty="0"/>
          </a:p>
        </p:txBody>
      </p:sp>
      <p:sp>
        <p:nvSpPr>
          <p:cNvPr id="6" name="Rectangle 5"/>
          <p:cNvSpPr/>
          <p:nvPr/>
        </p:nvSpPr>
        <p:spPr>
          <a:xfrm>
            <a:off x="3352234" y="741104"/>
            <a:ext cx="3984360" cy="369332"/>
          </a:xfrm>
          <a:prstGeom prst="rect">
            <a:avLst/>
          </a:prstGeom>
        </p:spPr>
        <p:txBody>
          <a:bodyPr wrap="none">
            <a:spAutoFit/>
          </a:bodyPr>
          <a:lstStyle/>
          <a:p>
            <a:r>
              <a:rPr lang="en-US" dirty="0"/>
              <a:t>https://www.ddbj.nig.ac.jp/index-e.html</a:t>
            </a:r>
          </a:p>
        </p:txBody>
      </p:sp>
    </p:spTree>
    <p:extLst>
      <p:ext uri="{BB962C8B-B14F-4D97-AF65-F5344CB8AC3E}">
        <p14:creationId xmlns:p14="http://schemas.microsoft.com/office/powerpoint/2010/main" val="122958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60701" y="1250720"/>
            <a:ext cx="9436507" cy="5231082"/>
          </a:xfrm>
          <a:prstGeom prst="rect">
            <a:avLst/>
          </a:prstGeom>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4" name="Rectangle 3"/>
          <p:cNvSpPr/>
          <p:nvPr/>
        </p:nvSpPr>
        <p:spPr>
          <a:xfrm>
            <a:off x="3317352" y="278035"/>
            <a:ext cx="4054125"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ctr"/>
            <a:r>
              <a:rPr lang="en-US" sz="2400" dirty="0" smtClean="0"/>
              <a:t>UniProt</a:t>
            </a:r>
            <a:endParaRPr lang="en-US" sz="2400" dirty="0"/>
          </a:p>
        </p:txBody>
      </p:sp>
      <p:sp>
        <p:nvSpPr>
          <p:cNvPr id="2" name="Rectangle 1"/>
          <p:cNvSpPr/>
          <p:nvPr/>
        </p:nvSpPr>
        <p:spPr>
          <a:xfrm>
            <a:off x="4042070" y="739700"/>
            <a:ext cx="2604687" cy="369332"/>
          </a:xfrm>
          <a:prstGeom prst="rect">
            <a:avLst/>
          </a:prstGeom>
        </p:spPr>
        <p:txBody>
          <a:bodyPr wrap="none">
            <a:spAutoFit/>
          </a:bodyPr>
          <a:lstStyle/>
          <a:p>
            <a:r>
              <a:rPr lang="en-US" dirty="0"/>
              <a:t>https://</a:t>
            </a:r>
            <a:r>
              <a:rPr lang="en-US" dirty="0" smtClean="0"/>
              <a:t>www.uniprot.org</a:t>
            </a:r>
            <a:endParaRPr lang="en-US" dirty="0"/>
          </a:p>
        </p:txBody>
      </p:sp>
    </p:spTree>
    <p:extLst>
      <p:ext uri="{BB962C8B-B14F-4D97-AF65-F5344CB8AC3E}">
        <p14:creationId xmlns:p14="http://schemas.microsoft.com/office/powerpoint/2010/main" val="1670090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26103" y="820107"/>
            <a:ext cx="4299895" cy="5232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spAutoFit/>
          </a:bodyPr>
          <a:lstStyle/>
          <a:p>
            <a:r>
              <a:rPr lang="en-US" sz="2800" dirty="0"/>
              <a:t>On the basis of </a:t>
            </a:r>
            <a:r>
              <a:rPr lang="en-US" sz="2800" dirty="0" smtClean="0"/>
              <a:t>type of data</a:t>
            </a:r>
            <a:endParaRPr lang="en-US" sz="2800" dirty="0"/>
          </a:p>
        </p:txBody>
      </p:sp>
      <p:sp>
        <p:nvSpPr>
          <p:cNvPr id="3" name="TextBox 2"/>
          <p:cNvSpPr txBox="1"/>
          <p:nvPr/>
        </p:nvSpPr>
        <p:spPr>
          <a:xfrm>
            <a:off x="467833" y="1743730"/>
            <a:ext cx="4000582" cy="5078313"/>
          </a:xfrm>
          <a:prstGeom prst="rect">
            <a:avLst/>
          </a:prstGeom>
          <a:noFill/>
        </p:spPr>
        <p:txBody>
          <a:bodyPr wrap="none" rtlCol="0">
            <a:spAutoFit/>
          </a:bodyPr>
          <a:lstStyle/>
          <a:p>
            <a:pPr>
              <a:lnSpc>
                <a:spcPct val="150000"/>
              </a:lnSpc>
            </a:pPr>
            <a:r>
              <a:rPr lang="en-US" sz="2400" dirty="0" smtClean="0"/>
              <a:t>Literature Databases:</a:t>
            </a:r>
          </a:p>
          <a:p>
            <a:pPr>
              <a:lnSpc>
                <a:spcPct val="150000"/>
              </a:lnSpc>
            </a:pPr>
            <a:r>
              <a:rPr lang="en-US" sz="2400" dirty="0" smtClean="0">
                <a:solidFill>
                  <a:srgbClr val="FF0000"/>
                </a:solidFill>
              </a:rPr>
              <a:t>Nucleotide Databases:</a:t>
            </a:r>
          </a:p>
          <a:p>
            <a:pPr>
              <a:lnSpc>
                <a:spcPct val="150000"/>
              </a:lnSpc>
            </a:pPr>
            <a:r>
              <a:rPr lang="en-US" sz="2400" dirty="0" smtClean="0">
                <a:solidFill>
                  <a:srgbClr val="FF0000"/>
                </a:solidFill>
              </a:rPr>
              <a:t>Protein Databases:</a:t>
            </a:r>
          </a:p>
          <a:p>
            <a:pPr>
              <a:lnSpc>
                <a:spcPct val="150000"/>
              </a:lnSpc>
            </a:pPr>
            <a:r>
              <a:rPr lang="en-US" sz="2400" dirty="0" smtClean="0"/>
              <a:t>Gene Expression Databases:</a:t>
            </a:r>
          </a:p>
          <a:p>
            <a:pPr>
              <a:lnSpc>
                <a:spcPct val="150000"/>
              </a:lnSpc>
            </a:pPr>
            <a:r>
              <a:rPr lang="en-US" sz="2400" dirty="0" smtClean="0"/>
              <a:t>Metabolic Pathway Databases:</a:t>
            </a:r>
          </a:p>
          <a:p>
            <a:pPr>
              <a:lnSpc>
                <a:spcPct val="150000"/>
              </a:lnSpc>
            </a:pPr>
            <a:r>
              <a:rPr lang="en-US" sz="2400" dirty="0" smtClean="0"/>
              <a:t>Nutrient Databases:</a:t>
            </a:r>
          </a:p>
          <a:p>
            <a:pPr>
              <a:lnSpc>
                <a:spcPct val="150000"/>
              </a:lnSpc>
            </a:pPr>
            <a:r>
              <a:rPr lang="en-US" sz="2400" dirty="0" smtClean="0">
                <a:solidFill>
                  <a:srgbClr val="FF0000"/>
                </a:solidFill>
              </a:rPr>
              <a:t>Species Specific Databases:</a:t>
            </a:r>
          </a:p>
          <a:p>
            <a:pPr>
              <a:lnSpc>
                <a:spcPct val="150000"/>
              </a:lnSpc>
            </a:pPr>
            <a:r>
              <a:rPr lang="en-US" sz="2400" dirty="0" err="1" smtClean="0"/>
              <a:t>Omics</a:t>
            </a:r>
            <a:r>
              <a:rPr lang="en-US" sz="2400" dirty="0" smtClean="0"/>
              <a:t> Databases:</a:t>
            </a:r>
          </a:p>
          <a:p>
            <a:pPr>
              <a:lnSpc>
                <a:spcPct val="150000"/>
              </a:lnSpc>
            </a:pPr>
            <a:r>
              <a:rPr lang="en-US" sz="2400" dirty="0" smtClean="0"/>
              <a:t>Specialized Databases:</a:t>
            </a:r>
          </a:p>
        </p:txBody>
      </p:sp>
      <p:sp>
        <p:nvSpPr>
          <p:cNvPr id="4" name="Rectangle 3"/>
          <p:cNvSpPr/>
          <p:nvPr/>
        </p:nvSpPr>
        <p:spPr>
          <a:xfrm>
            <a:off x="6729333" y="1378100"/>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5" name="TextBox 4"/>
          <p:cNvSpPr txBox="1"/>
          <p:nvPr/>
        </p:nvSpPr>
        <p:spPr>
          <a:xfrm>
            <a:off x="4561327" y="1722464"/>
            <a:ext cx="4917308" cy="5078313"/>
          </a:xfrm>
          <a:prstGeom prst="rect">
            <a:avLst/>
          </a:prstGeom>
          <a:noFill/>
        </p:spPr>
        <p:txBody>
          <a:bodyPr wrap="none" rtlCol="0">
            <a:spAutoFit/>
          </a:bodyPr>
          <a:lstStyle/>
          <a:p>
            <a:pPr>
              <a:lnSpc>
                <a:spcPct val="150000"/>
              </a:lnSpc>
            </a:pPr>
            <a:r>
              <a:rPr lang="en-US" sz="2400" dirty="0" smtClean="0"/>
              <a:t>PubMed, PubMed Central</a:t>
            </a:r>
          </a:p>
          <a:p>
            <a:pPr>
              <a:lnSpc>
                <a:spcPct val="150000"/>
              </a:lnSpc>
            </a:pPr>
            <a:r>
              <a:rPr lang="en-US" sz="2400" dirty="0" err="1" smtClean="0"/>
              <a:t>Nuceotide</a:t>
            </a:r>
            <a:r>
              <a:rPr lang="en-US" sz="2400" dirty="0" smtClean="0"/>
              <a:t>, Gene, Genome databases</a:t>
            </a:r>
          </a:p>
          <a:p>
            <a:pPr>
              <a:lnSpc>
                <a:spcPct val="150000"/>
              </a:lnSpc>
            </a:pPr>
            <a:r>
              <a:rPr lang="en-US" sz="2400" dirty="0" err="1" smtClean="0"/>
              <a:t>Uni-Prot</a:t>
            </a:r>
            <a:r>
              <a:rPr lang="en-US" sz="2400" dirty="0" smtClean="0"/>
              <a:t>, </a:t>
            </a:r>
            <a:r>
              <a:rPr lang="en-US" sz="2400" dirty="0" err="1" smtClean="0"/>
              <a:t>Prosite</a:t>
            </a:r>
            <a:r>
              <a:rPr lang="en-US" sz="2400" dirty="0" smtClean="0"/>
              <a:t>, </a:t>
            </a:r>
            <a:r>
              <a:rPr lang="en-US" sz="2400" dirty="0"/>
              <a:t>SCOP</a:t>
            </a:r>
          </a:p>
          <a:p>
            <a:pPr>
              <a:lnSpc>
                <a:spcPct val="150000"/>
              </a:lnSpc>
            </a:pPr>
            <a:r>
              <a:rPr lang="en-US" sz="2400" dirty="0" smtClean="0"/>
              <a:t>GEO, GXD, MGED</a:t>
            </a:r>
          </a:p>
          <a:p>
            <a:pPr>
              <a:lnSpc>
                <a:spcPct val="150000"/>
              </a:lnSpc>
            </a:pPr>
            <a:r>
              <a:rPr lang="en-US" sz="2400" dirty="0" smtClean="0"/>
              <a:t>KEGG, </a:t>
            </a:r>
            <a:r>
              <a:rPr lang="en-US" sz="2400" dirty="0" err="1" smtClean="0"/>
              <a:t>PathDB</a:t>
            </a:r>
            <a:r>
              <a:rPr lang="en-US" sz="2400" dirty="0" smtClean="0"/>
              <a:t>, EMP</a:t>
            </a:r>
          </a:p>
          <a:p>
            <a:pPr>
              <a:lnSpc>
                <a:spcPct val="150000"/>
              </a:lnSpc>
            </a:pPr>
            <a:r>
              <a:rPr lang="en-US" sz="2400" dirty="0" smtClean="0"/>
              <a:t>USDA-NND, NFSD, ENDB</a:t>
            </a:r>
          </a:p>
          <a:p>
            <a:pPr>
              <a:lnSpc>
                <a:spcPct val="150000"/>
              </a:lnSpc>
            </a:pPr>
            <a:r>
              <a:rPr lang="en-US" sz="2400" dirty="0" smtClean="0"/>
              <a:t>PomBase, Wormpep, </a:t>
            </a:r>
            <a:r>
              <a:rPr lang="en-US" sz="2400" dirty="0"/>
              <a:t>ACEDB</a:t>
            </a:r>
          </a:p>
          <a:p>
            <a:pPr>
              <a:lnSpc>
                <a:spcPct val="150000"/>
              </a:lnSpc>
            </a:pPr>
            <a:r>
              <a:rPr lang="en-US" sz="2400" dirty="0" err="1" smtClean="0"/>
              <a:t>OmicsDI</a:t>
            </a:r>
            <a:r>
              <a:rPr lang="en-US" sz="2400" dirty="0" smtClean="0"/>
              <a:t>, </a:t>
            </a:r>
            <a:r>
              <a:rPr lang="en-US" sz="2400" dirty="0" err="1" smtClean="0"/>
              <a:t>NutriGenomeDB</a:t>
            </a:r>
            <a:r>
              <a:rPr lang="en-US" sz="2400" dirty="0" smtClean="0"/>
              <a:t>, </a:t>
            </a:r>
            <a:r>
              <a:rPr lang="en-US" sz="2400" dirty="0" err="1" smtClean="0"/>
              <a:t>PharmGKB</a:t>
            </a:r>
            <a:endParaRPr lang="en-US" sz="2400" dirty="0" smtClean="0"/>
          </a:p>
          <a:p>
            <a:pPr>
              <a:lnSpc>
                <a:spcPct val="150000"/>
              </a:lnSpc>
            </a:pPr>
            <a:r>
              <a:rPr lang="en-US" sz="2400" dirty="0" smtClean="0"/>
              <a:t>TGI, GSOB, GPCRD</a:t>
            </a:r>
            <a:endParaRPr lang="en-US" sz="2400" dirty="0"/>
          </a:p>
        </p:txBody>
      </p:sp>
      <p:sp>
        <p:nvSpPr>
          <p:cNvPr id="6" name="Text Box 1027"/>
          <p:cNvSpPr txBox="1">
            <a:spLocks noChangeArrowheads="1"/>
          </p:cNvSpPr>
          <p:nvPr/>
        </p:nvSpPr>
        <p:spPr bwMode="auto">
          <a:xfrm>
            <a:off x="21267" y="152059"/>
            <a:ext cx="7134446"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Types of Biological Databases</a:t>
            </a:r>
            <a:endParaRPr lang="en-GB" sz="3200" b="1" dirty="0">
              <a:solidFill>
                <a:schemeClr val="tx2"/>
              </a:solidFill>
              <a:latin typeface="Arial" panose="020B0604020202020204" pitchFamily="34" charset="0"/>
            </a:endParaRPr>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77223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027"/>
          <p:cNvSpPr txBox="1">
            <a:spLocks noChangeArrowheads="1"/>
          </p:cNvSpPr>
          <p:nvPr/>
        </p:nvSpPr>
        <p:spPr bwMode="auto">
          <a:xfrm>
            <a:off x="21267" y="152059"/>
            <a:ext cx="4571998"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Nucleotide Databases</a:t>
            </a:r>
            <a:endParaRPr lang="en-GB" sz="3200" b="1" dirty="0">
              <a:solidFill>
                <a:schemeClr val="tx2"/>
              </a:solidFill>
              <a:latin typeface="Arial" panose="020B0604020202020204" pitchFamily="34" charset="0"/>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5" name="Rectangle 3"/>
          <p:cNvSpPr txBox="1">
            <a:spLocks noChangeArrowheads="1"/>
          </p:cNvSpPr>
          <p:nvPr/>
        </p:nvSpPr>
        <p:spPr>
          <a:xfrm>
            <a:off x="1625600" y="1308100"/>
            <a:ext cx="7772400" cy="1828800"/>
          </a:xfrm>
          <a:prstGeom prst="rect">
            <a:avLst/>
          </a:prstGeom>
          <a:noFill/>
          <a:ln/>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dirty="0" smtClean="0"/>
              <a:t>NCBI 			</a:t>
            </a:r>
            <a:r>
              <a:rPr lang="en-US" sz="2400" dirty="0" smtClean="0"/>
              <a:t>( http://www.ncbi.nlm.nih.gov)</a:t>
            </a:r>
          </a:p>
          <a:p>
            <a:r>
              <a:rPr lang="en-US" dirty="0" smtClean="0"/>
              <a:t>EMBL			</a:t>
            </a:r>
            <a:r>
              <a:rPr lang="en-US" sz="2400" dirty="0" smtClean="0"/>
              <a:t>(http:// www.ebi.ac.uk/embl)</a:t>
            </a:r>
          </a:p>
          <a:p>
            <a:r>
              <a:rPr lang="en-US" dirty="0" smtClean="0"/>
              <a:t>DDBJ 			</a:t>
            </a:r>
            <a:r>
              <a:rPr lang="en-US" sz="2400" dirty="0" smtClean="0"/>
              <a:t>(http://www.ddbj.nig.ac.jp/)</a:t>
            </a:r>
            <a:endParaRPr lang="en-US" sz="2400" dirty="0"/>
          </a:p>
        </p:txBody>
      </p:sp>
      <p:sp>
        <p:nvSpPr>
          <p:cNvPr id="6" name="Rectangle 4"/>
          <p:cNvSpPr>
            <a:spLocks noChangeArrowheads="1"/>
          </p:cNvSpPr>
          <p:nvPr/>
        </p:nvSpPr>
        <p:spPr bwMode="auto">
          <a:xfrm>
            <a:off x="1316926" y="533400"/>
            <a:ext cx="7315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marL="457200" fontAlgn="base">
              <a:spcBef>
                <a:spcPct val="0"/>
              </a:spcBef>
              <a:spcAft>
                <a:spcPct val="0"/>
              </a:spcAft>
              <a:defRPr sz="2400">
                <a:solidFill>
                  <a:schemeClr val="tx1"/>
                </a:solidFill>
                <a:latin typeface="Tahoma" panose="020B0604030504040204" pitchFamily="34" charset="0"/>
              </a:defRPr>
            </a:lvl6pPr>
            <a:lvl7pPr marL="914400" fontAlgn="base">
              <a:spcBef>
                <a:spcPct val="0"/>
              </a:spcBef>
              <a:spcAft>
                <a:spcPct val="0"/>
              </a:spcAft>
              <a:defRPr sz="2400">
                <a:solidFill>
                  <a:schemeClr val="tx1"/>
                </a:solidFill>
                <a:latin typeface="Tahoma" panose="020B0604030504040204" pitchFamily="34" charset="0"/>
              </a:defRPr>
            </a:lvl7pPr>
            <a:lvl8pPr marL="1371600" fontAlgn="base">
              <a:spcBef>
                <a:spcPct val="0"/>
              </a:spcBef>
              <a:spcAft>
                <a:spcPct val="0"/>
              </a:spcAft>
              <a:defRPr sz="2400">
                <a:solidFill>
                  <a:schemeClr val="tx1"/>
                </a:solidFill>
                <a:latin typeface="Tahoma" panose="020B0604030504040204" pitchFamily="34" charset="0"/>
              </a:defRPr>
            </a:lvl8pPr>
            <a:lvl9pPr marL="1828800" fontAlgn="base">
              <a:spcBef>
                <a:spcPct val="0"/>
              </a:spcBef>
              <a:spcAft>
                <a:spcPct val="0"/>
              </a:spcAft>
              <a:defRPr sz="2400">
                <a:solidFill>
                  <a:schemeClr val="tx1"/>
                </a:solidFill>
                <a:latin typeface="Tahoma" panose="020B0604030504040204" pitchFamily="34" charset="0"/>
              </a:defRPr>
            </a:lvl9pPr>
          </a:lstStyle>
          <a:p>
            <a:pPr algn="ctr"/>
            <a:r>
              <a:rPr lang="en-US" sz="2800" dirty="0">
                <a:solidFill>
                  <a:srgbClr val="FFFF00"/>
                </a:solidFill>
                <a:latin typeface="Times New Roman" panose="02020603050405020304" pitchFamily="18" charset="0"/>
              </a:rPr>
              <a:t>Primary Nucleotide </a:t>
            </a:r>
            <a:r>
              <a:rPr lang="en-US" sz="2800" dirty="0" smtClean="0">
                <a:solidFill>
                  <a:srgbClr val="FFFF00"/>
                </a:solidFill>
                <a:latin typeface="Times New Roman" panose="02020603050405020304" pitchFamily="18" charset="0"/>
              </a:rPr>
              <a:t>Databases of</a:t>
            </a:r>
            <a:endParaRPr lang="en-US" sz="2800" dirty="0">
              <a:solidFill>
                <a:srgbClr val="FFFF00"/>
              </a:solidFill>
              <a:latin typeface="Times New Roman" panose="02020603050405020304" pitchFamily="18" charset="0"/>
            </a:endParaRPr>
          </a:p>
        </p:txBody>
      </p:sp>
      <p:sp>
        <p:nvSpPr>
          <p:cNvPr id="7" name="Rectangle 3"/>
          <p:cNvSpPr txBox="1">
            <a:spLocks noChangeArrowheads="1"/>
          </p:cNvSpPr>
          <p:nvPr/>
        </p:nvSpPr>
        <p:spPr>
          <a:xfrm>
            <a:off x="38100" y="3009900"/>
            <a:ext cx="10248900" cy="3841234"/>
          </a:xfrm>
          <a:prstGeom prst="rect">
            <a:avLst/>
          </a:prstGeom>
        </p:spPr>
        <p:txBody>
          <a:bodyP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lnSpc>
                <a:spcPct val="90000"/>
              </a:lnSpc>
            </a:pPr>
            <a:r>
              <a:rPr lang="en-US" sz="2400" dirty="0" smtClean="0"/>
              <a:t>Since 1982 </a:t>
            </a:r>
            <a:r>
              <a:rPr lang="en-US" sz="2400" b="1" dirty="0" smtClean="0"/>
              <a:t>Work in collaboration.</a:t>
            </a:r>
          </a:p>
          <a:p>
            <a:pPr>
              <a:lnSpc>
                <a:spcPct val="90000"/>
              </a:lnSpc>
            </a:pPr>
            <a:r>
              <a:rPr lang="en-US" sz="2400" dirty="0" smtClean="0"/>
              <a:t>Collect information from their region.</a:t>
            </a:r>
          </a:p>
          <a:p>
            <a:pPr>
              <a:lnSpc>
                <a:spcPct val="90000"/>
              </a:lnSpc>
            </a:pPr>
            <a:r>
              <a:rPr lang="en-US" sz="2400" dirty="0" smtClean="0"/>
              <a:t>Automatically update each other every 24 hours. To organize huge amount of information, the database has been split into numerous divisions (17) and each division has specific 3-letter code.</a:t>
            </a:r>
          </a:p>
          <a:p>
            <a:pPr>
              <a:lnSpc>
                <a:spcPct val="90000"/>
              </a:lnSpc>
            </a:pPr>
            <a:r>
              <a:rPr lang="en-US" sz="2400" dirty="0" smtClean="0"/>
              <a:t>For example:</a:t>
            </a:r>
          </a:p>
          <a:p>
            <a:pPr>
              <a:lnSpc>
                <a:spcPct val="90000"/>
              </a:lnSpc>
              <a:buFont typeface="Wingdings" panose="05000000000000000000" pitchFamily="2" charset="2"/>
              <a:buNone/>
            </a:pPr>
            <a:r>
              <a:rPr lang="en-US" sz="2400" dirty="0" smtClean="0"/>
              <a:t>Human              HUM</a:t>
            </a:r>
          </a:p>
          <a:p>
            <a:pPr>
              <a:lnSpc>
                <a:spcPct val="90000"/>
              </a:lnSpc>
              <a:buFont typeface="Wingdings" panose="05000000000000000000" pitchFamily="2" charset="2"/>
              <a:buNone/>
            </a:pPr>
            <a:r>
              <a:rPr lang="en-US" sz="2400" dirty="0" smtClean="0"/>
              <a:t>Virus                 VRL</a:t>
            </a:r>
          </a:p>
          <a:p>
            <a:pPr>
              <a:lnSpc>
                <a:spcPct val="90000"/>
              </a:lnSpc>
              <a:buFont typeface="Wingdings" panose="05000000000000000000" pitchFamily="2" charset="2"/>
              <a:buNone/>
            </a:pPr>
            <a:r>
              <a:rPr lang="en-US" sz="2400" dirty="0" smtClean="0"/>
              <a:t>Fungi                 FUN</a:t>
            </a:r>
            <a:endParaRPr lang="en-US" sz="2400" dirty="0"/>
          </a:p>
        </p:txBody>
      </p:sp>
    </p:spTree>
    <p:extLst>
      <p:ext uri="{BB962C8B-B14F-4D97-AF65-F5344CB8AC3E}">
        <p14:creationId xmlns:p14="http://schemas.microsoft.com/office/powerpoint/2010/main" val="39725213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8941" y="926437"/>
            <a:ext cx="2445991" cy="461665"/>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r>
              <a:rPr lang="en-US" sz="2400" dirty="0">
                <a:solidFill>
                  <a:schemeClr val="tx1"/>
                </a:solidFill>
              </a:rPr>
              <a:t>Protein Databases</a:t>
            </a:r>
          </a:p>
        </p:txBody>
      </p:sp>
      <p:sp>
        <p:nvSpPr>
          <p:cNvPr id="3" name="Rectangle 2"/>
          <p:cNvSpPr/>
          <p:nvPr/>
        </p:nvSpPr>
        <p:spPr>
          <a:xfrm>
            <a:off x="633021" y="2190454"/>
            <a:ext cx="1934376"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Primary </a:t>
            </a:r>
          </a:p>
          <a:p>
            <a:pPr algn="ctr"/>
            <a:r>
              <a:rPr lang="en-US" sz="2400" dirty="0" smtClean="0">
                <a:solidFill>
                  <a:schemeClr val="tx1"/>
                </a:solidFill>
              </a:rPr>
              <a:t>Str. Databases</a:t>
            </a:r>
            <a:endParaRPr lang="en-US" sz="2400" dirty="0">
              <a:solidFill>
                <a:schemeClr val="tx1"/>
              </a:solidFill>
            </a:endParaRPr>
          </a:p>
        </p:txBody>
      </p:sp>
      <p:sp>
        <p:nvSpPr>
          <p:cNvPr id="4" name="Rectangle 3"/>
          <p:cNvSpPr/>
          <p:nvPr/>
        </p:nvSpPr>
        <p:spPr>
          <a:xfrm>
            <a:off x="4064747" y="2211038"/>
            <a:ext cx="1934377"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Secondary </a:t>
            </a:r>
          </a:p>
          <a:p>
            <a:pPr algn="ctr"/>
            <a:r>
              <a:rPr lang="en-US" sz="2400" dirty="0" smtClean="0">
                <a:solidFill>
                  <a:schemeClr val="tx1"/>
                </a:solidFill>
              </a:rPr>
              <a:t>Str. Databases</a:t>
            </a:r>
            <a:endParaRPr lang="en-US" sz="2400" dirty="0">
              <a:solidFill>
                <a:schemeClr val="tx1"/>
              </a:solidFill>
            </a:endParaRPr>
          </a:p>
        </p:txBody>
      </p:sp>
      <p:sp>
        <p:nvSpPr>
          <p:cNvPr id="5" name="Rectangle 4"/>
          <p:cNvSpPr/>
          <p:nvPr/>
        </p:nvSpPr>
        <p:spPr>
          <a:xfrm>
            <a:off x="7350223" y="2190453"/>
            <a:ext cx="2688365"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Tertiary/Quaternary</a:t>
            </a:r>
          </a:p>
          <a:p>
            <a:pPr algn="ctr"/>
            <a:r>
              <a:rPr lang="en-US" sz="2400" dirty="0" smtClean="0">
                <a:solidFill>
                  <a:schemeClr val="tx1"/>
                </a:solidFill>
              </a:rPr>
              <a:t>Str. Databases</a:t>
            </a:r>
            <a:endParaRPr lang="en-US" sz="2400" dirty="0">
              <a:solidFill>
                <a:schemeClr val="tx1"/>
              </a:solidFill>
            </a:endParaRPr>
          </a:p>
        </p:txBody>
      </p:sp>
      <p:cxnSp>
        <p:nvCxnSpPr>
          <p:cNvPr id="7" name="Straight Connector 6"/>
          <p:cNvCxnSpPr/>
          <p:nvPr/>
        </p:nvCxnSpPr>
        <p:spPr>
          <a:xfrm>
            <a:off x="1600209" y="1669312"/>
            <a:ext cx="7094196" cy="2126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3" idx="0"/>
          </p:cNvCxnSpPr>
          <p:nvPr/>
        </p:nvCxnSpPr>
        <p:spPr>
          <a:xfrm>
            <a:off x="1600209" y="1669312"/>
            <a:ext cx="0" cy="521142"/>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2" idx="2"/>
          </p:cNvCxnSpPr>
          <p:nvPr/>
        </p:nvCxnSpPr>
        <p:spPr>
          <a:xfrm flipH="1">
            <a:off x="5031935" y="1388102"/>
            <a:ext cx="2" cy="802352"/>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8694405" y="1711842"/>
            <a:ext cx="0" cy="521142"/>
          </a:xfrm>
          <a:prstGeom prst="straightConnector1">
            <a:avLst/>
          </a:prstGeom>
          <a:ln w="508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487" y="3540648"/>
            <a:ext cx="3300454" cy="1200329"/>
          </a:xfrm>
          <a:prstGeom prst="rect">
            <a:avLst/>
          </a:prstGeom>
          <a:noFill/>
        </p:spPr>
        <p:txBody>
          <a:bodyPr wrap="none" rtlCol="0">
            <a:spAutoFit/>
          </a:bodyPr>
          <a:lstStyle/>
          <a:p>
            <a:pPr algn="ctr">
              <a:lnSpc>
                <a:spcPct val="150000"/>
              </a:lnSpc>
            </a:pPr>
            <a:r>
              <a:rPr lang="en-US" sz="2400" dirty="0" err="1"/>
              <a:t>UniPrac</a:t>
            </a:r>
            <a:r>
              <a:rPr lang="en-US" sz="2400" dirty="0"/>
              <a:t> </a:t>
            </a:r>
            <a:r>
              <a:rPr lang="en-US" sz="2400" dirty="0" smtClean="0"/>
              <a:t> of </a:t>
            </a:r>
            <a:r>
              <a:rPr lang="en-US" sz="2400" dirty="0" err="1" smtClean="0"/>
              <a:t>Uni-Prot</a:t>
            </a:r>
            <a:endParaRPr lang="en-US" sz="2400" dirty="0" smtClean="0"/>
          </a:p>
          <a:p>
            <a:pPr algn="ctr">
              <a:lnSpc>
                <a:spcPct val="150000"/>
              </a:lnSpc>
            </a:pPr>
            <a:r>
              <a:rPr lang="en-US" sz="2400" dirty="0" err="1" smtClean="0"/>
              <a:t>Proetin</a:t>
            </a:r>
            <a:r>
              <a:rPr lang="en-US" sz="2400" dirty="0" smtClean="0"/>
              <a:t> database of NCBI</a:t>
            </a:r>
            <a:endParaRPr lang="en-US" sz="2400" dirty="0"/>
          </a:p>
        </p:txBody>
      </p:sp>
      <p:sp>
        <p:nvSpPr>
          <p:cNvPr id="18" name="TextBox 17"/>
          <p:cNvSpPr txBox="1"/>
          <p:nvPr/>
        </p:nvSpPr>
        <p:spPr>
          <a:xfrm>
            <a:off x="4431668" y="3519385"/>
            <a:ext cx="1140249" cy="1754326"/>
          </a:xfrm>
          <a:prstGeom prst="rect">
            <a:avLst/>
          </a:prstGeom>
          <a:noFill/>
        </p:spPr>
        <p:txBody>
          <a:bodyPr wrap="none" rtlCol="0">
            <a:spAutoFit/>
          </a:bodyPr>
          <a:lstStyle/>
          <a:p>
            <a:pPr algn="ctr">
              <a:lnSpc>
                <a:spcPct val="150000"/>
              </a:lnSpc>
            </a:pPr>
            <a:r>
              <a:rPr lang="en-US" sz="2400" dirty="0" err="1" smtClean="0"/>
              <a:t>Prosite</a:t>
            </a:r>
            <a:endParaRPr lang="en-US" sz="2400" dirty="0" smtClean="0"/>
          </a:p>
          <a:p>
            <a:pPr algn="ctr">
              <a:lnSpc>
                <a:spcPct val="150000"/>
              </a:lnSpc>
            </a:pPr>
            <a:r>
              <a:rPr lang="en-US" sz="2400" dirty="0" smtClean="0"/>
              <a:t>BLOCKS</a:t>
            </a:r>
          </a:p>
          <a:p>
            <a:pPr algn="ctr">
              <a:lnSpc>
                <a:spcPct val="150000"/>
              </a:lnSpc>
            </a:pPr>
            <a:r>
              <a:rPr lang="en-US" sz="2400" dirty="0" smtClean="0"/>
              <a:t>COG</a:t>
            </a:r>
            <a:endParaRPr lang="en-US" sz="2400" dirty="0"/>
          </a:p>
        </p:txBody>
      </p:sp>
      <p:sp>
        <p:nvSpPr>
          <p:cNvPr id="19" name="TextBox 18"/>
          <p:cNvSpPr txBox="1"/>
          <p:nvPr/>
        </p:nvSpPr>
        <p:spPr>
          <a:xfrm>
            <a:off x="8214800" y="3508752"/>
            <a:ext cx="889987" cy="1143070"/>
          </a:xfrm>
          <a:prstGeom prst="rect">
            <a:avLst/>
          </a:prstGeom>
          <a:noFill/>
        </p:spPr>
        <p:txBody>
          <a:bodyPr wrap="none" rtlCol="0">
            <a:spAutoFit/>
          </a:bodyPr>
          <a:lstStyle/>
          <a:p>
            <a:pPr>
              <a:lnSpc>
                <a:spcPct val="150000"/>
              </a:lnSpc>
            </a:pPr>
            <a:r>
              <a:rPr lang="en-US" sz="2400" dirty="0" smtClean="0"/>
              <a:t>SCOP</a:t>
            </a:r>
          </a:p>
          <a:p>
            <a:pPr algn="ctr">
              <a:lnSpc>
                <a:spcPct val="150000"/>
              </a:lnSpc>
            </a:pPr>
            <a:r>
              <a:rPr lang="en-US" sz="2400" dirty="0" smtClean="0"/>
              <a:t>CATH</a:t>
            </a:r>
            <a:endParaRPr lang="en-US" sz="2400" dirty="0"/>
          </a:p>
        </p:txBody>
      </p:sp>
      <p:sp>
        <p:nvSpPr>
          <p:cNvPr id="20" name="Rectangle 19"/>
          <p:cNvSpPr/>
          <p:nvPr/>
        </p:nvSpPr>
        <p:spPr>
          <a:xfrm>
            <a:off x="903544" y="3042035"/>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21" name="Rectangle 20"/>
          <p:cNvSpPr/>
          <p:nvPr/>
        </p:nvSpPr>
        <p:spPr>
          <a:xfrm>
            <a:off x="4325338" y="3065259"/>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22" name="Rectangle 21"/>
          <p:cNvSpPr/>
          <p:nvPr/>
        </p:nvSpPr>
        <p:spPr>
          <a:xfrm>
            <a:off x="7997740" y="3042035"/>
            <a:ext cx="1393330" cy="4616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algn="ctr"/>
            <a:r>
              <a:rPr lang="en-US" sz="2400" b="1" dirty="0" smtClean="0"/>
              <a:t>Examples</a:t>
            </a:r>
            <a:endParaRPr lang="en-US" sz="2400" dirty="0"/>
          </a:p>
        </p:txBody>
      </p:sp>
      <p:sp>
        <p:nvSpPr>
          <p:cNvPr id="23" name="Rectangle 2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24" name="Text Box 1027"/>
          <p:cNvSpPr txBox="1">
            <a:spLocks noChangeArrowheads="1"/>
          </p:cNvSpPr>
          <p:nvPr/>
        </p:nvSpPr>
        <p:spPr bwMode="auto">
          <a:xfrm>
            <a:off x="21267" y="152059"/>
            <a:ext cx="3787674"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Protein Databases</a:t>
            </a:r>
            <a:endParaRPr lang="en-GB" sz="3200" b="1" dirty="0">
              <a:solidFill>
                <a:schemeClr val="tx2"/>
              </a:solidFill>
              <a:latin typeface="Arial" panose="020B0604020202020204" pitchFamily="34" charset="0"/>
            </a:endParaRPr>
          </a:p>
        </p:txBody>
      </p:sp>
    </p:spTree>
    <p:extLst>
      <p:ext uri="{BB962C8B-B14F-4D97-AF65-F5344CB8AC3E}">
        <p14:creationId xmlns:p14="http://schemas.microsoft.com/office/powerpoint/2010/main" val="2876463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1" name="Picture 3" descr="whatsins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1219200"/>
            <a:ext cx="7458075" cy="153988"/>
          </a:xfrm>
          <a:prstGeom prst="rect">
            <a:avLst/>
          </a:prstGeom>
          <a:noFill/>
          <a:extLst>
            <a:ext uri="{909E8E84-426E-40DD-AFC4-6F175D3DCCD1}">
              <a14:hiddenFill xmlns:a14="http://schemas.microsoft.com/office/drawing/2010/main">
                <a:solidFill>
                  <a:srgbClr val="FFFFFF"/>
                </a:solidFill>
              </a14:hiddenFill>
            </a:ext>
          </a:extLst>
        </p:spPr>
      </p:pic>
      <p:pic>
        <p:nvPicPr>
          <p:cNvPr id="217092" name="Picture 4" descr="whatsinnoc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1447800"/>
            <a:ext cx="7458075" cy="1524000"/>
          </a:xfrm>
          <a:prstGeom prst="rect">
            <a:avLst/>
          </a:prstGeom>
          <a:noFill/>
          <a:extLst>
            <a:ext uri="{909E8E84-426E-40DD-AFC4-6F175D3DCCD1}">
              <a14:hiddenFill xmlns:a14="http://schemas.microsoft.com/office/drawing/2010/main">
                <a:solidFill>
                  <a:srgbClr val="FFFFFF"/>
                </a:solidFill>
              </a14:hiddenFill>
            </a:ext>
          </a:extLst>
        </p:spPr>
      </p:pic>
      <p:pic>
        <p:nvPicPr>
          <p:cNvPr id="217093" name="Picture 5" descr="whatsinco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3048000"/>
            <a:ext cx="7458075"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17094" name="Picture 6" descr="model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2675" y="4714876"/>
            <a:ext cx="1543050" cy="1990725"/>
          </a:xfrm>
          <a:prstGeom prst="rect">
            <a:avLst/>
          </a:prstGeom>
          <a:noFill/>
          <a:extLst>
            <a:ext uri="{909E8E84-426E-40DD-AFC4-6F175D3DCCD1}">
              <a14:hiddenFill xmlns:a14="http://schemas.microsoft.com/office/drawing/2010/main">
                <a:solidFill>
                  <a:srgbClr val="FFFFFF"/>
                </a:solidFill>
              </a14:hiddenFill>
            </a:ext>
          </a:extLst>
        </p:spPr>
      </p:pic>
      <p:pic>
        <p:nvPicPr>
          <p:cNvPr id="217095" name="Picture 7" descr="model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5054" y="4724400"/>
            <a:ext cx="1546622" cy="1981200"/>
          </a:xfrm>
          <a:prstGeom prst="rect">
            <a:avLst/>
          </a:prstGeom>
          <a:noFill/>
          <a:extLst>
            <a:ext uri="{909E8E84-426E-40DD-AFC4-6F175D3DCCD1}">
              <a14:hiddenFill xmlns:a14="http://schemas.microsoft.com/office/drawing/2010/main">
                <a:solidFill>
                  <a:srgbClr val="FFFFFF"/>
                </a:solidFill>
              </a14:hiddenFill>
            </a:ext>
          </a:extLst>
        </p:spPr>
      </p:pic>
      <p:pic>
        <p:nvPicPr>
          <p:cNvPr id="217096" name="Picture 8" descr="model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51004" y="4724400"/>
            <a:ext cx="1546622" cy="1981200"/>
          </a:xfrm>
          <a:prstGeom prst="rect">
            <a:avLst/>
          </a:prstGeom>
          <a:noFill/>
          <a:extLst>
            <a:ext uri="{909E8E84-426E-40DD-AFC4-6F175D3DCCD1}">
              <a14:hiddenFill xmlns:a14="http://schemas.microsoft.com/office/drawing/2010/main">
                <a:solidFill>
                  <a:srgbClr val="FFFFFF"/>
                </a:solidFill>
              </a14:hiddenFill>
            </a:ext>
          </a:extLst>
        </p:spPr>
      </p:pic>
      <p:sp>
        <p:nvSpPr>
          <p:cNvPr id="217097" name="Line 9"/>
          <p:cNvSpPr>
            <a:spLocks noChangeShapeType="1"/>
          </p:cNvSpPr>
          <p:nvPr/>
        </p:nvSpPr>
        <p:spPr bwMode="auto">
          <a:xfrm>
            <a:off x="53975" y="1371600"/>
            <a:ext cx="7629525" cy="0"/>
          </a:xfrm>
          <a:prstGeom prst="line">
            <a:avLst/>
          </a:prstGeom>
          <a:noFill/>
          <a:ln w="571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0"/>
          <p:cNvSpPr/>
          <p:nvPr/>
        </p:nvSpPr>
        <p:spPr>
          <a:xfrm>
            <a:off x="7986321" y="1359457"/>
            <a:ext cx="1934376"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Primary </a:t>
            </a:r>
          </a:p>
          <a:p>
            <a:pPr algn="ctr"/>
            <a:r>
              <a:rPr lang="en-US" sz="2400" dirty="0" smtClean="0">
                <a:solidFill>
                  <a:schemeClr val="tx1"/>
                </a:solidFill>
              </a:rPr>
              <a:t>Str. Databases</a:t>
            </a:r>
            <a:endParaRPr lang="en-US" sz="2400" dirty="0">
              <a:solidFill>
                <a:schemeClr val="tx1"/>
              </a:solidFill>
            </a:endParaRPr>
          </a:p>
        </p:txBody>
      </p:sp>
      <p:sp>
        <p:nvSpPr>
          <p:cNvPr id="12" name="Rectangle 11"/>
          <p:cNvSpPr/>
          <p:nvPr/>
        </p:nvSpPr>
        <p:spPr>
          <a:xfrm>
            <a:off x="7986321" y="3432601"/>
            <a:ext cx="1934377"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Secondary </a:t>
            </a:r>
          </a:p>
          <a:p>
            <a:pPr algn="ctr"/>
            <a:r>
              <a:rPr lang="en-US" sz="2400" dirty="0" smtClean="0">
                <a:solidFill>
                  <a:schemeClr val="tx1"/>
                </a:solidFill>
              </a:rPr>
              <a:t>Str. Databases</a:t>
            </a:r>
            <a:endParaRPr lang="en-US" sz="2400" dirty="0">
              <a:solidFill>
                <a:schemeClr val="tx1"/>
              </a:solidFill>
            </a:endParaRPr>
          </a:p>
        </p:txBody>
      </p:sp>
      <p:sp>
        <p:nvSpPr>
          <p:cNvPr id="13" name="Rectangle 12"/>
          <p:cNvSpPr/>
          <p:nvPr/>
        </p:nvSpPr>
        <p:spPr>
          <a:xfrm>
            <a:off x="7986321" y="5306278"/>
            <a:ext cx="1953420" cy="830997"/>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en-US" sz="2400" dirty="0" smtClean="0">
                <a:solidFill>
                  <a:schemeClr val="tx1"/>
                </a:solidFill>
              </a:rPr>
              <a:t>Tertiary</a:t>
            </a:r>
          </a:p>
          <a:p>
            <a:pPr algn="ctr"/>
            <a:r>
              <a:rPr lang="en-US" sz="2400" dirty="0" smtClean="0">
                <a:solidFill>
                  <a:schemeClr val="tx1"/>
                </a:solidFill>
              </a:rPr>
              <a:t>Str. Databases</a:t>
            </a:r>
            <a:endParaRPr lang="en-US" sz="2400" dirty="0">
              <a:solidFill>
                <a:schemeClr val="tx1"/>
              </a:solidFill>
            </a:endParaRPr>
          </a:p>
        </p:txBody>
      </p:sp>
      <p:sp>
        <p:nvSpPr>
          <p:cNvPr id="14" name="Text Box 1027"/>
          <p:cNvSpPr txBox="1">
            <a:spLocks noChangeArrowheads="1"/>
          </p:cNvSpPr>
          <p:nvPr/>
        </p:nvSpPr>
        <p:spPr bwMode="auto">
          <a:xfrm>
            <a:off x="21267" y="152059"/>
            <a:ext cx="3787674"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Protein Databases</a:t>
            </a:r>
            <a:endParaRPr lang="en-GB" sz="3200" b="1" dirty="0">
              <a:solidFill>
                <a:schemeClr val="tx2"/>
              </a:solidFill>
              <a:latin typeface="Arial" panose="020B0604020202020204" pitchFamily="34" charset="0"/>
            </a:endParaRPr>
          </a:p>
        </p:txBody>
      </p:sp>
      <p:sp>
        <p:nvSpPr>
          <p:cNvPr id="15" name="Rectangle 1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46296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7092"/>
                                        </p:tgtEl>
                                        <p:attrNameLst>
                                          <p:attrName>style.visibility</p:attrName>
                                        </p:attrNameLst>
                                      </p:cBhvr>
                                      <p:to>
                                        <p:strVal val="visible"/>
                                      </p:to>
                                    </p:set>
                                    <p:animEffect transition="in" filter="checkerboard(across)">
                                      <p:cBhvr>
                                        <p:cTn id="7" dur="500"/>
                                        <p:tgtEl>
                                          <p:spTgt spid="2170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17093"/>
                                        </p:tgtEl>
                                        <p:attrNameLst>
                                          <p:attrName>style.visibility</p:attrName>
                                        </p:attrNameLst>
                                      </p:cBhvr>
                                      <p:to>
                                        <p:strVal val="visible"/>
                                      </p:to>
                                    </p:set>
                                    <p:animEffect transition="in" filter="checkerboard(across)">
                                      <p:cBhvr>
                                        <p:cTn id="12" dur="500"/>
                                        <p:tgtEl>
                                          <p:spTgt spid="217093"/>
                                        </p:tgtEl>
                                      </p:cBhvr>
                                    </p:animEffect>
                                  </p:childTnLst>
                                </p:cTn>
                              </p:par>
                            </p:childTnLst>
                          </p:cTn>
                        </p:par>
                        <p:par>
                          <p:cTn id="13" fill="hold" nodeType="afterGroup">
                            <p:stCondLst>
                              <p:cond delay="500"/>
                            </p:stCondLst>
                            <p:childTnLst>
                              <p:par>
                                <p:cTn id="14" presetID="22" presetClass="entr" presetSubtype="1" fill="hold" nodeType="afterEffect">
                                  <p:stCondLst>
                                    <p:cond delay="3000"/>
                                  </p:stCondLst>
                                  <p:childTnLst>
                                    <p:set>
                                      <p:cBhvr>
                                        <p:cTn id="15" dur="1" fill="hold">
                                          <p:stCondLst>
                                            <p:cond delay="0"/>
                                          </p:stCondLst>
                                        </p:cTn>
                                        <p:tgtEl>
                                          <p:spTgt spid="217094"/>
                                        </p:tgtEl>
                                        <p:attrNameLst>
                                          <p:attrName>style.visibility</p:attrName>
                                        </p:attrNameLst>
                                      </p:cBhvr>
                                      <p:to>
                                        <p:strVal val="visible"/>
                                      </p:to>
                                    </p:set>
                                    <p:animEffect transition="in" filter="wipe(up)">
                                      <p:cBhvr>
                                        <p:cTn id="16" dur="500"/>
                                        <p:tgtEl>
                                          <p:spTgt spid="217094"/>
                                        </p:tgtEl>
                                      </p:cBhvr>
                                    </p:animEffect>
                                  </p:childTnLst>
                                </p:cTn>
                              </p:par>
                            </p:childTnLst>
                          </p:cTn>
                        </p:par>
                        <p:par>
                          <p:cTn id="17" fill="hold" nodeType="afterGroup">
                            <p:stCondLst>
                              <p:cond delay="4000"/>
                            </p:stCondLst>
                            <p:childTnLst>
                              <p:par>
                                <p:cTn id="18" presetID="22" presetClass="entr" presetSubtype="1" fill="hold" nodeType="afterEffect">
                                  <p:stCondLst>
                                    <p:cond delay="3000"/>
                                  </p:stCondLst>
                                  <p:childTnLst>
                                    <p:set>
                                      <p:cBhvr>
                                        <p:cTn id="19" dur="1" fill="hold">
                                          <p:stCondLst>
                                            <p:cond delay="0"/>
                                          </p:stCondLst>
                                        </p:cTn>
                                        <p:tgtEl>
                                          <p:spTgt spid="217095"/>
                                        </p:tgtEl>
                                        <p:attrNameLst>
                                          <p:attrName>style.visibility</p:attrName>
                                        </p:attrNameLst>
                                      </p:cBhvr>
                                      <p:to>
                                        <p:strVal val="visible"/>
                                      </p:to>
                                    </p:set>
                                    <p:animEffect transition="in" filter="wipe(up)">
                                      <p:cBhvr>
                                        <p:cTn id="20" dur="500"/>
                                        <p:tgtEl>
                                          <p:spTgt spid="217095"/>
                                        </p:tgtEl>
                                      </p:cBhvr>
                                    </p:animEffect>
                                  </p:childTnLst>
                                </p:cTn>
                              </p:par>
                            </p:childTnLst>
                          </p:cTn>
                        </p:par>
                        <p:par>
                          <p:cTn id="21" fill="hold" nodeType="afterGroup">
                            <p:stCondLst>
                              <p:cond delay="7500"/>
                            </p:stCondLst>
                            <p:childTnLst>
                              <p:par>
                                <p:cTn id="22" presetID="22" presetClass="entr" presetSubtype="1" fill="hold" nodeType="afterEffect">
                                  <p:stCondLst>
                                    <p:cond delay="3000"/>
                                  </p:stCondLst>
                                  <p:childTnLst>
                                    <p:set>
                                      <p:cBhvr>
                                        <p:cTn id="23" dur="1" fill="hold">
                                          <p:stCondLst>
                                            <p:cond delay="0"/>
                                          </p:stCondLst>
                                        </p:cTn>
                                        <p:tgtEl>
                                          <p:spTgt spid="217096"/>
                                        </p:tgtEl>
                                        <p:attrNameLst>
                                          <p:attrName>style.visibility</p:attrName>
                                        </p:attrNameLst>
                                      </p:cBhvr>
                                      <p:to>
                                        <p:strVal val="visible"/>
                                      </p:to>
                                    </p:set>
                                    <p:animEffect transition="in" filter="wipe(up)">
                                      <p:cBhvr>
                                        <p:cTn id="24" dur="500"/>
                                        <p:tgtEl>
                                          <p:spTgt spid="217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80900"/>
            <a:ext cx="3317358" cy="46166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r>
              <a:rPr lang="en-US" sz="2400" dirty="0" smtClean="0">
                <a:solidFill>
                  <a:schemeClr val="tx1"/>
                </a:solidFill>
              </a:rPr>
              <a:t>Primary Str. Databases</a:t>
            </a:r>
            <a:endParaRPr lang="en-US" sz="2400" dirty="0">
              <a:solidFill>
                <a:schemeClr val="tx1"/>
              </a:solidFill>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5" name="Rectangle 2"/>
          <p:cNvSpPr txBox="1">
            <a:spLocks noChangeArrowheads="1"/>
          </p:cNvSpPr>
          <p:nvPr/>
        </p:nvSpPr>
        <p:spPr>
          <a:xfrm>
            <a:off x="1107705" y="668149"/>
            <a:ext cx="7772400" cy="1143000"/>
          </a:xfrm>
          <a:prstGeom prst="rect">
            <a:avLst/>
          </a:prstGeom>
        </p:spPr>
        <p:txBody>
          <a:bodyP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smtClean="0">
                <a:solidFill>
                  <a:srgbClr val="FFFF00"/>
                </a:solidFill>
              </a:rPr>
              <a:t>Primary Protein DATABASE</a:t>
            </a:r>
            <a:endParaRPr lang="en-US" dirty="0">
              <a:solidFill>
                <a:srgbClr val="FFFF00"/>
              </a:solidFill>
            </a:endParaRPr>
          </a:p>
        </p:txBody>
      </p:sp>
      <p:sp>
        <p:nvSpPr>
          <p:cNvPr id="6" name="Rectangle 5"/>
          <p:cNvSpPr>
            <a:spLocks noChangeArrowheads="1"/>
          </p:cNvSpPr>
          <p:nvPr/>
        </p:nvSpPr>
        <p:spPr bwMode="auto">
          <a:xfrm>
            <a:off x="1107705" y="1239649"/>
            <a:ext cx="85344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fontAlgn="base">
              <a:spcBef>
                <a:spcPct val="0"/>
              </a:spcBef>
              <a:spcAft>
                <a:spcPct val="0"/>
              </a:spcAft>
              <a:defRPr sz="2400">
                <a:solidFill>
                  <a:schemeClr val="tx1"/>
                </a:solidFill>
                <a:latin typeface="Tahoma" panose="020B0604030504040204" pitchFamily="34" charset="0"/>
              </a:defRPr>
            </a:lvl6pPr>
            <a:lvl7pPr marL="2971800" indent="-228600" fontAlgn="base">
              <a:spcBef>
                <a:spcPct val="0"/>
              </a:spcBef>
              <a:spcAft>
                <a:spcPct val="0"/>
              </a:spcAft>
              <a:defRPr sz="2400">
                <a:solidFill>
                  <a:schemeClr val="tx1"/>
                </a:solidFill>
                <a:latin typeface="Tahoma" panose="020B0604030504040204" pitchFamily="34" charset="0"/>
              </a:defRPr>
            </a:lvl7pPr>
            <a:lvl8pPr marL="3429000" indent="-228600" fontAlgn="base">
              <a:spcBef>
                <a:spcPct val="0"/>
              </a:spcBef>
              <a:spcAft>
                <a:spcPct val="0"/>
              </a:spcAft>
              <a:defRPr sz="2400">
                <a:solidFill>
                  <a:schemeClr val="tx1"/>
                </a:solidFill>
                <a:latin typeface="Tahoma" panose="020B0604030504040204" pitchFamily="34" charset="0"/>
              </a:defRPr>
            </a:lvl8pPr>
            <a:lvl9pPr marL="3886200" indent="-228600" fontAlgn="base">
              <a:spcBef>
                <a:spcPct val="0"/>
              </a:spcBef>
              <a:spcAft>
                <a:spcPct val="0"/>
              </a:spcAft>
              <a:defRPr sz="2400">
                <a:solidFill>
                  <a:schemeClr val="tx1"/>
                </a:solidFill>
                <a:latin typeface="Tahoma" panose="020B0604030504040204" pitchFamily="34" charset="0"/>
              </a:defRPr>
            </a:lvl9pPr>
          </a:lstStyle>
          <a:p>
            <a:pPr>
              <a:spcBef>
                <a:spcPct val="20000"/>
              </a:spcBef>
              <a:buFontTx/>
              <a:buChar char="•"/>
            </a:pPr>
            <a:r>
              <a:rPr lang="en-US" sz="3200" dirty="0">
                <a:latin typeface="Times New Roman" panose="02020603050405020304" pitchFamily="18" charset="0"/>
              </a:rPr>
              <a:t>PIR                                </a:t>
            </a:r>
            <a:r>
              <a:rPr lang="en-US" dirty="0">
                <a:latin typeface="Times New Roman" panose="02020603050405020304" pitchFamily="18" charset="0"/>
              </a:rPr>
              <a:t>(http://pir.georgetown.edu/)</a:t>
            </a:r>
          </a:p>
          <a:p>
            <a:pPr>
              <a:spcBef>
                <a:spcPct val="20000"/>
              </a:spcBef>
              <a:buFontTx/>
              <a:buChar char="•"/>
            </a:pPr>
            <a:r>
              <a:rPr lang="en-US" sz="3200" dirty="0" err="1">
                <a:latin typeface="Times New Roman" panose="02020603050405020304" pitchFamily="18" charset="0"/>
              </a:rPr>
              <a:t>Swissprot</a:t>
            </a:r>
            <a:r>
              <a:rPr lang="en-US" sz="3200" dirty="0">
                <a:latin typeface="Times New Roman" panose="02020603050405020304" pitchFamily="18" charset="0"/>
              </a:rPr>
              <a:t>/</a:t>
            </a:r>
            <a:r>
              <a:rPr lang="en-US" sz="3200" dirty="0" err="1">
                <a:latin typeface="Times New Roman" panose="02020603050405020304" pitchFamily="18" charset="0"/>
              </a:rPr>
              <a:t>Uniprot</a:t>
            </a:r>
            <a:r>
              <a:rPr lang="en-US" sz="3200" dirty="0">
                <a:latin typeface="Times New Roman" panose="02020603050405020304" pitchFamily="18" charset="0"/>
              </a:rPr>
              <a:t>         </a:t>
            </a:r>
            <a:r>
              <a:rPr lang="en-US" dirty="0">
                <a:latin typeface="Times New Roman" panose="02020603050405020304" pitchFamily="18" charset="0"/>
              </a:rPr>
              <a:t>(http:// www.ebi.ac.uk/swissprot)</a:t>
            </a:r>
          </a:p>
          <a:p>
            <a:pPr>
              <a:spcBef>
                <a:spcPct val="20000"/>
              </a:spcBef>
              <a:buFontTx/>
              <a:buChar char="•"/>
            </a:pPr>
            <a:r>
              <a:rPr lang="en-US" sz="3200" dirty="0">
                <a:latin typeface="Times New Roman" panose="02020603050405020304" pitchFamily="18" charset="0"/>
              </a:rPr>
              <a:t>Protein Data Bank         </a:t>
            </a:r>
            <a:r>
              <a:rPr lang="en-US" dirty="0">
                <a:latin typeface="Times New Roman" panose="02020603050405020304" pitchFamily="18" charset="0"/>
              </a:rPr>
              <a:t>(http:</a:t>
            </a:r>
            <a:r>
              <a:rPr lang="en-US" sz="3200" dirty="0">
                <a:latin typeface="Times New Roman" panose="02020603050405020304" pitchFamily="18" charset="0"/>
              </a:rPr>
              <a:t>//</a:t>
            </a:r>
            <a:r>
              <a:rPr lang="en-US" dirty="0">
                <a:latin typeface="Times New Roman" panose="02020603050405020304" pitchFamily="18" charset="0"/>
              </a:rPr>
              <a:t> </a:t>
            </a:r>
            <a:r>
              <a:rPr lang="en-US" dirty="0" smtClean="0">
                <a:latin typeface="Times New Roman" panose="02020603050405020304" pitchFamily="18" charset="0"/>
                <a:hlinkClick r:id="rId2"/>
              </a:rPr>
              <a:t>www.rcsb.org/pdb</a:t>
            </a:r>
            <a:r>
              <a:rPr lang="en-US" dirty="0" smtClean="0">
                <a:latin typeface="Times New Roman" panose="02020603050405020304" pitchFamily="18" charset="0"/>
              </a:rPr>
              <a:t>)</a:t>
            </a:r>
          </a:p>
          <a:p>
            <a:pPr>
              <a:spcBef>
                <a:spcPct val="20000"/>
              </a:spcBef>
              <a:buFontTx/>
              <a:buChar char="•"/>
            </a:pPr>
            <a:endParaRPr lang="en-US" dirty="0">
              <a:latin typeface="Times New Roman" panose="02020603050405020304" pitchFamily="18" charset="0"/>
            </a:endParaRPr>
          </a:p>
          <a:p>
            <a:pPr marL="0" indent="0">
              <a:spcBef>
                <a:spcPct val="20000"/>
              </a:spcBef>
            </a:pPr>
            <a:endParaRPr lang="en-US" dirty="0" smtClean="0">
              <a:latin typeface="Times New Roman" panose="02020603050405020304" pitchFamily="18" charset="0"/>
            </a:endParaRPr>
          </a:p>
          <a:p>
            <a:r>
              <a:rPr lang="en-US" dirty="0"/>
              <a:t>Unlike nucleotide databases, they are not mirror of one another.</a:t>
            </a:r>
          </a:p>
          <a:p>
            <a:r>
              <a:rPr lang="en-US" dirty="0"/>
              <a:t>Both databanks are cross-referenced with the nucleotide databases by Acc. No. and PID.</a:t>
            </a:r>
          </a:p>
          <a:p>
            <a:pPr>
              <a:spcBef>
                <a:spcPct val="20000"/>
              </a:spcBef>
              <a:buFontTx/>
              <a:buChar char="•"/>
            </a:pPr>
            <a:endParaRPr lang="en-US" dirty="0">
              <a:latin typeface="Times New Roman" panose="02020603050405020304" pitchFamily="18" charset="0"/>
            </a:endParaRPr>
          </a:p>
        </p:txBody>
      </p:sp>
    </p:spTree>
    <p:extLst>
      <p:ext uri="{BB962C8B-B14F-4D97-AF65-F5344CB8AC3E}">
        <p14:creationId xmlns:p14="http://schemas.microsoft.com/office/powerpoint/2010/main" val="3696916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57200" y="770411"/>
            <a:ext cx="7772400" cy="3649133"/>
          </a:xfrm>
          <a:prstGeom prst="rect">
            <a:avLst/>
          </a:prstGeom>
        </p:spPr>
        <p:txBody>
          <a:bodyPr>
            <a:normAutofit fontScale="92500" lnSpcReduction="20000"/>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2800" dirty="0" smtClean="0"/>
              <a:t>From sequence, identify characteristics of a protein</a:t>
            </a:r>
          </a:p>
          <a:p>
            <a:pPr lvl="1">
              <a:lnSpc>
                <a:spcPct val="110000"/>
              </a:lnSpc>
            </a:pPr>
            <a:r>
              <a:rPr lang="en-US" sz="2400" dirty="0" smtClean="0"/>
              <a:t>Active sites</a:t>
            </a:r>
          </a:p>
          <a:p>
            <a:pPr lvl="1">
              <a:lnSpc>
                <a:spcPct val="110000"/>
              </a:lnSpc>
            </a:pPr>
            <a:r>
              <a:rPr lang="en-US" sz="2400" dirty="0" smtClean="0"/>
              <a:t>Families (e.g. globin)</a:t>
            </a:r>
          </a:p>
          <a:p>
            <a:pPr lvl="1">
              <a:lnSpc>
                <a:spcPct val="110000"/>
              </a:lnSpc>
            </a:pPr>
            <a:r>
              <a:rPr lang="en-US" sz="2400" dirty="0" smtClean="0"/>
              <a:t>Blocks</a:t>
            </a:r>
          </a:p>
          <a:p>
            <a:pPr lvl="1">
              <a:lnSpc>
                <a:spcPct val="110000"/>
              </a:lnSpc>
            </a:pPr>
            <a:r>
              <a:rPr lang="en-US" sz="2400" dirty="0" smtClean="0"/>
              <a:t>Domains</a:t>
            </a:r>
          </a:p>
          <a:p>
            <a:pPr lvl="1">
              <a:lnSpc>
                <a:spcPct val="110000"/>
              </a:lnSpc>
            </a:pPr>
            <a:r>
              <a:rPr lang="en-US" sz="2400" dirty="0" smtClean="0"/>
              <a:t>Folds</a:t>
            </a:r>
          </a:p>
          <a:p>
            <a:pPr lvl="1">
              <a:lnSpc>
                <a:spcPct val="110000"/>
              </a:lnSpc>
            </a:pPr>
            <a:r>
              <a:rPr lang="en-US" sz="2400" dirty="0" smtClean="0"/>
              <a:t>Motifs</a:t>
            </a:r>
          </a:p>
          <a:p>
            <a:pPr lvl="1">
              <a:lnSpc>
                <a:spcPct val="110000"/>
              </a:lnSpc>
            </a:pPr>
            <a:r>
              <a:rPr lang="en-US" sz="2400" dirty="0" smtClean="0"/>
              <a:t>Etc.</a:t>
            </a:r>
            <a:endParaRPr lang="en-US" sz="2400" dirty="0"/>
          </a:p>
        </p:txBody>
      </p:sp>
      <p:sp>
        <p:nvSpPr>
          <p:cNvPr id="3" name="Rectangle 2"/>
          <p:cNvSpPr/>
          <p:nvPr/>
        </p:nvSpPr>
        <p:spPr>
          <a:xfrm>
            <a:off x="0" y="180900"/>
            <a:ext cx="3317358" cy="46166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r>
              <a:rPr lang="en-US" sz="2400" dirty="0" smtClean="0">
                <a:solidFill>
                  <a:schemeClr val="tx1"/>
                </a:solidFill>
              </a:rPr>
              <a:t>Secondary Str. Databases</a:t>
            </a:r>
            <a:endParaRPr lang="en-US" sz="2400" dirty="0">
              <a:solidFill>
                <a:schemeClr val="tx1"/>
              </a:solidFill>
            </a:endParaRPr>
          </a:p>
        </p:txBody>
      </p:sp>
      <p:sp>
        <p:nvSpPr>
          <p:cNvPr id="4" name="Rectangle 2"/>
          <p:cNvSpPr txBox="1">
            <a:spLocks noChangeArrowheads="1"/>
          </p:cNvSpPr>
          <p:nvPr/>
        </p:nvSpPr>
        <p:spPr>
          <a:xfrm>
            <a:off x="1105795" y="4032911"/>
            <a:ext cx="7772400" cy="1456267"/>
          </a:xfrm>
          <a:prstGeom prst="rect">
            <a:avLst/>
          </a:prstGeom>
        </p:spPr>
        <p:txBody>
          <a:bodyP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dirty="0" smtClean="0">
                <a:solidFill>
                  <a:srgbClr val="FFFF00"/>
                </a:solidFill>
              </a:rPr>
              <a:t>Secondary Pattern Databases</a:t>
            </a:r>
            <a:endParaRPr lang="en-US" dirty="0">
              <a:solidFill>
                <a:srgbClr val="FFFF00"/>
              </a:solidFill>
            </a:endParaRPr>
          </a:p>
        </p:txBody>
      </p:sp>
      <p:sp>
        <p:nvSpPr>
          <p:cNvPr id="5" name="Rectangle 4"/>
          <p:cNvSpPr>
            <a:spLocks noChangeArrowheads="1"/>
          </p:cNvSpPr>
          <p:nvPr/>
        </p:nvSpPr>
        <p:spPr bwMode="auto">
          <a:xfrm>
            <a:off x="903768" y="4471012"/>
            <a:ext cx="86868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fontAlgn="base">
              <a:spcBef>
                <a:spcPct val="0"/>
              </a:spcBef>
              <a:spcAft>
                <a:spcPct val="0"/>
              </a:spcAft>
              <a:defRPr sz="2400">
                <a:solidFill>
                  <a:schemeClr val="tx1"/>
                </a:solidFill>
                <a:latin typeface="Tahoma" panose="020B0604030504040204" pitchFamily="34" charset="0"/>
              </a:defRPr>
            </a:lvl6pPr>
            <a:lvl7pPr marL="2971800" indent="-228600" fontAlgn="base">
              <a:spcBef>
                <a:spcPct val="0"/>
              </a:spcBef>
              <a:spcAft>
                <a:spcPct val="0"/>
              </a:spcAft>
              <a:defRPr sz="2400">
                <a:solidFill>
                  <a:schemeClr val="tx1"/>
                </a:solidFill>
                <a:latin typeface="Tahoma" panose="020B0604030504040204" pitchFamily="34" charset="0"/>
              </a:defRPr>
            </a:lvl7pPr>
            <a:lvl8pPr marL="3429000" indent="-228600" fontAlgn="base">
              <a:spcBef>
                <a:spcPct val="0"/>
              </a:spcBef>
              <a:spcAft>
                <a:spcPct val="0"/>
              </a:spcAft>
              <a:defRPr sz="2400">
                <a:solidFill>
                  <a:schemeClr val="tx1"/>
                </a:solidFill>
                <a:latin typeface="Tahoma" panose="020B0604030504040204" pitchFamily="34" charset="0"/>
              </a:defRPr>
            </a:lvl8pPr>
            <a:lvl9pPr marL="3886200" indent="-228600" fontAlgn="base">
              <a:spcBef>
                <a:spcPct val="0"/>
              </a:spcBef>
              <a:spcAft>
                <a:spcPct val="0"/>
              </a:spcAft>
              <a:defRPr sz="2400">
                <a:solidFill>
                  <a:schemeClr val="tx1"/>
                </a:solidFill>
                <a:latin typeface="Tahoma" panose="020B0604030504040204" pitchFamily="34" charset="0"/>
              </a:defRPr>
            </a:lvl9pPr>
          </a:lstStyle>
          <a:p>
            <a:pPr>
              <a:spcBef>
                <a:spcPct val="20000"/>
              </a:spcBef>
              <a:buClr>
                <a:schemeClr val="accent2"/>
              </a:buClr>
              <a:buSzPct val="80000"/>
              <a:buFont typeface="Wingdings" panose="05000000000000000000" pitchFamily="2" charset="2"/>
              <a:buNone/>
            </a:pPr>
            <a:endParaRPr lang="en-US" altLang="en-GB" sz="1400" dirty="0">
              <a:solidFill>
                <a:schemeClr val="tx2"/>
              </a:solidFill>
              <a:latin typeface="Arial" panose="020B0604020202020204" pitchFamily="34" charset="0"/>
            </a:endParaRPr>
          </a:p>
          <a:p>
            <a:pPr>
              <a:spcBef>
                <a:spcPct val="20000"/>
              </a:spcBef>
              <a:buClr>
                <a:schemeClr val="accent2"/>
              </a:buClr>
              <a:buSzPct val="80000"/>
              <a:buFontTx/>
              <a:buChar char=" "/>
            </a:pPr>
            <a:r>
              <a:rPr lang="en-US" altLang="en-GB" sz="1600" dirty="0">
                <a:solidFill>
                  <a:schemeClr val="folHlink"/>
                </a:solidFill>
                <a:latin typeface="Arial" panose="020B0604020202020204" pitchFamily="34" charset="0"/>
              </a:rPr>
              <a:t>PROSITE</a:t>
            </a:r>
            <a:r>
              <a:rPr lang="en-US" altLang="en-GB" sz="1600" dirty="0">
                <a:solidFill>
                  <a:schemeClr val="accent2"/>
                </a:solidFill>
                <a:latin typeface="Arial" panose="020B0604020202020204" pitchFamily="34" charset="0"/>
              </a:rPr>
              <a:t>	</a:t>
            </a:r>
            <a:r>
              <a:rPr lang="en-US" altLang="en-GB" sz="1600" dirty="0">
                <a:solidFill>
                  <a:schemeClr val="accent1"/>
                </a:solidFill>
                <a:latin typeface="Arial" panose="020B0604020202020204" pitchFamily="34" charset="0"/>
              </a:rPr>
              <a:t>SWISS-PROT</a:t>
            </a:r>
            <a:r>
              <a:rPr lang="en-US" altLang="en-GB" sz="1600" dirty="0">
                <a:solidFill>
                  <a:schemeClr val="accent2"/>
                </a:solidFill>
                <a:latin typeface="Arial" panose="020B0604020202020204" pitchFamily="34" charset="0"/>
              </a:rPr>
              <a:t>		</a:t>
            </a:r>
            <a:r>
              <a:rPr lang="en-US" altLang="en-GB" sz="1600" dirty="0">
                <a:solidFill>
                  <a:schemeClr val="folHlink"/>
                </a:solidFill>
                <a:latin typeface="Arial" panose="020B0604020202020204" pitchFamily="34" charset="0"/>
              </a:rPr>
              <a:t>Regular expressions (patterns)</a:t>
            </a:r>
          </a:p>
          <a:p>
            <a:pPr>
              <a:spcBef>
                <a:spcPct val="20000"/>
              </a:spcBef>
              <a:buClr>
                <a:schemeClr val="accent2"/>
              </a:buClr>
              <a:buSzPct val="80000"/>
              <a:buFontTx/>
              <a:buChar char=" "/>
            </a:pPr>
            <a:r>
              <a:rPr lang="en-US" altLang="en-GB" sz="1600" dirty="0">
                <a:solidFill>
                  <a:schemeClr val="folHlink"/>
                </a:solidFill>
                <a:latin typeface="Arial" panose="020B0604020202020204" pitchFamily="34" charset="0"/>
              </a:rPr>
              <a:t>PRINTS</a:t>
            </a:r>
            <a:r>
              <a:rPr lang="en-US" altLang="en-GB" sz="1600" dirty="0">
                <a:solidFill>
                  <a:srgbClr val="CC0066"/>
                </a:solidFill>
                <a:latin typeface="Arial" panose="020B0604020202020204" pitchFamily="34" charset="0"/>
              </a:rPr>
              <a:t>	</a:t>
            </a:r>
            <a:r>
              <a:rPr lang="en-US" altLang="en-GB" sz="1600" dirty="0">
                <a:solidFill>
                  <a:schemeClr val="accent1"/>
                </a:solidFill>
                <a:latin typeface="Arial" panose="020B0604020202020204" pitchFamily="34" charset="0"/>
              </a:rPr>
              <a:t>SWISS-PROT/</a:t>
            </a:r>
            <a:r>
              <a:rPr lang="en-US" altLang="en-GB" sz="1600" dirty="0" err="1">
                <a:solidFill>
                  <a:schemeClr val="accent1"/>
                </a:solidFill>
                <a:latin typeface="Arial" panose="020B0604020202020204" pitchFamily="34" charset="0"/>
              </a:rPr>
              <a:t>TrEMBL</a:t>
            </a:r>
            <a:r>
              <a:rPr lang="en-US" altLang="en-GB" sz="1600" dirty="0">
                <a:solidFill>
                  <a:srgbClr val="CC0066"/>
                </a:solidFill>
                <a:latin typeface="Arial" panose="020B0604020202020204" pitchFamily="34" charset="0"/>
              </a:rPr>
              <a:t>	</a:t>
            </a:r>
            <a:r>
              <a:rPr lang="en-US" altLang="en-GB" sz="1600" dirty="0">
                <a:solidFill>
                  <a:schemeClr val="folHlink"/>
                </a:solidFill>
                <a:latin typeface="Arial" panose="020B0604020202020204" pitchFamily="34" charset="0"/>
              </a:rPr>
              <a:t>Aligned motifs (fingerprints)</a:t>
            </a:r>
          </a:p>
          <a:p>
            <a:pPr>
              <a:spcBef>
                <a:spcPct val="20000"/>
              </a:spcBef>
              <a:buClr>
                <a:schemeClr val="accent2"/>
              </a:buClr>
              <a:buSzPct val="80000"/>
              <a:buFontTx/>
              <a:buChar char=" "/>
            </a:pPr>
            <a:r>
              <a:rPr lang="en-US" altLang="en-GB" sz="1600" dirty="0" err="1">
                <a:solidFill>
                  <a:schemeClr val="folHlink"/>
                </a:solidFill>
                <a:latin typeface="Arial" panose="020B0604020202020204" pitchFamily="34" charset="0"/>
              </a:rPr>
              <a:t>Pfam</a:t>
            </a:r>
            <a:r>
              <a:rPr lang="en-US" altLang="en-GB" sz="1600" dirty="0">
                <a:solidFill>
                  <a:srgbClr val="CC0066"/>
                </a:solidFill>
                <a:latin typeface="Arial" panose="020B0604020202020204" pitchFamily="34" charset="0"/>
              </a:rPr>
              <a:t>		</a:t>
            </a:r>
            <a:r>
              <a:rPr lang="en-US" altLang="en-GB" sz="1600" dirty="0">
                <a:solidFill>
                  <a:schemeClr val="accent1"/>
                </a:solidFill>
                <a:latin typeface="Arial" panose="020B0604020202020204" pitchFamily="34" charset="0"/>
              </a:rPr>
              <a:t>SWISS-PROT/</a:t>
            </a:r>
            <a:r>
              <a:rPr lang="en-US" altLang="en-GB" sz="1600" dirty="0" err="1">
                <a:solidFill>
                  <a:schemeClr val="accent1"/>
                </a:solidFill>
                <a:latin typeface="Arial" panose="020B0604020202020204" pitchFamily="34" charset="0"/>
              </a:rPr>
              <a:t>TrEMBL</a:t>
            </a:r>
            <a:r>
              <a:rPr lang="en-US" altLang="en-GB" sz="1600" dirty="0">
                <a:solidFill>
                  <a:srgbClr val="CC0066"/>
                </a:solidFill>
                <a:latin typeface="Arial" panose="020B0604020202020204" pitchFamily="34" charset="0"/>
              </a:rPr>
              <a:t>	</a:t>
            </a:r>
            <a:r>
              <a:rPr lang="en-US" altLang="en-GB" sz="1600" dirty="0">
                <a:solidFill>
                  <a:schemeClr val="folHlink"/>
                </a:solidFill>
                <a:latin typeface="Arial" panose="020B0604020202020204" pitchFamily="34" charset="0"/>
              </a:rPr>
              <a:t>Hidden Markov Models (HMMs)</a:t>
            </a:r>
          </a:p>
          <a:p>
            <a:pPr>
              <a:spcBef>
                <a:spcPct val="20000"/>
              </a:spcBef>
              <a:buClr>
                <a:schemeClr val="accent2"/>
              </a:buClr>
              <a:buSzPct val="80000"/>
              <a:buFontTx/>
              <a:buChar char=" "/>
            </a:pPr>
            <a:r>
              <a:rPr lang="en-US" altLang="en-GB" sz="1600" dirty="0">
                <a:solidFill>
                  <a:schemeClr val="folHlink"/>
                </a:solidFill>
                <a:latin typeface="Arial" panose="020B0604020202020204" pitchFamily="34" charset="0"/>
              </a:rPr>
              <a:t>Profiles</a:t>
            </a:r>
            <a:r>
              <a:rPr lang="en-US" altLang="en-GB" sz="1600" dirty="0">
                <a:solidFill>
                  <a:srgbClr val="CC0066"/>
                </a:solidFill>
                <a:latin typeface="Arial" panose="020B0604020202020204" pitchFamily="34" charset="0"/>
              </a:rPr>
              <a:t>	</a:t>
            </a:r>
            <a:r>
              <a:rPr lang="en-US" altLang="en-GB" sz="1600" dirty="0">
                <a:solidFill>
                  <a:schemeClr val="accent1"/>
                </a:solidFill>
                <a:latin typeface="Arial" panose="020B0604020202020204" pitchFamily="34" charset="0"/>
              </a:rPr>
              <a:t>SWISS-PROT</a:t>
            </a:r>
            <a:r>
              <a:rPr lang="en-US" altLang="en-GB" sz="1600" dirty="0">
                <a:solidFill>
                  <a:srgbClr val="CC0066"/>
                </a:solidFill>
                <a:latin typeface="Arial" panose="020B0604020202020204" pitchFamily="34" charset="0"/>
              </a:rPr>
              <a:t>		</a:t>
            </a:r>
            <a:r>
              <a:rPr lang="en-US" altLang="en-GB" sz="1600" dirty="0">
                <a:solidFill>
                  <a:schemeClr val="folHlink"/>
                </a:solidFill>
                <a:latin typeface="Arial" panose="020B0604020202020204" pitchFamily="34" charset="0"/>
              </a:rPr>
              <a:t>Weight matrices (profiles)</a:t>
            </a:r>
          </a:p>
          <a:p>
            <a:pPr>
              <a:spcBef>
                <a:spcPct val="20000"/>
              </a:spcBef>
              <a:buClr>
                <a:schemeClr val="accent2"/>
              </a:buClr>
              <a:buSzPct val="80000"/>
              <a:buFontTx/>
              <a:buChar char=" "/>
            </a:pPr>
            <a:r>
              <a:rPr lang="en-US" altLang="en-GB" sz="1600" dirty="0">
                <a:solidFill>
                  <a:schemeClr val="folHlink"/>
                </a:solidFill>
                <a:latin typeface="Arial" panose="020B0604020202020204" pitchFamily="34" charset="0"/>
              </a:rPr>
              <a:t>BLOCKS</a:t>
            </a:r>
            <a:r>
              <a:rPr lang="en-US" altLang="en-GB" sz="1600" dirty="0">
                <a:solidFill>
                  <a:srgbClr val="CC0066"/>
                </a:solidFill>
                <a:latin typeface="Arial" panose="020B0604020202020204" pitchFamily="34" charset="0"/>
              </a:rPr>
              <a:t>	</a:t>
            </a:r>
            <a:r>
              <a:rPr lang="en-US" altLang="en-GB" sz="1600" dirty="0">
                <a:solidFill>
                  <a:schemeClr val="accent1"/>
                </a:solidFill>
                <a:latin typeface="Arial" panose="020B0604020202020204" pitchFamily="34" charset="0"/>
              </a:rPr>
              <a:t>PRINTS/</a:t>
            </a:r>
            <a:r>
              <a:rPr lang="en-US" altLang="en-GB" sz="1600" dirty="0" err="1">
                <a:solidFill>
                  <a:schemeClr val="accent1"/>
                </a:solidFill>
                <a:latin typeface="Arial" panose="020B0604020202020204" pitchFamily="34" charset="0"/>
              </a:rPr>
              <a:t>InterPro</a:t>
            </a:r>
            <a:r>
              <a:rPr lang="en-US" altLang="en-GB" sz="1600" dirty="0">
                <a:solidFill>
                  <a:schemeClr val="accent1"/>
                </a:solidFill>
                <a:latin typeface="Arial" panose="020B0604020202020204" pitchFamily="34" charset="0"/>
              </a:rPr>
              <a:t>/Domo</a:t>
            </a:r>
            <a:r>
              <a:rPr lang="en-US" altLang="en-GB" sz="1600" dirty="0">
                <a:solidFill>
                  <a:srgbClr val="CC0066"/>
                </a:solidFill>
                <a:latin typeface="Arial" panose="020B0604020202020204" pitchFamily="34" charset="0"/>
              </a:rPr>
              <a:t>	</a:t>
            </a:r>
            <a:r>
              <a:rPr lang="en-US" altLang="en-GB" sz="1600" dirty="0">
                <a:solidFill>
                  <a:schemeClr val="folHlink"/>
                </a:solidFill>
                <a:latin typeface="Arial" panose="020B0604020202020204" pitchFamily="34" charset="0"/>
              </a:rPr>
              <a:t>Weighted motifs (blocks)</a:t>
            </a:r>
          </a:p>
          <a:p>
            <a:pPr>
              <a:spcBef>
                <a:spcPct val="20000"/>
              </a:spcBef>
              <a:buClr>
                <a:schemeClr val="accent2"/>
              </a:buClr>
              <a:buSzPct val="80000"/>
              <a:buFontTx/>
              <a:buChar char=" "/>
            </a:pPr>
            <a:r>
              <a:rPr lang="en-US" altLang="en-GB" sz="1600" dirty="0">
                <a:solidFill>
                  <a:schemeClr val="folHlink"/>
                </a:solidFill>
                <a:latin typeface="Arial" panose="020B0604020202020204" pitchFamily="34" charset="0"/>
              </a:rPr>
              <a:t>IDENTIFY</a:t>
            </a:r>
            <a:r>
              <a:rPr lang="en-US" altLang="en-GB" sz="1600" dirty="0">
                <a:solidFill>
                  <a:srgbClr val="CC0066"/>
                </a:solidFill>
                <a:latin typeface="Arial" panose="020B0604020202020204" pitchFamily="34" charset="0"/>
              </a:rPr>
              <a:t>	</a:t>
            </a:r>
            <a:r>
              <a:rPr lang="en-US" altLang="en-GB" sz="1600" dirty="0">
                <a:solidFill>
                  <a:schemeClr val="accent1"/>
                </a:solidFill>
                <a:latin typeface="Arial" panose="020B0604020202020204" pitchFamily="34" charset="0"/>
              </a:rPr>
              <a:t>PRINTS/</a:t>
            </a:r>
            <a:r>
              <a:rPr lang="en-US" altLang="en-GB" sz="1600" dirty="0" err="1">
                <a:solidFill>
                  <a:schemeClr val="accent1"/>
                </a:solidFill>
                <a:latin typeface="Arial" panose="020B0604020202020204" pitchFamily="34" charset="0"/>
              </a:rPr>
              <a:t>InterPro</a:t>
            </a:r>
            <a:r>
              <a:rPr lang="en-US" altLang="en-GB" sz="1600" dirty="0">
                <a:solidFill>
                  <a:srgbClr val="009999"/>
                </a:solidFill>
                <a:latin typeface="Arial" panose="020B0604020202020204" pitchFamily="34" charset="0"/>
              </a:rPr>
              <a:t>	</a:t>
            </a:r>
            <a:r>
              <a:rPr lang="en-US" altLang="en-GB" sz="1600" dirty="0">
                <a:solidFill>
                  <a:srgbClr val="CC0066"/>
                </a:solidFill>
                <a:latin typeface="Arial" panose="020B0604020202020204" pitchFamily="34" charset="0"/>
              </a:rPr>
              <a:t>	</a:t>
            </a:r>
            <a:r>
              <a:rPr lang="en-US" altLang="en-GB" sz="1600" dirty="0">
                <a:solidFill>
                  <a:schemeClr val="folHlink"/>
                </a:solidFill>
                <a:latin typeface="Arial" panose="020B0604020202020204" pitchFamily="34" charset="0"/>
              </a:rPr>
              <a:t>Permissive regular expressions</a:t>
            </a:r>
            <a:endParaRPr lang="en-US" altLang="en-GB" sz="1600" dirty="0">
              <a:solidFill>
                <a:schemeClr val="folHlink"/>
              </a:solidFill>
              <a:latin typeface="Times New Roman" panose="02020603050405020304" pitchFamily="18" charset="0"/>
            </a:endParaRPr>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740769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3276600" y="609600"/>
            <a:ext cx="1524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GB" sz="1800" b="1">
                <a:solidFill>
                  <a:schemeClr val="accent1"/>
                </a:solidFill>
                <a:latin typeface="Arial" panose="020B0604020202020204" pitchFamily="34" charset="0"/>
              </a:rPr>
              <a:t>Single motif methods</a:t>
            </a:r>
          </a:p>
        </p:txBody>
      </p:sp>
      <p:sp>
        <p:nvSpPr>
          <p:cNvPr id="3" name="Text Box 3"/>
          <p:cNvSpPr txBox="1">
            <a:spLocks noChangeArrowheads="1"/>
          </p:cNvSpPr>
          <p:nvPr/>
        </p:nvSpPr>
        <p:spPr bwMode="auto">
          <a:xfrm>
            <a:off x="914400" y="5410200"/>
            <a:ext cx="1676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GB" sz="1800" b="1">
                <a:solidFill>
                  <a:schemeClr val="folHlink"/>
                </a:solidFill>
                <a:latin typeface="Arial" panose="020B0604020202020204" pitchFamily="34" charset="0"/>
              </a:rPr>
              <a:t>Multiple motif methods</a:t>
            </a:r>
          </a:p>
        </p:txBody>
      </p:sp>
      <p:sp>
        <p:nvSpPr>
          <p:cNvPr id="4" name="Text Box 4"/>
          <p:cNvSpPr txBox="1">
            <a:spLocks noChangeArrowheads="1"/>
          </p:cNvSpPr>
          <p:nvPr/>
        </p:nvSpPr>
        <p:spPr bwMode="auto">
          <a:xfrm>
            <a:off x="6324600" y="1752600"/>
            <a:ext cx="2590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GB" sz="1800" b="1">
                <a:solidFill>
                  <a:srgbClr val="CC0099"/>
                </a:solidFill>
                <a:latin typeface="Arial" panose="020B0604020202020204" pitchFamily="34" charset="0"/>
              </a:rPr>
              <a:t>Full domain alignment methods</a:t>
            </a:r>
          </a:p>
        </p:txBody>
      </p:sp>
      <p:sp>
        <p:nvSpPr>
          <p:cNvPr id="5" name="Text Box 5"/>
          <p:cNvSpPr txBox="1">
            <a:spLocks noChangeArrowheads="1"/>
          </p:cNvSpPr>
          <p:nvPr/>
        </p:nvSpPr>
        <p:spPr bwMode="auto">
          <a:xfrm>
            <a:off x="4876800" y="638175"/>
            <a:ext cx="1295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GB" sz="1600">
                <a:solidFill>
                  <a:schemeClr val="accent1"/>
                </a:solidFill>
                <a:latin typeface="Arial" panose="020B0604020202020204" pitchFamily="34" charset="0"/>
              </a:rPr>
              <a:t>Fuzzy regex (IDENTIFY)</a:t>
            </a:r>
          </a:p>
        </p:txBody>
      </p:sp>
      <p:sp>
        <p:nvSpPr>
          <p:cNvPr id="6" name="Text Box 6"/>
          <p:cNvSpPr txBox="1">
            <a:spLocks noChangeArrowheads="1"/>
          </p:cNvSpPr>
          <p:nvPr/>
        </p:nvSpPr>
        <p:spPr bwMode="auto">
          <a:xfrm>
            <a:off x="4876800" y="1447800"/>
            <a:ext cx="12954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GB" sz="1600">
                <a:solidFill>
                  <a:schemeClr val="accent1"/>
                </a:solidFill>
                <a:latin typeface="Arial" panose="020B0604020202020204" pitchFamily="34" charset="0"/>
              </a:rPr>
              <a:t>Exact regex (PROSITE)</a:t>
            </a:r>
          </a:p>
        </p:txBody>
      </p:sp>
      <p:sp>
        <p:nvSpPr>
          <p:cNvPr id="7" name="Text Box 7"/>
          <p:cNvSpPr txBox="1">
            <a:spLocks noChangeArrowheads="1"/>
          </p:cNvSpPr>
          <p:nvPr/>
        </p:nvSpPr>
        <p:spPr bwMode="auto">
          <a:xfrm>
            <a:off x="6477000" y="2819400"/>
            <a:ext cx="2133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50000"/>
              </a:lnSpc>
              <a:spcBef>
                <a:spcPct val="50000"/>
              </a:spcBef>
            </a:pPr>
            <a:r>
              <a:rPr lang="en-US" altLang="en-GB" sz="1600">
                <a:solidFill>
                  <a:srgbClr val="CC0099"/>
                </a:solidFill>
                <a:latin typeface="Arial" panose="020B0604020202020204" pitchFamily="34" charset="0"/>
              </a:rPr>
              <a:t>Profiles </a:t>
            </a:r>
          </a:p>
          <a:p>
            <a:pPr algn="ctr" eaLnBrk="0" hangingPunct="0">
              <a:lnSpc>
                <a:spcPct val="50000"/>
              </a:lnSpc>
              <a:spcBef>
                <a:spcPct val="50000"/>
              </a:spcBef>
            </a:pPr>
            <a:r>
              <a:rPr lang="en-US" altLang="en-GB" sz="1600">
                <a:solidFill>
                  <a:srgbClr val="CC0099"/>
                </a:solidFill>
                <a:latin typeface="Arial" panose="020B0604020202020204" pitchFamily="34" charset="0"/>
              </a:rPr>
              <a:t>(PROFILE LIBRARY)</a:t>
            </a:r>
          </a:p>
        </p:txBody>
      </p:sp>
      <p:sp>
        <p:nvSpPr>
          <p:cNvPr id="8" name="Text Box 8"/>
          <p:cNvSpPr txBox="1">
            <a:spLocks noChangeArrowheads="1"/>
          </p:cNvSpPr>
          <p:nvPr/>
        </p:nvSpPr>
        <p:spPr bwMode="auto">
          <a:xfrm>
            <a:off x="7010400" y="3656013"/>
            <a:ext cx="1066800"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50000"/>
              </a:lnSpc>
              <a:spcBef>
                <a:spcPct val="50000"/>
              </a:spcBef>
            </a:pPr>
            <a:r>
              <a:rPr lang="en-US" altLang="en-GB" sz="1600">
                <a:solidFill>
                  <a:srgbClr val="CC0099"/>
                </a:solidFill>
                <a:latin typeface="Arial" panose="020B0604020202020204" pitchFamily="34" charset="0"/>
              </a:rPr>
              <a:t>HMMs </a:t>
            </a:r>
          </a:p>
          <a:p>
            <a:pPr algn="ctr" eaLnBrk="0" hangingPunct="0">
              <a:lnSpc>
                <a:spcPct val="50000"/>
              </a:lnSpc>
              <a:spcBef>
                <a:spcPct val="50000"/>
              </a:spcBef>
            </a:pPr>
            <a:r>
              <a:rPr lang="en-US" altLang="en-GB" sz="1600">
                <a:solidFill>
                  <a:srgbClr val="CC0099"/>
                </a:solidFill>
                <a:latin typeface="Arial" panose="020B0604020202020204" pitchFamily="34" charset="0"/>
              </a:rPr>
              <a:t>(Pfam)</a:t>
            </a:r>
          </a:p>
        </p:txBody>
      </p:sp>
      <p:sp>
        <p:nvSpPr>
          <p:cNvPr id="9" name="Text Box 9"/>
          <p:cNvSpPr txBox="1">
            <a:spLocks noChangeArrowheads="1"/>
          </p:cNvSpPr>
          <p:nvPr/>
        </p:nvSpPr>
        <p:spPr bwMode="auto">
          <a:xfrm>
            <a:off x="2514600" y="4722813"/>
            <a:ext cx="2133600"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50000"/>
              </a:lnSpc>
              <a:spcBef>
                <a:spcPct val="50000"/>
              </a:spcBef>
            </a:pPr>
            <a:r>
              <a:rPr lang="en-US" altLang="en-GB" sz="1600">
                <a:solidFill>
                  <a:schemeClr val="folHlink"/>
                </a:solidFill>
                <a:latin typeface="Arial" panose="020B0604020202020204" pitchFamily="34" charset="0"/>
              </a:rPr>
              <a:t>Identity matrices </a:t>
            </a:r>
          </a:p>
          <a:p>
            <a:pPr algn="ctr" eaLnBrk="0" hangingPunct="0">
              <a:lnSpc>
                <a:spcPct val="50000"/>
              </a:lnSpc>
              <a:spcBef>
                <a:spcPct val="50000"/>
              </a:spcBef>
            </a:pPr>
            <a:r>
              <a:rPr lang="en-US" altLang="en-GB" sz="1600">
                <a:solidFill>
                  <a:schemeClr val="folHlink"/>
                </a:solidFill>
                <a:latin typeface="Arial" panose="020B0604020202020204" pitchFamily="34" charset="0"/>
              </a:rPr>
              <a:t>(PRINTS)</a:t>
            </a:r>
          </a:p>
        </p:txBody>
      </p:sp>
      <p:sp>
        <p:nvSpPr>
          <p:cNvPr id="10" name="Text Box 10"/>
          <p:cNvSpPr txBox="1">
            <a:spLocks noChangeArrowheads="1"/>
          </p:cNvSpPr>
          <p:nvPr/>
        </p:nvSpPr>
        <p:spPr bwMode="auto">
          <a:xfrm>
            <a:off x="2514600" y="5562600"/>
            <a:ext cx="21336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lnSpc>
                <a:spcPct val="50000"/>
              </a:lnSpc>
              <a:spcBef>
                <a:spcPct val="50000"/>
              </a:spcBef>
            </a:pPr>
            <a:r>
              <a:rPr lang="en-US" altLang="en-GB" sz="1600">
                <a:solidFill>
                  <a:schemeClr val="folHlink"/>
                </a:solidFill>
                <a:latin typeface="Arial" panose="020B0604020202020204" pitchFamily="34" charset="0"/>
              </a:rPr>
              <a:t>Weight matrices </a:t>
            </a:r>
          </a:p>
          <a:p>
            <a:pPr algn="ctr" eaLnBrk="0" hangingPunct="0">
              <a:lnSpc>
                <a:spcPct val="50000"/>
              </a:lnSpc>
              <a:spcBef>
                <a:spcPct val="50000"/>
              </a:spcBef>
            </a:pPr>
            <a:r>
              <a:rPr lang="en-US" altLang="en-GB" sz="1600">
                <a:solidFill>
                  <a:schemeClr val="folHlink"/>
                </a:solidFill>
                <a:latin typeface="Arial" panose="020B0604020202020204" pitchFamily="34" charset="0"/>
              </a:rPr>
              <a:t>(BLOCKS)</a:t>
            </a:r>
          </a:p>
        </p:txBody>
      </p:sp>
      <p:grpSp>
        <p:nvGrpSpPr>
          <p:cNvPr id="11" name="Group 11"/>
          <p:cNvGrpSpPr>
            <a:grpSpLocks/>
          </p:cNvGrpSpPr>
          <p:nvPr/>
        </p:nvGrpSpPr>
        <p:grpSpPr bwMode="auto">
          <a:xfrm>
            <a:off x="838200" y="2590800"/>
            <a:ext cx="5334000" cy="1219200"/>
            <a:chOff x="672" y="1920"/>
            <a:chExt cx="4368" cy="1104"/>
          </a:xfrm>
        </p:grpSpPr>
        <p:sp>
          <p:nvSpPr>
            <p:cNvPr id="12" name="Line 12"/>
            <p:cNvSpPr>
              <a:spLocks noChangeShapeType="1"/>
            </p:cNvSpPr>
            <p:nvPr/>
          </p:nvSpPr>
          <p:spPr bwMode="auto">
            <a:xfrm>
              <a:off x="672" y="1920"/>
              <a:ext cx="422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13" name="Group 13"/>
            <p:cNvGrpSpPr>
              <a:grpSpLocks/>
            </p:cNvGrpSpPr>
            <p:nvPr/>
          </p:nvGrpSpPr>
          <p:grpSpPr bwMode="auto">
            <a:xfrm>
              <a:off x="672" y="2112"/>
              <a:ext cx="4176" cy="0"/>
              <a:chOff x="672" y="2112"/>
              <a:chExt cx="4176" cy="0"/>
            </a:xfrm>
          </p:grpSpPr>
          <p:sp>
            <p:nvSpPr>
              <p:cNvPr id="45" name="Line 14"/>
              <p:cNvSpPr>
                <a:spLocks noChangeShapeType="1"/>
              </p:cNvSpPr>
              <p:nvPr/>
            </p:nvSpPr>
            <p:spPr bwMode="auto">
              <a:xfrm>
                <a:off x="672" y="2112"/>
                <a:ext cx="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6" name="Line 15"/>
              <p:cNvSpPr>
                <a:spLocks noChangeShapeType="1"/>
              </p:cNvSpPr>
              <p:nvPr/>
            </p:nvSpPr>
            <p:spPr bwMode="auto">
              <a:xfrm flipH="1">
                <a:off x="3504" y="2112"/>
                <a:ext cx="13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4" name="Group 16"/>
            <p:cNvGrpSpPr>
              <a:grpSpLocks/>
            </p:cNvGrpSpPr>
            <p:nvPr/>
          </p:nvGrpSpPr>
          <p:grpSpPr bwMode="auto">
            <a:xfrm>
              <a:off x="768" y="2352"/>
              <a:ext cx="4272" cy="0"/>
              <a:chOff x="768" y="2400"/>
              <a:chExt cx="4272" cy="0"/>
            </a:xfrm>
          </p:grpSpPr>
          <p:sp>
            <p:nvSpPr>
              <p:cNvPr id="42" name="Line 17"/>
              <p:cNvSpPr>
                <a:spLocks noChangeShapeType="1"/>
              </p:cNvSpPr>
              <p:nvPr/>
            </p:nvSpPr>
            <p:spPr bwMode="auto">
              <a:xfrm flipH="1">
                <a:off x="768" y="2400"/>
                <a:ext cx="13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 name="Line 18"/>
              <p:cNvSpPr>
                <a:spLocks noChangeShapeType="1"/>
              </p:cNvSpPr>
              <p:nvPr/>
            </p:nvSpPr>
            <p:spPr bwMode="auto">
              <a:xfrm flipH="1">
                <a:off x="3696" y="2400"/>
                <a:ext cx="134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 name="Line 19"/>
              <p:cNvSpPr>
                <a:spLocks noChangeShapeType="1"/>
              </p:cNvSpPr>
              <p:nvPr/>
            </p:nvSpPr>
            <p:spPr bwMode="auto">
              <a:xfrm flipH="1">
                <a:off x="2352" y="2400"/>
                <a:ext cx="9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5" name="Group 20"/>
            <p:cNvGrpSpPr>
              <a:grpSpLocks/>
            </p:cNvGrpSpPr>
            <p:nvPr/>
          </p:nvGrpSpPr>
          <p:grpSpPr bwMode="auto">
            <a:xfrm>
              <a:off x="768" y="2592"/>
              <a:ext cx="3984" cy="0"/>
              <a:chOff x="768" y="2592"/>
              <a:chExt cx="3984" cy="0"/>
            </a:xfrm>
          </p:grpSpPr>
          <p:sp>
            <p:nvSpPr>
              <p:cNvPr id="39" name="Line 21"/>
              <p:cNvSpPr>
                <a:spLocks noChangeShapeType="1"/>
              </p:cNvSpPr>
              <p:nvPr/>
            </p:nvSpPr>
            <p:spPr bwMode="auto">
              <a:xfrm flipH="1">
                <a:off x="768" y="2592"/>
                <a:ext cx="14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 name="Line 22"/>
              <p:cNvSpPr>
                <a:spLocks noChangeShapeType="1"/>
              </p:cNvSpPr>
              <p:nvPr/>
            </p:nvSpPr>
            <p:spPr bwMode="auto">
              <a:xfrm flipH="1">
                <a:off x="3696" y="2592"/>
                <a:ext cx="105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 name="Line 23"/>
              <p:cNvSpPr>
                <a:spLocks noChangeShapeType="1"/>
              </p:cNvSpPr>
              <p:nvPr/>
            </p:nvSpPr>
            <p:spPr bwMode="auto">
              <a:xfrm flipH="1">
                <a:off x="2640" y="2592"/>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6" name="Group 24"/>
            <p:cNvGrpSpPr>
              <a:grpSpLocks/>
            </p:cNvGrpSpPr>
            <p:nvPr/>
          </p:nvGrpSpPr>
          <p:grpSpPr bwMode="auto">
            <a:xfrm>
              <a:off x="768" y="2832"/>
              <a:ext cx="3984" cy="0"/>
              <a:chOff x="768" y="2832"/>
              <a:chExt cx="3984" cy="0"/>
            </a:xfrm>
          </p:grpSpPr>
          <p:sp>
            <p:nvSpPr>
              <p:cNvPr id="35" name="Line 25"/>
              <p:cNvSpPr>
                <a:spLocks noChangeShapeType="1"/>
              </p:cNvSpPr>
              <p:nvPr/>
            </p:nvSpPr>
            <p:spPr bwMode="auto">
              <a:xfrm flipH="1">
                <a:off x="768" y="2832"/>
                <a:ext cx="72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6" name="Line 26"/>
              <p:cNvSpPr>
                <a:spLocks noChangeShapeType="1"/>
              </p:cNvSpPr>
              <p:nvPr/>
            </p:nvSpPr>
            <p:spPr bwMode="auto">
              <a:xfrm flipH="1">
                <a:off x="3984" y="2832"/>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7" name="Line 27"/>
              <p:cNvSpPr>
                <a:spLocks noChangeShapeType="1"/>
              </p:cNvSpPr>
              <p:nvPr/>
            </p:nvSpPr>
            <p:spPr bwMode="auto">
              <a:xfrm flipH="1">
                <a:off x="2832" y="2832"/>
                <a:ext cx="5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 name="Line 28"/>
              <p:cNvSpPr>
                <a:spLocks noChangeShapeType="1"/>
              </p:cNvSpPr>
              <p:nvPr/>
            </p:nvSpPr>
            <p:spPr bwMode="auto">
              <a:xfrm flipH="1">
                <a:off x="1680" y="2832"/>
                <a:ext cx="7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17" name="Group 29"/>
            <p:cNvGrpSpPr>
              <a:grpSpLocks/>
            </p:cNvGrpSpPr>
            <p:nvPr/>
          </p:nvGrpSpPr>
          <p:grpSpPr bwMode="auto">
            <a:xfrm>
              <a:off x="720" y="3024"/>
              <a:ext cx="4032" cy="0"/>
              <a:chOff x="720" y="3024"/>
              <a:chExt cx="4032" cy="0"/>
            </a:xfrm>
          </p:grpSpPr>
          <p:grpSp>
            <p:nvGrpSpPr>
              <p:cNvPr id="18" name="Group 30"/>
              <p:cNvGrpSpPr>
                <a:grpSpLocks/>
              </p:cNvGrpSpPr>
              <p:nvPr/>
            </p:nvGrpSpPr>
            <p:grpSpPr bwMode="auto">
              <a:xfrm>
                <a:off x="768" y="3024"/>
                <a:ext cx="3984" cy="0"/>
                <a:chOff x="768" y="3024"/>
                <a:chExt cx="3984" cy="0"/>
              </a:xfrm>
            </p:grpSpPr>
            <p:sp>
              <p:nvSpPr>
                <p:cNvPr id="30" name="Line 31"/>
                <p:cNvSpPr>
                  <a:spLocks noChangeShapeType="1"/>
                </p:cNvSpPr>
                <p:nvPr/>
              </p:nvSpPr>
              <p:spPr bwMode="auto">
                <a:xfrm flipH="1">
                  <a:off x="768"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1" name="Line 32"/>
                <p:cNvSpPr>
                  <a:spLocks noChangeShapeType="1"/>
                </p:cNvSpPr>
                <p:nvPr/>
              </p:nvSpPr>
              <p:spPr bwMode="auto">
                <a:xfrm flipH="1">
                  <a:off x="1200"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2" name="Line 33"/>
                <p:cNvSpPr>
                  <a:spLocks noChangeShapeType="1"/>
                </p:cNvSpPr>
                <p:nvPr/>
              </p:nvSpPr>
              <p:spPr bwMode="auto">
                <a:xfrm flipH="1">
                  <a:off x="3072" y="3024"/>
                  <a:ext cx="38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3" name="Line 34"/>
                <p:cNvSpPr>
                  <a:spLocks noChangeShapeType="1"/>
                </p:cNvSpPr>
                <p:nvPr/>
              </p:nvSpPr>
              <p:spPr bwMode="auto">
                <a:xfrm flipH="1">
                  <a:off x="3792"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4" name="Line 35"/>
                <p:cNvSpPr>
                  <a:spLocks noChangeShapeType="1"/>
                </p:cNvSpPr>
                <p:nvPr/>
              </p:nvSpPr>
              <p:spPr bwMode="auto">
                <a:xfrm flipH="1">
                  <a:off x="4320" y="3024"/>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19" name="Line 36"/>
              <p:cNvSpPr>
                <a:spLocks noChangeShapeType="1"/>
              </p:cNvSpPr>
              <p:nvPr/>
            </p:nvSpPr>
            <p:spPr bwMode="auto">
              <a:xfrm flipH="1">
                <a:off x="720"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Line 37"/>
              <p:cNvSpPr>
                <a:spLocks noChangeShapeType="1"/>
              </p:cNvSpPr>
              <p:nvPr/>
            </p:nvSpPr>
            <p:spPr bwMode="auto">
              <a:xfrm flipH="1">
                <a:off x="1152"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1" name="Line 38"/>
              <p:cNvSpPr>
                <a:spLocks noChangeShapeType="1"/>
              </p:cNvSpPr>
              <p:nvPr/>
            </p:nvSpPr>
            <p:spPr bwMode="auto">
              <a:xfrm flipH="1">
                <a:off x="3024" y="3024"/>
                <a:ext cx="38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2" name="Line 39"/>
              <p:cNvSpPr>
                <a:spLocks noChangeShapeType="1"/>
              </p:cNvSpPr>
              <p:nvPr/>
            </p:nvSpPr>
            <p:spPr bwMode="auto">
              <a:xfrm flipH="1">
                <a:off x="3744"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3" name="Line 40"/>
              <p:cNvSpPr>
                <a:spLocks noChangeShapeType="1"/>
              </p:cNvSpPr>
              <p:nvPr/>
            </p:nvSpPr>
            <p:spPr bwMode="auto">
              <a:xfrm flipH="1">
                <a:off x="4272" y="3024"/>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Line 41"/>
              <p:cNvSpPr>
                <a:spLocks noChangeShapeType="1"/>
              </p:cNvSpPr>
              <p:nvPr/>
            </p:nvSpPr>
            <p:spPr bwMode="auto">
              <a:xfrm flipH="1">
                <a:off x="768"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5" name="Line 42"/>
              <p:cNvSpPr>
                <a:spLocks noChangeShapeType="1"/>
              </p:cNvSpPr>
              <p:nvPr/>
            </p:nvSpPr>
            <p:spPr bwMode="auto">
              <a:xfrm flipH="1">
                <a:off x="1200"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43"/>
              <p:cNvSpPr>
                <a:spLocks noChangeShapeType="1"/>
              </p:cNvSpPr>
              <p:nvPr/>
            </p:nvSpPr>
            <p:spPr bwMode="auto">
              <a:xfrm flipH="1">
                <a:off x="3072" y="3024"/>
                <a:ext cx="38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 name="Line 44"/>
              <p:cNvSpPr>
                <a:spLocks noChangeShapeType="1"/>
              </p:cNvSpPr>
              <p:nvPr/>
            </p:nvSpPr>
            <p:spPr bwMode="auto">
              <a:xfrm flipH="1">
                <a:off x="3792"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8" name="Line 45"/>
              <p:cNvSpPr>
                <a:spLocks noChangeShapeType="1"/>
              </p:cNvSpPr>
              <p:nvPr/>
            </p:nvSpPr>
            <p:spPr bwMode="auto">
              <a:xfrm flipH="1">
                <a:off x="4320" y="3024"/>
                <a:ext cx="43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9" name="Line 46"/>
              <p:cNvSpPr>
                <a:spLocks noChangeShapeType="1"/>
              </p:cNvSpPr>
              <p:nvPr/>
            </p:nvSpPr>
            <p:spPr bwMode="auto">
              <a:xfrm flipH="1">
                <a:off x="1872" y="3024"/>
                <a:ext cx="2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47" name="Rectangle 47"/>
          <p:cNvSpPr>
            <a:spLocks noChangeArrowheads="1"/>
          </p:cNvSpPr>
          <p:nvPr/>
        </p:nvSpPr>
        <p:spPr bwMode="auto">
          <a:xfrm>
            <a:off x="5257800" y="2362200"/>
            <a:ext cx="533400" cy="1600200"/>
          </a:xfrm>
          <a:prstGeom prst="rect">
            <a:avLst/>
          </a:prstGeom>
          <a:solidFill>
            <a:srgbClr val="00FFCC">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 name="Rectangle 48"/>
          <p:cNvSpPr>
            <a:spLocks noChangeArrowheads="1"/>
          </p:cNvSpPr>
          <p:nvPr/>
        </p:nvSpPr>
        <p:spPr bwMode="auto">
          <a:xfrm>
            <a:off x="2362200" y="2438400"/>
            <a:ext cx="228600" cy="1600200"/>
          </a:xfrm>
          <a:prstGeom prst="rect">
            <a:avLst/>
          </a:prstGeom>
          <a:solidFill>
            <a:schemeClr val="accent2">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GB" sz="3600">
              <a:latin typeface="Arial" panose="020B0604020202020204" pitchFamily="34" charset="0"/>
            </a:endParaRPr>
          </a:p>
        </p:txBody>
      </p:sp>
      <p:sp>
        <p:nvSpPr>
          <p:cNvPr id="49" name="Rectangle 49"/>
          <p:cNvSpPr>
            <a:spLocks noChangeArrowheads="1"/>
          </p:cNvSpPr>
          <p:nvPr/>
        </p:nvSpPr>
        <p:spPr bwMode="auto">
          <a:xfrm>
            <a:off x="1524000" y="2438400"/>
            <a:ext cx="228600" cy="1600200"/>
          </a:xfrm>
          <a:prstGeom prst="rect">
            <a:avLst/>
          </a:prstGeom>
          <a:solidFill>
            <a:schemeClr val="accent2">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Rectangle 50"/>
          <p:cNvSpPr>
            <a:spLocks noChangeArrowheads="1"/>
          </p:cNvSpPr>
          <p:nvPr/>
        </p:nvSpPr>
        <p:spPr bwMode="auto">
          <a:xfrm>
            <a:off x="990600" y="2438400"/>
            <a:ext cx="228600" cy="1600200"/>
          </a:xfrm>
          <a:prstGeom prst="rect">
            <a:avLst/>
          </a:prstGeom>
          <a:solidFill>
            <a:schemeClr val="accent2">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 name="Line 51"/>
          <p:cNvSpPr>
            <a:spLocks noChangeShapeType="1"/>
          </p:cNvSpPr>
          <p:nvPr/>
        </p:nvSpPr>
        <p:spPr bwMode="auto">
          <a:xfrm flipV="1">
            <a:off x="5486400" y="19812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 name="Line 52"/>
          <p:cNvSpPr>
            <a:spLocks noChangeShapeType="1"/>
          </p:cNvSpPr>
          <p:nvPr/>
        </p:nvSpPr>
        <p:spPr bwMode="auto">
          <a:xfrm flipV="1">
            <a:off x="5486400" y="11430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AutoShape 53"/>
          <p:cNvSpPr>
            <a:spLocks/>
          </p:cNvSpPr>
          <p:nvPr/>
        </p:nvSpPr>
        <p:spPr bwMode="auto">
          <a:xfrm>
            <a:off x="6248400" y="2438400"/>
            <a:ext cx="152400" cy="1600200"/>
          </a:xfrm>
          <a:prstGeom prst="rightBrace">
            <a:avLst>
              <a:gd name="adj1" fmla="val 87500"/>
              <a:gd name="adj2" fmla="val 50000"/>
            </a:avLst>
          </a:prstGeom>
          <a:noFill/>
          <a:ln w="9525">
            <a:solidFill>
              <a:srgbClr val="CC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GB" sz="3600">
              <a:solidFill>
                <a:srgbClr val="CC0099"/>
              </a:solidFill>
              <a:latin typeface="Arial" panose="020B0604020202020204" pitchFamily="34" charset="0"/>
            </a:endParaRPr>
          </a:p>
        </p:txBody>
      </p:sp>
      <p:sp>
        <p:nvSpPr>
          <p:cNvPr id="54" name="Line 54"/>
          <p:cNvSpPr>
            <a:spLocks noChangeShapeType="1"/>
          </p:cNvSpPr>
          <p:nvPr/>
        </p:nvSpPr>
        <p:spPr bwMode="auto">
          <a:xfrm>
            <a:off x="7543800" y="32004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 name="AutoShape 55"/>
          <p:cNvSpPr>
            <a:spLocks/>
          </p:cNvSpPr>
          <p:nvPr/>
        </p:nvSpPr>
        <p:spPr bwMode="auto">
          <a:xfrm rot="5405819">
            <a:off x="3390900" y="1943100"/>
            <a:ext cx="304800" cy="4953000"/>
          </a:xfrm>
          <a:prstGeom prst="rightBrace">
            <a:avLst>
              <a:gd name="adj1" fmla="val 135417"/>
              <a:gd name="adj2" fmla="val 50000"/>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56"/>
          <p:cNvSpPr>
            <a:spLocks noChangeShapeType="1"/>
          </p:cNvSpPr>
          <p:nvPr/>
        </p:nvSpPr>
        <p:spPr bwMode="auto">
          <a:xfrm>
            <a:off x="3581400" y="5181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Rectangle 57"/>
          <p:cNvSpPr>
            <a:spLocks noChangeArrowheads="1"/>
          </p:cNvSpPr>
          <p:nvPr/>
        </p:nvSpPr>
        <p:spPr bwMode="auto">
          <a:xfrm>
            <a:off x="838200" y="2514600"/>
            <a:ext cx="5334000" cy="1371600"/>
          </a:xfrm>
          <a:prstGeom prst="rect">
            <a:avLst/>
          </a:prstGeom>
          <a:solidFill>
            <a:srgbClr val="CC0099">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Rectangle 5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23003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0-#ppt_w/2"/>
                                          </p:val>
                                        </p:tav>
                                        <p:tav tm="100000">
                                          <p:val>
                                            <p:strVal val="#ppt_x"/>
                                          </p:val>
                                        </p:tav>
                                      </p:tavLst>
                                    </p:anim>
                                    <p:anim calcmode="lin" valueType="num">
                                      <p:cBhvr additive="base">
                                        <p:cTn id="14"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fill="hold"/>
                                        <p:tgtEl>
                                          <p:spTgt spid="51"/>
                                        </p:tgtEl>
                                        <p:attrNameLst>
                                          <p:attrName>ppt_x</p:attrName>
                                        </p:attrNameLst>
                                      </p:cBhvr>
                                      <p:tavLst>
                                        <p:tav tm="0">
                                          <p:val>
                                            <p:strVal val="#ppt_x"/>
                                          </p:val>
                                        </p:tav>
                                        <p:tav tm="100000">
                                          <p:val>
                                            <p:strVal val="#ppt_x"/>
                                          </p:val>
                                        </p:tav>
                                      </p:tavLst>
                                    </p:anim>
                                    <p:anim calcmode="lin" valueType="num">
                                      <p:cBhvr additive="base">
                                        <p:cTn id="20" dur="500" fill="hold"/>
                                        <p:tgtEl>
                                          <p:spTgt spid="51"/>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 calcmode="lin" valueType="num">
                                      <p:cBhvr additive="base">
                                        <p:cTn id="31" dur="500" fill="hold"/>
                                        <p:tgtEl>
                                          <p:spTgt spid="52"/>
                                        </p:tgtEl>
                                        <p:attrNameLst>
                                          <p:attrName>ppt_x</p:attrName>
                                        </p:attrNameLst>
                                      </p:cBhvr>
                                      <p:tavLst>
                                        <p:tav tm="0">
                                          <p:val>
                                            <p:strVal val="#ppt_x"/>
                                          </p:val>
                                        </p:tav>
                                        <p:tav tm="100000">
                                          <p:val>
                                            <p:strVal val="#ppt_x"/>
                                          </p:val>
                                        </p:tav>
                                      </p:tavLst>
                                    </p:anim>
                                    <p:anim calcmode="lin" valueType="num">
                                      <p:cBhvr additive="base">
                                        <p:cTn id="32" dur="500" fill="hold"/>
                                        <p:tgtEl>
                                          <p:spTgt spid="52"/>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additive="base">
                                        <p:cTn id="43" dur="500" fill="hold"/>
                                        <p:tgtEl>
                                          <p:spTgt spid="3"/>
                                        </p:tgtEl>
                                        <p:attrNameLst>
                                          <p:attrName>ppt_x</p:attrName>
                                        </p:attrNameLst>
                                      </p:cBhvr>
                                      <p:tavLst>
                                        <p:tav tm="0">
                                          <p:val>
                                            <p:strVal val="0-#ppt_w/2"/>
                                          </p:val>
                                        </p:tav>
                                        <p:tav tm="100000">
                                          <p:val>
                                            <p:strVal val="#ppt_x"/>
                                          </p:val>
                                        </p:tav>
                                      </p:tavLst>
                                    </p:anim>
                                    <p:anim calcmode="lin" valueType="num">
                                      <p:cBhvr additive="base">
                                        <p:cTn id="4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anim calcmode="lin" valueType="num">
                                      <p:cBhvr additive="base">
                                        <p:cTn id="49" dur="500" fill="hold"/>
                                        <p:tgtEl>
                                          <p:spTgt spid="48"/>
                                        </p:tgtEl>
                                        <p:attrNameLst>
                                          <p:attrName>ppt_x</p:attrName>
                                        </p:attrNameLst>
                                      </p:cBhvr>
                                      <p:tavLst>
                                        <p:tav tm="0">
                                          <p:val>
                                            <p:strVal val="0-#ppt_w/2"/>
                                          </p:val>
                                        </p:tav>
                                        <p:tav tm="100000">
                                          <p:val>
                                            <p:strVal val="#ppt_x"/>
                                          </p:val>
                                        </p:tav>
                                      </p:tavLst>
                                    </p:anim>
                                    <p:anim calcmode="lin" valueType="num">
                                      <p:cBhvr additive="base">
                                        <p:cTn id="50"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9"/>
                                        </p:tgtEl>
                                        <p:attrNameLst>
                                          <p:attrName>style.visibility</p:attrName>
                                        </p:attrNameLst>
                                      </p:cBhvr>
                                      <p:to>
                                        <p:strVal val="visible"/>
                                      </p:to>
                                    </p:set>
                                    <p:anim calcmode="lin" valueType="num">
                                      <p:cBhvr additive="base">
                                        <p:cTn id="55" dur="500" fill="hold"/>
                                        <p:tgtEl>
                                          <p:spTgt spid="49"/>
                                        </p:tgtEl>
                                        <p:attrNameLst>
                                          <p:attrName>ppt_x</p:attrName>
                                        </p:attrNameLst>
                                      </p:cBhvr>
                                      <p:tavLst>
                                        <p:tav tm="0">
                                          <p:val>
                                            <p:strVal val="0-#ppt_w/2"/>
                                          </p:val>
                                        </p:tav>
                                        <p:tav tm="100000">
                                          <p:val>
                                            <p:strVal val="#ppt_x"/>
                                          </p:val>
                                        </p:tav>
                                      </p:tavLst>
                                    </p:anim>
                                    <p:anim calcmode="lin" valueType="num">
                                      <p:cBhvr additive="base">
                                        <p:cTn id="56"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50"/>
                                        </p:tgtEl>
                                        <p:attrNameLst>
                                          <p:attrName>style.visibility</p:attrName>
                                        </p:attrNameLst>
                                      </p:cBhvr>
                                      <p:to>
                                        <p:strVal val="visible"/>
                                      </p:to>
                                    </p:set>
                                    <p:anim calcmode="lin" valueType="num">
                                      <p:cBhvr additive="base">
                                        <p:cTn id="61" dur="500" fill="hold"/>
                                        <p:tgtEl>
                                          <p:spTgt spid="50"/>
                                        </p:tgtEl>
                                        <p:attrNameLst>
                                          <p:attrName>ppt_x</p:attrName>
                                        </p:attrNameLst>
                                      </p:cBhvr>
                                      <p:tavLst>
                                        <p:tav tm="0">
                                          <p:val>
                                            <p:strVal val="0-#ppt_w/2"/>
                                          </p:val>
                                        </p:tav>
                                        <p:tav tm="100000">
                                          <p:val>
                                            <p:strVal val="#ppt_x"/>
                                          </p:val>
                                        </p:tav>
                                      </p:tavLst>
                                    </p:anim>
                                    <p:anim calcmode="lin" valueType="num">
                                      <p:cBhvr additive="base">
                                        <p:cTn id="62" dur="500" fill="hold"/>
                                        <p:tgtEl>
                                          <p:spTgt spid="50"/>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55"/>
                                        </p:tgtEl>
                                        <p:attrNameLst>
                                          <p:attrName>style.visibility</p:attrName>
                                        </p:attrNameLst>
                                      </p:cBhvr>
                                      <p:to>
                                        <p:strVal val="visible"/>
                                      </p:to>
                                    </p:set>
                                    <p:anim calcmode="lin" valueType="num">
                                      <p:cBhvr additive="base">
                                        <p:cTn id="67" dur="500" fill="hold"/>
                                        <p:tgtEl>
                                          <p:spTgt spid="55"/>
                                        </p:tgtEl>
                                        <p:attrNameLst>
                                          <p:attrName>ppt_x</p:attrName>
                                        </p:attrNameLst>
                                      </p:cBhvr>
                                      <p:tavLst>
                                        <p:tav tm="0">
                                          <p:val>
                                            <p:strVal val="#ppt_x"/>
                                          </p:val>
                                        </p:tav>
                                        <p:tav tm="100000">
                                          <p:val>
                                            <p:strVal val="#ppt_x"/>
                                          </p:val>
                                        </p:tav>
                                      </p:tavLst>
                                    </p:anim>
                                    <p:anim calcmode="lin" valueType="num">
                                      <p:cBhvr additive="base">
                                        <p:cTn id="6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additive="base">
                                        <p:cTn id="73" dur="500" fill="hold"/>
                                        <p:tgtEl>
                                          <p:spTgt spid="9"/>
                                        </p:tgtEl>
                                        <p:attrNameLst>
                                          <p:attrName>ppt_x</p:attrName>
                                        </p:attrNameLst>
                                      </p:cBhvr>
                                      <p:tavLst>
                                        <p:tav tm="0">
                                          <p:val>
                                            <p:strVal val="#ppt_x"/>
                                          </p:val>
                                        </p:tav>
                                        <p:tav tm="100000">
                                          <p:val>
                                            <p:strVal val="#ppt_x"/>
                                          </p:val>
                                        </p:tav>
                                      </p:tavLst>
                                    </p:anim>
                                    <p:anim calcmode="lin" valueType="num">
                                      <p:cBhvr additive="base">
                                        <p:cTn id="7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56"/>
                                        </p:tgtEl>
                                        <p:attrNameLst>
                                          <p:attrName>style.visibility</p:attrName>
                                        </p:attrNameLst>
                                      </p:cBhvr>
                                      <p:to>
                                        <p:strVal val="visible"/>
                                      </p:to>
                                    </p:set>
                                    <p:anim calcmode="lin" valueType="num">
                                      <p:cBhvr additive="base">
                                        <p:cTn id="79" dur="500" fill="hold"/>
                                        <p:tgtEl>
                                          <p:spTgt spid="56"/>
                                        </p:tgtEl>
                                        <p:attrNameLst>
                                          <p:attrName>ppt_x</p:attrName>
                                        </p:attrNameLst>
                                      </p:cBhvr>
                                      <p:tavLst>
                                        <p:tav tm="0">
                                          <p:val>
                                            <p:strVal val="#ppt_x"/>
                                          </p:val>
                                        </p:tav>
                                        <p:tav tm="100000">
                                          <p:val>
                                            <p:strVal val="#ppt_x"/>
                                          </p:val>
                                        </p:tav>
                                      </p:tavLst>
                                    </p:anim>
                                    <p:anim calcmode="lin" valueType="num">
                                      <p:cBhvr additive="base">
                                        <p:cTn id="80"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 calcmode="lin" valueType="num">
                                      <p:cBhvr additive="base">
                                        <p:cTn id="85" dur="500" fill="hold"/>
                                        <p:tgtEl>
                                          <p:spTgt spid="10"/>
                                        </p:tgtEl>
                                        <p:attrNameLst>
                                          <p:attrName>ppt_x</p:attrName>
                                        </p:attrNameLst>
                                      </p:cBhvr>
                                      <p:tavLst>
                                        <p:tav tm="0">
                                          <p:val>
                                            <p:strVal val="#ppt_x"/>
                                          </p:val>
                                        </p:tav>
                                        <p:tav tm="100000">
                                          <p:val>
                                            <p:strVal val="#ppt_x"/>
                                          </p:val>
                                        </p:tav>
                                      </p:tavLst>
                                    </p:anim>
                                    <p:anim calcmode="lin" valueType="num">
                                      <p:cBhvr additive="base">
                                        <p:cTn id="8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4"/>
                                        </p:tgtEl>
                                        <p:attrNameLst>
                                          <p:attrName>style.visibility</p:attrName>
                                        </p:attrNameLst>
                                      </p:cBhvr>
                                      <p:to>
                                        <p:strVal val="visible"/>
                                      </p:to>
                                    </p:set>
                                    <p:anim calcmode="lin" valueType="num">
                                      <p:cBhvr additive="base">
                                        <p:cTn id="91" dur="500" fill="hold"/>
                                        <p:tgtEl>
                                          <p:spTgt spid="4"/>
                                        </p:tgtEl>
                                        <p:attrNameLst>
                                          <p:attrName>ppt_x</p:attrName>
                                        </p:attrNameLst>
                                      </p:cBhvr>
                                      <p:tavLst>
                                        <p:tav tm="0">
                                          <p:val>
                                            <p:strVal val="1+#ppt_w/2"/>
                                          </p:val>
                                        </p:tav>
                                        <p:tav tm="100000">
                                          <p:val>
                                            <p:strVal val="#ppt_x"/>
                                          </p:val>
                                        </p:tav>
                                      </p:tavLst>
                                    </p:anim>
                                    <p:anim calcmode="lin" valueType="num">
                                      <p:cBhvr additive="base">
                                        <p:cTn id="9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57"/>
                                        </p:tgtEl>
                                        <p:attrNameLst>
                                          <p:attrName>style.visibility</p:attrName>
                                        </p:attrNameLst>
                                      </p:cBhvr>
                                      <p:to>
                                        <p:strVal val="visible"/>
                                      </p:to>
                                    </p:set>
                                    <p:anim calcmode="lin" valueType="num">
                                      <p:cBhvr additive="base">
                                        <p:cTn id="97" dur="500" fill="hold"/>
                                        <p:tgtEl>
                                          <p:spTgt spid="57"/>
                                        </p:tgtEl>
                                        <p:attrNameLst>
                                          <p:attrName>ppt_x</p:attrName>
                                        </p:attrNameLst>
                                      </p:cBhvr>
                                      <p:tavLst>
                                        <p:tav tm="0">
                                          <p:val>
                                            <p:strVal val="0-#ppt_w/2"/>
                                          </p:val>
                                        </p:tav>
                                        <p:tav tm="100000">
                                          <p:val>
                                            <p:strVal val="#ppt_x"/>
                                          </p:val>
                                        </p:tav>
                                      </p:tavLst>
                                    </p:anim>
                                    <p:anim calcmode="lin" valueType="num">
                                      <p:cBhvr additive="base">
                                        <p:cTn id="98"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53"/>
                                        </p:tgtEl>
                                        <p:attrNameLst>
                                          <p:attrName>style.visibility</p:attrName>
                                        </p:attrNameLst>
                                      </p:cBhvr>
                                      <p:to>
                                        <p:strVal val="visible"/>
                                      </p:to>
                                    </p:set>
                                    <p:anim calcmode="lin" valueType="num">
                                      <p:cBhvr additive="base">
                                        <p:cTn id="103" dur="500" fill="hold"/>
                                        <p:tgtEl>
                                          <p:spTgt spid="53"/>
                                        </p:tgtEl>
                                        <p:attrNameLst>
                                          <p:attrName>ppt_x</p:attrName>
                                        </p:attrNameLst>
                                      </p:cBhvr>
                                      <p:tavLst>
                                        <p:tav tm="0">
                                          <p:val>
                                            <p:strVal val="#ppt_x"/>
                                          </p:val>
                                        </p:tav>
                                        <p:tav tm="100000">
                                          <p:val>
                                            <p:strVal val="#ppt_x"/>
                                          </p:val>
                                        </p:tav>
                                      </p:tavLst>
                                    </p:anim>
                                    <p:anim calcmode="lin" valueType="num">
                                      <p:cBhvr additive="base">
                                        <p:cTn id="10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7"/>
                                        </p:tgtEl>
                                        <p:attrNameLst>
                                          <p:attrName>style.visibility</p:attrName>
                                        </p:attrNameLst>
                                      </p:cBhvr>
                                      <p:to>
                                        <p:strVal val="visible"/>
                                      </p:to>
                                    </p:set>
                                    <p:anim calcmode="lin" valueType="num">
                                      <p:cBhvr additive="base">
                                        <p:cTn id="109" dur="500" fill="hold"/>
                                        <p:tgtEl>
                                          <p:spTgt spid="7"/>
                                        </p:tgtEl>
                                        <p:attrNameLst>
                                          <p:attrName>ppt_x</p:attrName>
                                        </p:attrNameLst>
                                      </p:cBhvr>
                                      <p:tavLst>
                                        <p:tav tm="0">
                                          <p:val>
                                            <p:strVal val="#ppt_x"/>
                                          </p:val>
                                        </p:tav>
                                        <p:tav tm="100000">
                                          <p:val>
                                            <p:strVal val="#ppt_x"/>
                                          </p:val>
                                        </p:tav>
                                      </p:tavLst>
                                    </p:anim>
                                    <p:anim calcmode="lin" valueType="num">
                                      <p:cBhvr additive="base">
                                        <p:cTn id="11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54"/>
                                        </p:tgtEl>
                                        <p:attrNameLst>
                                          <p:attrName>style.visibility</p:attrName>
                                        </p:attrNameLst>
                                      </p:cBhvr>
                                      <p:to>
                                        <p:strVal val="visible"/>
                                      </p:to>
                                    </p:set>
                                    <p:anim calcmode="lin" valueType="num">
                                      <p:cBhvr additive="base">
                                        <p:cTn id="115" dur="500" fill="hold"/>
                                        <p:tgtEl>
                                          <p:spTgt spid="54"/>
                                        </p:tgtEl>
                                        <p:attrNameLst>
                                          <p:attrName>ppt_x</p:attrName>
                                        </p:attrNameLst>
                                      </p:cBhvr>
                                      <p:tavLst>
                                        <p:tav tm="0">
                                          <p:val>
                                            <p:strVal val="#ppt_x"/>
                                          </p:val>
                                        </p:tav>
                                        <p:tav tm="100000">
                                          <p:val>
                                            <p:strVal val="#ppt_x"/>
                                          </p:val>
                                        </p:tav>
                                      </p:tavLst>
                                    </p:anim>
                                    <p:anim calcmode="lin" valueType="num">
                                      <p:cBhvr additive="base">
                                        <p:cTn id="116"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8"/>
                                        </p:tgtEl>
                                        <p:attrNameLst>
                                          <p:attrName>style.visibility</p:attrName>
                                        </p:attrNameLst>
                                      </p:cBhvr>
                                      <p:to>
                                        <p:strVal val="visible"/>
                                      </p:to>
                                    </p:set>
                                    <p:anim calcmode="lin" valueType="num">
                                      <p:cBhvr additive="base">
                                        <p:cTn id="121" dur="500" fill="hold"/>
                                        <p:tgtEl>
                                          <p:spTgt spid="8"/>
                                        </p:tgtEl>
                                        <p:attrNameLst>
                                          <p:attrName>ppt_x</p:attrName>
                                        </p:attrNameLst>
                                      </p:cBhvr>
                                      <p:tavLst>
                                        <p:tav tm="0">
                                          <p:val>
                                            <p:strVal val="#ppt_x"/>
                                          </p:val>
                                        </p:tav>
                                        <p:tav tm="100000">
                                          <p:val>
                                            <p:strVal val="#ppt_x"/>
                                          </p:val>
                                        </p:tav>
                                      </p:tavLst>
                                    </p:anim>
                                    <p:anim calcmode="lin" valueType="num">
                                      <p:cBhvr additive="base">
                                        <p:cTn id="1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P spid="5" grpId="0" autoUpdateAnimBg="0"/>
      <p:bldP spid="6" grpId="0" autoUpdateAnimBg="0"/>
      <p:bldP spid="7" grpId="0" autoUpdateAnimBg="0"/>
      <p:bldP spid="8" grpId="0" autoUpdateAnimBg="0"/>
      <p:bldP spid="9" grpId="0" autoUpdateAnimBg="0"/>
      <p:bldP spid="10" grpId="0" autoUpdateAnimBg="0"/>
      <p:bldP spid="47" grpId="0" animBg="1"/>
      <p:bldP spid="48" grpId="0" animBg="1" autoUpdateAnimBg="0"/>
      <p:bldP spid="49" grpId="0" animBg="1"/>
      <p:bldP spid="50" grpId="0" animBg="1"/>
      <p:bldP spid="51" grpId="0" animBg="1"/>
      <p:bldP spid="52" grpId="0" animBg="1"/>
      <p:bldP spid="53" grpId="0" animBg="1" autoUpdateAnimBg="0"/>
      <p:bldP spid="54" grpId="0" animBg="1"/>
      <p:bldP spid="55" grpId="0" animBg="1"/>
      <p:bldP spid="56" grpId="0" animBg="1"/>
      <p:bldP spid="5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85800" y="381000"/>
            <a:ext cx="7696200" cy="457200"/>
          </a:xfrm>
          <a:prstGeom prst="rect">
            <a:avLst/>
          </a:prstGeom>
        </p:spPr>
        <p:txBody>
          <a:bodyPr>
            <a:normAutofit fontScale="90000" lnSpcReduction="10000"/>
          </a:bodyP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smtClean="0"/>
              <a:t>PRIMARY AND SECONDARY PROTEIN DATABASES</a:t>
            </a:r>
            <a:endParaRPr lang="en-US" sz="2800" dirty="0"/>
          </a:p>
        </p:txBody>
      </p:sp>
      <p:sp>
        <p:nvSpPr>
          <p:cNvPr id="4" name="Rectangle 4"/>
          <p:cNvSpPr>
            <a:spLocks noChangeArrowheads="1"/>
          </p:cNvSpPr>
          <p:nvPr/>
        </p:nvSpPr>
        <p:spPr bwMode="auto">
          <a:xfrm>
            <a:off x="546100" y="1231900"/>
            <a:ext cx="441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marL="457200" fontAlgn="base">
              <a:spcBef>
                <a:spcPct val="0"/>
              </a:spcBef>
              <a:spcAft>
                <a:spcPct val="0"/>
              </a:spcAft>
              <a:defRPr sz="2400">
                <a:solidFill>
                  <a:schemeClr val="tx1"/>
                </a:solidFill>
                <a:latin typeface="Tahoma" panose="020B0604030504040204" pitchFamily="34" charset="0"/>
              </a:defRPr>
            </a:lvl6pPr>
            <a:lvl7pPr marL="914400" fontAlgn="base">
              <a:spcBef>
                <a:spcPct val="0"/>
              </a:spcBef>
              <a:spcAft>
                <a:spcPct val="0"/>
              </a:spcAft>
              <a:defRPr sz="2400">
                <a:solidFill>
                  <a:schemeClr val="tx1"/>
                </a:solidFill>
                <a:latin typeface="Tahoma" panose="020B0604030504040204" pitchFamily="34" charset="0"/>
              </a:defRPr>
            </a:lvl7pPr>
            <a:lvl8pPr marL="1371600" fontAlgn="base">
              <a:spcBef>
                <a:spcPct val="0"/>
              </a:spcBef>
              <a:spcAft>
                <a:spcPct val="0"/>
              </a:spcAft>
              <a:defRPr sz="2400">
                <a:solidFill>
                  <a:schemeClr val="tx1"/>
                </a:solidFill>
                <a:latin typeface="Tahoma" panose="020B0604030504040204" pitchFamily="34" charset="0"/>
              </a:defRPr>
            </a:lvl8pPr>
            <a:lvl9pPr marL="1828800" fontAlgn="base">
              <a:spcBef>
                <a:spcPct val="0"/>
              </a:spcBef>
              <a:spcAft>
                <a:spcPct val="0"/>
              </a:spcAft>
              <a:defRPr sz="2400">
                <a:solidFill>
                  <a:schemeClr val="tx1"/>
                </a:solidFill>
                <a:latin typeface="Tahoma" panose="020B0604030504040204" pitchFamily="34" charset="0"/>
              </a:defRPr>
            </a:lvl9pPr>
          </a:lstStyle>
          <a:p>
            <a:pPr algn="ctr"/>
            <a:r>
              <a:rPr lang="en-US" b="1" dirty="0">
                <a:solidFill>
                  <a:schemeClr val="tx2"/>
                </a:solidFill>
                <a:latin typeface="Times New Roman" panose="02020603050405020304" pitchFamily="18" charset="0"/>
              </a:rPr>
              <a:t>PRIMARY </a:t>
            </a:r>
            <a:r>
              <a:rPr lang="en-US" b="1" dirty="0" smtClean="0">
                <a:solidFill>
                  <a:schemeClr val="tx2"/>
                </a:solidFill>
                <a:latin typeface="Times New Roman" panose="02020603050405020304" pitchFamily="18" charset="0"/>
              </a:rPr>
              <a:t>PROTEINDATABASES</a:t>
            </a:r>
            <a:endParaRPr lang="en-US" dirty="0">
              <a:solidFill>
                <a:schemeClr val="tx2"/>
              </a:solidFill>
              <a:latin typeface="Times New Roman" panose="02020603050405020304" pitchFamily="18" charset="0"/>
            </a:endParaRPr>
          </a:p>
        </p:txBody>
      </p:sp>
      <p:sp>
        <p:nvSpPr>
          <p:cNvPr id="5" name="Rectangle 5"/>
          <p:cNvSpPr>
            <a:spLocks noChangeArrowheads="1"/>
          </p:cNvSpPr>
          <p:nvPr/>
        </p:nvSpPr>
        <p:spPr bwMode="auto">
          <a:xfrm>
            <a:off x="546100" y="1765300"/>
            <a:ext cx="4191000" cy="369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fontAlgn="base">
              <a:spcBef>
                <a:spcPct val="0"/>
              </a:spcBef>
              <a:spcAft>
                <a:spcPct val="0"/>
              </a:spcAft>
              <a:defRPr sz="2400">
                <a:solidFill>
                  <a:schemeClr val="tx1"/>
                </a:solidFill>
                <a:latin typeface="Tahoma" panose="020B0604030504040204" pitchFamily="34" charset="0"/>
              </a:defRPr>
            </a:lvl6pPr>
            <a:lvl7pPr marL="2971800" indent="-228600" fontAlgn="base">
              <a:spcBef>
                <a:spcPct val="0"/>
              </a:spcBef>
              <a:spcAft>
                <a:spcPct val="0"/>
              </a:spcAft>
              <a:defRPr sz="2400">
                <a:solidFill>
                  <a:schemeClr val="tx1"/>
                </a:solidFill>
                <a:latin typeface="Tahoma" panose="020B0604030504040204" pitchFamily="34" charset="0"/>
              </a:defRPr>
            </a:lvl7pPr>
            <a:lvl8pPr marL="3429000" indent="-228600" fontAlgn="base">
              <a:spcBef>
                <a:spcPct val="0"/>
              </a:spcBef>
              <a:spcAft>
                <a:spcPct val="0"/>
              </a:spcAft>
              <a:defRPr sz="2400">
                <a:solidFill>
                  <a:schemeClr val="tx1"/>
                </a:solidFill>
                <a:latin typeface="Tahoma" panose="020B0604030504040204" pitchFamily="34" charset="0"/>
              </a:defRPr>
            </a:lvl8pPr>
            <a:lvl9pPr marL="3886200" indent="-228600" fontAlgn="base">
              <a:spcBef>
                <a:spcPct val="0"/>
              </a:spcBef>
              <a:spcAft>
                <a:spcPct val="0"/>
              </a:spcAft>
              <a:defRPr sz="2400">
                <a:solidFill>
                  <a:schemeClr val="tx1"/>
                </a:solidFill>
                <a:latin typeface="Tahoma" panose="020B0604030504040204" pitchFamily="34" charset="0"/>
              </a:defRPr>
            </a:lvl9pPr>
          </a:lstStyle>
          <a:p>
            <a:pPr>
              <a:spcBef>
                <a:spcPct val="20000"/>
              </a:spcBef>
              <a:buFontTx/>
              <a:buChar char="•"/>
            </a:pPr>
            <a:r>
              <a:rPr lang="en-US" sz="2000" dirty="0">
                <a:latin typeface="Times New Roman" panose="02020603050405020304" pitchFamily="18" charset="0"/>
              </a:rPr>
              <a:t>These databases are primary source of information and can be consider as reservoir of </a:t>
            </a:r>
            <a:r>
              <a:rPr lang="en-US" sz="2000" dirty="0" smtClean="0">
                <a:latin typeface="Times New Roman" panose="02020603050405020304" pitchFamily="18" charset="0"/>
              </a:rPr>
              <a:t>protein or peptide sequence </a:t>
            </a:r>
            <a:r>
              <a:rPr lang="en-US" sz="2000" dirty="0">
                <a:latin typeface="Times New Roman" panose="02020603050405020304" pitchFamily="18" charset="0"/>
              </a:rPr>
              <a:t>information.</a:t>
            </a:r>
          </a:p>
          <a:p>
            <a:pPr>
              <a:spcBef>
                <a:spcPct val="20000"/>
              </a:spcBef>
              <a:buFontTx/>
              <a:buChar char="•"/>
            </a:pPr>
            <a:r>
              <a:rPr lang="en-US" sz="2000" dirty="0">
                <a:latin typeface="Times New Roman" panose="02020603050405020304" pitchFamily="18" charset="0"/>
              </a:rPr>
              <a:t>These are the primary repository </a:t>
            </a:r>
            <a:r>
              <a:rPr lang="en-US" sz="2000" dirty="0" err="1">
                <a:latin typeface="Times New Roman" panose="02020603050405020304" pitchFamily="18" charset="0"/>
              </a:rPr>
              <a:t>centre</a:t>
            </a:r>
            <a:r>
              <a:rPr lang="en-US" sz="2000" dirty="0">
                <a:latin typeface="Times New Roman" panose="02020603050405020304" pitchFamily="18" charset="0"/>
              </a:rPr>
              <a:t> for the newly discovered sequence.</a:t>
            </a:r>
          </a:p>
          <a:p>
            <a:pPr>
              <a:spcBef>
                <a:spcPct val="20000"/>
              </a:spcBef>
              <a:buFontTx/>
              <a:buChar char="•"/>
            </a:pPr>
            <a:r>
              <a:rPr lang="en-US" sz="2000" dirty="0" smtClean="0">
                <a:latin typeface="Times New Roman" panose="02020603050405020304" pitchFamily="18" charset="0"/>
              </a:rPr>
              <a:t>They are key to the secondary protein database</a:t>
            </a:r>
          </a:p>
          <a:p>
            <a:pPr>
              <a:spcBef>
                <a:spcPct val="20000"/>
              </a:spcBef>
              <a:buFontTx/>
              <a:buChar char="•"/>
            </a:pPr>
            <a:r>
              <a:rPr lang="en-US" sz="2000" dirty="0" err="1" smtClean="0">
                <a:latin typeface="Times New Roman" panose="02020603050405020304" pitchFamily="18" charset="0"/>
              </a:rPr>
              <a:t>Eg</a:t>
            </a:r>
            <a:r>
              <a:rPr lang="en-US" sz="2000" dirty="0">
                <a:latin typeface="Times New Roman" panose="02020603050405020304" pitchFamily="18" charset="0"/>
              </a:rPr>
              <a:t>., </a:t>
            </a:r>
            <a:r>
              <a:rPr lang="en-US" sz="2000" dirty="0" smtClean="0">
                <a:latin typeface="Times New Roman" panose="02020603050405020304" pitchFamily="18" charset="0"/>
              </a:rPr>
              <a:t>Protein sequence database </a:t>
            </a:r>
            <a:r>
              <a:rPr lang="en-US" sz="2000" dirty="0">
                <a:latin typeface="Times New Roman" panose="02020603050405020304" pitchFamily="18" charset="0"/>
              </a:rPr>
              <a:t>at NCBI, EMBL, DDBJ</a:t>
            </a:r>
          </a:p>
        </p:txBody>
      </p:sp>
      <p:sp>
        <p:nvSpPr>
          <p:cNvPr id="6" name="Rectangle 6"/>
          <p:cNvSpPr>
            <a:spLocks noChangeArrowheads="1"/>
          </p:cNvSpPr>
          <p:nvPr/>
        </p:nvSpPr>
        <p:spPr bwMode="auto">
          <a:xfrm>
            <a:off x="4965700" y="1143000"/>
            <a:ext cx="4495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marL="457200" fontAlgn="base">
              <a:spcBef>
                <a:spcPct val="0"/>
              </a:spcBef>
              <a:spcAft>
                <a:spcPct val="0"/>
              </a:spcAft>
              <a:defRPr sz="2400">
                <a:solidFill>
                  <a:schemeClr val="tx1"/>
                </a:solidFill>
                <a:latin typeface="Tahoma" panose="020B0604030504040204" pitchFamily="34" charset="0"/>
              </a:defRPr>
            </a:lvl6pPr>
            <a:lvl7pPr marL="914400" fontAlgn="base">
              <a:spcBef>
                <a:spcPct val="0"/>
              </a:spcBef>
              <a:spcAft>
                <a:spcPct val="0"/>
              </a:spcAft>
              <a:defRPr sz="2400">
                <a:solidFill>
                  <a:schemeClr val="tx1"/>
                </a:solidFill>
                <a:latin typeface="Tahoma" panose="020B0604030504040204" pitchFamily="34" charset="0"/>
              </a:defRPr>
            </a:lvl7pPr>
            <a:lvl8pPr marL="1371600" fontAlgn="base">
              <a:spcBef>
                <a:spcPct val="0"/>
              </a:spcBef>
              <a:spcAft>
                <a:spcPct val="0"/>
              </a:spcAft>
              <a:defRPr sz="2400">
                <a:solidFill>
                  <a:schemeClr val="tx1"/>
                </a:solidFill>
                <a:latin typeface="Tahoma" panose="020B0604030504040204" pitchFamily="34" charset="0"/>
              </a:defRPr>
            </a:lvl8pPr>
            <a:lvl9pPr marL="1828800" fontAlgn="base">
              <a:spcBef>
                <a:spcPct val="0"/>
              </a:spcBef>
              <a:spcAft>
                <a:spcPct val="0"/>
              </a:spcAft>
              <a:defRPr sz="2400">
                <a:solidFill>
                  <a:schemeClr val="tx1"/>
                </a:solidFill>
                <a:latin typeface="Tahoma" panose="020B0604030504040204" pitchFamily="34" charset="0"/>
              </a:defRPr>
            </a:lvl9pPr>
          </a:lstStyle>
          <a:p>
            <a:pPr algn="ctr"/>
            <a:r>
              <a:rPr lang="en-US" dirty="0">
                <a:solidFill>
                  <a:schemeClr val="tx2"/>
                </a:solidFill>
                <a:latin typeface="Times New Roman" panose="02020603050405020304" pitchFamily="18" charset="0"/>
              </a:rPr>
              <a:t>  </a:t>
            </a:r>
            <a:r>
              <a:rPr lang="en-US" b="1" dirty="0">
                <a:solidFill>
                  <a:schemeClr val="tx2"/>
                </a:solidFill>
                <a:latin typeface="Times New Roman" panose="02020603050405020304" pitchFamily="18" charset="0"/>
              </a:rPr>
              <a:t>SECONDARY </a:t>
            </a:r>
            <a:r>
              <a:rPr lang="en-US" b="1" dirty="0" smtClean="0">
                <a:solidFill>
                  <a:schemeClr val="tx2"/>
                </a:solidFill>
                <a:latin typeface="Times New Roman" panose="02020603050405020304" pitchFamily="18" charset="0"/>
              </a:rPr>
              <a:t>PROTEIN DATABASES</a:t>
            </a:r>
            <a:endParaRPr lang="en-US" dirty="0">
              <a:solidFill>
                <a:schemeClr val="tx2"/>
              </a:solidFill>
              <a:latin typeface="Times New Roman" panose="02020603050405020304" pitchFamily="18" charset="0"/>
            </a:endParaRPr>
          </a:p>
        </p:txBody>
      </p:sp>
      <p:sp>
        <p:nvSpPr>
          <p:cNvPr id="7" name="Rectangle 7"/>
          <p:cNvSpPr>
            <a:spLocks noChangeArrowheads="1"/>
          </p:cNvSpPr>
          <p:nvPr/>
        </p:nvSpPr>
        <p:spPr bwMode="auto">
          <a:xfrm>
            <a:off x="4813300" y="1841500"/>
            <a:ext cx="44196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fontAlgn="base">
              <a:spcBef>
                <a:spcPct val="0"/>
              </a:spcBef>
              <a:spcAft>
                <a:spcPct val="0"/>
              </a:spcAft>
              <a:defRPr sz="2400">
                <a:solidFill>
                  <a:schemeClr val="tx1"/>
                </a:solidFill>
                <a:latin typeface="Tahoma" panose="020B0604030504040204" pitchFamily="34" charset="0"/>
              </a:defRPr>
            </a:lvl6pPr>
            <a:lvl7pPr marL="2971800" indent="-228600" fontAlgn="base">
              <a:spcBef>
                <a:spcPct val="0"/>
              </a:spcBef>
              <a:spcAft>
                <a:spcPct val="0"/>
              </a:spcAft>
              <a:defRPr sz="2400">
                <a:solidFill>
                  <a:schemeClr val="tx1"/>
                </a:solidFill>
                <a:latin typeface="Tahoma" panose="020B0604030504040204" pitchFamily="34" charset="0"/>
              </a:defRPr>
            </a:lvl7pPr>
            <a:lvl8pPr marL="3429000" indent="-228600" fontAlgn="base">
              <a:spcBef>
                <a:spcPct val="0"/>
              </a:spcBef>
              <a:spcAft>
                <a:spcPct val="0"/>
              </a:spcAft>
              <a:defRPr sz="2400">
                <a:solidFill>
                  <a:schemeClr val="tx1"/>
                </a:solidFill>
                <a:latin typeface="Tahoma" panose="020B0604030504040204" pitchFamily="34" charset="0"/>
              </a:defRPr>
            </a:lvl8pPr>
            <a:lvl9pPr marL="3886200" indent="-228600" fontAlgn="base">
              <a:spcBef>
                <a:spcPct val="0"/>
              </a:spcBef>
              <a:spcAft>
                <a:spcPct val="0"/>
              </a:spcAft>
              <a:defRPr sz="2400">
                <a:solidFill>
                  <a:schemeClr val="tx1"/>
                </a:solidFill>
                <a:latin typeface="Tahoma" panose="020B0604030504040204" pitchFamily="34" charset="0"/>
              </a:defRPr>
            </a:lvl9pPr>
          </a:lstStyle>
          <a:p>
            <a:pPr>
              <a:spcBef>
                <a:spcPct val="20000"/>
              </a:spcBef>
              <a:buFontTx/>
              <a:buChar char="•"/>
            </a:pPr>
            <a:r>
              <a:rPr lang="en-US" sz="2000" dirty="0">
                <a:latin typeface="Times New Roman" panose="02020603050405020304" pitchFamily="18" charset="0"/>
              </a:rPr>
              <a:t>These databases derives the information by resolving the primary </a:t>
            </a:r>
            <a:r>
              <a:rPr lang="en-US" sz="2000" dirty="0" smtClean="0">
                <a:latin typeface="Times New Roman" panose="02020603050405020304" pitchFamily="18" charset="0"/>
              </a:rPr>
              <a:t>protein databases</a:t>
            </a:r>
            <a:r>
              <a:rPr lang="en-US" sz="2000" dirty="0">
                <a:latin typeface="Times New Roman" panose="02020603050405020304" pitchFamily="18" charset="0"/>
              </a:rPr>
              <a:t>. </a:t>
            </a:r>
            <a:endParaRPr lang="en-US" sz="2000" dirty="0" smtClean="0">
              <a:latin typeface="Times New Roman" panose="02020603050405020304" pitchFamily="18" charset="0"/>
            </a:endParaRPr>
          </a:p>
          <a:p>
            <a:pPr>
              <a:spcBef>
                <a:spcPct val="20000"/>
              </a:spcBef>
              <a:buFontTx/>
              <a:buChar char="•"/>
            </a:pPr>
            <a:endParaRPr lang="en-US" sz="2000" dirty="0">
              <a:latin typeface="Times New Roman" panose="02020603050405020304" pitchFamily="18" charset="0"/>
            </a:endParaRPr>
          </a:p>
          <a:p>
            <a:pPr>
              <a:spcBef>
                <a:spcPct val="20000"/>
              </a:spcBef>
              <a:buFontTx/>
              <a:buChar char="•"/>
            </a:pPr>
            <a:r>
              <a:rPr lang="en-US" sz="2000" dirty="0">
                <a:latin typeface="Times New Roman" panose="02020603050405020304" pitchFamily="18" charset="0"/>
              </a:rPr>
              <a:t>They express any particular attribute of the primary </a:t>
            </a:r>
            <a:r>
              <a:rPr lang="en-US" sz="2000" dirty="0" smtClean="0">
                <a:latin typeface="Times New Roman" panose="02020603050405020304" pitchFamily="18" charset="0"/>
              </a:rPr>
              <a:t>protein databases (like </a:t>
            </a:r>
            <a:r>
              <a:rPr lang="en-US" sz="2000" dirty="0">
                <a:latin typeface="Times New Roman" panose="02020603050405020304" pitchFamily="18" charset="0"/>
              </a:rPr>
              <a:t>motif, pattern </a:t>
            </a:r>
            <a:r>
              <a:rPr lang="en-US" sz="2000" dirty="0" err="1">
                <a:latin typeface="Times New Roman" panose="02020603050405020304" pitchFamily="18" charset="0"/>
              </a:rPr>
              <a:t>etc</a:t>
            </a:r>
            <a:r>
              <a:rPr lang="en-US" sz="2000" dirty="0">
                <a:latin typeface="Times New Roman" panose="02020603050405020304" pitchFamily="18" charset="0"/>
              </a:rPr>
              <a:t>)</a:t>
            </a:r>
          </a:p>
          <a:p>
            <a:pPr>
              <a:spcBef>
                <a:spcPct val="20000"/>
              </a:spcBef>
              <a:buFontTx/>
              <a:buChar char="•"/>
            </a:pPr>
            <a:r>
              <a:rPr lang="en-US" sz="2000" dirty="0" smtClean="0">
                <a:latin typeface="Times New Roman" panose="02020603050405020304" pitchFamily="18" charset="0"/>
              </a:rPr>
              <a:t>They </a:t>
            </a:r>
            <a:r>
              <a:rPr lang="en-US" sz="2000" dirty="0">
                <a:latin typeface="Times New Roman" panose="02020603050405020304" pitchFamily="18" charset="0"/>
              </a:rPr>
              <a:t>add the value to the information present in the primary databases.</a:t>
            </a:r>
          </a:p>
          <a:p>
            <a:pPr>
              <a:spcBef>
                <a:spcPct val="20000"/>
              </a:spcBef>
              <a:buFontTx/>
              <a:buChar char="•"/>
            </a:pPr>
            <a:r>
              <a:rPr lang="en-US" sz="2000" dirty="0" err="1">
                <a:latin typeface="Times New Roman" panose="02020603050405020304" pitchFamily="18" charset="0"/>
              </a:rPr>
              <a:t>Eg</a:t>
            </a:r>
            <a:r>
              <a:rPr lang="en-US" sz="2000" dirty="0">
                <a:latin typeface="Times New Roman" panose="02020603050405020304" pitchFamily="18" charset="0"/>
              </a:rPr>
              <a:t>., </a:t>
            </a:r>
            <a:r>
              <a:rPr lang="en-US" sz="2000" dirty="0" err="1">
                <a:latin typeface="Times New Roman" panose="02020603050405020304" pitchFamily="18" charset="0"/>
              </a:rPr>
              <a:t>pfam</a:t>
            </a:r>
            <a:r>
              <a:rPr lang="en-US" sz="2000" dirty="0">
                <a:latin typeface="Times New Roman" panose="02020603050405020304" pitchFamily="18" charset="0"/>
              </a:rPr>
              <a:t>, BLOCK, prints etc.</a:t>
            </a:r>
          </a:p>
        </p:txBody>
      </p:sp>
      <p:sp>
        <p:nvSpPr>
          <p:cNvPr id="8" name="Rectangle 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67118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0900"/>
            <a:ext cx="4805916" cy="461665"/>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ctr"/>
            <a:r>
              <a:rPr lang="en-US" sz="2400" dirty="0" smtClean="0">
                <a:solidFill>
                  <a:schemeClr val="tx1"/>
                </a:solidFill>
              </a:rPr>
              <a:t>Tertiary/Quaternary Str. Databases</a:t>
            </a:r>
            <a:endParaRPr lang="en-US" sz="2400" dirty="0">
              <a:solidFill>
                <a:schemeClr val="tx1"/>
              </a:solidFill>
            </a:endParaRPr>
          </a:p>
        </p:txBody>
      </p:sp>
      <p:sp>
        <p:nvSpPr>
          <p:cNvPr id="3" name="Rectangle 2"/>
          <p:cNvSpPr/>
          <p:nvPr/>
        </p:nvSpPr>
        <p:spPr>
          <a:xfrm>
            <a:off x="232586" y="883349"/>
            <a:ext cx="9868343" cy="2246769"/>
          </a:xfrm>
          <a:prstGeom prst="rect">
            <a:avLst/>
          </a:prstGeom>
        </p:spPr>
        <p:txBody>
          <a:bodyPr wrap="square">
            <a:spAutoFit/>
          </a:bodyPr>
          <a:lstStyle/>
          <a:p>
            <a:pPr marL="285750" indent="-285750">
              <a:buFont typeface="Wingdings" pitchFamily="2" charset="2"/>
              <a:buChar char="q"/>
            </a:pPr>
            <a:r>
              <a:rPr lang="en-US" sz="2000" dirty="0"/>
              <a:t>Tertiary structure refers to the three-dimensional structure created by a single protein molecule (a single polypeptide chain</a:t>
            </a:r>
            <a:r>
              <a:rPr lang="en-US" sz="2000" dirty="0" smtClean="0"/>
              <a:t>). </a:t>
            </a:r>
          </a:p>
          <a:p>
            <a:pPr marL="285750" indent="-285750">
              <a:buFont typeface="Wingdings" pitchFamily="2" charset="2"/>
              <a:buChar char="q"/>
            </a:pPr>
            <a:r>
              <a:rPr lang="en-US" sz="2000" dirty="0" smtClean="0"/>
              <a:t>Quaternary </a:t>
            </a:r>
            <a:r>
              <a:rPr lang="en-US" sz="2000" dirty="0"/>
              <a:t>structure is the three-dimensional structure consisting of the aggregation of two or more individual polypeptide chains (subunits) that operate as a single functional unit (multimer). </a:t>
            </a:r>
            <a:endParaRPr lang="en-US" sz="2000" dirty="0" smtClean="0"/>
          </a:p>
          <a:p>
            <a:pPr marL="285750" indent="-285750">
              <a:buFont typeface="Wingdings" pitchFamily="2" charset="2"/>
              <a:buChar char="q"/>
            </a:pPr>
            <a:r>
              <a:rPr lang="en-US" sz="2000" dirty="0" smtClean="0"/>
              <a:t>The </a:t>
            </a:r>
            <a:r>
              <a:rPr lang="en-US" sz="2000" dirty="0"/>
              <a:t>resulting multimer is stabilized by the same non-covalent interactions and disulfide bonds as in tertiary structure.</a:t>
            </a:r>
          </a:p>
        </p:txBody>
      </p:sp>
      <p:sp>
        <p:nvSpPr>
          <p:cNvPr id="4" name="Rectangle 3"/>
          <p:cNvSpPr/>
          <p:nvPr/>
        </p:nvSpPr>
        <p:spPr>
          <a:xfrm>
            <a:off x="349550" y="3955624"/>
            <a:ext cx="9772650" cy="1015663"/>
          </a:xfrm>
          <a:prstGeom prst="rect">
            <a:avLst/>
          </a:prstGeom>
        </p:spPr>
        <p:txBody>
          <a:bodyPr wrap="square">
            <a:spAutoFit/>
          </a:bodyPr>
          <a:lstStyle/>
          <a:p>
            <a:r>
              <a:rPr lang="en-US" sz="2000" dirty="0"/>
              <a:t>The SCOP database aims to provide a detailed and comprehensive description of the structural and evolutionary relationships between proteins whose three-dimensional structure is known and deposited in the Protein Data Bank. </a:t>
            </a:r>
          </a:p>
        </p:txBody>
      </p:sp>
      <p:pic>
        <p:nvPicPr>
          <p:cNvPr id="337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669" t="17519" r="81685" b="72559"/>
          <a:stretch/>
        </p:blipFill>
        <p:spPr bwMode="auto">
          <a:xfrm>
            <a:off x="361506" y="3253873"/>
            <a:ext cx="1541721" cy="68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894781" y="3409449"/>
            <a:ext cx="3266663" cy="369332"/>
          </a:xfrm>
          <a:prstGeom prst="rect">
            <a:avLst/>
          </a:prstGeom>
        </p:spPr>
        <p:txBody>
          <a:bodyPr wrap="none">
            <a:spAutoFit/>
          </a:bodyPr>
          <a:lstStyle/>
          <a:p>
            <a:r>
              <a:rPr lang="en-US" dirty="0"/>
              <a:t>https://</a:t>
            </a:r>
            <a:r>
              <a:rPr lang="en-US" dirty="0" smtClean="0"/>
              <a:t>scop.mrc-lmb.cam.ac.uk</a:t>
            </a:r>
            <a:endParaRPr lang="en-US" dirty="0"/>
          </a:p>
        </p:txBody>
      </p:sp>
      <p:pic>
        <p:nvPicPr>
          <p:cNvPr id="33796" name="Picture 4" descr="CATH Search: scan by protein sequence"/>
          <p:cNvPicPr>
            <a:picLocks noChangeAspect="1" noChangeArrowheads="1"/>
          </p:cNvPicPr>
          <p:nvPr/>
        </p:nvPicPr>
        <p:blipFill rotWithShape="1">
          <a:blip r:embed="rId3">
            <a:extLst>
              <a:ext uri="{28A0092B-C50C-407E-A947-70E740481C1C}">
                <a14:useLocalDpi xmlns:a14="http://schemas.microsoft.com/office/drawing/2010/main" val="0"/>
              </a:ext>
            </a:extLst>
          </a:blip>
          <a:srcRect l="77133" t="9228" r="1746" b="73275"/>
          <a:stretch/>
        </p:blipFill>
        <p:spPr bwMode="auto">
          <a:xfrm>
            <a:off x="361506" y="5178066"/>
            <a:ext cx="1541721" cy="83252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903227" y="5409664"/>
            <a:ext cx="2602700" cy="369332"/>
          </a:xfrm>
          <a:prstGeom prst="rect">
            <a:avLst/>
          </a:prstGeom>
        </p:spPr>
        <p:txBody>
          <a:bodyPr wrap="none">
            <a:spAutoFit/>
          </a:bodyPr>
          <a:lstStyle/>
          <a:p>
            <a:r>
              <a:rPr lang="en-US" dirty="0"/>
              <a:t>https://www.cathdb.info/</a:t>
            </a:r>
          </a:p>
        </p:txBody>
      </p:sp>
      <p:sp>
        <p:nvSpPr>
          <p:cNvPr id="7" name="Rectangle 6"/>
          <p:cNvSpPr/>
          <p:nvPr/>
        </p:nvSpPr>
        <p:spPr>
          <a:xfrm>
            <a:off x="361505" y="6125491"/>
            <a:ext cx="9569303" cy="400110"/>
          </a:xfrm>
          <a:prstGeom prst="rect">
            <a:avLst/>
          </a:prstGeom>
        </p:spPr>
        <p:txBody>
          <a:bodyPr wrap="square">
            <a:spAutoFit/>
          </a:bodyPr>
          <a:lstStyle/>
          <a:p>
            <a:r>
              <a:rPr lang="en-US" sz="2000" b="1" dirty="0"/>
              <a:t>151 million protein domains classified into 5,481 </a:t>
            </a:r>
            <a:r>
              <a:rPr lang="en-US" sz="2000" b="1" dirty="0" err="1"/>
              <a:t>superfamilies</a:t>
            </a:r>
            <a:endParaRPr lang="en-US" sz="2000" b="1" dirty="0"/>
          </a:p>
        </p:txBody>
      </p:sp>
      <p:sp>
        <p:nvSpPr>
          <p:cNvPr id="10" name="Rectangle 9"/>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8259885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Quick and easy animated pictures of proteins | Getting to know Structural  Bioinformatics"/>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803446" y="1435417"/>
            <a:ext cx="4251715" cy="4251715"/>
          </a:xfrm>
          <a:prstGeom prst="rect">
            <a:avLst/>
          </a:prstGeom>
          <a:noFill/>
          <a:extLst>
            <a:ext uri="{909E8E84-426E-40DD-AFC4-6F175D3DCCD1}">
              <a14:hiddenFill xmlns:a14="http://schemas.microsoft.com/office/drawing/2010/main">
                <a:solidFill>
                  <a:srgbClr val="FFFFFF"/>
                </a:solidFill>
              </a14:hiddenFill>
            </a:ext>
          </a:extLst>
        </p:spPr>
      </p:pic>
      <p:pic>
        <p:nvPicPr>
          <p:cNvPr id="44036" name="Picture 4" descr="Predicted 3D Structure | eef2k"/>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55575" y="1435418"/>
            <a:ext cx="5851820" cy="425171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934047" y="552894"/>
            <a:ext cx="2507161" cy="461665"/>
          </a:xfrm>
          <a:prstGeom prst="rect">
            <a:avLst/>
          </a:prstGeom>
          <a:noFill/>
        </p:spPr>
        <p:txBody>
          <a:bodyPr wrap="none" rtlCol="0">
            <a:spAutoFit/>
          </a:bodyPr>
          <a:lstStyle/>
          <a:p>
            <a:r>
              <a:rPr lang="en-US" sz="2400" dirty="0" smtClean="0"/>
              <a:t>Protein 3D Models</a:t>
            </a:r>
            <a:endParaRPr lang="en-US" sz="2400" dirty="0"/>
          </a:p>
        </p:txBody>
      </p:sp>
      <p:sp>
        <p:nvSpPr>
          <p:cNvPr id="6" name="Rectangle 5"/>
          <p:cNvSpPr/>
          <p:nvPr/>
        </p:nvSpPr>
        <p:spPr>
          <a:xfrm>
            <a:off x="7472925" y="6492435"/>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6765772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27"/>
          <p:cNvSpPr txBox="1">
            <a:spLocks noChangeArrowheads="1"/>
          </p:cNvSpPr>
          <p:nvPr/>
        </p:nvSpPr>
        <p:spPr bwMode="auto">
          <a:xfrm>
            <a:off x="21266" y="152059"/>
            <a:ext cx="5681033"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Species Specific Databases</a:t>
            </a:r>
            <a:endParaRPr lang="en-GB" sz="3200" b="1" dirty="0">
              <a:solidFill>
                <a:schemeClr val="tx2"/>
              </a:solidFill>
              <a:latin typeface="Arial" panose="020B0604020202020204" pitchFamily="34" charset="0"/>
            </a:endParaRPr>
          </a:p>
        </p:txBody>
      </p:sp>
      <p:sp>
        <p:nvSpPr>
          <p:cNvPr id="3" name="Rectangle 3"/>
          <p:cNvSpPr txBox="1">
            <a:spLocks noChangeArrowheads="1"/>
          </p:cNvSpPr>
          <p:nvPr/>
        </p:nvSpPr>
        <p:spPr>
          <a:xfrm>
            <a:off x="241300" y="1113368"/>
            <a:ext cx="9626600" cy="5350932"/>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lvl="1">
              <a:spcBef>
                <a:spcPts val="500"/>
              </a:spcBef>
              <a:spcAft>
                <a:spcPts val="500"/>
              </a:spcAft>
            </a:pPr>
            <a:r>
              <a:rPr lang="en-US" sz="2400" u="sng" dirty="0" err="1" smtClean="0">
                <a:solidFill>
                  <a:srgbClr val="0000FF"/>
                </a:solidFill>
                <a:hlinkClick r:id="rId2"/>
              </a:rPr>
              <a:t>PomBase</a:t>
            </a:r>
            <a:r>
              <a:rPr lang="en-US" sz="2400" dirty="0" smtClean="0"/>
              <a:t> is a compilation of data relating to the organism </a:t>
            </a:r>
            <a:r>
              <a:rPr lang="en-US" sz="2400" i="1" dirty="0" err="1" smtClean="0"/>
              <a:t>Schizosaccharomyces</a:t>
            </a:r>
            <a:r>
              <a:rPr lang="en-US" sz="2400" i="1" dirty="0" smtClean="0"/>
              <a:t> </a:t>
            </a:r>
            <a:r>
              <a:rPr lang="en-US" sz="2400" i="1" dirty="0" err="1" smtClean="0"/>
              <a:t>pombe</a:t>
            </a:r>
            <a:r>
              <a:rPr lang="en-US" sz="2400" dirty="0" smtClean="0"/>
              <a:t> </a:t>
            </a:r>
          </a:p>
          <a:p>
            <a:pPr lvl="1">
              <a:spcBef>
                <a:spcPts val="500"/>
              </a:spcBef>
              <a:spcAft>
                <a:spcPts val="500"/>
              </a:spcAft>
              <a:buFont typeface="Symbol" panose="05050102010706020507" pitchFamily="18" charset="2"/>
              <a:buChar char="·"/>
            </a:pPr>
            <a:r>
              <a:rPr lang="en-US" sz="2400" u="sng" dirty="0" err="1" smtClean="0">
                <a:solidFill>
                  <a:srgbClr val="0000FF"/>
                </a:solidFill>
                <a:hlinkClick r:id="rId3"/>
              </a:rPr>
              <a:t>Wormpep</a:t>
            </a:r>
            <a:r>
              <a:rPr lang="en-US" sz="2400" dirty="0" smtClean="0"/>
              <a:t> predicted proteins from the </a:t>
            </a:r>
            <a:r>
              <a:rPr lang="en-US" sz="2400" i="1" dirty="0" smtClean="0"/>
              <a:t>C. </a:t>
            </a:r>
            <a:r>
              <a:rPr lang="en-US" sz="2400" i="1" dirty="0" err="1" smtClean="0"/>
              <a:t>elegans</a:t>
            </a:r>
            <a:r>
              <a:rPr lang="en-US" sz="2400" dirty="0" smtClean="0"/>
              <a:t> genome sequencing project.</a:t>
            </a:r>
          </a:p>
          <a:p>
            <a:pPr lvl="1">
              <a:spcBef>
                <a:spcPts val="500"/>
              </a:spcBef>
              <a:spcAft>
                <a:spcPts val="500"/>
              </a:spcAft>
              <a:buFont typeface="Symbol" panose="05050102010706020507" pitchFamily="18" charset="2"/>
              <a:buChar char="·"/>
            </a:pPr>
            <a:r>
              <a:rPr lang="en-US" sz="2400" u="sng" dirty="0" smtClean="0">
                <a:solidFill>
                  <a:srgbClr val="0000FF"/>
                </a:solidFill>
                <a:hlinkClick r:id="rId4" action="ppaction://hlinkfile"/>
              </a:rPr>
              <a:t>ACEDB</a:t>
            </a:r>
            <a:r>
              <a:rPr lang="en-US" sz="2400" dirty="0" smtClean="0"/>
              <a:t> </a:t>
            </a:r>
            <a:r>
              <a:rPr lang="en-US" sz="2400" dirty="0"/>
              <a:t>is an acronym for "A </a:t>
            </a:r>
            <a:r>
              <a:rPr lang="en-US" sz="2400" i="1" dirty="0" err="1"/>
              <a:t>Caenorhabditis</a:t>
            </a:r>
            <a:r>
              <a:rPr lang="en-US" sz="2400" i="1" dirty="0"/>
              <a:t> </a:t>
            </a:r>
            <a:r>
              <a:rPr lang="en-US" sz="2400" i="1" dirty="0" err="1"/>
              <a:t>elegans</a:t>
            </a:r>
            <a:r>
              <a:rPr lang="en-US" sz="2400" dirty="0"/>
              <a:t> </a:t>
            </a:r>
            <a:r>
              <a:rPr lang="en-US" sz="2400" dirty="0" err="1"/>
              <a:t>DataBase</a:t>
            </a:r>
            <a:r>
              <a:rPr lang="en-US" sz="2400" dirty="0"/>
              <a:t>". It can refer to a database and data concerning the nematode </a:t>
            </a:r>
            <a:r>
              <a:rPr lang="en-US" sz="2400" i="1" dirty="0"/>
              <a:t>C. </a:t>
            </a:r>
            <a:r>
              <a:rPr lang="en-US" sz="2400" i="1" dirty="0" err="1"/>
              <a:t>elegans</a:t>
            </a:r>
            <a:r>
              <a:rPr lang="en-US" sz="2400" dirty="0"/>
              <a:t>, or to the database software </a:t>
            </a:r>
            <a:r>
              <a:rPr lang="en-US" sz="2400" dirty="0" smtClean="0"/>
              <a:t>alone.</a:t>
            </a:r>
          </a:p>
          <a:p>
            <a:pPr lvl="1">
              <a:spcBef>
                <a:spcPts val="500"/>
              </a:spcBef>
              <a:spcAft>
                <a:spcPts val="500"/>
              </a:spcAft>
              <a:buFont typeface="Symbol" panose="05050102010706020507" pitchFamily="18" charset="2"/>
              <a:buChar char="·"/>
            </a:pPr>
            <a:r>
              <a:rPr lang="en-US" sz="2400" dirty="0" smtClean="0"/>
              <a:t>Other </a:t>
            </a:r>
            <a:r>
              <a:rPr lang="en-US" sz="2400" dirty="0"/>
              <a:t>groups may adapt existing, or create own.  For example, David Hall’s workflow project at UGA for </a:t>
            </a:r>
            <a:r>
              <a:rPr lang="en-US" sz="2400" dirty="0" err="1"/>
              <a:t>Neurospora</a:t>
            </a:r>
            <a:r>
              <a:rPr lang="en-US" sz="2400" dirty="0"/>
              <a:t> </a:t>
            </a:r>
            <a:r>
              <a:rPr lang="en-US" sz="2400" dirty="0" smtClean="0"/>
              <a:t> 	</a:t>
            </a:r>
          </a:p>
          <a:p>
            <a:pPr lvl="1">
              <a:spcBef>
                <a:spcPts val="500"/>
              </a:spcBef>
              <a:spcAft>
                <a:spcPts val="500"/>
              </a:spcAft>
              <a:buFont typeface="Symbol" panose="05050102010706020507" pitchFamily="18" charset="2"/>
              <a:buChar char="·"/>
            </a:pPr>
            <a:endParaRPr lang="en-US" sz="2400" dirty="0" smtClean="0"/>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574643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419"/>
            <a:ext cx="10287284" cy="617237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Biological Database Retrieval System</a:t>
            </a:r>
            <a:endParaRPr lang="en-US" sz="44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976351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3897" name="Group 9"/>
          <p:cNvGrpSpPr>
            <a:grpSpLocks/>
          </p:cNvGrpSpPr>
          <p:nvPr/>
        </p:nvGrpSpPr>
        <p:grpSpPr bwMode="auto">
          <a:xfrm>
            <a:off x="1612703" y="1073150"/>
            <a:ext cx="7218759" cy="4662488"/>
            <a:chOff x="903" y="406"/>
            <a:chExt cx="4042" cy="2937"/>
          </a:xfrm>
        </p:grpSpPr>
        <p:pic>
          <p:nvPicPr>
            <p:cNvPr id="293890" name="Picture 2"/>
            <p:cNvPicPr>
              <a:picLocks noChangeAspect="1" noChangeArrowheads="1"/>
            </p:cNvPicPr>
            <p:nvPr/>
          </p:nvPicPr>
          <p:blipFill>
            <a:blip r:embed="rId3" cstate="print">
              <a:lum bright="-12000" contrast="12000"/>
            </a:blip>
            <a:srcRect/>
            <a:stretch>
              <a:fillRect/>
            </a:stretch>
          </p:blipFill>
          <p:spPr bwMode="auto">
            <a:xfrm>
              <a:off x="906" y="416"/>
              <a:ext cx="4039" cy="2724"/>
            </a:xfrm>
            <a:prstGeom prst="rect">
              <a:avLst/>
            </a:prstGeom>
            <a:noFill/>
          </p:spPr>
        </p:pic>
        <p:sp>
          <p:nvSpPr>
            <p:cNvPr id="293891" name="Text Box 3"/>
            <p:cNvSpPr txBox="1">
              <a:spLocks noChangeArrowheads="1"/>
            </p:cNvSpPr>
            <p:nvPr/>
          </p:nvSpPr>
          <p:spPr bwMode="auto">
            <a:xfrm>
              <a:off x="1397" y="3130"/>
              <a:ext cx="2674" cy="213"/>
            </a:xfrm>
            <a:prstGeom prst="rect">
              <a:avLst/>
            </a:prstGeom>
            <a:noFill/>
            <a:ln w="12700">
              <a:noFill/>
              <a:miter lim="800000"/>
              <a:headEnd/>
              <a:tailEnd/>
            </a:ln>
            <a:effectLst/>
          </p:spPr>
          <p:txBody>
            <a:bodyPr wrap="none">
              <a:spAutoFit/>
            </a:bodyPr>
            <a:lstStyle/>
            <a:p>
              <a:r>
                <a:rPr lang="en-US" sz="1600">
                  <a:solidFill>
                    <a:schemeClr val="accent2"/>
                  </a:solidFill>
                  <a:latin typeface="Times New Roman" pitchFamily="1" charset="0"/>
                </a:rPr>
                <a:t>Drew Sheneman, New Jersey--The Newark Star Ledger</a:t>
              </a:r>
            </a:p>
          </p:txBody>
        </p:sp>
        <p:sp>
          <p:nvSpPr>
            <p:cNvPr id="293894" name="Rectangle 6"/>
            <p:cNvSpPr>
              <a:spLocks noChangeArrowheads="1"/>
            </p:cNvSpPr>
            <p:nvPr/>
          </p:nvSpPr>
          <p:spPr bwMode="auto">
            <a:xfrm>
              <a:off x="903" y="406"/>
              <a:ext cx="4039" cy="2710"/>
            </a:xfrm>
            <a:prstGeom prst="rect">
              <a:avLst/>
            </a:prstGeom>
            <a:noFill/>
            <a:ln w="9525">
              <a:solidFill>
                <a:schemeClr val="tx1"/>
              </a:solidFill>
              <a:miter lim="800000"/>
              <a:headEnd/>
              <a:tailEnd/>
            </a:ln>
          </p:spPr>
          <p:txBody>
            <a:bodyPr wrap="none" anchor="ctr"/>
            <a:lstStyle/>
            <a:p>
              <a:endParaRPr lang="en-US"/>
            </a:p>
          </p:txBody>
        </p:sp>
      </p:grpSp>
      <p:sp>
        <p:nvSpPr>
          <p:cNvPr id="293895" name="Rectangle 7"/>
          <p:cNvSpPr>
            <a:spLocks noChangeArrowheads="1"/>
          </p:cNvSpPr>
          <p:nvPr/>
        </p:nvSpPr>
        <p:spPr bwMode="auto">
          <a:xfrm>
            <a:off x="3315494" y="5991225"/>
            <a:ext cx="4689938" cy="461665"/>
          </a:xfrm>
          <a:prstGeom prst="rect">
            <a:avLst/>
          </a:prstGeom>
          <a:noFill/>
          <a:ln w="9525">
            <a:noFill/>
            <a:miter lim="800000"/>
            <a:headEnd/>
            <a:tailEnd/>
          </a:ln>
        </p:spPr>
        <p:txBody>
          <a:bodyPr wrap="none">
            <a:spAutoFit/>
          </a:bodyPr>
          <a:lstStyle/>
          <a:p>
            <a:r>
              <a:rPr lang="en-US" sz="2400" dirty="0"/>
              <a:t>Answer: bioinformatics and Internet</a:t>
            </a:r>
          </a:p>
        </p:txBody>
      </p:sp>
      <p:sp>
        <p:nvSpPr>
          <p:cNvPr id="9" name="Text Box 1027"/>
          <p:cNvSpPr txBox="1">
            <a:spLocks noChangeArrowheads="1"/>
          </p:cNvSpPr>
          <p:nvPr/>
        </p:nvSpPr>
        <p:spPr bwMode="auto">
          <a:xfrm>
            <a:off x="21266" y="152059"/>
            <a:ext cx="9795834"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How to handle large amount of Biological  Data </a:t>
            </a:r>
            <a:endParaRPr lang="en-GB" sz="3200" b="1" dirty="0">
              <a:solidFill>
                <a:schemeClr val="tx2"/>
              </a:solidFill>
              <a:latin typeface="Arial" panose="020B0604020202020204" pitchFamily="34" charset="0"/>
            </a:endParaRPr>
          </a:p>
        </p:txBody>
      </p:sp>
      <p:sp>
        <p:nvSpPr>
          <p:cNvPr id="10" name="Rectangle 9"/>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5352806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ChangeArrowheads="1"/>
          </p:cNvSpPr>
          <p:nvPr/>
        </p:nvSpPr>
        <p:spPr bwMode="auto">
          <a:xfrm>
            <a:off x="0" y="23813"/>
            <a:ext cx="10286999" cy="492443"/>
          </a:xfrm>
          <a:prstGeom prst="rect">
            <a:avLst/>
          </a:prstGeom>
          <a:noFill/>
          <a:ln w="9525">
            <a:noFill/>
            <a:miter lim="800000"/>
            <a:headEnd/>
            <a:tailEnd/>
          </a:ln>
        </p:spPr>
        <p:txBody>
          <a:bodyPr wrap="square">
            <a:spAutoFit/>
          </a:bodyPr>
          <a:lstStyle/>
          <a:p>
            <a:pPr algn="ctr"/>
            <a:r>
              <a:rPr lang="en-US" sz="2600" dirty="0">
                <a:solidFill>
                  <a:schemeClr val="accent2"/>
                </a:solidFill>
              </a:rPr>
              <a:t> Why do we need the Internet?</a:t>
            </a:r>
          </a:p>
        </p:txBody>
      </p:sp>
      <p:sp>
        <p:nvSpPr>
          <p:cNvPr id="176131" name="Line 3"/>
          <p:cNvSpPr>
            <a:spLocks noChangeShapeType="1"/>
          </p:cNvSpPr>
          <p:nvPr/>
        </p:nvSpPr>
        <p:spPr bwMode="auto">
          <a:xfrm>
            <a:off x="0" y="568325"/>
            <a:ext cx="10287000" cy="0"/>
          </a:xfrm>
          <a:prstGeom prst="line">
            <a:avLst/>
          </a:prstGeom>
          <a:noFill/>
          <a:ln w="57150" cmpd="thickThin">
            <a:solidFill>
              <a:schemeClr val="tx1"/>
            </a:solidFill>
            <a:round/>
            <a:headEnd/>
            <a:tailEnd/>
          </a:ln>
        </p:spPr>
        <p:txBody>
          <a:bodyPr wrap="none" anchor="ctr"/>
          <a:lstStyle/>
          <a:p>
            <a:endParaRPr lang="en-US"/>
          </a:p>
        </p:txBody>
      </p:sp>
      <p:sp>
        <p:nvSpPr>
          <p:cNvPr id="176132" name="Rectangle 4"/>
          <p:cNvSpPr>
            <a:spLocks noChangeArrowheads="1"/>
          </p:cNvSpPr>
          <p:nvPr/>
        </p:nvSpPr>
        <p:spPr bwMode="auto">
          <a:xfrm>
            <a:off x="123231" y="633413"/>
            <a:ext cx="10067329" cy="701675"/>
          </a:xfrm>
          <a:prstGeom prst="rect">
            <a:avLst/>
          </a:prstGeom>
          <a:noFill/>
          <a:ln w="9525">
            <a:noFill/>
            <a:miter lim="800000"/>
            <a:headEnd/>
            <a:tailEnd/>
          </a:ln>
        </p:spPr>
        <p:txBody>
          <a:bodyPr>
            <a:spAutoFit/>
          </a:bodyPr>
          <a:lstStyle/>
          <a:p>
            <a:r>
              <a:rPr lang="en-CA" sz="1600" b="1">
                <a:solidFill>
                  <a:srgbClr val="FA1113"/>
                </a:solidFill>
                <a:sym typeface="Webdings" pitchFamily="1" charset="2"/>
              </a:rPr>
              <a:t></a:t>
            </a:r>
            <a:r>
              <a:rPr lang="en-US" sz="2000"/>
              <a:t>“</a:t>
            </a:r>
            <a:r>
              <a:rPr lang="en-US" sz="2000">
                <a:solidFill>
                  <a:srgbClr val="F91402"/>
                </a:solidFill>
              </a:rPr>
              <a:t>omics</a:t>
            </a:r>
            <a:r>
              <a:rPr lang="en-US" sz="2000"/>
              <a:t>” projects and the information associated with involve a huge amount</a:t>
            </a:r>
          </a:p>
          <a:p>
            <a:r>
              <a:rPr lang="en-US" sz="2000"/>
              <a:t>   of data that is stored </a:t>
            </a:r>
            <a:r>
              <a:rPr lang="en-US" sz="2000" u="sng"/>
              <a:t>on computers all over the world</a:t>
            </a:r>
            <a:r>
              <a:rPr lang="en-US" sz="2000"/>
              <a:t>. </a:t>
            </a:r>
          </a:p>
        </p:txBody>
      </p:sp>
      <p:sp>
        <p:nvSpPr>
          <p:cNvPr id="176134" name="Rectangle 6"/>
          <p:cNvSpPr>
            <a:spLocks noChangeArrowheads="1"/>
          </p:cNvSpPr>
          <p:nvPr/>
        </p:nvSpPr>
        <p:spPr bwMode="auto">
          <a:xfrm>
            <a:off x="112514" y="1428751"/>
            <a:ext cx="10256639" cy="701675"/>
          </a:xfrm>
          <a:prstGeom prst="rect">
            <a:avLst/>
          </a:prstGeom>
          <a:noFill/>
          <a:ln w="9525">
            <a:noFill/>
            <a:miter lim="800000"/>
            <a:headEnd/>
            <a:tailEnd/>
          </a:ln>
        </p:spPr>
        <p:txBody>
          <a:bodyPr>
            <a:spAutoFit/>
          </a:bodyPr>
          <a:lstStyle/>
          <a:p>
            <a:r>
              <a:rPr lang="en-CA" sz="1600" b="1">
                <a:solidFill>
                  <a:srgbClr val="FA1113"/>
                </a:solidFill>
                <a:sym typeface="Webdings" pitchFamily="1" charset="2"/>
              </a:rPr>
              <a:t></a:t>
            </a:r>
            <a:r>
              <a:rPr lang="en-US" sz="2000"/>
              <a:t>Because it is impossible to maintain up-to-date copies of all relevant</a:t>
            </a:r>
          </a:p>
          <a:p>
            <a:r>
              <a:rPr lang="en-US" sz="2000"/>
              <a:t>   databases within the lab. Access to the data is </a:t>
            </a:r>
            <a:r>
              <a:rPr lang="en-US" sz="2000" u="sng"/>
              <a:t>via the internet</a:t>
            </a:r>
            <a:r>
              <a:rPr lang="en-US" sz="2000"/>
              <a:t>. </a:t>
            </a:r>
          </a:p>
        </p:txBody>
      </p:sp>
      <p:pic>
        <p:nvPicPr>
          <p:cNvPr id="176146" name="Picture 18"/>
          <p:cNvPicPr>
            <a:picLocks noChangeAspect="1" noChangeArrowheads="1"/>
          </p:cNvPicPr>
          <p:nvPr/>
        </p:nvPicPr>
        <p:blipFill>
          <a:blip r:embed="rId3" cstate="print">
            <a:lum bright="-18000" contrast="30000"/>
          </a:blip>
          <a:srcRect/>
          <a:stretch>
            <a:fillRect/>
          </a:stretch>
        </p:blipFill>
        <p:spPr bwMode="auto">
          <a:xfrm>
            <a:off x="2282429" y="2228889"/>
            <a:ext cx="6920508" cy="4252913"/>
          </a:xfrm>
          <a:prstGeom prst="rect">
            <a:avLst/>
          </a:prstGeom>
          <a:noFill/>
          <a:ln w="9525">
            <a:noFill/>
            <a:miter lim="800000"/>
            <a:headEnd/>
            <a:tailEnd/>
          </a:ln>
          <a:effectLst/>
        </p:spPr>
      </p:pic>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0567432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4914" name="Picture 2"/>
          <p:cNvPicPr>
            <a:picLocks noChangeAspect="1" noChangeArrowheads="1"/>
          </p:cNvPicPr>
          <p:nvPr/>
        </p:nvPicPr>
        <p:blipFill>
          <a:blip r:embed="rId3" cstate="print">
            <a:clrChange>
              <a:clrFrom>
                <a:srgbClr val="FFFFFE"/>
              </a:clrFrom>
              <a:clrTo>
                <a:srgbClr val="FFFFFE">
                  <a:alpha val="0"/>
                </a:srgbClr>
              </a:clrTo>
            </a:clrChange>
            <a:lum bright="-6000" contrast="24000"/>
          </a:blip>
          <a:srcRect/>
          <a:stretch>
            <a:fillRect/>
          </a:stretch>
        </p:blipFill>
        <p:spPr bwMode="auto">
          <a:xfrm>
            <a:off x="2857500" y="485775"/>
            <a:ext cx="4700588" cy="4160838"/>
          </a:xfrm>
          <a:prstGeom prst="rect">
            <a:avLst/>
          </a:prstGeom>
          <a:noFill/>
          <a:ln w="9525">
            <a:noFill/>
            <a:miter lim="800000"/>
            <a:headEnd/>
            <a:tailEnd/>
          </a:ln>
          <a:effectLst/>
        </p:spPr>
      </p:pic>
      <p:pic>
        <p:nvPicPr>
          <p:cNvPr id="294917" name="Picture 5"/>
          <p:cNvPicPr>
            <a:picLocks noChangeAspect="1" noChangeArrowheads="1"/>
          </p:cNvPicPr>
          <p:nvPr/>
        </p:nvPicPr>
        <p:blipFill>
          <a:blip r:embed="rId4" cstate="print">
            <a:clrChange>
              <a:clrFrom>
                <a:srgbClr val="FFFFFE"/>
              </a:clrFrom>
              <a:clrTo>
                <a:srgbClr val="FFFFFE">
                  <a:alpha val="0"/>
                </a:srgbClr>
              </a:clrTo>
            </a:clrChange>
            <a:lum bright="-6000" contrast="24000"/>
          </a:blip>
          <a:srcRect/>
          <a:stretch>
            <a:fillRect/>
          </a:stretch>
        </p:blipFill>
        <p:spPr bwMode="auto">
          <a:xfrm>
            <a:off x="1634133" y="4381501"/>
            <a:ext cx="984051" cy="917575"/>
          </a:xfrm>
          <a:prstGeom prst="rect">
            <a:avLst/>
          </a:prstGeom>
          <a:noFill/>
          <a:ln w="9525">
            <a:noFill/>
            <a:miter lim="800000"/>
            <a:headEnd/>
            <a:tailEnd/>
          </a:ln>
          <a:effectLst/>
        </p:spPr>
      </p:pic>
      <p:sp>
        <p:nvSpPr>
          <p:cNvPr id="294918" name="Rectangle 6"/>
          <p:cNvSpPr>
            <a:spLocks noChangeArrowheads="1"/>
          </p:cNvSpPr>
          <p:nvPr/>
        </p:nvSpPr>
        <p:spPr bwMode="auto">
          <a:xfrm>
            <a:off x="710804" y="5046664"/>
            <a:ext cx="1305521" cy="701675"/>
          </a:xfrm>
          <a:prstGeom prst="rect">
            <a:avLst/>
          </a:prstGeom>
          <a:noFill/>
          <a:ln w="9525">
            <a:noFill/>
            <a:miter lim="800000"/>
            <a:headEnd/>
            <a:tailEnd/>
          </a:ln>
        </p:spPr>
        <p:txBody>
          <a:bodyPr>
            <a:spAutoFit/>
          </a:bodyPr>
          <a:lstStyle/>
          <a:p>
            <a:pPr algn="ctr"/>
            <a:r>
              <a:rPr lang="en-US" sz="2000">
                <a:solidFill>
                  <a:srgbClr val="F91402"/>
                </a:solidFill>
              </a:rPr>
              <a:t>You are here</a:t>
            </a:r>
          </a:p>
        </p:txBody>
      </p:sp>
      <p:grpSp>
        <p:nvGrpSpPr>
          <p:cNvPr id="294924" name="Group 12"/>
          <p:cNvGrpSpPr>
            <a:grpSpLocks/>
          </p:cNvGrpSpPr>
          <p:nvPr/>
        </p:nvGrpSpPr>
        <p:grpSpPr bwMode="auto">
          <a:xfrm>
            <a:off x="2534246" y="2695576"/>
            <a:ext cx="5514975" cy="2855913"/>
            <a:chOff x="1419" y="1698"/>
            <a:chExt cx="3088" cy="1799"/>
          </a:xfrm>
        </p:grpSpPr>
        <p:grpSp>
          <p:nvGrpSpPr>
            <p:cNvPr id="294922" name="Group 10"/>
            <p:cNvGrpSpPr>
              <a:grpSpLocks/>
            </p:cNvGrpSpPr>
            <p:nvPr/>
          </p:nvGrpSpPr>
          <p:grpSpPr bwMode="auto">
            <a:xfrm>
              <a:off x="1419" y="1698"/>
              <a:ext cx="3088" cy="1799"/>
              <a:chOff x="1419" y="1698"/>
              <a:chExt cx="3088" cy="1799"/>
            </a:xfrm>
          </p:grpSpPr>
          <p:sp>
            <p:nvSpPr>
              <p:cNvPr id="294919" name="Line 7"/>
              <p:cNvSpPr>
                <a:spLocks noChangeShapeType="1"/>
              </p:cNvSpPr>
              <p:nvPr/>
            </p:nvSpPr>
            <p:spPr bwMode="auto">
              <a:xfrm>
                <a:off x="1419" y="3064"/>
                <a:ext cx="852" cy="433"/>
              </a:xfrm>
              <a:prstGeom prst="line">
                <a:avLst/>
              </a:prstGeom>
              <a:noFill/>
              <a:ln w="38100">
                <a:solidFill>
                  <a:srgbClr val="F91402"/>
                </a:solidFill>
                <a:round/>
                <a:headEnd/>
                <a:tailEnd/>
              </a:ln>
            </p:spPr>
            <p:txBody>
              <a:bodyPr wrap="none" anchor="ctr"/>
              <a:lstStyle/>
              <a:p>
                <a:endParaRPr lang="en-US"/>
              </a:p>
            </p:txBody>
          </p:sp>
          <p:sp>
            <p:nvSpPr>
              <p:cNvPr id="294920" name="Line 8"/>
              <p:cNvSpPr>
                <a:spLocks noChangeShapeType="1"/>
              </p:cNvSpPr>
              <p:nvPr/>
            </p:nvSpPr>
            <p:spPr bwMode="auto">
              <a:xfrm flipV="1">
                <a:off x="2257" y="1974"/>
                <a:ext cx="2239" cy="1515"/>
              </a:xfrm>
              <a:prstGeom prst="line">
                <a:avLst/>
              </a:prstGeom>
              <a:noFill/>
              <a:ln w="38100">
                <a:solidFill>
                  <a:srgbClr val="F91402"/>
                </a:solidFill>
                <a:round/>
                <a:headEnd/>
                <a:tailEnd/>
              </a:ln>
            </p:spPr>
            <p:txBody>
              <a:bodyPr wrap="none" anchor="ctr"/>
              <a:lstStyle/>
              <a:p>
                <a:endParaRPr lang="en-US"/>
              </a:p>
            </p:txBody>
          </p:sp>
          <p:sp>
            <p:nvSpPr>
              <p:cNvPr id="294921" name="Line 9"/>
              <p:cNvSpPr>
                <a:spLocks noChangeShapeType="1"/>
              </p:cNvSpPr>
              <p:nvPr/>
            </p:nvSpPr>
            <p:spPr bwMode="auto">
              <a:xfrm>
                <a:off x="3965" y="1698"/>
                <a:ext cx="542" cy="272"/>
              </a:xfrm>
              <a:prstGeom prst="line">
                <a:avLst/>
              </a:prstGeom>
              <a:noFill/>
              <a:ln w="38100">
                <a:solidFill>
                  <a:srgbClr val="F91402"/>
                </a:solidFill>
                <a:round/>
                <a:headEnd type="arrow" w="med" len="med"/>
                <a:tailEnd/>
              </a:ln>
            </p:spPr>
            <p:txBody>
              <a:bodyPr wrap="none" anchor="ctr"/>
              <a:lstStyle/>
              <a:p>
                <a:endParaRPr lang="en-US"/>
              </a:p>
            </p:txBody>
          </p:sp>
        </p:grpSp>
        <p:sp>
          <p:nvSpPr>
            <p:cNvPr id="294923" name="Rectangle 11"/>
            <p:cNvSpPr>
              <a:spLocks noChangeArrowheads="1"/>
            </p:cNvSpPr>
            <p:nvPr/>
          </p:nvSpPr>
          <p:spPr bwMode="auto">
            <a:xfrm rot="-2099439">
              <a:off x="2350" y="2929"/>
              <a:ext cx="1492" cy="250"/>
            </a:xfrm>
            <a:prstGeom prst="rect">
              <a:avLst/>
            </a:prstGeom>
            <a:noFill/>
            <a:ln w="9525">
              <a:noFill/>
              <a:miter lim="800000"/>
              <a:headEnd/>
              <a:tailEnd/>
            </a:ln>
          </p:spPr>
          <p:txBody>
            <a:bodyPr>
              <a:spAutoFit/>
            </a:bodyPr>
            <a:lstStyle/>
            <a:p>
              <a:pPr algn="ctr"/>
              <a:r>
                <a:rPr lang="en-US" sz="2000">
                  <a:solidFill>
                    <a:srgbClr val="F91402"/>
                  </a:solidFill>
                </a:rPr>
                <a:t>Your request</a:t>
              </a:r>
            </a:p>
          </p:txBody>
        </p:sp>
      </p:grpSp>
      <p:sp>
        <p:nvSpPr>
          <p:cNvPr id="294925" name="Rectangle 13"/>
          <p:cNvSpPr>
            <a:spLocks noChangeArrowheads="1"/>
          </p:cNvSpPr>
          <p:nvPr/>
        </p:nvSpPr>
        <p:spPr bwMode="auto">
          <a:xfrm>
            <a:off x="7329487" y="1003300"/>
            <a:ext cx="1464469" cy="641350"/>
          </a:xfrm>
          <a:prstGeom prst="rect">
            <a:avLst/>
          </a:prstGeom>
          <a:noFill/>
          <a:ln w="9525">
            <a:noFill/>
            <a:miter lim="800000"/>
            <a:headEnd/>
            <a:tailEnd/>
          </a:ln>
        </p:spPr>
        <p:txBody>
          <a:bodyPr>
            <a:spAutoFit/>
          </a:bodyPr>
          <a:lstStyle/>
          <a:p>
            <a:pPr algn="ctr"/>
            <a:r>
              <a:rPr lang="en-US" sz="1800"/>
              <a:t>Database storage</a:t>
            </a:r>
          </a:p>
        </p:txBody>
      </p:sp>
      <p:pic>
        <p:nvPicPr>
          <p:cNvPr id="294926" name="Picture 14"/>
          <p:cNvPicPr>
            <a:picLocks noChangeAspect="1" noChangeArrowheads="1"/>
          </p:cNvPicPr>
          <p:nvPr/>
        </p:nvPicPr>
        <p:blipFill>
          <a:blip r:embed="rId5" cstate="print">
            <a:clrChange>
              <a:clrFrom>
                <a:srgbClr val="FFFFFE"/>
              </a:clrFrom>
              <a:clrTo>
                <a:srgbClr val="FFFFFE">
                  <a:alpha val="0"/>
                </a:srgbClr>
              </a:clrTo>
            </a:clrChange>
            <a:lum bright="-6000" contrast="24000"/>
          </a:blip>
          <a:srcRect/>
          <a:stretch>
            <a:fillRect/>
          </a:stretch>
        </p:blipFill>
        <p:spPr bwMode="auto">
          <a:xfrm>
            <a:off x="2895005" y="1773239"/>
            <a:ext cx="3955851" cy="2879725"/>
          </a:xfrm>
          <a:prstGeom prst="rect">
            <a:avLst/>
          </a:prstGeom>
          <a:noFill/>
          <a:ln w="9525">
            <a:noFill/>
            <a:miter lim="800000"/>
            <a:headEnd/>
            <a:tailEnd/>
          </a:ln>
          <a:effectLst/>
        </p:spPr>
      </p:pic>
      <p:grpSp>
        <p:nvGrpSpPr>
          <p:cNvPr id="294930" name="Group 18"/>
          <p:cNvGrpSpPr>
            <a:grpSpLocks/>
          </p:cNvGrpSpPr>
          <p:nvPr/>
        </p:nvGrpSpPr>
        <p:grpSpPr bwMode="auto">
          <a:xfrm>
            <a:off x="2512815" y="3851275"/>
            <a:ext cx="1416248" cy="787400"/>
            <a:chOff x="1407" y="2426"/>
            <a:chExt cx="793" cy="496"/>
          </a:xfrm>
        </p:grpSpPr>
        <p:sp>
          <p:nvSpPr>
            <p:cNvPr id="294928" name="Line 16"/>
            <p:cNvSpPr>
              <a:spLocks noChangeShapeType="1"/>
            </p:cNvSpPr>
            <p:nvPr/>
          </p:nvSpPr>
          <p:spPr bwMode="auto">
            <a:xfrm flipH="1">
              <a:off x="1407" y="2426"/>
              <a:ext cx="793" cy="496"/>
            </a:xfrm>
            <a:prstGeom prst="line">
              <a:avLst/>
            </a:prstGeom>
            <a:noFill/>
            <a:ln w="28575">
              <a:solidFill>
                <a:schemeClr val="accent2"/>
              </a:solidFill>
              <a:round/>
              <a:headEnd/>
              <a:tailEnd type="arrow" w="med" len="med"/>
            </a:ln>
          </p:spPr>
          <p:txBody>
            <a:bodyPr wrap="none" anchor="ctr"/>
            <a:lstStyle/>
            <a:p>
              <a:endParaRPr lang="en-US"/>
            </a:p>
          </p:txBody>
        </p:sp>
        <p:sp>
          <p:nvSpPr>
            <p:cNvPr id="294929" name="Rectangle 17"/>
            <p:cNvSpPr>
              <a:spLocks noChangeArrowheads="1"/>
            </p:cNvSpPr>
            <p:nvPr/>
          </p:nvSpPr>
          <p:spPr bwMode="auto">
            <a:xfrm rot="19644814">
              <a:off x="1489" y="2473"/>
              <a:ext cx="521" cy="252"/>
            </a:xfrm>
            <a:prstGeom prst="rect">
              <a:avLst/>
            </a:prstGeom>
            <a:noFill/>
            <a:ln w="9525">
              <a:noFill/>
              <a:miter lim="800000"/>
              <a:headEnd/>
              <a:tailEnd/>
            </a:ln>
          </p:spPr>
          <p:txBody>
            <a:bodyPr wrap="none">
              <a:spAutoFit/>
            </a:bodyPr>
            <a:lstStyle/>
            <a:p>
              <a:r>
                <a:rPr lang="en-US" sz="2000">
                  <a:solidFill>
                    <a:schemeClr val="accent2"/>
                  </a:solidFill>
                </a:rPr>
                <a:t>Results</a:t>
              </a:r>
            </a:p>
          </p:txBody>
        </p:sp>
      </p:grpSp>
      <p:sp>
        <p:nvSpPr>
          <p:cNvPr id="16" name="Rectangle 1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13314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949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949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949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866" y="1422400"/>
            <a:ext cx="10126510" cy="356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027"/>
          <p:cNvSpPr txBox="1">
            <a:spLocks noChangeArrowheads="1"/>
          </p:cNvSpPr>
          <p:nvPr/>
        </p:nvSpPr>
        <p:spPr bwMode="auto">
          <a:xfrm>
            <a:off x="21266" y="152059"/>
            <a:ext cx="9795834"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Biological  Databases Retrieval System (BDRS) </a:t>
            </a:r>
            <a:endParaRPr lang="en-GB" sz="3200" b="1" dirty="0">
              <a:solidFill>
                <a:schemeClr val="tx2"/>
              </a:solidFill>
              <a:latin typeface="Arial" panose="020B0604020202020204" pitchFamily="34" charset="0"/>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7868069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100" y="1714500"/>
            <a:ext cx="9917220" cy="398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027"/>
          <p:cNvSpPr txBox="1">
            <a:spLocks noChangeArrowheads="1"/>
          </p:cNvSpPr>
          <p:nvPr/>
        </p:nvSpPr>
        <p:spPr bwMode="auto">
          <a:xfrm>
            <a:off x="21266" y="152059"/>
            <a:ext cx="3623634"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Query for BDRS </a:t>
            </a:r>
            <a:endParaRPr lang="en-GB" sz="3200" b="1" dirty="0">
              <a:solidFill>
                <a:schemeClr val="tx2"/>
              </a:solidFill>
              <a:latin typeface="Arial" panose="020B0604020202020204" pitchFamily="34" charset="0"/>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1333397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94" name="Rectangle 30"/>
          <p:cNvSpPr>
            <a:spLocks noChangeArrowheads="1"/>
          </p:cNvSpPr>
          <p:nvPr/>
        </p:nvSpPr>
        <p:spPr bwMode="auto">
          <a:xfrm>
            <a:off x="141090" y="4541839"/>
            <a:ext cx="8329653" cy="1785104"/>
          </a:xfrm>
          <a:prstGeom prst="rect">
            <a:avLst/>
          </a:prstGeom>
          <a:noFill/>
          <a:ln w="9525">
            <a:noFill/>
            <a:miter lim="800000"/>
            <a:headEnd/>
            <a:tailEnd/>
          </a:ln>
        </p:spPr>
        <p:txBody>
          <a:bodyPr wrap="none">
            <a:spAutoFit/>
          </a:bodyPr>
          <a:lstStyle/>
          <a:p>
            <a:r>
              <a:rPr lang="en-CA" sz="1600" b="1" dirty="0">
                <a:solidFill>
                  <a:srgbClr val="FA1113"/>
                </a:solidFill>
                <a:sym typeface="Webdings" pitchFamily="1" charset="2"/>
              </a:rPr>
              <a:t></a:t>
            </a:r>
            <a:r>
              <a:rPr lang="en-US" sz="2200" dirty="0"/>
              <a:t>The most widely used </a:t>
            </a:r>
            <a:r>
              <a:rPr lang="en-US" sz="2200" u="sng" dirty="0">
                <a:solidFill>
                  <a:srgbClr val="F91402"/>
                </a:solidFill>
              </a:rPr>
              <a:t>local similarity algorithms</a:t>
            </a:r>
            <a:r>
              <a:rPr lang="en-US" sz="2200" dirty="0"/>
              <a:t> are:</a:t>
            </a:r>
          </a:p>
          <a:p>
            <a:r>
              <a:rPr lang="en-US" sz="2200" dirty="0"/>
              <a:t>	</a:t>
            </a:r>
            <a:r>
              <a:rPr lang="en-CA" sz="1000" b="1" dirty="0">
                <a:solidFill>
                  <a:schemeClr val="accent2"/>
                </a:solidFill>
                <a:sym typeface="Webdings" pitchFamily="1" charset="2"/>
              </a:rPr>
              <a:t></a:t>
            </a:r>
            <a:r>
              <a:rPr lang="en-US" sz="2000" dirty="0">
                <a:solidFill>
                  <a:srgbClr val="F91402"/>
                </a:solidFill>
              </a:rPr>
              <a:t>Smith-Waterman </a:t>
            </a:r>
            <a:r>
              <a:rPr lang="en-US" sz="2000" dirty="0"/>
              <a:t>(</a:t>
            </a:r>
            <a:r>
              <a:rPr lang="en-US" sz="1800" dirty="0">
                <a:solidFill>
                  <a:schemeClr val="hlink"/>
                </a:solidFill>
                <a:hlinkClick r:id="rId3"/>
              </a:rPr>
              <a:t>http://www.ebi.ac.uk/MPsrch/</a:t>
            </a:r>
            <a:r>
              <a:rPr lang="en-US" sz="2000" dirty="0"/>
              <a:t>)</a:t>
            </a:r>
          </a:p>
          <a:p>
            <a:r>
              <a:rPr lang="en-US" sz="2000" dirty="0"/>
              <a:t>	</a:t>
            </a:r>
            <a:r>
              <a:rPr lang="en-CA" sz="1000" b="1" dirty="0">
                <a:solidFill>
                  <a:schemeClr val="accent2"/>
                </a:solidFill>
                <a:sym typeface="Webdings" pitchFamily="1" charset="2"/>
              </a:rPr>
              <a:t></a:t>
            </a:r>
            <a:r>
              <a:rPr lang="en-US" sz="2000" dirty="0">
                <a:solidFill>
                  <a:srgbClr val="F91402"/>
                </a:solidFill>
              </a:rPr>
              <a:t>Basic Local Alignment Search Tool</a:t>
            </a:r>
            <a:r>
              <a:rPr lang="en-US" sz="2000" dirty="0"/>
              <a:t> (BLAST,</a:t>
            </a:r>
            <a:r>
              <a:rPr lang="en-US" sz="2200" dirty="0"/>
              <a:t> </a:t>
            </a:r>
            <a:r>
              <a:rPr lang="en-US" sz="1600" dirty="0">
                <a:solidFill>
                  <a:schemeClr val="hlink"/>
                </a:solidFill>
                <a:hlinkClick r:id="rId4"/>
              </a:rPr>
              <a:t>http://www.ncbi.nih.gov</a:t>
            </a:r>
            <a:r>
              <a:rPr lang="en-US" sz="2200" dirty="0"/>
              <a:t>)</a:t>
            </a:r>
          </a:p>
          <a:p>
            <a:r>
              <a:rPr lang="en-US" sz="2200" dirty="0"/>
              <a:t>	</a:t>
            </a:r>
            <a:r>
              <a:rPr lang="en-CA" sz="1000" b="1" dirty="0">
                <a:solidFill>
                  <a:schemeClr val="accent2"/>
                </a:solidFill>
                <a:sym typeface="Webdings" pitchFamily="1" charset="2"/>
              </a:rPr>
              <a:t></a:t>
            </a:r>
            <a:r>
              <a:rPr lang="en-US" sz="2000" dirty="0">
                <a:solidFill>
                  <a:srgbClr val="F91402"/>
                </a:solidFill>
              </a:rPr>
              <a:t>Fast Alignment (</a:t>
            </a:r>
            <a:r>
              <a:rPr lang="en-US" sz="2000" dirty="0"/>
              <a:t>FASTA,</a:t>
            </a:r>
            <a:r>
              <a:rPr lang="en-US" sz="2200" dirty="0"/>
              <a:t> </a:t>
            </a:r>
            <a:r>
              <a:rPr lang="en-US" sz="1600" dirty="0">
                <a:solidFill>
                  <a:schemeClr val="hlink"/>
                </a:solidFill>
                <a:hlinkClick r:id="rId5"/>
              </a:rPr>
              <a:t>http://fasta.genome.jp</a:t>
            </a:r>
            <a:r>
              <a:rPr lang="en-US" sz="1600" dirty="0">
                <a:solidFill>
                  <a:schemeClr val="hlink"/>
                </a:solidFill>
              </a:rPr>
              <a:t>; </a:t>
            </a:r>
            <a:r>
              <a:rPr lang="en-US" sz="1600" dirty="0">
                <a:solidFill>
                  <a:schemeClr val="hlink"/>
                </a:solidFill>
                <a:hlinkClick r:id="rId6"/>
              </a:rPr>
              <a:t>http://www.ebi.ac.uk/fasta33/</a:t>
            </a:r>
            <a:r>
              <a:rPr lang="en-US" sz="1600" dirty="0">
                <a:solidFill>
                  <a:schemeClr val="hlink"/>
                </a:solidFill>
              </a:rPr>
              <a:t>; </a:t>
            </a:r>
          </a:p>
          <a:p>
            <a:r>
              <a:rPr lang="en-US" sz="1600" dirty="0">
                <a:solidFill>
                  <a:schemeClr val="hlink"/>
                </a:solidFill>
              </a:rPr>
              <a:t>		    </a:t>
            </a:r>
            <a:r>
              <a:rPr lang="en-US" sz="1600" dirty="0">
                <a:solidFill>
                  <a:schemeClr val="hlink"/>
                </a:solidFill>
                <a:hlinkClick r:id="rId7"/>
              </a:rPr>
              <a:t>http://www.arabidopsis.org/cgi-bin/fasta/nph-TAIRfasta.pl</a:t>
            </a:r>
            <a:r>
              <a:rPr lang="en-US" sz="2200" dirty="0"/>
              <a:t>)</a:t>
            </a:r>
          </a:p>
        </p:txBody>
      </p:sp>
      <p:pic>
        <p:nvPicPr>
          <p:cNvPr id="12290" name="Picture 2"/>
          <p:cNvPicPr>
            <a:picLocks noChangeAspect="1" noChangeArrowheads="1"/>
          </p:cNvPicPr>
          <p:nvPr/>
        </p:nvPicPr>
        <p:blipFill rotWithShape="1">
          <a:blip r:embed="rId8">
            <a:extLst>
              <a:ext uri="{28A0092B-C50C-407E-A947-70E740481C1C}">
                <a14:useLocalDpi xmlns:a14="http://schemas.microsoft.com/office/drawing/2010/main" val="0"/>
              </a:ext>
            </a:extLst>
          </a:blip>
          <a:srcRect l="42187" t="32408" r="19271" b="37222"/>
          <a:stretch/>
        </p:blipFill>
        <p:spPr bwMode="auto">
          <a:xfrm>
            <a:off x="1841499" y="1676400"/>
            <a:ext cx="6074317" cy="269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85695" y="899298"/>
            <a:ext cx="5979266" cy="430887"/>
          </a:xfrm>
          <a:prstGeom prst="rect">
            <a:avLst/>
          </a:prstGeom>
        </p:spPr>
        <p:txBody>
          <a:bodyPr wrap="none">
            <a:spAutoFit/>
          </a:bodyPr>
          <a:lstStyle/>
          <a:p>
            <a:r>
              <a:rPr lang="en-CA" sz="2200" b="1" dirty="0">
                <a:solidFill>
                  <a:srgbClr val="FA1113"/>
                </a:solidFill>
                <a:sym typeface="Webdings" pitchFamily="1" charset="2"/>
              </a:rPr>
              <a:t></a:t>
            </a:r>
            <a:r>
              <a:rPr lang="en-US" sz="2200" dirty="0"/>
              <a:t>Two broad classes of sequence alignments exist:</a:t>
            </a:r>
          </a:p>
        </p:txBody>
      </p:sp>
      <p:sp>
        <p:nvSpPr>
          <p:cNvPr id="29" name="Text Box 1027"/>
          <p:cNvSpPr txBox="1">
            <a:spLocks noChangeArrowheads="1"/>
          </p:cNvSpPr>
          <p:nvPr/>
        </p:nvSpPr>
        <p:spPr bwMode="auto">
          <a:xfrm>
            <a:off x="21266" y="152059"/>
            <a:ext cx="9795834"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Database Search Methods: Sequence </a:t>
            </a:r>
            <a:r>
              <a:rPr lang="en-GB" sz="3200" b="1" dirty="0" err="1" smtClean="0">
                <a:solidFill>
                  <a:schemeClr val="tx2"/>
                </a:solidFill>
                <a:latin typeface="Arial" panose="020B0604020202020204" pitchFamily="34" charset="0"/>
              </a:rPr>
              <a:t>Allignment</a:t>
            </a:r>
            <a:endParaRPr lang="en-GB" sz="3200" b="1" dirty="0">
              <a:solidFill>
                <a:schemeClr val="tx2"/>
              </a:solidFill>
              <a:latin typeface="Arial" panose="020B0604020202020204" pitchFamily="34" charset="0"/>
            </a:endParaRPr>
          </a:p>
        </p:txBody>
      </p:sp>
      <p:sp>
        <p:nvSpPr>
          <p:cNvPr id="30" name="Rectangle 29"/>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1352976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4" name="Line 4"/>
          <p:cNvSpPr>
            <a:spLocks noChangeShapeType="1"/>
          </p:cNvSpPr>
          <p:nvPr/>
        </p:nvSpPr>
        <p:spPr bwMode="auto">
          <a:xfrm>
            <a:off x="0" y="595313"/>
            <a:ext cx="10287000" cy="0"/>
          </a:xfrm>
          <a:prstGeom prst="line">
            <a:avLst/>
          </a:prstGeom>
          <a:noFill/>
          <a:ln w="57150" cmpd="thickThin">
            <a:solidFill>
              <a:schemeClr val="tx1"/>
            </a:solidFill>
            <a:round/>
            <a:headEnd/>
            <a:tailEnd/>
          </a:ln>
        </p:spPr>
        <p:txBody>
          <a:bodyPr wrap="none" anchor="ctr"/>
          <a:lstStyle/>
          <a:p>
            <a:endParaRPr lang="en-US"/>
          </a:p>
        </p:txBody>
      </p:sp>
      <p:sp>
        <p:nvSpPr>
          <p:cNvPr id="184326" name="Rectangle 6"/>
          <p:cNvSpPr>
            <a:spLocks noChangeArrowheads="1"/>
          </p:cNvSpPr>
          <p:nvPr/>
        </p:nvSpPr>
        <p:spPr bwMode="auto">
          <a:xfrm>
            <a:off x="0" y="28575"/>
            <a:ext cx="10287000" cy="488950"/>
          </a:xfrm>
          <a:prstGeom prst="rect">
            <a:avLst/>
          </a:prstGeom>
          <a:noFill/>
          <a:ln w="9525">
            <a:noFill/>
            <a:miter lim="800000"/>
            <a:headEnd/>
            <a:tailEnd/>
          </a:ln>
        </p:spPr>
        <p:txBody>
          <a:bodyPr wrap="square">
            <a:spAutoFit/>
          </a:bodyPr>
          <a:lstStyle/>
          <a:p>
            <a:pPr algn="ctr"/>
            <a:r>
              <a:rPr lang="en-US" sz="2600" dirty="0">
                <a:solidFill>
                  <a:schemeClr val="accent2"/>
                </a:solidFill>
              </a:rPr>
              <a:t>Which algorithm to use for database similarity search? </a:t>
            </a:r>
          </a:p>
        </p:txBody>
      </p:sp>
      <p:sp>
        <p:nvSpPr>
          <p:cNvPr id="184327" name="Rectangle 7"/>
          <p:cNvSpPr>
            <a:spLocks noChangeArrowheads="1"/>
          </p:cNvSpPr>
          <p:nvPr/>
        </p:nvSpPr>
        <p:spPr bwMode="auto">
          <a:xfrm>
            <a:off x="214312" y="1004889"/>
            <a:ext cx="9865519" cy="1036637"/>
          </a:xfrm>
          <a:prstGeom prst="rect">
            <a:avLst/>
          </a:prstGeom>
          <a:noFill/>
          <a:ln w="9525">
            <a:noFill/>
            <a:miter lim="800000"/>
            <a:headEnd/>
            <a:tailEnd/>
          </a:ln>
        </p:spPr>
        <p:txBody>
          <a:bodyPr>
            <a:spAutoFit/>
          </a:bodyPr>
          <a:lstStyle/>
          <a:p>
            <a:r>
              <a:rPr lang="en-CA" sz="1600" b="1">
                <a:solidFill>
                  <a:srgbClr val="FA1113"/>
                </a:solidFill>
                <a:sym typeface="Webdings" pitchFamily="1" charset="2"/>
              </a:rPr>
              <a:t></a:t>
            </a:r>
            <a:r>
              <a:rPr lang="en-US" sz="2200" u="sng">
                <a:solidFill>
                  <a:schemeClr val="accent2"/>
                </a:solidFill>
              </a:rPr>
              <a:t>Speed</a:t>
            </a:r>
            <a:r>
              <a:rPr lang="en-US" sz="2000"/>
              <a:t>: </a:t>
            </a:r>
          </a:p>
          <a:p>
            <a:r>
              <a:rPr lang="en-US" sz="2000"/>
              <a:t>	</a:t>
            </a:r>
            <a:r>
              <a:rPr lang="en-CA" sz="1200" b="1">
                <a:sym typeface="Webdings" pitchFamily="1" charset="2"/>
              </a:rPr>
              <a:t></a:t>
            </a:r>
            <a:r>
              <a:rPr lang="en-US" sz="2000"/>
              <a:t>BLAST </a:t>
            </a:r>
            <a:r>
              <a:rPr lang="en-US" sz="2000">
                <a:solidFill>
                  <a:srgbClr val="F91402"/>
                </a:solidFill>
              </a:rPr>
              <a:t>&gt;</a:t>
            </a:r>
            <a:r>
              <a:rPr lang="en-US" sz="2000"/>
              <a:t> FASTA </a:t>
            </a:r>
            <a:r>
              <a:rPr lang="en-US" sz="2000">
                <a:solidFill>
                  <a:srgbClr val="F91402"/>
                </a:solidFill>
              </a:rPr>
              <a:t>&gt;</a:t>
            </a:r>
            <a:r>
              <a:rPr lang="en-US" sz="2000"/>
              <a:t> Smith-Waterman (</a:t>
            </a:r>
            <a:r>
              <a:rPr lang="en-US" sz="1800">
                <a:solidFill>
                  <a:srgbClr val="F91402"/>
                </a:solidFill>
              </a:rPr>
              <a:t>It is VERY SLOW and uses a</a:t>
            </a:r>
          </a:p>
          <a:p>
            <a:r>
              <a:rPr lang="en-US" sz="1800">
                <a:solidFill>
                  <a:srgbClr val="F91402"/>
                </a:solidFill>
              </a:rPr>
              <a:t>	  LOT OF COMPUTER POWER</a:t>
            </a:r>
            <a:r>
              <a:rPr lang="en-US" sz="2000"/>
              <a:t>)</a:t>
            </a:r>
            <a:r>
              <a:rPr lang="en-US"/>
              <a:t> </a:t>
            </a:r>
            <a:r>
              <a:rPr lang="en-US" sz="1800"/>
              <a:t> </a:t>
            </a:r>
          </a:p>
        </p:txBody>
      </p:sp>
      <p:sp>
        <p:nvSpPr>
          <p:cNvPr id="184329" name="Rectangle 9"/>
          <p:cNvSpPr>
            <a:spLocks noChangeArrowheads="1"/>
          </p:cNvSpPr>
          <p:nvPr/>
        </p:nvSpPr>
        <p:spPr bwMode="auto">
          <a:xfrm>
            <a:off x="210741" y="2349500"/>
            <a:ext cx="8649296" cy="1646238"/>
          </a:xfrm>
          <a:prstGeom prst="rect">
            <a:avLst/>
          </a:prstGeom>
          <a:noFill/>
          <a:ln w="9525">
            <a:noFill/>
            <a:miter lim="800000"/>
            <a:headEnd/>
            <a:tailEnd/>
          </a:ln>
        </p:spPr>
        <p:txBody>
          <a:bodyPr>
            <a:spAutoFit/>
          </a:bodyPr>
          <a:lstStyle/>
          <a:p>
            <a:r>
              <a:rPr lang="en-CA" sz="1600" b="1" dirty="0">
                <a:solidFill>
                  <a:srgbClr val="FA1113"/>
                </a:solidFill>
                <a:sym typeface="Webdings" pitchFamily="1" charset="2"/>
              </a:rPr>
              <a:t></a:t>
            </a:r>
            <a:r>
              <a:rPr lang="en-US" sz="2200" u="sng" dirty="0">
                <a:solidFill>
                  <a:schemeClr val="accent2"/>
                </a:solidFill>
              </a:rPr>
              <a:t>Sensitivity/statistics</a:t>
            </a:r>
            <a:r>
              <a:rPr lang="en-US" sz="1800" dirty="0"/>
              <a:t>: </a:t>
            </a:r>
          </a:p>
          <a:p>
            <a:r>
              <a:rPr lang="en-US" sz="1800" dirty="0"/>
              <a:t>	</a:t>
            </a:r>
            <a:r>
              <a:rPr lang="en-CA" sz="1200" b="1" dirty="0">
                <a:sym typeface="Webdings" pitchFamily="1" charset="2"/>
              </a:rPr>
              <a:t></a:t>
            </a:r>
            <a:r>
              <a:rPr lang="en-US" sz="2000" dirty="0">
                <a:solidFill>
                  <a:srgbClr val="F91402"/>
                </a:solidFill>
              </a:rPr>
              <a:t>FASTA</a:t>
            </a:r>
            <a:r>
              <a:rPr lang="en-US" sz="2000" dirty="0"/>
              <a:t> is more sensitive, misses less homologues</a:t>
            </a:r>
          </a:p>
          <a:p>
            <a:r>
              <a:rPr lang="en-US" sz="2000" dirty="0"/>
              <a:t>	</a:t>
            </a:r>
            <a:r>
              <a:rPr lang="en-CA" sz="1200" b="1" dirty="0">
                <a:sym typeface="Webdings" pitchFamily="1" charset="2"/>
              </a:rPr>
              <a:t></a:t>
            </a:r>
            <a:r>
              <a:rPr lang="en-US" sz="2000" dirty="0">
                <a:solidFill>
                  <a:srgbClr val="F91402"/>
                </a:solidFill>
              </a:rPr>
              <a:t>Smith-Waterman</a:t>
            </a:r>
            <a:r>
              <a:rPr lang="en-US" sz="2000" dirty="0"/>
              <a:t> is even more sensitive. </a:t>
            </a:r>
          </a:p>
          <a:p>
            <a:r>
              <a:rPr lang="en-CA" sz="1200" b="1" dirty="0">
                <a:sym typeface="Webdings" pitchFamily="1" charset="2"/>
              </a:rPr>
              <a:t>	</a:t>
            </a:r>
            <a:r>
              <a:rPr lang="en-US" sz="2000" dirty="0">
                <a:solidFill>
                  <a:srgbClr val="F91402"/>
                </a:solidFill>
              </a:rPr>
              <a:t>BLAST</a:t>
            </a:r>
            <a:r>
              <a:rPr lang="en-US" sz="2000" dirty="0"/>
              <a:t> calculates probabilities</a:t>
            </a:r>
            <a:endParaRPr lang="en-US" sz="1800" dirty="0"/>
          </a:p>
          <a:p>
            <a:r>
              <a:rPr lang="en-US" sz="1800" dirty="0"/>
              <a:t>    	</a:t>
            </a:r>
            <a:r>
              <a:rPr lang="en-CA" sz="1200" b="1" dirty="0">
                <a:sym typeface="Webdings" pitchFamily="1" charset="2"/>
              </a:rPr>
              <a:t></a:t>
            </a:r>
            <a:r>
              <a:rPr lang="en-US" sz="2000" dirty="0">
                <a:solidFill>
                  <a:srgbClr val="F91402"/>
                </a:solidFill>
              </a:rPr>
              <a:t>FASTA</a:t>
            </a:r>
            <a:r>
              <a:rPr lang="en-US" sz="2000" dirty="0"/>
              <a:t> more accurate for DNA-DNA search then BLAST</a:t>
            </a:r>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6672060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ChangeArrowheads="1"/>
          </p:cNvSpPr>
          <p:nvPr/>
        </p:nvSpPr>
        <p:spPr bwMode="auto">
          <a:xfrm>
            <a:off x="0" y="55563"/>
            <a:ext cx="10287000" cy="492443"/>
          </a:xfrm>
          <a:prstGeom prst="rect">
            <a:avLst/>
          </a:prstGeom>
          <a:noFill/>
          <a:ln w="9525">
            <a:noFill/>
            <a:miter lim="800000"/>
            <a:headEnd/>
            <a:tailEnd/>
          </a:ln>
        </p:spPr>
        <p:txBody>
          <a:bodyPr wrap="square">
            <a:spAutoFit/>
          </a:bodyPr>
          <a:lstStyle/>
          <a:p>
            <a:pPr algn="ctr"/>
            <a:r>
              <a:rPr lang="en-US" sz="2600" dirty="0">
                <a:solidFill>
                  <a:schemeClr val="accent2"/>
                </a:solidFill>
              </a:rPr>
              <a:t> </a:t>
            </a:r>
            <a:r>
              <a:rPr lang="en-US" sz="2600" i="1" dirty="0">
                <a:solidFill>
                  <a:schemeClr val="accent2"/>
                </a:solidFill>
                <a:sym typeface="Symbol" pitchFamily="1" charset="2"/>
              </a:rPr>
              <a:t></a:t>
            </a:r>
            <a:r>
              <a:rPr lang="en-US" sz="2600" dirty="0">
                <a:solidFill>
                  <a:schemeClr val="accent2"/>
                </a:solidFill>
              </a:rPr>
              <a:t>-tuple methods provide optimal alignments</a:t>
            </a:r>
          </a:p>
        </p:txBody>
      </p:sp>
      <p:sp>
        <p:nvSpPr>
          <p:cNvPr id="185347" name="Line 3"/>
          <p:cNvSpPr>
            <a:spLocks noChangeShapeType="1"/>
          </p:cNvSpPr>
          <p:nvPr/>
        </p:nvSpPr>
        <p:spPr bwMode="auto">
          <a:xfrm>
            <a:off x="0" y="560388"/>
            <a:ext cx="10287000" cy="0"/>
          </a:xfrm>
          <a:prstGeom prst="line">
            <a:avLst/>
          </a:prstGeom>
          <a:noFill/>
          <a:ln w="57150" cmpd="thickThin">
            <a:solidFill>
              <a:schemeClr val="tx1"/>
            </a:solidFill>
            <a:round/>
            <a:headEnd/>
            <a:tailEnd/>
          </a:ln>
        </p:spPr>
        <p:txBody>
          <a:bodyPr wrap="none" anchor="ctr"/>
          <a:lstStyle/>
          <a:p>
            <a:endParaRPr lang="en-US"/>
          </a:p>
        </p:txBody>
      </p:sp>
      <p:sp>
        <p:nvSpPr>
          <p:cNvPr id="185351" name="Rectangle 7"/>
          <p:cNvSpPr>
            <a:spLocks noChangeArrowheads="1"/>
          </p:cNvSpPr>
          <p:nvPr/>
        </p:nvSpPr>
        <p:spPr bwMode="auto">
          <a:xfrm>
            <a:off x="192881" y="660400"/>
            <a:ext cx="10094119" cy="427038"/>
          </a:xfrm>
          <a:prstGeom prst="rect">
            <a:avLst/>
          </a:prstGeom>
          <a:noFill/>
          <a:ln w="9525">
            <a:noFill/>
            <a:miter lim="800000"/>
            <a:headEnd/>
            <a:tailEnd/>
          </a:ln>
        </p:spPr>
        <p:txBody>
          <a:bodyPr>
            <a:spAutoFit/>
          </a:bodyPr>
          <a:lstStyle/>
          <a:p>
            <a:r>
              <a:rPr lang="en-US" sz="2000"/>
              <a:t> </a:t>
            </a:r>
            <a:r>
              <a:rPr lang="en-CA" sz="1600" b="1">
                <a:solidFill>
                  <a:srgbClr val="FA1113"/>
                </a:solidFill>
                <a:sym typeface="Webdings" pitchFamily="1" charset="2"/>
              </a:rPr>
              <a:t></a:t>
            </a:r>
            <a:r>
              <a:rPr lang="en-US" sz="2200"/>
              <a:t>These methods are faster and excellent in comparing sequences. </a:t>
            </a:r>
          </a:p>
        </p:txBody>
      </p:sp>
      <p:sp>
        <p:nvSpPr>
          <p:cNvPr id="185352" name="Rectangle 8"/>
          <p:cNvSpPr>
            <a:spLocks noChangeArrowheads="1"/>
          </p:cNvSpPr>
          <p:nvPr/>
        </p:nvSpPr>
        <p:spPr bwMode="auto">
          <a:xfrm>
            <a:off x="278607" y="1289050"/>
            <a:ext cx="9563696" cy="427038"/>
          </a:xfrm>
          <a:prstGeom prst="rect">
            <a:avLst/>
          </a:prstGeom>
          <a:noFill/>
          <a:ln w="9525">
            <a:noFill/>
            <a:miter lim="800000"/>
            <a:headEnd/>
            <a:tailEnd/>
          </a:ln>
        </p:spPr>
        <p:txBody>
          <a:bodyPr>
            <a:spAutoFit/>
          </a:bodyPr>
          <a:lstStyle/>
          <a:p>
            <a:r>
              <a:rPr lang="en-CA" sz="1600" b="1">
                <a:solidFill>
                  <a:srgbClr val="FA1113"/>
                </a:solidFill>
                <a:sym typeface="Webdings" pitchFamily="1" charset="2"/>
              </a:rPr>
              <a:t></a:t>
            </a:r>
            <a:r>
              <a:rPr lang="en-US" sz="2200"/>
              <a:t>BLAST and FASTA programs are based on </a:t>
            </a:r>
            <a:r>
              <a:rPr lang="en-US" sz="2200" i="1">
                <a:sym typeface="Symbol" pitchFamily="1" charset="2"/>
              </a:rPr>
              <a:t></a:t>
            </a:r>
            <a:r>
              <a:rPr lang="en-US" sz="2200"/>
              <a:t>-tuple algorithms:</a:t>
            </a:r>
          </a:p>
        </p:txBody>
      </p:sp>
      <p:pic>
        <p:nvPicPr>
          <p:cNvPr id="185354" name="Picture 10"/>
          <p:cNvPicPr>
            <a:picLocks noChangeAspect="1" noChangeArrowheads="1"/>
          </p:cNvPicPr>
          <p:nvPr/>
        </p:nvPicPr>
        <p:blipFill>
          <a:blip r:embed="rId3" cstate="print"/>
          <a:srcRect/>
          <a:stretch>
            <a:fillRect/>
          </a:stretch>
        </p:blipFill>
        <p:spPr bwMode="auto">
          <a:xfrm>
            <a:off x="5845374" y="1862138"/>
            <a:ext cx="4366617" cy="4268787"/>
          </a:xfrm>
          <a:prstGeom prst="rect">
            <a:avLst/>
          </a:prstGeom>
          <a:noFill/>
        </p:spPr>
      </p:pic>
      <p:sp>
        <p:nvSpPr>
          <p:cNvPr id="185355" name="Rectangle 11"/>
          <p:cNvSpPr>
            <a:spLocks noChangeArrowheads="1"/>
          </p:cNvSpPr>
          <p:nvPr/>
        </p:nvSpPr>
        <p:spPr bwMode="auto">
          <a:xfrm>
            <a:off x="485776" y="1806575"/>
            <a:ext cx="5327452" cy="4044950"/>
          </a:xfrm>
          <a:prstGeom prst="rect">
            <a:avLst/>
          </a:prstGeom>
          <a:noFill/>
          <a:ln w="9525">
            <a:noFill/>
            <a:miter lim="800000"/>
            <a:headEnd/>
            <a:tailEnd/>
          </a:ln>
          <a:effectLst/>
        </p:spPr>
        <p:txBody>
          <a:bodyPr/>
          <a:lstStyle/>
          <a:p>
            <a:pPr marL="342900" indent="-342900" eaLnBrk="1" hangingPunct="1">
              <a:lnSpc>
                <a:spcPct val="90000"/>
              </a:lnSpc>
              <a:spcBef>
                <a:spcPct val="20000"/>
              </a:spcBef>
            </a:pPr>
            <a:r>
              <a:rPr lang="en-US" sz="2000">
                <a:solidFill>
                  <a:srgbClr val="F91402"/>
                </a:solidFill>
              </a:rPr>
              <a:t>1</a:t>
            </a:r>
            <a:r>
              <a:rPr lang="en-US" sz="2000"/>
              <a:t>-Using query sequence, derive a list of</a:t>
            </a:r>
          </a:p>
          <a:p>
            <a:pPr marL="342900" indent="-342900" eaLnBrk="1" hangingPunct="1">
              <a:lnSpc>
                <a:spcPct val="90000"/>
              </a:lnSpc>
              <a:spcBef>
                <a:spcPct val="20000"/>
              </a:spcBef>
            </a:pPr>
            <a:r>
              <a:rPr lang="en-US" sz="2000"/>
              <a:t>   words of length </a:t>
            </a:r>
            <a:r>
              <a:rPr lang="en-US" sz="2000" i="1"/>
              <a:t>w </a:t>
            </a:r>
            <a:r>
              <a:rPr lang="en-US" sz="2000"/>
              <a:t>(e.g.,</a:t>
            </a:r>
            <a:r>
              <a:rPr lang="en-US" sz="2000" i="1"/>
              <a:t> </a:t>
            </a:r>
            <a:r>
              <a:rPr lang="en-US" sz="2000"/>
              <a:t>3)</a:t>
            </a:r>
          </a:p>
          <a:p>
            <a:pPr marL="342900" indent="-342900" eaLnBrk="1" hangingPunct="1">
              <a:lnSpc>
                <a:spcPct val="90000"/>
              </a:lnSpc>
              <a:spcBef>
                <a:spcPct val="20000"/>
              </a:spcBef>
            </a:pPr>
            <a:endParaRPr lang="en-US" sz="2000"/>
          </a:p>
          <a:p>
            <a:pPr marL="342900" indent="-342900" eaLnBrk="1" hangingPunct="1">
              <a:lnSpc>
                <a:spcPct val="90000"/>
              </a:lnSpc>
              <a:spcBef>
                <a:spcPct val="20000"/>
              </a:spcBef>
            </a:pPr>
            <a:r>
              <a:rPr lang="en-US" sz="2000">
                <a:solidFill>
                  <a:srgbClr val="F91402"/>
                </a:solidFill>
              </a:rPr>
              <a:t>2</a:t>
            </a:r>
            <a:r>
              <a:rPr lang="en-US" sz="2000"/>
              <a:t>-Keep high-scoring words using a </a:t>
            </a:r>
          </a:p>
          <a:p>
            <a:pPr marL="342900" indent="-342900" eaLnBrk="1" hangingPunct="1">
              <a:lnSpc>
                <a:spcPct val="90000"/>
              </a:lnSpc>
              <a:spcBef>
                <a:spcPct val="20000"/>
              </a:spcBef>
            </a:pPr>
            <a:r>
              <a:rPr lang="en-US" sz="2000"/>
              <a:t>   scoring matrix(e.g. BLOSUM 62)</a:t>
            </a:r>
          </a:p>
          <a:p>
            <a:pPr marL="342900" indent="-342900" eaLnBrk="1" hangingPunct="1">
              <a:lnSpc>
                <a:spcPct val="90000"/>
              </a:lnSpc>
              <a:spcBef>
                <a:spcPct val="20000"/>
              </a:spcBef>
            </a:pPr>
            <a:endParaRPr lang="en-US" sz="2000"/>
          </a:p>
          <a:p>
            <a:pPr marL="342900" indent="-342900" eaLnBrk="1" hangingPunct="1">
              <a:lnSpc>
                <a:spcPct val="90000"/>
              </a:lnSpc>
              <a:spcBef>
                <a:spcPct val="20000"/>
              </a:spcBef>
            </a:pPr>
            <a:r>
              <a:rPr lang="en-US" sz="2000">
                <a:solidFill>
                  <a:srgbClr val="F91402"/>
                </a:solidFill>
              </a:rPr>
              <a:t>3</a:t>
            </a:r>
            <a:r>
              <a:rPr lang="en-US" sz="2000"/>
              <a:t>-High-scoring words are compared</a:t>
            </a:r>
          </a:p>
          <a:p>
            <a:pPr marL="342900" indent="-342900" eaLnBrk="1" hangingPunct="1">
              <a:lnSpc>
                <a:spcPct val="90000"/>
              </a:lnSpc>
              <a:spcBef>
                <a:spcPct val="20000"/>
              </a:spcBef>
            </a:pPr>
            <a:r>
              <a:rPr lang="en-US" sz="2000"/>
              <a:t>   with database sequences</a:t>
            </a:r>
          </a:p>
          <a:p>
            <a:pPr marL="342900" indent="-342900" eaLnBrk="1" hangingPunct="1">
              <a:lnSpc>
                <a:spcPct val="90000"/>
              </a:lnSpc>
              <a:spcBef>
                <a:spcPct val="20000"/>
              </a:spcBef>
            </a:pPr>
            <a:endParaRPr lang="en-US" sz="2000"/>
          </a:p>
          <a:p>
            <a:pPr marL="342900" indent="-342900" eaLnBrk="1" hangingPunct="1">
              <a:lnSpc>
                <a:spcPct val="90000"/>
              </a:lnSpc>
              <a:spcBef>
                <a:spcPct val="20000"/>
              </a:spcBef>
            </a:pPr>
            <a:r>
              <a:rPr lang="en-US" sz="2000">
                <a:solidFill>
                  <a:srgbClr val="F91402"/>
                </a:solidFill>
              </a:rPr>
              <a:t>4</a:t>
            </a:r>
            <a:r>
              <a:rPr lang="en-US" sz="2000"/>
              <a:t>-Sequences with many matches to</a:t>
            </a:r>
          </a:p>
          <a:p>
            <a:pPr marL="342900" indent="-342900" eaLnBrk="1" hangingPunct="1">
              <a:lnSpc>
                <a:spcPct val="90000"/>
              </a:lnSpc>
              <a:spcBef>
                <a:spcPct val="20000"/>
              </a:spcBef>
            </a:pPr>
            <a:r>
              <a:rPr lang="en-US" sz="2000"/>
              <a:t>   high-scoring words are used for final</a:t>
            </a:r>
          </a:p>
          <a:p>
            <a:pPr marL="342900" indent="-342900" eaLnBrk="1" hangingPunct="1">
              <a:lnSpc>
                <a:spcPct val="90000"/>
              </a:lnSpc>
              <a:spcBef>
                <a:spcPct val="20000"/>
              </a:spcBef>
            </a:pPr>
            <a:r>
              <a:rPr lang="en-US" sz="2000"/>
              <a:t>   alignments</a:t>
            </a:r>
            <a:r>
              <a:rPr lang="en-US" sz="2200"/>
              <a:t> </a:t>
            </a:r>
          </a:p>
        </p:txBody>
      </p:sp>
      <p:sp>
        <p:nvSpPr>
          <p:cNvPr id="8" name="Rectangle 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37842752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ChangeArrowheads="1"/>
          </p:cNvSpPr>
          <p:nvPr/>
        </p:nvSpPr>
        <p:spPr bwMode="auto">
          <a:xfrm>
            <a:off x="335757" y="757238"/>
            <a:ext cx="3307509" cy="369332"/>
          </a:xfrm>
          <a:prstGeom prst="rect">
            <a:avLst/>
          </a:prstGeom>
          <a:noFill/>
          <a:ln w="9525">
            <a:noFill/>
            <a:miter lim="800000"/>
            <a:headEnd/>
            <a:tailEnd/>
          </a:ln>
        </p:spPr>
        <p:txBody>
          <a:bodyPr wrap="none">
            <a:spAutoFit/>
          </a:bodyPr>
          <a:lstStyle/>
          <a:p>
            <a:r>
              <a:rPr lang="en-CA" sz="1600" b="1">
                <a:solidFill>
                  <a:srgbClr val="FA1113"/>
                </a:solidFill>
                <a:sym typeface="Webdings" pitchFamily="1" charset="2"/>
              </a:rPr>
              <a:t></a:t>
            </a:r>
            <a:r>
              <a:rPr lang="en-US">
                <a:solidFill>
                  <a:srgbClr val="F91402"/>
                </a:solidFill>
              </a:rPr>
              <a:t>The dilemma</a:t>
            </a:r>
            <a:r>
              <a:rPr lang="en-US"/>
              <a:t>:  DNA or protein?</a:t>
            </a:r>
            <a:endParaRPr lang="en-US">
              <a:solidFill>
                <a:schemeClr val="accent2"/>
              </a:solidFill>
            </a:endParaRPr>
          </a:p>
        </p:txBody>
      </p:sp>
      <p:sp>
        <p:nvSpPr>
          <p:cNvPr id="128003" name="Line 3"/>
          <p:cNvSpPr>
            <a:spLocks noChangeShapeType="1"/>
          </p:cNvSpPr>
          <p:nvPr/>
        </p:nvSpPr>
        <p:spPr bwMode="auto">
          <a:xfrm>
            <a:off x="0" y="587375"/>
            <a:ext cx="10287000" cy="0"/>
          </a:xfrm>
          <a:prstGeom prst="line">
            <a:avLst/>
          </a:prstGeom>
          <a:noFill/>
          <a:ln w="57150" cmpd="thickThin">
            <a:solidFill>
              <a:schemeClr val="tx1"/>
            </a:solidFill>
            <a:round/>
            <a:headEnd/>
            <a:tailEnd/>
          </a:ln>
        </p:spPr>
        <p:txBody>
          <a:bodyPr wrap="none" anchor="ctr"/>
          <a:lstStyle/>
          <a:p>
            <a:endParaRPr lang="en-US"/>
          </a:p>
        </p:txBody>
      </p:sp>
      <p:sp>
        <p:nvSpPr>
          <p:cNvPr id="128004" name="Rectangle 4"/>
          <p:cNvSpPr>
            <a:spLocks noChangeArrowheads="1"/>
          </p:cNvSpPr>
          <p:nvPr/>
        </p:nvSpPr>
        <p:spPr bwMode="auto">
          <a:xfrm>
            <a:off x="653653" y="3321051"/>
            <a:ext cx="9408319" cy="2530475"/>
          </a:xfrm>
          <a:prstGeom prst="rect">
            <a:avLst/>
          </a:prstGeom>
          <a:noFill/>
          <a:ln w="9525">
            <a:noFill/>
            <a:miter lim="800000"/>
            <a:headEnd/>
            <a:tailEnd/>
          </a:ln>
        </p:spPr>
        <p:txBody>
          <a:bodyPr>
            <a:spAutoFit/>
          </a:bodyPr>
          <a:lstStyle/>
          <a:p>
            <a:r>
              <a:rPr lang="en-CA" sz="1000" b="1">
                <a:sym typeface="Webdings" pitchFamily="1" charset="2"/>
              </a:rPr>
              <a:t> </a:t>
            </a:r>
            <a:r>
              <a:rPr lang="en-US" sz="2000"/>
              <a:t>Is the comparison of two nucleotide sequences accurate?</a:t>
            </a:r>
            <a:r>
              <a:rPr lang="en-US" sz="2000" i="1">
                <a:solidFill>
                  <a:schemeClr val="accent2"/>
                </a:solidFill>
              </a:rPr>
              <a:t> </a:t>
            </a:r>
            <a:endParaRPr lang="en-US" sz="2000"/>
          </a:p>
          <a:p>
            <a:endParaRPr lang="en-US" sz="2000"/>
          </a:p>
          <a:p>
            <a:r>
              <a:rPr lang="en-CA" sz="1000" b="1">
                <a:sym typeface="Webdings" pitchFamily="1" charset="2"/>
              </a:rPr>
              <a:t></a:t>
            </a:r>
            <a:r>
              <a:rPr lang="en-US" sz="2000"/>
              <a:t>By translating into amino acid sequence, are we losing information?</a:t>
            </a:r>
          </a:p>
          <a:p>
            <a:r>
              <a:rPr lang="en-US" sz="2000"/>
              <a:t>  </a:t>
            </a:r>
            <a:r>
              <a:rPr lang="en-US" sz="2000" i="1">
                <a:solidFill>
                  <a:schemeClr val="accent2"/>
                </a:solidFill>
              </a:rPr>
              <a:t>The genetic code is degenerate (Two or more codons can represent</a:t>
            </a:r>
          </a:p>
          <a:p>
            <a:r>
              <a:rPr lang="en-US" sz="2000" i="1">
                <a:solidFill>
                  <a:schemeClr val="accent2"/>
                </a:solidFill>
              </a:rPr>
              <a:t>   the same amino acid)</a:t>
            </a:r>
            <a:endParaRPr lang="en-US" sz="2000"/>
          </a:p>
          <a:p>
            <a:endParaRPr lang="en-US" sz="2000"/>
          </a:p>
          <a:p>
            <a:r>
              <a:rPr lang="en-CA" sz="1000" b="1">
                <a:sym typeface="Webdings" pitchFamily="1" charset="2"/>
              </a:rPr>
              <a:t></a:t>
            </a:r>
            <a:r>
              <a:rPr lang="en-US" sz="2000"/>
              <a:t>Very different DNA sequences may code for similar protein sequences</a:t>
            </a:r>
          </a:p>
          <a:p>
            <a:r>
              <a:rPr lang="en-US" sz="2000"/>
              <a:t>  </a:t>
            </a:r>
            <a:r>
              <a:rPr lang="en-US" sz="2000" i="1">
                <a:solidFill>
                  <a:schemeClr val="accent2"/>
                </a:solidFill>
              </a:rPr>
              <a:t>We certainly do not want to miss those cases!</a:t>
            </a:r>
          </a:p>
        </p:txBody>
      </p:sp>
      <p:sp>
        <p:nvSpPr>
          <p:cNvPr id="128005" name="Rectangle 5"/>
          <p:cNvSpPr>
            <a:spLocks noChangeArrowheads="1"/>
          </p:cNvSpPr>
          <p:nvPr/>
        </p:nvSpPr>
        <p:spPr bwMode="auto">
          <a:xfrm>
            <a:off x="3636170" y="1398589"/>
            <a:ext cx="2400978" cy="430887"/>
          </a:xfrm>
          <a:prstGeom prst="rect">
            <a:avLst/>
          </a:prstGeom>
          <a:noFill/>
          <a:ln w="9525">
            <a:noFill/>
            <a:miter lim="800000"/>
            <a:headEnd/>
            <a:tailEnd/>
          </a:ln>
        </p:spPr>
        <p:txBody>
          <a:bodyPr wrap="none">
            <a:spAutoFit/>
          </a:bodyPr>
          <a:lstStyle/>
          <a:p>
            <a:r>
              <a:rPr lang="en-US" sz="2200"/>
              <a:t>Search by similarity</a:t>
            </a:r>
          </a:p>
        </p:txBody>
      </p:sp>
      <p:sp>
        <p:nvSpPr>
          <p:cNvPr id="128006" name="AutoShape 6"/>
          <p:cNvSpPr>
            <a:spLocks/>
          </p:cNvSpPr>
          <p:nvPr/>
        </p:nvSpPr>
        <p:spPr bwMode="auto">
          <a:xfrm rot="-5400000">
            <a:off x="5006777" y="181373"/>
            <a:ext cx="655637" cy="3864769"/>
          </a:xfrm>
          <a:prstGeom prst="rightBrace">
            <a:avLst>
              <a:gd name="adj1" fmla="val 0"/>
              <a:gd name="adj2" fmla="val 50000"/>
            </a:avLst>
          </a:prstGeom>
          <a:noFill/>
          <a:ln w="28575">
            <a:solidFill>
              <a:schemeClr val="tx1"/>
            </a:solidFill>
            <a:round/>
            <a:headEnd/>
            <a:tailEnd/>
          </a:ln>
        </p:spPr>
        <p:txBody>
          <a:bodyPr wrap="none" anchor="ctr"/>
          <a:lstStyle/>
          <a:p>
            <a:endParaRPr lang="en-US"/>
          </a:p>
        </p:txBody>
      </p:sp>
      <p:sp>
        <p:nvSpPr>
          <p:cNvPr id="128007" name="Rectangle 7"/>
          <p:cNvSpPr>
            <a:spLocks noChangeArrowheads="1"/>
          </p:cNvSpPr>
          <p:nvPr/>
        </p:nvSpPr>
        <p:spPr bwMode="auto">
          <a:xfrm>
            <a:off x="1812727" y="2393950"/>
            <a:ext cx="2634054" cy="430887"/>
          </a:xfrm>
          <a:prstGeom prst="rect">
            <a:avLst/>
          </a:prstGeom>
          <a:noFill/>
          <a:ln w="9525">
            <a:noFill/>
            <a:miter lim="800000"/>
            <a:headEnd/>
            <a:tailEnd/>
          </a:ln>
        </p:spPr>
        <p:txBody>
          <a:bodyPr wrap="none">
            <a:spAutoFit/>
          </a:bodyPr>
          <a:lstStyle/>
          <a:p>
            <a:r>
              <a:rPr lang="en-US" sz="2200"/>
              <a:t>Using nucleotide seq.</a:t>
            </a:r>
          </a:p>
        </p:txBody>
      </p:sp>
      <p:sp>
        <p:nvSpPr>
          <p:cNvPr id="128008" name="Rectangle 8"/>
          <p:cNvSpPr>
            <a:spLocks noChangeArrowheads="1"/>
          </p:cNvSpPr>
          <p:nvPr/>
        </p:nvSpPr>
        <p:spPr bwMode="auto">
          <a:xfrm>
            <a:off x="5634633" y="2390775"/>
            <a:ext cx="2669320" cy="430887"/>
          </a:xfrm>
          <a:prstGeom prst="rect">
            <a:avLst/>
          </a:prstGeom>
          <a:noFill/>
          <a:ln w="9525">
            <a:noFill/>
            <a:miter lim="800000"/>
            <a:headEnd/>
            <a:tailEnd/>
          </a:ln>
        </p:spPr>
        <p:txBody>
          <a:bodyPr wrap="none">
            <a:spAutoFit/>
          </a:bodyPr>
          <a:lstStyle/>
          <a:p>
            <a:r>
              <a:rPr lang="en-US" sz="2200"/>
              <a:t>Using amino acid seq.</a:t>
            </a:r>
          </a:p>
        </p:txBody>
      </p:sp>
      <p:sp>
        <p:nvSpPr>
          <p:cNvPr id="128010" name="Rectangle 10"/>
          <p:cNvSpPr>
            <a:spLocks noChangeArrowheads="1"/>
          </p:cNvSpPr>
          <p:nvPr/>
        </p:nvSpPr>
        <p:spPr bwMode="auto">
          <a:xfrm>
            <a:off x="2478882" y="52388"/>
            <a:ext cx="5206008" cy="519112"/>
          </a:xfrm>
          <a:prstGeom prst="rect">
            <a:avLst/>
          </a:prstGeom>
          <a:noFill/>
          <a:ln w="9525">
            <a:noFill/>
            <a:miter lim="800000"/>
            <a:headEnd/>
            <a:tailEnd/>
          </a:ln>
        </p:spPr>
        <p:txBody>
          <a:bodyPr>
            <a:spAutoFit/>
          </a:bodyPr>
          <a:lstStyle/>
          <a:p>
            <a:pPr algn="ctr"/>
            <a:r>
              <a:rPr lang="en-US" sz="2800">
                <a:solidFill>
                  <a:schemeClr val="accent2"/>
                </a:solidFill>
              </a:rPr>
              <a:t>Tools to search databases</a:t>
            </a:r>
          </a:p>
        </p:txBody>
      </p:sp>
      <p:sp>
        <p:nvSpPr>
          <p:cNvPr id="10" name="Rectangle 9"/>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39595760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ChangeArrowheads="1"/>
          </p:cNvSpPr>
          <p:nvPr/>
        </p:nvSpPr>
        <p:spPr bwMode="auto">
          <a:xfrm>
            <a:off x="157163" y="622300"/>
            <a:ext cx="8854678" cy="427038"/>
          </a:xfrm>
          <a:prstGeom prst="rect">
            <a:avLst/>
          </a:prstGeom>
          <a:noFill/>
          <a:ln w="9525">
            <a:noFill/>
            <a:miter lim="800000"/>
            <a:headEnd/>
            <a:tailEnd/>
          </a:ln>
        </p:spPr>
        <p:txBody>
          <a:bodyPr>
            <a:spAutoFit/>
          </a:bodyPr>
          <a:lstStyle/>
          <a:p>
            <a:r>
              <a:rPr lang="en-US" sz="2000"/>
              <a:t> </a:t>
            </a:r>
            <a:r>
              <a:rPr lang="en-CA" sz="1600" b="1">
                <a:solidFill>
                  <a:srgbClr val="FA1113"/>
                </a:solidFill>
                <a:sym typeface="Webdings" pitchFamily="1" charset="2"/>
              </a:rPr>
              <a:t></a:t>
            </a:r>
            <a:r>
              <a:rPr lang="en-US" sz="2200"/>
              <a:t>Comparing DNA sequences give more random matches</a:t>
            </a:r>
            <a:r>
              <a:rPr lang="en-US" sz="2000"/>
              <a:t>:</a:t>
            </a:r>
          </a:p>
        </p:txBody>
      </p:sp>
      <p:sp>
        <p:nvSpPr>
          <p:cNvPr id="130051" name="Rectangle 3"/>
          <p:cNvSpPr>
            <a:spLocks noChangeArrowheads="1"/>
          </p:cNvSpPr>
          <p:nvPr/>
        </p:nvSpPr>
        <p:spPr bwMode="auto">
          <a:xfrm>
            <a:off x="0" y="6351"/>
            <a:ext cx="10286999" cy="523220"/>
          </a:xfrm>
          <a:prstGeom prst="rect">
            <a:avLst/>
          </a:prstGeom>
          <a:noFill/>
          <a:ln w="9525">
            <a:noFill/>
            <a:miter lim="800000"/>
            <a:headEnd/>
            <a:tailEnd/>
          </a:ln>
        </p:spPr>
        <p:txBody>
          <a:bodyPr wrap="square">
            <a:spAutoFit/>
          </a:bodyPr>
          <a:lstStyle/>
          <a:p>
            <a:pPr algn="ctr"/>
            <a:r>
              <a:rPr lang="en-US" sz="2800" dirty="0">
                <a:solidFill>
                  <a:schemeClr val="accent2"/>
                </a:solidFill>
              </a:rPr>
              <a:t>Reasons for translating</a:t>
            </a:r>
          </a:p>
        </p:txBody>
      </p:sp>
      <p:sp>
        <p:nvSpPr>
          <p:cNvPr id="130052" name="Line 4"/>
          <p:cNvSpPr>
            <a:spLocks noChangeShapeType="1"/>
          </p:cNvSpPr>
          <p:nvPr/>
        </p:nvSpPr>
        <p:spPr bwMode="auto">
          <a:xfrm>
            <a:off x="0" y="542925"/>
            <a:ext cx="10287000" cy="0"/>
          </a:xfrm>
          <a:prstGeom prst="line">
            <a:avLst/>
          </a:prstGeom>
          <a:noFill/>
          <a:ln w="57150" cmpd="thickThin">
            <a:solidFill>
              <a:schemeClr val="tx1"/>
            </a:solidFill>
            <a:round/>
            <a:headEnd/>
            <a:tailEnd/>
          </a:ln>
        </p:spPr>
        <p:txBody>
          <a:bodyPr wrap="none" anchor="ctr"/>
          <a:lstStyle/>
          <a:p>
            <a:endParaRPr lang="en-US"/>
          </a:p>
        </p:txBody>
      </p:sp>
      <p:pic>
        <p:nvPicPr>
          <p:cNvPr id="130053" name="Picture 5"/>
          <p:cNvPicPr>
            <a:picLocks noChangeAspect="1" noChangeArrowheads="1"/>
          </p:cNvPicPr>
          <p:nvPr/>
        </p:nvPicPr>
        <p:blipFill>
          <a:blip r:embed="rId3" cstate="print"/>
          <a:srcRect/>
          <a:stretch>
            <a:fillRect/>
          </a:stretch>
        </p:blipFill>
        <p:spPr bwMode="auto">
          <a:xfrm>
            <a:off x="666155" y="1330326"/>
            <a:ext cx="4493419" cy="2278063"/>
          </a:xfrm>
          <a:prstGeom prst="rect">
            <a:avLst/>
          </a:prstGeom>
          <a:noFill/>
          <a:ln w="9525">
            <a:noFill/>
            <a:miter lim="800000"/>
            <a:headEnd/>
            <a:tailEnd/>
          </a:ln>
          <a:effectLst/>
        </p:spPr>
      </p:pic>
      <p:pic>
        <p:nvPicPr>
          <p:cNvPr id="130054" name="Picture 6"/>
          <p:cNvPicPr>
            <a:picLocks noChangeAspect="1" noChangeArrowheads="1"/>
          </p:cNvPicPr>
          <p:nvPr/>
        </p:nvPicPr>
        <p:blipFill>
          <a:blip r:embed="rId4" cstate="print"/>
          <a:srcRect/>
          <a:stretch>
            <a:fillRect/>
          </a:stretch>
        </p:blipFill>
        <p:spPr bwMode="auto">
          <a:xfrm>
            <a:off x="5557837" y="1357313"/>
            <a:ext cx="4116587" cy="1873250"/>
          </a:xfrm>
          <a:prstGeom prst="rect">
            <a:avLst/>
          </a:prstGeom>
          <a:noFill/>
          <a:ln w="9525">
            <a:noFill/>
            <a:miter lim="800000"/>
            <a:headEnd/>
            <a:tailEnd/>
          </a:ln>
          <a:effectLst/>
        </p:spPr>
      </p:pic>
      <p:sp>
        <p:nvSpPr>
          <p:cNvPr id="130055" name="Rectangle 7"/>
          <p:cNvSpPr>
            <a:spLocks noChangeArrowheads="1"/>
          </p:cNvSpPr>
          <p:nvPr/>
        </p:nvSpPr>
        <p:spPr bwMode="auto">
          <a:xfrm>
            <a:off x="880468" y="995363"/>
            <a:ext cx="4139803" cy="366712"/>
          </a:xfrm>
          <a:prstGeom prst="rect">
            <a:avLst/>
          </a:prstGeom>
          <a:noFill/>
          <a:ln w="9525">
            <a:noFill/>
            <a:miter lim="800000"/>
            <a:headEnd/>
            <a:tailEnd/>
          </a:ln>
        </p:spPr>
        <p:txBody>
          <a:bodyPr>
            <a:spAutoFit/>
          </a:bodyPr>
          <a:lstStyle/>
          <a:p>
            <a:r>
              <a:rPr lang="en-US" sz="1800" i="1" dirty="0"/>
              <a:t>A good alignment with end-gaps</a:t>
            </a:r>
          </a:p>
        </p:txBody>
      </p:sp>
      <p:sp>
        <p:nvSpPr>
          <p:cNvPr id="130056" name="Rectangle 8"/>
          <p:cNvSpPr>
            <a:spLocks noChangeArrowheads="1"/>
          </p:cNvSpPr>
          <p:nvPr/>
        </p:nvSpPr>
        <p:spPr bwMode="auto">
          <a:xfrm>
            <a:off x="6032897" y="1016001"/>
            <a:ext cx="2307619" cy="369332"/>
          </a:xfrm>
          <a:prstGeom prst="rect">
            <a:avLst/>
          </a:prstGeom>
          <a:noFill/>
          <a:ln w="9525">
            <a:noFill/>
            <a:miter lim="800000"/>
            <a:headEnd/>
            <a:tailEnd/>
          </a:ln>
        </p:spPr>
        <p:txBody>
          <a:bodyPr wrap="none">
            <a:spAutoFit/>
          </a:bodyPr>
          <a:lstStyle/>
          <a:p>
            <a:r>
              <a:rPr lang="en-US" sz="1800" i="1">
                <a:solidFill>
                  <a:srgbClr val="F91402"/>
                </a:solidFill>
              </a:rPr>
              <a:t> A very poor alignment</a:t>
            </a:r>
          </a:p>
        </p:txBody>
      </p:sp>
      <p:sp>
        <p:nvSpPr>
          <p:cNvPr id="130057" name="Rectangle 9"/>
          <p:cNvSpPr>
            <a:spLocks noChangeArrowheads="1"/>
          </p:cNvSpPr>
          <p:nvPr/>
        </p:nvSpPr>
        <p:spPr bwMode="auto">
          <a:xfrm>
            <a:off x="6181130" y="3714751"/>
            <a:ext cx="2871788" cy="396875"/>
          </a:xfrm>
          <a:prstGeom prst="rect">
            <a:avLst/>
          </a:prstGeom>
          <a:noFill/>
          <a:ln w="9525">
            <a:noFill/>
            <a:miter lim="800000"/>
            <a:headEnd/>
            <a:tailEnd/>
          </a:ln>
        </p:spPr>
        <p:txBody>
          <a:bodyPr>
            <a:spAutoFit/>
          </a:bodyPr>
          <a:lstStyle/>
          <a:p>
            <a:r>
              <a:rPr lang="en-US" sz="2000">
                <a:solidFill>
                  <a:srgbClr val="F91402"/>
                </a:solidFill>
              </a:rPr>
              <a:t>Almost 50% identity!</a:t>
            </a:r>
          </a:p>
        </p:txBody>
      </p:sp>
      <p:sp>
        <p:nvSpPr>
          <p:cNvPr id="130058" name="AutoShape 10"/>
          <p:cNvSpPr>
            <a:spLocks noChangeArrowheads="1"/>
          </p:cNvSpPr>
          <p:nvPr/>
        </p:nvSpPr>
        <p:spPr bwMode="auto">
          <a:xfrm>
            <a:off x="7434859" y="3267075"/>
            <a:ext cx="230385" cy="458788"/>
          </a:xfrm>
          <a:prstGeom prst="downArrow">
            <a:avLst>
              <a:gd name="adj1" fmla="val 50000"/>
              <a:gd name="adj2" fmla="val 56008"/>
            </a:avLst>
          </a:prstGeom>
          <a:solidFill>
            <a:schemeClr val="accent1"/>
          </a:solidFill>
          <a:ln w="9525">
            <a:solidFill>
              <a:schemeClr val="tx1"/>
            </a:solidFill>
            <a:miter lim="800000"/>
            <a:headEnd/>
            <a:tailEnd/>
          </a:ln>
        </p:spPr>
        <p:txBody>
          <a:bodyPr wrap="none" anchor="ctr"/>
          <a:lstStyle/>
          <a:p>
            <a:endParaRPr lang="en-US"/>
          </a:p>
        </p:txBody>
      </p:sp>
      <p:sp>
        <p:nvSpPr>
          <p:cNvPr id="130059" name="Rectangle 11"/>
          <p:cNvSpPr>
            <a:spLocks noChangeArrowheads="1"/>
          </p:cNvSpPr>
          <p:nvPr/>
        </p:nvSpPr>
        <p:spPr bwMode="auto">
          <a:xfrm>
            <a:off x="305397" y="4222750"/>
            <a:ext cx="9533334" cy="427038"/>
          </a:xfrm>
          <a:prstGeom prst="rect">
            <a:avLst/>
          </a:prstGeom>
          <a:noFill/>
          <a:ln w="9525">
            <a:noFill/>
            <a:miter lim="800000"/>
            <a:headEnd/>
            <a:tailEnd/>
          </a:ln>
        </p:spPr>
        <p:txBody>
          <a:bodyPr>
            <a:spAutoFit/>
          </a:bodyPr>
          <a:lstStyle/>
          <a:p>
            <a:r>
              <a:rPr lang="en-CA" sz="1600" b="1">
                <a:solidFill>
                  <a:srgbClr val="FA1113"/>
                </a:solidFill>
                <a:sym typeface="Webdings" pitchFamily="1" charset="2"/>
              </a:rPr>
              <a:t></a:t>
            </a:r>
            <a:r>
              <a:rPr lang="en-US" sz="2200"/>
              <a:t>Conservation of protein in evolution</a:t>
            </a:r>
            <a:r>
              <a:rPr lang="en-US" sz="1800" i="1"/>
              <a:t> (</a:t>
            </a:r>
            <a:r>
              <a:rPr lang="en-US" sz="1800" i="1">
                <a:solidFill>
                  <a:schemeClr val="accent2"/>
                </a:solidFill>
              </a:rPr>
              <a:t>DNA similarity decays faster!)</a:t>
            </a:r>
          </a:p>
        </p:txBody>
      </p:sp>
      <p:sp>
        <p:nvSpPr>
          <p:cNvPr id="130061" name="Rectangle 13"/>
          <p:cNvSpPr>
            <a:spLocks noChangeArrowheads="1"/>
          </p:cNvSpPr>
          <p:nvPr/>
        </p:nvSpPr>
        <p:spPr bwMode="auto">
          <a:xfrm>
            <a:off x="512564" y="5283200"/>
            <a:ext cx="9558338" cy="1068388"/>
          </a:xfrm>
          <a:prstGeom prst="rect">
            <a:avLst/>
          </a:prstGeom>
          <a:noFill/>
          <a:ln w="9525">
            <a:noFill/>
            <a:miter lim="800000"/>
            <a:headEnd/>
            <a:tailEnd/>
          </a:ln>
        </p:spPr>
        <p:txBody>
          <a:bodyPr>
            <a:spAutoFit/>
          </a:bodyPr>
          <a:lstStyle/>
          <a:p>
            <a:r>
              <a:rPr lang="en-CA" sz="1000" b="1">
                <a:sym typeface="Webdings" pitchFamily="1" charset="2"/>
              </a:rPr>
              <a:t></a:t>
            </a:r>
            <a:r>
              <a:rPr lang="en-US" sz="1800">
                <a:solidFill>
                  <a:srgbClr val="F91402"/>
                </a:solidFill>
              </a:rPr>
              <a:t>It is almost always better to compare coding sequences in their amino acid form,</a:t>
            </a:r>
          </a:p>
          <a:p>
            <a:r>
              <a:rPr lang="en-US" sz="1800">
                <a:solidFill>
                  <a:srgbClr val="F91402"/>
                </a:solidFill>
              </a:rPr>
              <a:t>  especially if they are </a:t>
            </a:r>
            <a:r>
              <a:rPr lang="en-US" sz="1800" u="sng">
                <a:solidFill>
                  <a:srgbClr val="F91402"/>
                </a:solidFill>
              </a:rPr>
              <a:t>very divergent.</a:t>
            </a:r>
            <a:endParaRPr lang="en-US" sz="2000" u="sng">
              <a:solidFill>
                <a:srgbClr val="F91402"/>
              </a:solidFill>
            </a:endParaRPr>
          </a:p>
          <a:p>
            <a:endParaRPr lang="en-US" sz="1000">
              <a:solidFill>
                <a:srgbClr val="F91402"/>
              </a:solidFill>
            </a:endParaRPr>
          </a:p>
          <a:p>
            <a:r>
              <a:rPr lang="en-CA" sz="1000" b="1">
                <a:sym typeface="Webdings" pitchFamily="1" charset="2"/>
              </a:rPr>
              <a:t></a:t>
            </a:r>
            <a:r>
              <a:rPr lang="en-US" sz="1800">
                <a:solidFill>
                  <a:srgbClr val="F91402"/>
                </a:solidFill>
              </a:rPr>
              <a:t>Very highly similar nucleotide sequences may give better results.</a:t>
            </a:r>
            <a:endParaRPr lang="en-US" sz="2000">
              <a:solidFill>
                <a:srgbClr val="F91402"/>
              </a:solidFill>
            </a:endParaRPr>
          </a:p>
        </p:txBody>
      </p:sp>
      <p:sp>
        <p:nvSpPr>
          <p:cNvPr id="130062" name="Rectangle 14"/>
          <p:cNvSpPr>
            <a:spLocks noChangeArrowheads="1"/>
          </p:cNvSpPr>
          <p:nvPr/>
        </p:nvSpPr>
        <p:spPr bwMode="auto">
          <a:xfrm>
            <a:off x="316112" y="4908550"/>
            <a:ext cx="1713931" cy="430887"/>
          </a:xfrm>
          <a:prstGeom prst="rect">
            <a:avLst/>
          </a:prstGeom>
          <a:noFill/>
          <a:ln w="9525">
            <a:noFill/>
            <a:miter lim="800000"/>
            <a:headEnd/>
            <a:tailEnd/>
          </a:ln>
        </p:spPr>
        <p:txBody>
          <a:bodyPr wrap="none">
            <a:spAutoFit/>
          </a:bodyPr>
          <a:lstStyle/>
          <a:p>
            <a:r>
              <a:rPr lang="en-CA" sz="1600" b="1">
                <a:solidFill>
                  <a:srgbClr val="FA1113"/>
                </a:solidFill>
                <a:sym typeface="Webdings" pitchFamily="1" charset="2"/>
              </a:rPr>
              <a:t></a:t>
            </a:r>
            <a:r>
              <a:rPr lang="en-US" sz="2200"/>
              <a:t>Conclusion:</a:t>
            </a:r>
          </a:p>
        </p:txBody>
      </p:sp>
      <p:sp>
        <p:nvSpPr>
          <p:cNvPr id="14" name="Rectangle 1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6338407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9" name="Rectangle 7"/>
          <p:cNvSpPr>
            <a:spLocks noChangeArrowheads="1"/>
          </p:cNvSpPr>
          <p:nvPr/>
        </p:nvSpPr>
        <p:spPr bwMode="auto">
          <a:xfrm>
            <a:off x="262534" y="720726"/>
            <a:ext cx="9838729" cy="1490663"/>
          </a:xfrm>
          <a:prstGeom prst="rect">
            <a:avLst/>
          </a:prstGeom>
          <a:solidFill>
            <a:srgbClr val="FAECD2"/>
          </a:solidFill>
          <a:ln w="9525">
            <a:solidFill>
              <a:schemeClr val="tx1"/>
            </a:solidFill>
            <a:miter lim="800000"/>
            <a:headEnd/>
            <a:tailEnd/>
          </a:ln>
        </p:spPr>
        <p:txBody>
          <a:bodyPr wrap="none" anchor="ctr"/>
          <a:lstStyle/>
          <a:p>
            <a:endParaRPr lang="en-US"/>
          </a:p>
        </p:txBody>
      </p:sp>
      <p:sp>
        <p:nvSpPr>
          <p:cNvPr id="141318" name="Rectangle 6"/>
          <p:cNvSpPr>
            <a:spLocks noChangeArrowheads="1"/>
          </p:cNvSpPr>
          <p:nvPr/>
        </p:nvSpPr>
        <p:spPr bwMode="auto">
          <a:xfrm>
            <a:off x="248246" y="2290763"/>
            <a:ext cx="9872663" cy="4329112"/>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41314" name="Rectangle 2"/>
          <p:cNvSpPr>
            <a:spLocks noChangeArrowheads="1"/>
          </p:cNvSpPr>
          <p:nvPr/>
        </p:nvSpPr>
        <p:spPr bwMode="auto">
          <a:xfrm>
            <a:off x="276821" y="765175"/>
            <a:ext cx="9642276" cy="1371600"/>
          </a:xfrm>
          <a:prstGeom prst="rect">
            <a:avLst/>
          </a:prstGeom>
          <a:noFill/>
          <a:ln w="9525">
            <a:noFill/>
            <a:miter lim="800000"/>
            <a:headEnd/>
            <a:tailEnd/>
          </a:ln>
        </p:spPr>
        <p:txBody>
          <a:bodyPr>
            <a:spAutoFit/>
          </a:bodyPr>
          <a:lstStyle/>
          <a:p>
            <a:r>
              <a:rPr lang="en-CA" sz="1600" b="1" dirty="0">
                <a:solidFill>
                  <a:srgbClr val="FA1113"/>
                </a:solidFill>
                <a:sym typeface="Webdings" pitchFamily="1" charset="2"/>
              </a:rPr>
              <a:t></a:t>
            </a:r>
            <a:r>
              <a:rPr lang="en-US" sz="2200" dirty="0">
                <a:solidFill>
                  <a:schemeClr val="accent6">
                    <a:lumMod val="75000"/>
                  </a:schemeClr>
                </a:solidFill>
              </a:rPr>
              <a:t>FASTA</a:t>
            </a:r>
            <a:r>
              <a:rPr lang="en-US" sz="2000" dirty="0">
                <a:solidFill>
                  <a:schemeClr val="accent6">
                    <a:lumMod val="75000"/>
                  </a:schemeClr>
                </a:solidFill>
              </a:rPr>
              <a:t>:     </a:t>
            </a:r>
            <a:r>
              <a:rPr lang="en-US" sz="1800" i="1" dirty="0">
                <a:solidFill>
                  <a:schemeClr val="accent2"/>
                </a:solidFill>
              </a:rPr>
              <a:t>Compares a DNA query to DNA database, or a protein query</a:t>
            </a:r>
          </a:p>
          <a:p>
            <a:r>
              <a:rPr lang="en-US" sz="1800" i="1" dirty="0">
                <a:solidFill>
                  <a:schemeClr val="accent2"/>
                </a:solidFill>
              </a:rPr>
              <a:t>	          to protein database</a:t>
            </a:r>
            <a:endParaRPr lang="en-US" sz="2000" dirty="0"/>
          </a:p>
          <a:p>
            <a:r>
              <a:rPr lang="en-CA" sz="1600" b="1" dirty="0">
                <a:solidFill>
                  <a:srgbClr val="FA1113"/>
                </a:solidFill>
                <a:sym typeface="Webdings" pitchFamily="1" charset="2"/>
              </a:rPr>
              <a:t></a:t>
            </a:r>
            <a:r>
              <a:rPr lang="en-US" sz="2200" dirty="0">
                <a:solidFill>
                  <a:srgbClr val="0070C0"/>
                </a:solidFill>
              </a:rPr>
              <a:t>FAST</a:t>
            </a:r>
            <a:r>
              <a:rPr lang="en-US" sz="2200" dirty="0">
                <a:solidFill>
                  <a:srgbClr val="F91402"/>
                </a:solidFill>
              </a:rPr>
              <a:t>X</a:t>
            </a:r>
            <a:r>
              <a:rPr lang="en-US" sz="2000" dirty="0"/>
              <a:t>:     </a:t>
            </a:r>
            <a:r>
              <a:rPr lang="en-US" sz="1800" i="1" dirty="0">
                <a:solidFill>
                  <a:schemeClr val="accent2"/>
                </a:solidFill>
              </a:rPr>
              <a:t>Compares a translated DNA query to a protein database</a:t>
            </a:r>
            <a:endParaRPr lang="en-US" sz="2000" dirty="0"/>
          </a:p>
          <a:p>
            <a:r>
              <a:rPr lang="en-CA" sz="1600" b="1" dirty="0">
                <a:solidFill>
                  <a:srgbClr val="FA1113"/>
                </a:solidFill>
                <a:sym typeface="Webdings" pitchFamily="1" charset="2"/>
              </a:rPr>
              <a:t></a:t>
            </a:r>
            <a:r>
              <a:rPr lang="en-US" sz="2200" dirty="0">
                <a:solidFill>
                  <a:srgbClr val="F91402"/>
                </a:solidFill>
              </a:rPr>
              <a:t>T</a:t>
            </a:r>
            <a:r>
              <a:rPr lang="en-US" sz="2200" dirty="0">
                <a:solidFill>
                  <a:srgbClr val="0070C0"/>
                </a:solidFill>
              </a:rPr>
              <a:t>FASTA</a:t>
            </a:r>
            <a:r>
              <a:rPr lang="en-US" sz="2000" dirty="0"/>
              <a:t>:   </a:t>
            </a:r>
            <a:r>
              <a:rPr lang="en-US" sz="1800" i="1" dirty="0">
                <a:solidFill>
                  <a:schemeClr val="accent2"/>
                </a:solidFill>
              </a:rPr>
              <a:t>Compares a protein query to a translated DNA database</a:t>
            </a:r>
            <a:r>
              <a:rPr lang="en-US" sz="2000" dirty="0"/>
              <a:t> </a:t>
            </a:r>
          </a:p>
        </p:txBody>
      </p:sp>
      <p:sp>
        <p:nvSpPr>
          <p:cNvPr id="141315" name="Rectangle 3"/>
          <p:cNvSpPr>
            <a:spLocks noChangeArrowheads="1"/>
          </p:cNvSpPr>
          <p:nvPr/>
        </p:nvSpPr>
        <p:spPr bwMode="auto">
          <a:xfrm>
            <a:off x="0" y="14288"/>
            <a:ext cx="10287000" cy="492443"/>
          </a:xfrm>
          <a:prstGeom prst="rect">
            <a:avLst/>
          </a:prstGeom>
          <a:noFill/>
          <a:ln w="9525">
            <a:noFill/>
            <a:miter lim="800000"/>
            <a:headEnd/>
            <a:tailEnd/>
          </a:ln>
        </p:spPr>
        <p:txBody>
          <a:bodyPr wrap="square">
            <a:spAutoFit/>
          </a:bodyPr>
          <a:lstStyle/>
          <a:p>
            <a:pPr algn="ctr"/>
            <a:r>
              <a:rPr lang="en-US" sz="2600" dirty="0">
                <a:solidFill>
                  <a:schemeClr val="accent2"/>
                </a:solidFill>
              </a:rPr>
              <a:t> BLAST and FASTA variants</a:t>
            </a:r>
          </a:p>
        </p:txBody>
      </p:sp>
      <p:sp>
        <p:nvSpPr>
          <p:cNvPr id="141316" name="Line 4"/>
          <p:cNvSpPr>
            <a:spLocks noChangeShapeType="1"/>
          </p:cNvSpPr>
          <p:nvPr/>
        </p:nvSpPr>
        <p:spPr bwMode="auto">
          <a:xfrm>
            <a:off x="0" y="530225"/>
            <a:ext cx="10287000" cy="0"/>
          </a:xfrm>
          <a:prstGeom prst="line">
            <a:avLst/>
          </a:prstGeom>
          <a:noFill/>
          <a:ln w="57150" cmpd="thickThin">
            <a:solidFill>
              <a:schemeClr val="tx1"/>
            </a:solidFill>
            <a:round/>
            <a:headEnd/>
            <a:tailEnd/>
          </a:ln>
        </p:spPr>
        <p:txBody>
          <a:bodyPr wrap="none" anchor="ctr"/>
          <a:lstStyle/>
          <a:p>
            <a:endParaRPr lang="en-US"/>
          </a:p>
        </p:txBody>
      </p:sp>
      <p:sp>
        <p:nvSpPr>
          <p:cNvPr id="141317" name="Rectangle 5"/>
          <p:cNvSpPr>
            <a:spLocks noChangeArrowheads="1"/>
          </p:cNvSpPr>
          <p:nvPr/>
        </p:nvSpPr>
        <p:spPr bwMode="auto">
          <a:xfrm>
            <a:off x="230387" y="2335214"/>
            <a:ext cx="9886950" cy="4281487"/>
          </a:xfrm>
          <a:prstGeom prst="rect">
            <a:avLst/>
          </a:prstGeom>
          <a:noFill/>
          <a:ln w="9525">
            <a:noFill/>
            <a:miter lim="800000"/>
            <a:headEnd/>
            <a:tailEnd/>
          </a:ln>
        </p:spPr>
        <p:txBody>
          <a:bodyPr>
            <a:spAutoFit/>
          </a:bodyPr>
          <a:lstStyle/>
          <a:p>
            <a:r>
              <a:rPr lang="en-CA" sz="1600" b="1" dirty="0">
                <a:solidFill>
                  <a:srgbClr val="FA1113"/>
                </a:solidFill>
                <a:sym typeface="Webdings" pitchFamily="1" charset="2"/>
              </a:rPr>
              <a:t></a:t>
            </a:r>
            <a:r>
              <a:rPr lang="en-US" sz="2200" dirty="0"/>
              <a:t>BLAST</a:t>
            </a:r>
            <a:r>
              <a:rPr lang="en-US" sz="2200" dirty="0">
                <a:solidFill>
                  <a:srgbClr val="F91402"/>
                </a:solidFill>
              </a:rPr>
              <a:t>N</a:t>
            </a:r>
            <a:r>
              <a:rPr lang="en-US" sz="2200" dirty="0"/>
              <a:t>:</a:t>
            </a:r>
            <a:r>
              <a:rPr lang="en-US" sz="1800" dirty="0"/>
              <a:t>       </a:t>
            </a:r>
            <a:r>
              <a:rPr lang="en-US" sz="1800" i="1" dirty="0"/>
              <a:t>Compares a DNA query to DNA database</a:t>
            </a:r>
            <a:r>
              <a:rPr lang="en-US" sz="1600" dirty="0"/>
              <a:t>.</a:t>
            </a:r>
            <a:r>
              <a:rPr lang="en-US" sz="1800" dirty="0"/>
              <a:t> </a:t>
            </a:r>
          </a:p>
          <a:p>
            <a:endParaRPr lang="en-US" sz="900" dirty="0"/>
          </a:p>
          <a:p>
            <a:r>
              <a:rPr lang="en-CA" sz="1600" b="1" dirty="0">
                <a:solidFill>
                  <a:srgbClr val="FA1113"/>
                </a:solidFill>
                <a:sym typeface="Webdings" pitchFamily="1" charset="2"/>
              </a:rPr>
              <a:t></a:t>
            </a:r>
            <a:r>
              <a:rPr lang="en-US" sz="2200" dirty="0"/>
              <a:t>BLAST</a:t>
            </a:r>
            <a:r>
              <a:rPr lang="en-US" sz="2200" dirty="0">
                <a:solidFill>
                  <a:srgbClr val="F91402"/>
                </a:solidFill>
              </a:rPr>
              <a:t>P</a:t>
            </a:r>
            <a:r>
              <a:rPr lang="en-US" sz="2000" dirty="0"/>
              <a:t>:</a:t>
            </a:r>
            <a:r>
              <a:rPr lang="en-US" sz="1800" dirty="0"/>
              <a:t>       </a:t>
            </a:r>
            <a:r>
              <a:rPr lang="en-US" sz="1800" i="1" dirty="0"/>
              <a:t>Compares a protein query to protein database.</a:t>
            </a:r>
            <a:r>
              <a:rPr lang="en-US" sz="1800" dirty="0"/>
              <a:t> </a:t>
            </a:r>
          </a:p>
          <a:p>
            <a:endParaRPr lang="en-US" sz="800" dirty="0"/>
          </a:p>
          <a:p>
            <a:r>
              <a:rPr lang="en-CA" sz="1600" b="1" dirty="0">
                <a:solidFill>
                  <a:srgbClr val="FA1113"/>
                </a:solidFill>
                <a:sym typeface="Webdings" pitchFamily="1" charset="2"/>
              </a:rPr>
              <a:t></a:t>
            </a:r>
            <a:r>
              <a:rPr lang="en-US" sz="2200" dirty="0"/>
              <a:t>BLAST</a:t>
            </a:r>
            <a:r>
              <a:rPr lang="en-US" sz="2200" dirty="0">
                <a:solidFill>
                  <a:srgbClr val="F91402"/>
                </a:solidFill>
              </a:rPr>
              <a:t>X</a:t>
            </a:r>
            <a:r>
              <a:rPr lang="en-US" sz="2200" dirty="0"/>
              <a:t>:</a:t>
            </a:r>
            <a:r>
              <a:rPr lang="en-US" sz="1800" dirty="0"/>
              <a:t>       </a:t>
            </a:r>
            <a:r>
              <a:rPr lang="en-US" sz="1800" i="1" dirty="0"/>
              <a:t>Compares the 6-frame translations of DNA query to protein</a:t>
            </a:r>
          </a:p>
          <a:p>
            <a:r>
              <a:rPr lang="en-US" sz="1800" i="1" dirty="0"/>
              <a:t>  	              database.</a:t>
            </a:r>
            <a:endParaRPr lang="en-US" sz="1800" dirty="0"/>
          </a:p>
          <a:p>
            <a:r>
              <a:rPr lang="en-CA" sz="1600" b="1" dirty="0">
                <a:solidFill>
                  <a:srgbClr val="FA1113"/>
                </a:solidFill>
                <a:sym typeface="Webdings" pitchFamily="1" charset="2"/>
              </a:rPr>
              <a:t></a:t>
            </a:r>
            <a:r>
              <a:rPr lang="en-US" sz="2200" dirty="0">
                <a:solidFill>
                  <a:srgbClr val="F91402"/>
                </a:solidFill>
              </a:rPr>
              <a:t>T</a:t>
            </a:r>
            <a:r>
              <a:rPr lang="en-US" sz="2200" dirty="0"/>
              <a:t>BLAST</a:t>
            </a:r>
            <a:r>
              <a:rPr lang="en-US" sz="2200" dirty="0">
                <a:solidFill>
                  <a:srgbClr val="F91402"/>
                </a:solidFill>
              </a:rPr>
              <a:t>N</a:t>
            </a:r>
            <a:r>
              <a:rPr lang="en-US" sz="2200" dirty="0"/>
              <a:t>:</a:t>
            </a:r>
            <a:r>
              <a:rPr lang="en-US" sz="1800" dirty="0"/>
              <a:t>   </a:t>
            </a:r>
            <a:r>
              <a:rPr lang="en-US" sz="1800" i="1" dirty="0"/>
              <a:t>Compares a protein query to the 6-frame translations of a DNA</a:t>
            </a:r>
          </a:p>
          <a:p>
            <a:r>
              <a:rPr lang="en-US" sz="1800" i="1" dirty="0"/>
              <a:t>	              database</a:t>
            </a:r>
            <a:r>
              <a:rPr lang="en-US" sz="1800" i="1" dirty="0" smtClean="0"/>
              <a:t>. You can however define your frame of interest</a:t>
            </a:r>
            <a:endParaRPr lang="en-US" sz="1400" i="1" dirty="0"/>
          </a:p>
          <a:p>
            <a:r>
              <a:rPr lang="en-US" sz="500" i="1" dirty="0">
                <a:solidFill>
                  <a:schemeClr val="accent2"/>
                </a:solidFill>
              </a:rPr>
              <a:t> </a:t>
            </a:r>
            <a:endParaRPr lang="en-US" sz="900" i="1" dirty="0">
              <a:solidFill>
                <a:schemeClr val="accent2"/>
              </a:solidFill>
            </a:endParaRPr>
          </a:p>
          <a:p>
            <a:r>
              <a:rPr lang="en-CA" sz="1600" b="1" dirty="0">
                <a:solidFill>
                  <a:srgbClr val="FA1113"/>
                </a:solidFill>
                <a:sym typeface="Webdings" pitchFamily="1" charset="2"/>
              </a:rPr>
              <a:t></a:t>
            </a:r>
            <a:r>
              <a:rPr lang="en-US" sz="2200" dirty="0">
                <a:solidFill>
                  <a:srgbClr val="F91402"/>
                </a:solidFill>
              </a:rPr>
              <a:t>T</a:t>
            </a:r>
            <a:r>
              <a:rPr lang="en-US" sz="2200" dirty="0"/>
              <a:t>BLAST</a:t>
            </a:r>
            <a:r>
              <a:rPr lang="en-US" sz="2200" dirty="0">
                <a:solidFill>
                  <a:srgbClr val="F91402"/>
                </a:solidFill>
              </a:rPr>
              <a:t>X</a:t>
            </a:r>
            <a:r>
              <a:rPr lang="en-US" sz="2200" dirty="0"/>
              <a:t>:</a:t>
            </a:r>
            <a:r>
              <a:rPr lang="en-US" sz="1800" dirty="0"/>
              <a:t>    </a:t>
            </a:r>
            <a:r>
              <a:rPr lang="en-US" sz="1800" i="1" dirty="0"/>
              <a:t>Compares the 6-frame translations of DNA query to the 6-frame </a:t>
            </a:r>
          </a:p>
          <a:p>
            <a:r>
              <a:rPr lang="en-US" sz="1800" i="1" dirty="0"/>
              <a:t>	 	translations of a DNA database (each sequence is comparable to</a:t>
            </a:r>
          </a:p>
          <a:p>
            <a:r>
              <a:rPr lang="en-US" sz="1800" i="1" dirty="0"/>
              <a:t>		BLASTP searches!)</a:t>
            </a:r>
          </a:p>
          <a:p>
            <a:endParaRPr lang="en-US" sz="900" dirty="0"/>
          </a:p>
          <a:p>
            <a:r>
              <a:rPr lang="en-CA" sz="1600" b="1" dirty="0">
                <a:solidFill>
                  <a:srgbClr val="FA1113"/>
                </a:solidFill>
                <a:sym typeface="Webdings" pitchFamily="1" charset="2"/>
              </a:rPr>
              <a:t></a:t>
            </a:r>
            <a:r>
              <a:rPr lang="en-US" sz="2200" dirty="0">
                <a:solidFill>
                  <a:srgbClr val="F91402"/>
                </a:solidFill>
              </a:rPr>
              <a:t>PSI</a:t>
            </a:r>
            <a:r>
              <a:rPr lang="en-US" sz="2200" dirty="0"/>
              <a:t>-BLAST</a:t>
            </a:r>
            <a:r>
              <a:rPr lang="en-US" sz="1800" dirty="0"/>
              <a:t>:  </a:t>
            </a:r>
            <a:r>
              <a:rPr lang="en-US" sz="1800" i="1" dirty="0"/>
              <a:t>Performs iterative database searches. The results from each round </a:t>
            </a:r>
          </a:p>
          <a:p>
            <a:r>
              <a:rPr lang="en-US" sz="1800" i="1" dirty="0"/>
              <a:t>		are incorporated into a 'position specific' score matrix, which is </a:t>
            </a:r>
          </a:p>
          <a:p>
            <a:r>
              <a:rPr lang="en-US" sz="1800" i="1" dirty="0"/>
              <a:t>		used for further searching</a:t>
            </a:r>
            <a:endParaRPr lang="en-US" sz="2000" i="1" dirty="0"/>
          </a:p>
        </p:txBody>
      </p:sp>
    </p:spTree>
    <p:extLst>
      <p:ext uri="{BB962C8B-B14F-4D97-AF65-F5344CB8AC3E}">
        <p14:creationId xmlns:p14="http://schemas.microsoft.com/office/powerpoint/2010/main" val="3407448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75" y="973138"/>
            <a:ext cx="9767292" cy="4868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1027"/>
          <p:cNvSpPr txBox="1">
            <a:spLocks noChangeArrowheads="1"/>
          </p:cNvSpPr>
          <p:nvPr/>
        </p:nvSpPr>
        <p:spPr bwMode="auto">
          <a:xfrm>
            <a:off x="21266" y="152059"/>
            <a:ext cx="8271834" cy="584775"/>
          </a:xfrm>
          <a:prstGeom prst="rect">
            <a:avLst/>
          </a:prstGeom>
          <a:solidFill>
            <a:schemeClr val="bg1"/>
          </a:solidFill>
          <a:ln w="38100">
            <a:solidFill>
              <a:srgbClr val="9900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GB" sz="3200" b="1" dirty="0" smtClean="0">
                <a:solidFill>
                  <a:schemeClr val="tx2"/>
                </a:solidFill>
                <a:latin typeface="Arial" panose="020B0604020202020204" pitchFamily="34" charset="0"/>
              </a:rPr>
              <a:t>Biological Database Searching Strategies</a:t>
            </a:r>
            <a:endParaRPr lang="en-GB" sz="3200" b="1" dirty="0">
              <a:solidFill>
                <a:schemeClr val="tx2"/>
              </a:solidFill>
              <a:latin typeface="Arial" panose="020B0604020202020204" pitchFamily="34" charset="0"/>
            </a:endParaRP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039933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0287000" cy="6858000"/>
          </a:xfrm>
          <a:prstGeom prst="rect">
            <a:avLst/>
          </a:prstGeom>
        </p:spPr>
      </p:pic>
    </p:spTree>
    <p:extLst>
      <p:ext uri="{BB962C8B-B14F-4D97-AF65-F5344CB8AC3E}">
        <p14:creationId xmlns:p14="http://schemas.microsoft.com/office/powerpoint/2010/main" val="9895742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xmlns=""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3486</TotalTime>
  <Words>2152</Words>
  <Application>Microsoft Office PowerPoint</Application>
  <PresentationFormat>35mm Slides</PresentationFormat>
  <Paragraphs>426</Paragraphs>
  <Slides>58</Slides>
  <Notes>10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0" baseType="lpstr">
      <vt:lpstr>Celestial</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History OF BIOLOGICAL DATABASE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Pritam</dc:creator>
  <cp:lastModifiedBy>Pritam</cp:lastModifiedBy>
  <cp:revision>120</cp:revision>
  <dcterms:created xsi:type="dcterms:W3CDTF">2020-08-29T16:56:40Z</dcterms:created>
  <dcterms:modified xsi:type="dcterms:W3CDTF">2021-12-24T03:20:28Z</dcterms:modified>
</cp:coreProperties>
</file>