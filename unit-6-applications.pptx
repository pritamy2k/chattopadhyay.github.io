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notesMasterIdLst>
    <p:notesMasterId r:id="rId96"/>
  </p:notesMasterIdLst>
  <p:sldIdLst>
    <p:sldId id="256" r:id="rId2"/>
    <p:sldId id="258" r:id="rId3"/>
    <p:sldId id="316" r:id="rId4"/>
    <p:sldId id="408" r:id="rId5"/>
    <p:sldId id="318" r:id="rId6"/>
    <p:sldId id="319" r:id="rId7"/>
    <p:sldId id="320" r:id="rId8"/>
    <p:sldId id="321" r:id="rId9"/>
    <p:sldId id="322" r:id="rId10"/>
    <p:sldId id="323" r:id="rId11"/>
    <p:sldId id="324" r:id="rId12"/>
    <p:sldId id="325" r:id="rId13"/>
    <p:sldId id="326" r:id="rId14"/>
    <p:sldId id="327" r:id="rId15"/>
    <p:sldId id="328" r:id="rId16"/>
    <p:sldId id="329" r:id="rId17"/>
    <p:sldId id="330" r:id="rId18"/>
    <p:sldId id="331" r:id="rId19"/>
    <p:sldId id="332" r:id="rId20"/>
    <p:sldId id="333" r:id="rId21"/>
    <p:sldId id="334" r:id="rId22"/>
    <p:sldId id="335" r:id="rId23"/>
    <p:sldId id="336" r:id="rId24"/>
    <p:sldId id="337" r:id="rId25"/>
    <p:sldId id="338" r:id="rId26"/>
    <p:sldId id="339" r:id="rId27"/>
    <p:sldId id="340" r:id="rId28"/>
    <p:sldId id="341" r:id="rId29"/>
    <p:sldId id="342" r:id="rId30"/>
    <p:sldId id="409" r:id="rId31"/>
    <p:sldId id="344" r:id="rId32"/>
    <p:sldId id="345" r:id="rId33"/>
    <p:sldId id="346" r:id="rId34"/>
    <p:sldId id="347" r:id="rId35"/>
    <p:sldId id="348" r:id="rId36"/>
    <p:sldId id="349" r:id="rId37"/>
    <p:sldId id="350" r:id="rId38"/>
    <p:sldId id="351" r:id="rId39"/>
    <p:sldId id="352" r:id="rId40"/>
    <p:sldId id="353" r:id="rId41"/>
    <p:sldId id="354" r:id="rId42"/>
    <p:sldId id="355" r:id="rId43"/>
    <p:sldId id="356" r:id="rId44"/>
    <p:sldId id="357" r:id="rId45"/>
    <p:sldId id="358" r:id="rId46"/>
    <p:sldId id="359" r:id="rId47"/>
    <p:sldId id="360" r:id="rId48"/>
    <p:sldId id="361" r:id="rId49"/>
    <p:sldId id="362" r:id="rId50"/>
    <p:sldId id="363" r:id="rId51"/>
    <p:sldId id="364" r:id="rId52"/>
    <p:sldId id="365" r:id="rId53"/>
    <p:sldId id="366" r:id="rId54"/>
    <p:sldId id="367" r:id="rId55"/>
    <p:sldId id="368" r:id="rId56"/>
    <p:sldId id="369" r:id="rId57"/>
    <p:sldId id="370" r:id="rId58"/>
    <p:sldId id="371" r:id="rId59"/>
    <p:sldId id="372" r:id="rId60"/>
    <p:sldId id="373" r:id="rId61"/>
    <p:sldId id="374" r:id="rId62"/>
    <p:sldId id="375" r:id="rId63"/>
    <p:sldId id="376" r:id="rId64"/>
    <p:sldId id="377" r:id="rId65"/>
    <p:sldId id="378" r:id="rId66"/>
    <p:sldId id="379" r:id="rId67"/>
    <p:sldId id="410" r:id="rId68"/>
    <p:sldId id="381" r:id="rId69"/>
    <p:sldId id="382" r:id="rId70"/>
    <p:sldId id="383" r:id="rId71"/>
    <p:sldId id="384" r:id="rId72"/>
    <p:sldId id="385" r:id="rId73"/>
    <p:sldId id="386" r:id="rId74"/>
    <p:sldId id="387" r:id="rId75"/>
    <p:sldId id="388" r:id="rId76"/>
    <p:sldId id="389" r:id="rId77"/>
    <p:sldId id="390" r:id="rId78"/>
    <p:sldId id="391" r:id="rId79"/>
    <p:sldId id="392" r:id="rId80"/>
    <p:sldId id="393" r:id="rId81"/>
    <p:sldId id="394" r:id="rId82"/>
    <p:sldId id="395" r:id="rId83"/>
    <p:sldId id="396" r:id="rId84"/>
    <p:sldId id="411" r:id="rId85"/>
    <p:sldId id="398" r:id="rId86"/>
    <p:sldId id="399" r:id="rId87"/>
    <p:sldId id="400" r:id="rId88"/>
    <p:sldId id="401" r:id="rId89"/>
    <p:sldId id="402" r:id="rId90"/>
    <p:sldId id="403" r:id="rId91"/>
    <p:sldId id="404" r:id="rId92"/>
    <p:sldId id="405" r:id="rId93"/>
    <p:sldId id="406" r:id="rId94"/>
    <p:sldId id="315" r:id="rId95"/>
  </p:sldIdLst>
  <p:sldSz cx="10287000" cy="6858000" type="35mm"/>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C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50" d="100"/>
          <a:sy n="50" d="100"/>
        </p:scale>
        <p:origin x="-1544" y="-476"/>
      </p:cViewPr>
      <p:guideLst>
        <p:guide orient="horz" pos="2160"/>
        <p:guide pos="32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image" Target="../media/image31.png"/></Relationships>
</file>

<file path=ppt/drawings/_rels/vmlDrawing2.v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image" Target="../media/image48.png"/></Relationships>
</file>

<file path=ppt/drawings/_rels/vmlDrawing3.v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image" Target="../media/image50.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3.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5.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56.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C9BF85-77C1-41AE-9F39-6050061EDF6A}" type="datetimeFigureOut">
              <a:rPr lang="en-US" smtClean="0"/>
              <a:t>10/23/2021</a:t>
            </a:fld>
            <a:endParaRPr lang="en-US"/>
          </a:p>
        </p:txBody>
      </p:sp>
      <p:sp>
        <p:nvSpPr>
          <p:cNvPr id="4" name="Slide Image Placeholder 3"/>
          <p:cNvSpPr>
            <a:spLocks noGrp="1" noRot="1" noChangeAspect="1"/>
          </p:cNvSpPr>
          <p:nvPr>
            <p:ph type="sldImg" idx="2"/>
          </p:nvPr>
        </p:nvSpPr>
        <p:spPr>
          <a:xfrm>
            <a:off x="1114425" y="1143000"/>
            <a:ext cx="46291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476B26-3396-4668-8E95-206BD960031C}" type="slidenum">
              <a:rPr lang="en-US" smtClean="0"/>
              <a:t>‹#›</a:t>
            </a:fld>
            <a:endParaRPr lang="en-US"/>
          </a:p>
        </p:txBody>
      </p:sp>
    </p:spTree>
    <p:extLst>
      <p:ext uri="{BB962C8B-B14F-4D97-AF65-F5344CB8AC3E}">
        <p14:creationId xmlns:p14="http://schemas.microsoft.com/office/powerpoint/2010/main" val="22028174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p:cNvSpPr>
            <a:spLocks noGrp="1" noChangeArrowheads="1"/>
          </p:cNvSpPr>
          <p:nvPr>
            <p:ph type="ftr" sz="quarter" idx="4"/>
          </p:nvPr>
        </p:nvSpPr>
        <p:spPr>
          <a:ln/>
        </p:spPr>
        <p:txBody>
          <a:bodyPr/>
          <a:lstStyle/>
          <a:p>
            <a:r>
              <a:rPr lang="en-US"/>
              <a:t>BIC JAIPUR</a:t>
            </a:r>
          </a:p>
        </p:txBody>
      </p:sp>
      <p:sp>
        <p:nvSpPr>
          <p:cNvPr id="7" name="Rectangle 7"/>
          <p:cNvSpPr>
            <a:spLocks noGrp="1" noChangeArrowheads="1"/>
          </p:cNvSpPr>
          <p:nvPr>
            <p:ph type="sldNum" sz="quarter" idx="5"/>
          </p:nvPr>
        </p:nvSpPr>
        <p:spPr>
          <a:ln/>
        </p:spPr>
        <p:txBody>
          <a:bodyPr/>
          <a:lstStyle/>
          <a:p>
            <a:fld id="{13E0674A-CEB0-49E3-96CD-744AB7DF96AE}" type="slidenum">
              <a:rPr lang="en-US"/>
              <a:pPr/>
              <a:t>29</a:t>
            </a:fld>
            <a:endParaRPr lang="en-US"/>
          </a:p>
        </p:txBody>
      </p:sp>
      <p:sp>
        <p:nvSpPr>
          <p:cNvPr id="139266" name="Rectangle 2"/>
          <p:cNvSpPr>
            <a:spLocks noGrp="1" noRot="1" noChangeAspect="1" noChangeArrowheads="1" noTextEdit="1"/>
          </p:cNvSpPr>
          <p:nvPr>
            <p:ph type="sldImg"/>
          </p:nvPr>
        </p:nvSpPr>
        <p:spPr bwMode="auto">
          <a:xfrm>
            <a:off x="865188" y="703263"/>
            <a:ext cx="5167312" cy="3446462"/>
          </a:xfrm>
          <a:prstGeom prst="rect">
            <a:avLst/>
          </a:prstGeom>
          <a:no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39267" name="Rectangle 3"/>
          <p:cNvSpPr>
            <a:spLocks noGrp="1" noChangeArrowheads="1"/>
          </p:cNvSpPr>
          <p:nvPr>
            <p:ph type="body" idx="1"/>
          </p:nvPr>
        </p:nvSpPr>
        <p:spPr bwMode="auto">
          <a:xfrm>
            <a:off x="930275" y="4360863"/>
            <a:ext cx="5037138" cy="4079875"/>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Tree>
    <p:extLst>
      <p:ext uri="{BB962C8B-B14F-4D97-AF65-F5344CB8AC3E}">
        <p14:creationId xmlns:p14="http://schemas.microsoft.com/office/powerpoint/2010/main" val="1370543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p:cNvSpPr>
            <a:spLocks noGrp="1" noChangeArrowheads="1"/>
          </p:cNvSpPr>
          <p:nvPr>
            <p:ph type="ftr" sz="quarter" idx="4"/>
          </p:nvPr>
        </p:nvSpPr>
        <p:spPr>
          <a:ln/>
        </p:spPr>
        <p:txBody>
          <a:bodyPr/>
          <a:lstStyle/>
          <a:p>
            <a:r>
              <a:rPr lang="en-US"/>
              <a:t>BIC JAIPUR</a:t>
            </a:r>
          </a:p>
        </p:txBody>
      </p:sp>
      <p:sp>
        <p:nvSpPr>
          <p:cNvPr id="7" name="Rectangle 7"/>
          <p:cNvSpPr>
            <a:spLocks noGrp="1" noChangeArrowheads="1"/>
          </p:cNvSpPr>
          <p:nvPr>
            <p:ph type="sldNum" sz="quarter" idx="5"/>
          </p:nvPr>
        </p:nvSpPr>
        <p:spPr>
          <a:ln/>
        </p:spPr>
        <p:txBody>
          <a:bodyPr/>
          <a:lstStyle/>
          <a:p>
            <a:fld id="{9EEFF439-351E-474F-B849-7187A42028B1}" type="slidenum">
              <a:rPr lang="en-US"/>
              <a:pPr/>
              <a:t>31</a:t>
            </a:fld>
            <a:endParaRPr lang="en-US"/>
          </a:p>
        </p:txBody>
      </p:sp>
      <p:sp>
        <p:nvSpPr>
          <p:cNvPr id="144386" name="Rectangle 2"/>
          <p:cNvSpPr>
            <a:spLocks noGrp="1" noRot="1" noChangeAspect="1" noChangeArrowheads="1"/>
          </p:cNvSpPr>
          <p:nvPr>
            <p:ph type="sldImg"/>
          </p:nvPr>
        </p:nvSpPr>
        <p:spPr bwMode="auto">
          <a:xfrm>
            <a:off x="855663" y="687388"/>
            <a:ext cx="5143500" cy="3429000"/>
          </a:xfrm>
          <a:prstGeom prst="rect">
            <a:avLst/>
          </a:prstGeom>
          <a:solidFill>
            <a:srgbClr val="FFFFFF"/>
          </a:solidFill>
          <a:ln>
            <a:solidFill>
              <a:srgbClr val="000000"/>
            </a:solidFill>
            <a:miter lim="800000"/>
            <a:headEnd/>
            <a:tailEnd/>
          </a:ln>
        </p:spPr>
      </p:sp>
      <p:sp>
        <p:nvSpPr>
          <p:cNvPr id="144387" name="Rectangle 3"/>
          <p:cNvSpPr>
            <a:spLocks noGrp="1" noChangeArrowheads="1"/>
          </p:cNvSpPr>
          <p:nvPr>
            <p:ph type="body" idx="1"/>
          </p:nvPr>
        </p:nvSpPr>
        <p:spPr bwMode="auto">
          <a:xfrm>
            <a:off x="914400" y="4346575"/>
            <a:ext cx="5027613" cy="4110038"/>
          </a:xfrm>
          <a:prstGeom prst="rect">
            <a:avLst/>
          </a:prstGeom>
          <a:solidFill>
            <a:srgbClr val="FFFFFF"/>
          </a:solidFill>
          <a:ln>
            <a:solidFill>
              <a:srgbClr val="000000"/>
            </a:solidFill>
            <a:miter lim="800000"/>
            <a:headEnd/>
            <a:tailEnd/>
          </a:ln>
        </p:spPr>
        <p:txBody>
          <a:bodyPr lIns="86903" tIns="43452" rIns="86903" bIns="43452"/>
          <a:lstStyle/>
          <a:p>
            <a:endParaRPr lang="en-US"/>
          </a:p>
        </p:txBody>
      </p:sp>
    </p:spTree>
    <p:extLst>
      <p:ext uri="{BB962C8B-B14F-4D97-AF65-F5344CB8AC3E}">
        <p14:creationId xmlns:p14="http://schemas.microsoft.com/office/powerpoint/2010/main" val="26347267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p:cNvSpPr>
            <a:spLocks noGrp="1" noChangeArrowheads="1"/>
          </p:cNvSpPr>
          <p:nvPr>
            <p:ph type="ftr" sz="quarter" idx="4"/>
          </p:nvPr>
        </p:nvSpPr>
        <p:spPr>
          <a:ln/>
        </p:spPr>
        <p:txBody>
          <a:bodyPr/>
          <a:lstStyle/>
          <a:p>
            <a:r>
              <a:rPr lang="en-US"/>
              <a:t>BIC JAIPUR</a:t>
            </a:r>
          </a:p>
        </p:txBody>
      </p:sp>
      <p:sp>
        <p:nvSpPr>
          <p:cNvPr id="7" name="Rectangle 7"/>
          <p:cNvSpPr>
            <a:spLocks noGrp="1" noChangeArrowheads="1"/>
          </p:cNvSpPr>
          <p:nvPr>
            <p:ph type="sldNum" sz="quarter" idx="5"/>
          </p:nvPr>
        </p:nvSpPr>
        <p:spPr>
          <a:ln/>
        </p:spPr>
        <p:txBody>
          <a:bodyPr/>
          <a:lstStyle/>
          <a:p>
            <a:fld id="{2432880D-38BC-4760-A9EA-5823CDF787F4}" type="slidenum">
              <a:rPr lang="en-US"/>
              <a:pPr/>
              <a:t>69</a:t>
            </a:fld>
            <a:endParaRPr lang="en-US"/>
          </a:p>
        </p:txBody>
      </p:sp>
      <p:sp>
        <p:nvSpPr>
          <p:cNvPr id="147458" name="Rectangle 2"/>
          <p:cNvSpPr>
            <a:spLocks noGrp="1" noRot="1" noChangeAspect="1" noChangeArrowheads="1"/>
          </p:cNvSpPr>
          <p:nvPr>
            <p:ph type="sldImg"/>
          </p:nvPr>
        </p:nvSpPr>
        <p:spPr bwMode="auto">
          <a:xfrm>
            <a:off x="855663" y="687388"/>
            <a:ext cx="5143500" cy="3429000"/>
          </a:xfrm>
          <a:prstGeom prst="rect">
            <a:avLst/>
          </a:prstGeom>
          <a:solidFill>
            <a:srgbClr val="FFFFFF"/>
          </a:solidFill>
          <a:ln>
            <a:solidFill>
              <a:srgbClr val="000000"/>
            </a:solidFill>
            <a:miter lim="800000"/>
            <a:headEnd/>
            <a:tailEnd/>
          </a:ln>
        </p:spPr>
      </p:sp>
      <p:sp>
        <p:nvSpPr>
          <p:cNvPr id="147459" name="Rectangle 3"/>
          <p:cNvSpPr>
            <a:spLocks noGrp="1" noChangeArrowheads="1"/>
          </p:cNvSpPr>
          <p:nvPr>
            <p:ph type="body" idx="1"/>
          </p:nvPr>
        </p:nvSpPr>
        <p:spPr bwMode="auto">
          <a:xfrm>
            <a:off x="914400" y="4346575"/>
            <a:ext cx="5027613" cy="4110038"/>
          </a:xfrm>
          <a:prstGeom prst="rect">
            <a:avLst/>
          </a:prstGeom>
          <a:solidFill>
            <a:srgbClr val="FFFFFF"/>
          </a:solidFill>
          <a:ln>
            <a:solidFill>
              <a:srgbClr val="000000"/>
            </a:solidFill>
            <a:miter lim="800000"/>
            <a:headEnd/>
            <a:tailEnd/>
          </a:ln>
        </p:spPr>
        <p:txBody>
          <a:bodyPr lIns="86903" tIns="43452" rIns="86903" bIns="43452"/>
          <a:lstStyle/>
          <a:p>
            <a:endParaRPr lang="en-US"/>
          </a:p>
        </p:txBody>
      </p:sp>
    </p:spTree>
    <p:extLst>
      <p:ext uri="{BB962C8B-B14F-4D97-AF65-F5344CB8AC3E}">
        <p14:creationId xmlns:p14="http://schemas.microsoft.com/office/powerpoint/2010/main" val="30214811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p:cNvSpPr>
            <a:spLocks noGrp="1" noChangeArrowheads="1"/>
          </p:cNvSpPr>
          <p:nvPr>
            <p:ph type="ftr" sz="quarter" idx="4"/>
          </p:nvPr>
        </p:nvSpPr>
        <p:spPr>
          <a:ln/>
        </p:spPr>
        <p:txBody>
          <a:bodyPr/>
          <a:lstStyle/>
          <a:p>
            <a:r>
              <a:rPr lang="en-US"/>
              <a:t>BIC JAIPUR</a:t>
            </a:r>
          </a:p>
        </p:txBody>
      </p:sp>
      <p:sp>
        <p:nvSpPr>
          <p:cNvPr id="7" name="Rectangle 7"/>
          <p:cNvSpPr>
            <a:spLocks noGrp="1" noChangeArrowheads="1"/>
          </p:cNvSpPr>
          <p:nvPr>
            <p:ph type="sldNum" sz="quarter" idx="5"/>
          </p:nvPr>
        </p:nvSpPr>
        <p:spPr>
          <a:ln/>
        </p:spPr>
        <p:txBody>
          <a:bodyPr/>
          <a:lstStyle/>
          <a:p>
            <a:fld id="{83888339-2B89-4423-BDEE-F5A5D45B6B7B}" type="slidenum">
              <a:rPr lang="en-US"/>
              <a:pPr/>
              <a:t>70</a:t>
            </a:fld>
            <a:endParaRPr lang="en-US"/>
          </a:p>
        </p:txBody>
      </p:sp>
      <p:sp>
        <p:nvSpPr>
          <p:cNvPr id="151554" name="Rectangle 2"/>
          <p:cNvSpPr>
            <a:spLocks noGrp="1" noRot="1" noChangeAspect="1" noChangeArrowheads="1"/>
          </p:cNvSpPr>
          <p:nvPr>
            <p:ph type="sldImg"/>
          </p:nvPr>
        </p:nvSpPr>
        <p:spPr bwMode="auto">
          <a:xfrm>
            <a:off x="855663" y="687388"/>
            <a:ext cx="5143500" cy="3429000"/>
          </a:xfrm>
          <a:prstGeom prst="rect">
            <a:avLst/>
          </a:prstGeom>
          <a:solidFill>
            <a:srgbClr val="FFFFFF"/>
          </a:solidFill>
          <a:ln>
            <a:solidFill>
              <a:srgbClr val="000000"/>
            </a:solidFill>
            <a:miter lim="800000"/>
            <a:headEnd/>
            <a:tailEnd/>
          </a:ln>
        </p:spPr>
      </p:sp>
      <p:sp>
        <p:nvSpPr>
          <p:cNvPr id="151555" name="Rectangle 3"/>
          <p:cNvSpPr>
            <a:spLocks noGrp="1" noChangeArrowheads="1"/>
          </p:cNvSpPr>
          <p:nvPr>
            <p:ph type="body" idx="1"/>
          </p:nvPr>
        </p:nvSpPr>
        <p:spPr bwMode="auto">
          <a:xfrm>
            <a:off x="914400" y="4346575"/>
            <a:ext cx="5027613" cy="4110038"/>
          </a:xfrm>
          <a:prstGeom prst="rect">
            <a:avLst/>
          </a:prstGeom>
          <a:solidFill>
            <a:srgbClr val="FFFFFF"/>
          </a:solidFill>
          <a:ln>
            <a:solidFill>
              <a:srgbClr val="000000"/>
            </a:solidFill>
            <a:miter lim="800000"/>
            <a:headEnd/>
            <a:tailEnd/>
          </a:ln>
        </p:spPr>
        <p:txBody>
          <a:bodyPr lIns="86903" tIns="43452" rIns="86903" bIns="43452"/>
          <a:lstStyle/>
          <a:p>
            <a:endParaRPr lang="en-US"/>
          </a:p>
        </p:txBody>
      </p:sp>
    </p:spTree>
    <p:extLst>
      <p:ext uri="{BB962C8B-B14F-4D97-AF65-F5344CB8AC3E}">
        <p14:creationId xmlns:p14="http://schemas.microsoft.com/office/powerpoint/2010/main" val="13690668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p:cNvSpPr>
            <a:spLocks noGrp="1" noChangeArrowheads="1"/>
          </p:cNvSpPr>
          <p:nvPr>
            <p:ph type="ftr" sz="quarter" idx="4"/>
          </p:nvPr>
        </p:nvSpPr>
        <p:spPr>
          <a:ln/>
        </p:spPr>
        <p:txBody>
          <a:bodyPr/>
          <a:lstStyle/>
          <a:p>
            <a:r>
              <a:rPr lang="en-US"/>
              <a:t>BIC JAIPUR</a:t>
            </a:r>
          </a:p>
        </p:txBody>
      </p:sp>
      <p:sp>
        <p:nvSpPr>
          <p:cNvPr id="7" name="Rectangle 7"/>
          <p:cNvSpPr>
            <a:spLocks noGrp="1" noChangeArrowheads="1"/>
          </p:cNvSpPr>
          <p:nvPr>
            <p:ph type="sldNum" sz="quarter" idx="5"/>
          </p:nvPr>
        </p:nvSpPr>
        <p:spPr>
          <a:ln/>
        </p:spPr>
        <p:txBody>
          <a:bodyPr/>
          <a:lstStyle/>
          <a:p>
            <a:fld id="{70E1E368-FC6D-4289-A885-EEC38F9D178A}" type="slidenum">
              <a:rPr lang="en-US"/>
              <a:pPr/>
              <a:t>93</a:t>
            </a:fld>
            <a:endParaRPr lang="en-US"/>
          </a:p>
        </p:txBody>
      </p:sp>
      <p:sp>
        <p:nvSpPr>
          <p:cNvPr id="234498" name="Rectangle 2"/>
          <p:cNvSpPr>
            <a:spLocks noGrp="1" noRot="1" noChangeAspect="1" noChangeArrowheads="1"/>
          </p:cNvSpPr>
          <p:nvPr>
            <p:ph type="sldImg"/>
          </p:nvPr>
        </p:nvSpPr>
        <p:spPr bwMode="auto">
          <a:xfrm>
            <a:off x="857250" y="685800"/>
            <a:ext cx="5143500" cy="3429000"/>
          </a:xfrm>
          <a:prstGeom prst="rect">
            <a:avLst/>
          </a:prstGeom>
          <a:solidFill>
            <a:srgbClr val="FFFFFF"/>
          </a:solidFill>
          <a:ln>
            <a:solidFill>
              <a:srgbClr val="000000"/>
            </a:solidFill>
            <a:miter lim="800000"/>
            <a:headEnd/>
            <a:tailEnd/>
          </a:ln>
        </p:spPr>
      </p:sp>
      <p:sp>
        <p:nvSpPr>
          <p:cNvPr id="23449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AU"/>
              <a:t>There is a lot of interest in bioinformatics and there is no doubt that the techniques being developed are becoming widespread in molecular biology, from small scale sequence analysis to the large scale study of whole genomes.</a:t>
            </a:r>
          </a:p>
          <a:p>
            <a:r>
              <a:rPr lang="en-AU"/>
              <a:t>One of the challenges in bioinformatics is keeping up with the rapid pace of growth in sequence data. Genbank doubles every 14 months, whereas the computing power to analyze the information currently doubles only every 18 months. The future of bioinformatics analysis therefore cannot rely solely on developments in computer technology, but is also dependent on the development of faster, more efficient analysis methods and of “expert systems” for the automatic detection of interesting information in large amounts of data with a minimum of human input.</a:t>
            </a:r>
          </a:p>
          <a:p>
            <a:r>
              <a:rPr lang="en-AU"/>
              <a:t>It is important to realize that the bioinformatics discovery process has to be driven by biology. Information technology may provide the means and techniques but ultimately biologists are the ones who have to use the tools and apply their knowledge of biology to the formulation of the problems to be solved using bioinformatics, and the interpretation of the results from bioinformatics analyses. Bioinformatics software is certainly becoming easier to use, but it is important that biologists understand the assumptions and limitations underlying the software tools they are using in order to make the best use of them.</a:t>
            </a:r>
          </a:p>
        </p:txBody>
      </p:sp>
    </p:spTree>
    <p:extLst>
      <p:ext uri="{BB962C8B-B14F-4D97-AF65-F5344CB8AC3E}">
        <p14:creationId xmlns:p14="http://schemas.microsoft.com/office/powerpoint/2010/main" val="143270701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1" name="Picture 10" descr="Celestia-R1---OverlayTitle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8322469" cy="6858000"/>
          </a:xfrm>
          <a:prstGeom prst="rect">
            <a:avLst/>
          </a:prstGeom>
        </p:spPr>
      </p:pic>
      <p:sp>
        <p:nvSpPr>
          <p:cNvPr id="2" name="Title 1"/>
          <p:cNvSpPr>
            <a:spLocks noGrp="1"/>
          </p:cNvSpPr>
          <p:nvPr>
            <p:ph type="ctrTitle"/>
          </p:nvPr>
        </p:nvSpPr>
        <p:spPr>
          <a:xfrm>
            <a:off x="3086969" y="1964267"/>
            <a:ext cx="6428507" cy="2421464"/>
          </a:xfrm>
        </p:spPr>
        <p:txBody>
          <a:bodyPr anchor="b">
            <a:normAutofit/>
          </a:bodyPr>
          <a:lstStyle>
            <a:lvl1pPr algn="r">
              <a:defRPr sz="4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3086969" y="4385734"/>
            <a:ext cx="6428507"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596350" y="5870577"/>
            <a:ext cx="1363695" cy="377825"/>
          </a:xfrm>
        </p:spPr>
        <p:txBody>
          <a:bodyPr/>
          <a:lstStyle/>
          <a:p>
            <a:fld id="{E4136626-2AE9-4567-8D5E-94F038CBDAA7}" type="datetimeFigureOut">
              <a:rPr lang="en-US" smtClean="0"/>
              <a:t>10/23/2021</a:t>
            </a:fld>
            <a:endParaRPr lang="en-US"/>
          </a:p>
        </p:txBody>
      </p:sp>
      <p:sp>
        <p:nvSpPr>
          <p:cNvPr id="5" name="Footer Placeholder 4"/>
          <p:cNvSpPr>
            <a:spLocks noGrp="1"/>
          </p:cNvSpPr>
          <p:nvPr>
            <p:ph type="ftr" sz="quarter" idx="11"/>
          </p:nvPr>
        </p:nvSpPr>
        <p:spPr>
          <a:xfrm>
            <a:off x="3086970" y="5870577"/>
            <a:ext cx="4423654" cy="377825"/>
          </a:xfrm>
        </p:spPr>
        <p:txBody>
          <a:bodyPr/>
          <a:lstStyle/>
          <a:p>
            <a:endParaRPr lang="en-US"/>
          </a:p>
        </p:txBody>
      </p:sp>
      <p:sp>
        <p:nvSpPr>
          <p:cNvPr id="6" name="Slide Number Placeholder 5"/>
          <p:cNvSpPr>
            <a:spLocks noGrp="1"/>
          </p:cNvSpPr>
          <p:nvPr>
            <p:ph type="sldNum" sz="quarter" idx="12"/>
          </p:nvPr>
        </p:nvSpPr>
        <p:spPr>
          <a:xfrm>
            <a:off x="9045770" y="5870577"/>
            <a:ext cx="469706" cy="377825"/>
          </a:xfrm>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8457061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8" name="Picture 7"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Title 1"/>
          <p:cNvSpPr>
            <a:spLocks noGrp="1"/>
          </p:cNvSpPr>
          <p:nvPr>
            <p:ph type="title"/>
          </p:nvPr>
        </p:nvSpPr>
        <p:spPr/>
        <p:txBody>
          <a:bodyPr>
            <a:normAutofit/>
          </a:bodyPr>
          <a:lstStyle>
            <a:lvl1pPr>
              <a:defRPr sz="2800"/>
            </a:lvl1p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4136626-2AE9-4567-8D5E-94F038CBDAA7}" type="datetimeFigureOut">
              <a:rPr lang="en-US" smtClean="0"/>
              <a:t>10/23/2021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2132262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8" name="Picture 7"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Title 1"/>
          <p:cNvSpPr>
            <a:spLocks noGrp="1"/>
          </p:cNvSpPr>
          <p:nvPr>
            <p:ph type="title"/>
          </p:nvPr>
        </p:nvSpPr>
        <p:spPr>
          <a:xfrm>
            <a:off x="514352" y="3308581"/>
            <a:ext cx="8743950" cy="1468800"/>
          </a:xfrm>
        </p:spPr>
        <p:txBody>
          <a:bodyPr anchor="b">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514351" y="4777381"/>
            <a:ext cx="8743950" cy="860400"/>
          </a:xfrm>
        </p:spPr>
        <p:txBody>
          <a:bodyPr anchor="t">
            <a:normAutofit/>
          </a:bodyPr>
          <a:lstStyle>
            <a:lvl1pPr marL="0" indent="0" algn="l">
              <a:buNone/>
              <a:defRPr sz="18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4136626-2AE9-4567-8D5E-94F038CBDAA7}" type="datetimeFigureOut">
              <a:rPr lang="en-US" smtClean="0"/>
              <a:t>10/23/2021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21702602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514351" y="2142068"/>
            <a:ext cx="4289679" cy="364913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968622" y="2142069"/>
            <a:ext cx="4289679" cy="3649133"/>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4136626-2AE9-4567-8D5E-94F038CBDAA7}" type="datetimeFigureOut">
              <a:rPr lang="en-US" smtClean="0"/>
              <a:t>10/23/2021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18656250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3" name="Picture 12"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Title 1"/>
          <p:cNvSpPr>
            <a:spLocks noGrp="1"/>
          </p:cNvSpPr>
          <p:nvPr>
            <p:ph type="title"/>
          </p:nvPr>
        </p:nvSpPr>
        <p:spPr/>
        <p:txBody>
          <a:bodyPr>
            <a:normAutofit/>
          </a:bodyPr>
          <a:lstStyle>
            <a:lvl1pPr>
              <a:defRPr sz="3200"/>
            </a:lvl1pPr>
          </a:lstStyle>
          <a:p>
            <a:r>
              <a:rPr lang="en-US" smtClean="0"/>
              <a:t>Click to edit Master title style</a:t>
            </a:r>
            <a:endParaRPr lang="en-US" dirty="0"/>
          </a:p>
        </p:txBody>
      </p:sp>
      <p:sp>
        <p:nvSpPr>
          <p:cNvPr id="3" name="Text Placeholder 2"/>
          <p:cNvSpPr>
            <a:spLocks noGrp="1"/>
          </p:cNvSpPr>
          <p:nvPr>
            <p:ph type="body" idx="1"/>
          </p:nvPr>
        </p:nvSpPr>
        <p:spPr>
          <a:xfrm>
            <a:off x="836416" y="2218267"/>
            <a:ext cx="398317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14350" y="2870201"/>
            <a:ext cx="4289679" cy="292099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300010" y="2218267"/>
            <a:ext cx="3958290"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968621" y="2870201"/>
            <a:ext cx="4289679" cy="292099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E4136626-2AE9-4567-8D5E-94F038CBDAA7}" type="datetimeFigureOut">
              <a:rPr lang="en-US" smtClean="0"/>
              <a:t>10/23/2021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37214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Title 1"/>
          <p:cNvSpPr>
            <a:spLocks noGrp="1"/>
          </p:cNvSpPr>
          <p:nvPr>
            <p:ph type="title"/>
          </p:nvPr>
        </p:nvSpPr>
        <p:spPr>
          <a:xfrm>
            <a:off x="514351" y="609602"/>
            <a:ext cx="8743950" cy="1456267"/>
          </a:xfrm>
        </p:spPr>
        <p:txBody>
          <a:bodyPr>
            <a:normAutofit/>
          </a:bodyPr>
          <a:lstStyle>
            <a:lvl1pPr>
              <a:defRPr sz="3200"/>
            </a:lvl1p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E4136626-2AE9-4567-8D5E-94F038CBDAA7}" type="datetimeFigureOut">
              <a:rPr lang="en-US" smtClean="0"/>
              <a:t>10/23/2021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16047701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Date Placeholder 1"/>
          <p:cNvSpPr>
            <a:spLocks noGrp="1"/>
          </p:cNvSpPr>
          <p:nvPr>
            <p:ph type="dt" sz="half" idx="10"/>
          </p:nvPr>
        </p:nvSpPr>
        <p:spPr/>
        <p:txBody>
          <a:bodyPr/>
          <a:lstStyle/>
          <a:p>
            <a:fld id="{E4136626-2AE9-4567-8D5E-94F038CBDAA7}" type="datetimeFigureOut">
              <a:rPr lang="en-US" smtClean="0"/>
              <a:t>10/23/2021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26337716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2" name="Picture 11"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Title 1"/>
          <p:cNvSpPr>
            <a:spLocks noGrp="1"/>
          </p:cNvSpPr>
          <p:nvPr>
            <p:ph type="title"/>
          </p:nvPr>
        </p:nvSpPr>
        <p:spPr>
          <a:xfrm>
            <a:off x="519433" y="1557868"/>
            <a:ext cx="3220774" cy="1439332"/>
          </a:xfrm>
        </p:spPr>
        <p:txBody>
          <a:bodyPr anchor="b">
            <a:norm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056913" y="609601"/>
            <a:ext cx="5206472" cy="51816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19433" y="2997201"/>
            <a:ext cx="3220774" cy="184573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4136626-2AE9-4567-8D5E-94F038CBDAA7}" type="datetimeFigureOut">
              <a:rPr lang="en-US" smtClean="0"/>
              <a:t>10/23/2021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22603610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1" name="Picture 10"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Title 1"/>
          <p:cNvSpPr>
            <a:spLocks noGrp="1"/>
          </p:cNvSpPr>
          <p:nvPr>
            <p:ph type="title"/>
          </p:nvPr>
        </p:nvSpPr>
        <p:spPr>
          <a:xfrm>
            <a:off x="519894" y="1735672"/>
            <a:ext cx="4609355" cy="1371600"/>
          </a:xfrm>
        </p:spPr>
        <p:txBody>
          <a:bodyPr anchor="b">
            <a:normAutofit/>
          </a:bodyPr>
          <a:lstStyle>
            <a:lvl1pPr algn="l">
              <a:defRPr sz="24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5657850" y="914400"/>
            <a:ext cx="3600450"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vert="horz" lIns="91440" tIns="45720" rIns="91440" bIns="45720" rtlCol="0" anchor="t">
            <a:normAutofit/>
          </a:bodyPr>
          <a:lstStyle>
            <a:lvl1pPr>
              <a:defRPr lang="en-US" sz="1600" dirty="0"/>
            </a:lvl1pPr>
          </a:lstStyle>
          <a:p>
            <a:pPr marL="0" lvl="0" indent="0" algn="ctr">
              <a:buNone/>
            </a:pPr>
            <a:r>
              <a:rPr lang="en-US" smtClean="0"/>
              <a:t>Click icon to add picture</a:t>
            </a:r>
            <a:endParaRPr lang="en-US" dirty="0"/>
          </a:p>
        </p:txBody>
      </p:sp>
      <p:sp>
        <p:nvSpPr>
          <p:cNvPr id="4" name="Text Placeholder 3"/>
          <p:cNvSpPr>
            <a:spLocks noGrp="1"/>
          </p:cNvSpPr>
          <p:nvPr>
            <p:ph type="body" sz="half" idx="2"/>
          </p:nvPr>
        </p:nvSpPr>
        <p:spPr>
          <a:xfrm>
            <a:off x="519894" y="3107272"/>
            <a:ext cx="460935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4136626-2AE9-4567-8D5E-94F038CBDAA7}" type="datetimeFigureOut">
              <a:rPr lang="en-US" smtClean="0"/>
              <a:t>10/23/2021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14552698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Title 1"/>
          <p:cNvSpPr>
            <a:spLocks noGrp="1"/>
          </p:cNvSpPr>
          <p:nvPr>
            <p:ph type="title"/>
          </p:nvPr>
        </p:nvSpPr>
        <p:spPr>
          <a:xfrm>
            <a:off x="514351" y="4732865"/>
            <a:ext cx="8743950" cy="566738"/>
          </a:xfrm>
        </p:spPr>
        <p:txBody>
          <a:bodyPr anchor="b">
            <a:normAutofit/>
          </a:bodyPr>
          <a:lstStyle>
            <a:lvl1pPr algn="l">
              <a:defRPr sz="20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28701" y="932112"/>
            <a:ext cx="7715250"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vert="horz" lIns="91440" tIns="45720" rIns="91440" bIns="45720" rtlCol="0" anchor="t">
            <a:normAutofit/>
          </a:bodyPr>
          <a:lstStyle>
            <a:lvl1pPr>
              <a:defRPr lang="en-US" sz="1600"/>
            </a:lvl1pPr>
          </a:lstStyle>
          <a:p>
            <a:pPr marL="0" lvl="0" indent="0" algn="ctr">
              <a:buNone/>
            </a:pPr>
            <a:r>
              <a:rPr lang="en-US" smtClean="0"/>
              <a:t>Click icon to add picture</a:t>
            </a:r>
            <a:endParaRPr lang="en-US" dirty="0"/>
          </a:p>
        </p:txBody>
      </p:sp>
      <p:sp>
        <p:nvSpPr>
          <p:cNvPr id="4" name="Text Placeholder 3"/>
          <p:cNvSpPr>
            <a:spLocks noGrp="1"/>
          </p:cNvSpPr>
          <p:nvPr>
            <p:ph type="body" sz="half" idx="2"/>
          </p:nvPr>
        </p:nvSpPr>
        <p:spPr>
          <a:xfrm>
            <a:off x="514351" y="5299603"/>
            <a:ext cx="874395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4136626-2AE9-4567-8D5E-94F038CBDAA7}" type="datetimeFigureOut">
              <a:rPr lang="en-US" smtClean="0"/>
              <a:t>10/23/2021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20343046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Title 1"/>
          <p:cNvSpPr>
            <a:spLocks noGrp="1"/>
          </p:cNvSpPr>
          <p:nvPr>
            <p:ph type="title"/>
          </p:nvPr>
        </p:nvSpPr>
        <p:spPr>
          <a:xfrm>
            <a:off x="514354" y="609603"/>
            <a:ext cx="8743949" cy="3124199"/>
          </a:xfrm>
        </p:spPr>
        <p:txBody>
          <a:bodyPr anchor="ctr">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514353" y="4343400"/>
            <a:ext cx="8743949"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4136626-2AE9-4567-8D5E-94F038CBDAA7}" type="datetimeFigureOut">
              <a:rPr lang="en-US" smtClean="0"/>
              <a:t>10/23/2021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8437018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7" name="Picture 1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14" name="TextBox 13"/>
          <p:cNvSpPr txBox="1"/>
          <p:nvPr/>
        </p:nvSpPr>
        <p:spPr>
          <a:xfrm>
            <a:off x="474521" y="718114"/>
            <a:ext cx="514484"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702776" y="2751671"/>
            <a:ext cx="514484"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89005" y="609603"/>
            <a:ext cx="7977709" cy="2743199"/>
          </a:xfrm>
        </p:spPr>
        <p:txBody>
          <a:bodyPr anchor="ctr">
            <a:normAutofit/>
          </a:bodyPr>
          <a:lstStyle>
            <a:lvl1pPr algn="l">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112255" y="3352800"/>
            <a:ext cx="7735650" cy="381000"/>
          </a:xfrm>
        </p:spPr>
        <p:txBody>
          <a:bodyPr anchor="ctr">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520049" y="4343400"/>
            <a:ext cx="8743950"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4136626-2AE9-4567-8D5E-94F038CBDAA7}" type="datetimeFigureOut">
              <a:rPr lang="en-US" smtClean="0"/>
              <a:t>10/23/2021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8669568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Title 1"/>
          <p:cNvSpPr>
            <a:spLocks noGrp="1"/>
          </p:cNvSpPr>
          <p:nvPr>
            <p:ph type="title"/>
          </p:nvPr>
        </p:nvSpPr>
        <p:spPr>
          <a:xfrm>
            <a:off x="514352" y="3291648"/>
            <a:ext cx="8743951" cy="1468800"/>
          </a:xfrm>
        </p:spPr>
        <p:txBody>
          <a:bodyPr anchor="b">
            <a:normAutofit/>
          </a:bodyPr>
          <a:lstStyle>
            <a:lvl1pPr algn="l">
              <a:defRPr sz="2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514350" y="4760448"/>
            <a:ext cx="8743952"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4136626-2AE9-4567-8D5E-94F038CBDAA7}" type="datetimeFigureOut">
              <a:rPr lang="en-US" smtClean="0"/>
              <a:t>10/23/2021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10051304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3" name="Picture 12"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11" name="TextBox 10"/>
          <p:cNvSpPr txBox="1"/>
          <p:nvPr/>
        </p:nvSpPr>
        <p:spPr>
          <a:xfrm>
            <a:off x="474521" y="718114"/>
            <a:ext cx="514484"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6" name="TextBox 15"/>
          <p:cNvSpPr txBox="1"/>
          <p:nvPr/>
        </p:nvSpPr>
        <p:spPr>
          <a:xfrm>
            <a:off x="8702776" y="2751671"/>
            <a:ext cx="514484"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89005" y="609603"/>
            <a:ext cx="7977709" cy="2743199"/>
          </a:xfrm>
        </p:spPr>
        <p:txBody>
          <a:bodyPr anchor="ctr">
            <a:normAutofit/>
          </a:bodyPr>
          <a:lstStyle>
            <a:lvl1pPr algn="l">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514351" y="3886200"/>
            <a:ext cx="8743951" cy="889000"/>
          </a:xfrm>
        </p:spPr>
        <p:txBody>
          <a:bodyPr vert="horz" lIns="91440" tIns="45720" rIns="91440" bIns="45720" rtlCol="0" anchor="b">
            <a:normAutofit/>
          </a:bodyPr>
          <a:lstStyle>
            <a:lvl1pPr>
              <a:buNone/>
              <a:defRPr lang="en-US" sz="2000" b="0" cap="none"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514351" y="4775200"/>
            <a:ext cx="8743951" cy="10160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4136626-2AE9-4567-8D5E-94F038CBDAA7}" type="datetimeFigureOut">
              <a:rPr lang="en-US" smtClean="0"/>
              <a:t>10/23/2021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31317424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Title 1"/>
          <p:cNvSpPr>
            <a:spLocks noGrp="1"/>
          </p:cNvSpPr>
          <p:nvPr>
            <p:ph type="title"/>
          </p:nvPr>
        </p:nvSpPr>
        <p:spPr>
          <a:xfrm>
            <a:off x="522496" y="609603"/>
            <a:ext cx="8743951" cy="2743199"/>
          </a:xfrm>
        </p:spPr>
        <p:txBody>
          <a:bodyPr vert="horz" lIns="91440" tIns="45720" rIns="91440" bIns="45720" rtlCol="0" anchor="ctr">
            <a:normAutofit/>
          </a:bodyPr>
          <a:lstStyle>
            <a:lvl1pPr>
              <a:defRPr lang="en-US" sz="2800"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522496" y="3505200"/>
            <a:ext cx="8743951" cy="838200"/>
          </a:xfrm>
        </p:spPr>
        <p:txBody>
          <a:bodyPr vert="horz" lIns="91440" tIns="45720" rIns="91440" bIns="45720" rtlCol="0" anchor="b">
            <a:normAutofit/>
          </a:bodyPr>
          <a:lstStyle>
            <a:lvl1pPr>
              <a:buNone/>
              <a:defRPr lang="en-US" sz="2000" b="0" cap="none"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522495" y="4343400"/>
            <a:ext cx="8743951" cy="14478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4136626-2AE9-4567-8D5E-94F038CBDAA7}" type="datetimeFigureOut">
              <a:rPr lang="en-US" smtClean="0"/>
              <a:t>10/23/2021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3507549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8" name="Title 1"/>
          <p:cNvSpPr>
            <a:spLocks noGrp="1"/>
          </p:cNvSpPr>
          <p:nvPr>
            <p:ph type="title"/>
          </p:nvPr>
        </p:nvSpPr>
        <p:spPr>
          <a:xfrm>
            <a:off x="514350" y="609602"/>
            <a:ext cx="8743950" cy="1456267"/>
          </a:xfrm>
        </p:spPr>
        <p:txBody>
          <a:bodyPr>
            <a:normAutofit/>
          </a:bodyPr>
          <a:lstStyle>
            <a:lvl1pPr>
              <a:defRPr sz="2800"/>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4136626-2AE9-4567-8D5E-94F038CBDAA7}" type="datetimeFigureOut">
              <a:rPr lang="en-US" smtClean="0"/>
              <a:t>10/23/2021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23785357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Vertical Title 1"/>
          <p:cNvSpPr>
            <a:spLocks noGrp="1"/>
          </p:cNvSpPr>
          <p:nvPr>
            <p:ph type="title" orient="vert"/>
          </p:nvPr>
        </p:nvSpPr>
        <p:spPr>
          <a:xfrm>
            <a:off x="7372101" y="609601"/>
            <a:ext cx="1886199" cy="5181601"/>
          </a:xfrm>
        </p:spPr>
        <p:txBody>
          <a:bodyPr vert="eaVert">
            <a:normAutofit/>
          </a:bodyPr>
          <a:lstStyle>
            <a:lvl1pPr>
              <a:defRPr sz="2800"/>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14350" y="609600"/>
            <a:ext cx="6738957" cy="5181600"/>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4136626-2AE9-4567-8D5E-94F038CBDAA7}" type="datetimeFigureOut">
              <a:rPr lang="en-US" smtClean="0"/>
              <a:t>10/23/2021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29639079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771525" y="609600"/>
            <a:ext cx="874395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771525" y="1981200"/>
            <a:ext cx="428625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Online Image Placeholder 3"/>
          <p:cNvSpPr>
            <a:spLocks noGrp="1"/>
          </p:cNvSpPr>
          <p:nvPr>
            <p:ph type="clipArt" sz="half" idx="2"/>
          </p:nvPr>
        </p:nvSpPr>
        <p:spPr>
          <a:xfrm>
            <a:off x="5229225" y="1981200"/>
            <a:ext cx="4286250" cy="4114800"/>
          </a:xfrm>
        </p:spPr>
        <p:txBody>
          <a:bodyPr/>
          <a:lstStyle/>
          <a:p>
            <a:endParaRPr lang="en-US"/>
          </a:p>
        </p:txBody>
      </p:sp>
      <p:sp>
        <p:nvSpPr>
          <p:cNvPr id="5" name="Date Placeholder 4"/>
          <p:cNvSpPr>
            <a:spLocks noGrp="1"/>
          </p:cNvSpPr>
          <p:nvPr>
            <p:ph type="dt" sz="half" idx="10"/>
          </p:nvPr>
        </p:nvSpPr>
        <p:spPr>
          <a:xfrm>
            <a:off x="771525" y="6248400"/>
            <a:ext cx="2143125" cy="457200"/>
          </a:xfrm>
        </p:spPr>
        <p:txBody>
          <a:bodyPr/>
          <a:lstStyle>
            <a:lvl1pPr>
              <a:defRPr/>
            </a:lvl1pPr>
          </a:lstStyle>
          <a:p>
            <a:endParaRPr lang="en-US"/>
          </a:p>
        </p:txBody>
      </p:sp>
      <p:sp>
        <p:nvSpPr>
          <p:cNvPr id="6" name="Footer Placeholder 5"/>
          <p:cNvSpPr>
            <a:spLocks noGrp="1"/>
          </p:cNvSpPr>
          <p:nvPr>
            <p:ph type="ftr" sz="quarter" idx="11"/>
          </p:nvPr>
        </p:nvSpPr>
        <p:spPr>
          <a:xfrm>
            <a:off x="3514725" y="6248400"/>
            <a:ext cx="3257550" cy="457200"/>
          </a:xfrm>
        </p:spPr>
        <p:txBody>
          <a:bodyPr/>
          <a:lstStyle>
            <a:lvl1pPr>
              <a:defRPr/>
            </a:lvl1pPr>
          </a:lstStyle>
          <a:p>
            <a:r>
              <a:rPr lang="en-US"/>
              <a:t>Bioinformatics Centre, BISR, Jaipur</a:t>
            </a:r>
          </a:p>
        </p:txBody>
      </p:sp>
      <p:sp>
        <p:nvSpPr>
          <p:cNvPr id="7" name="Slide Number Placeholder 6"/>
          <p:cNvSpPr>
            <a:spLocks noGrp="1"/>
          </p:cNvSpPr>
          <p:nvPr>
            <p:ph type="sldNum" sz="quarter" idx="12"/>
          </p:nvPr>
        </p:nvSpPr>
        <p:spPr>
          <a:xfrm>
            <a:off x="7372350" y="6248400"/>
            <a:ext cx="2143125" cy="457200"/>
          </a:xfrm>
        </p:spPr>
        <p:txBody>
          <a:bodyPr/>
          <a:lstStyle>
            <a:lvl1pPr>
              <a:defRPr/>
            </a:lvl1pPr>
          </a:lstStyle>
          <a:p>
            <a:fld id="{B813C1F4-A0DE-4C8C-8468-320857E89F19}" type="slidenum">
              <a:rPr lang="en-US"/>
              <a:pPr/>
              <a:t>‹#›</a:t>
            </a:fld>
            <a:endParaRPr lang="en-US"/>
          </a:p>
        </p:txBody>
      </p:sp>
    </p:spTree>
    <p:extLst>
      <p:ext uri="{BB962C8B-B14F-4D97-AF65-F5344CB8AC3E}">
        <p14:creationId xmlns:p14="http://schemas.microsoft.com/office/powerpoint/2010/main" val="38185963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71525" y="609600"/>
            <a:ext cx="874395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771525" y="1981200"/>
            <a:ext cx="428625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229225" y="1981200"/>
            <a:ext cx="428625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7372350" y="6248400"/>
            <a:ext cx="2143125" cy="457200"/>
          </a:xfrm>
        </p:spPr>
        <p:txBody>
          <a:bodyPr/>
          <a:lstStyle>
            <a:lvl1pPr>
              <a:defRPr/>
            </a:lvl1pPr>
          </a:lstStyle>
          <a:p>
            <a:endParaRPr lang="en-US"/>
          </a:p>
        </p:txBody>
      </p:sp>
      <p:sp>
        <p:nvSpPr>
          <p:cNvPr id="6" name="Footer Placeholder 5"/>
          <p:cNvSpPr>
            <a:spLocks noGrp="1"/>
          </p:cNvSpPr>
          <p:nvPr>
            <p:ph type="ftr" sz="quarter" idx="11"/>
          </p:nvPr>
        </p:nvSpPr>
        <p:spPr>
          <a:xfrm>
            <a:off x="3514725" y="6248400"/>
            <a:ext cx="3257550" cy="457200"/>
          </a:xfrm>
        </p:spPr>
        <p:txBody>
          <a:bodyPr/>
          <a:lstStyle>
            <a:lvl1pPr>
              <a:defRPr/>
            </a:lvl1pPr>
          </a:lstStyle>
          <a:p>
            <a:endParaRPr lang="en-US" altLang="en-US"/>
          </a:p>
        </p:txBody>
      </p:sp>
      <p:sp>
        <p:nvSpPr>
          <p:cNvPr id="7" name="Slide Number Placeholder 6"/>
          <p:cNvSpPr>
            <a:spLocks noGrp="1"/>
          </p:cNvSpPr>
          <p:nvPr>
            <p:ph type="sldNum" sz="quarter" idx="12"/>
          </p:nvPr>
        </p:nvSpPr>
        <p:spPr>
          <a:xfrm>
            <a:off x="771525" y="6248400"/>
            <a:ext cx="2143125" cy="457200"/>
          </a:xfrm>
        </p:spPr>
        <p:txBody>
          <a:bodyPr/>
          <a:lstStyle>
            <a:lvl1pPr>
              <a:defRPr/>
            </a:lvl1pPr>
          </a:lstStyle>
          <a:p>
            <a:fld id="{D90ECFE7-FF1C-44CB-BE4E-55A363D5E316}" type="slidenum">
              <a:rPr lang="en-US"/>
              <a:pPr/>
              <a:t>‹#›</a:t>
            </a:fld>
            <a:endParaRPr lang="en-US" altLang="en-US"/>
          </a:p>
        </p:txBody>
      </p:sp>
    </p:spTree>
    <p:extLst>
      <p:ext uri="{BB962C8B-B14F-4D97-AF65-F5344CB8AC3E}">
        <p14:creationId xmlns:p14="http://schemas.microsoft.com/office/powerpoint/2010/main" val="15038141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4350" y="609602"/>
            <a:ext cx="8743950" cy="14562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14350" y="2142069"/>
            <a:ext cx="8743950" cy="3649133"/>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339176" y="5870577"/>
            <a:ext cx="1363695"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4136626-2AE9-4567-8D5E-94F038CBDAA7}" type="datetimeFigureOut">
              <a:rPr lang="en-US" smtClean="0"/>
              <a:t>10/23/2021</a:t>
            </a:fld>
            <a:endParaRPr lang="en-US"/>
          </a:p>
        </p:txBody>
      </p:sp>
      <p:sp>
        <p:nvSpPr>
          <p:cNvPr id="5" name="Footer Placeholder 4"/>
          <p:cNvSpPr>
            <a:spLocks noGrp="1"/>
          </p:cNvSpPr>
          <p:nvPr>
            <p:ph type="ftr" sz="quarter" idx="3"/>
          </p:nvPr>
        </p:nvSpPr>
        <p:spPr>
          <a:xfrm>
            <a:off x="514351" y="5870577"/>
            <a:ext cx="6739100"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8788595" y="5870577"/>
            <a:ext cx="469706"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82276F9-8EC0-4ED6-B069-0CC0FD5EB513}" type="slidenum">
              <a:rPr lang="en-US" smtClean="0"/>
              <a:t>‹#›</a:t>
            </a:fld>
            <a:endParaRPr lang="en-US"/>
          </a:p>
        </p:txBody>
      </p:sp>
    </p:spTree>
    <p:extLst>
      <p:ext uri="{BB962C8B-B14F-4D97-AF65-F5344CB8AC3E}">
        <p14:creationId xmlns:p14="http://schemas.microsoft.com/office/powerpoint/2010/main" val="246596487"/>
      </p:ext>
    </p:extLst>
  </p:cSld>
  <p:clrMap bg1="dk1" tx1="lt1" bg2="dk2" tx2="lt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 id="2147483713" r:id="rId18"/>
    <p:sldLayoutId id="2147483714" r:id="rId19"/>
  </p:sldLayoutIdLst>
  <p:txStyles>
    <p:titleStyle>
      <a:lvl1pPr algn="l" defTabSz="457200" rtl="0" eaLnBrk="1" latinLnBrk="0" hangingPunct="1">
        <a:spcBef>
          <a:spcPct val="0"/>
        </a:spcBef>
        <a:buNone/>
        <a:defRPr sz="32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notesSlide" Target="../notesSlides/notesSlide2.xml"/><Relationship Id="rId7" Type="http://schemas.openxmlformats.org/officeDocument/2006/relationships/oleObject" Target="../embeddings/oleObject2.bin"/><Relationship Id="rId2" Type="http://schemas.openxmlformats.org/officeDocument/2006/relationships/slideLayout" Target="../slideLayouts/slideLayout18.xml"/><Relationship Id="rId1" Type="http://schemas.openxmlformats.org/officeDocument/2006/relationships/vmlDrawing" Target="../drawings/vmlDrawing1.vml"/><Relationship Id="rId6" Type="http://schemas.openxmlformats.org/officeDocument/2006/relationships/image" Target="../media/image31.png"/><Relationship Id="rId5" Type="http://schemas.openxmlformats.org/officeDocument/2006/relationships/oleObject" Target="../embeddings/oleObject1.bin"/><Relationship Id="rId4" Type="http://schemas.openxmlformats.org/officeDocument/2006/relationships/image" Target="../media/image33.png"/></Relationships>
</file>

<file path=ppt/slides/_rels/slide3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9.xml"/></Relationships>
</file>

<file path=ppt/slides/_rels/slide3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9.xml"/></Relationships>
</file>

<file path=ppt/slides/_rels/slide39.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5.png"/><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5.png"/><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4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49.png"/><Relationship Id="rId5" Type="http://schemas.openxmlformats.org/officeDocument/2006/relationships/oleObject" Target="../embeddings/oleObject4.bin"/><Relationship Id="rId4" Type="http://schemas.openxmlformats.org/officeDocument/2006/relationships/image" Target="../media/image48.png"/></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51.png"/><Relationship Id="rId5" Type="http://schemas.openxmlformats.org/officeDocument/2006/relationships/oleObject" Target="../embeddings/oleObject6.bin"/><Relationship Id="rId4" Type="http://schemas.openxmlformats.org/officeDocument/2006/relationships/image" Target="../media/image50.png"/></Relationships>
</file>

<file path=ppt/slides/_rels/slide5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53.png"/><Relationship Id="rId4" Type="http://schemas.openxmlformats.org/officeDocument/2006/relationships/oleObject" Target="../embeddings/oleObject7.bin"/></Relationships>
</file>

<file path=ppt/slides/_rels/slide6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55.png"/></Relationships>
</file>

<file path=ppt/slides/_rels/slide6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6.xml"/><Relationship Id="rId1" Type="http://schemas.openxmlformats.org/officeDocument/2006/relationships/vmlDrawing" Target="../drawings/vmlDrawing6.vml"/><Relationship Id="rId4" Type="http://schemas.openxmlformats.org/officeDocument/2006/relationships/image" Target="../media/image56.png"/></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7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59.emf"/><Relationship Id="rId4" Type="http://schemas.openxmlformats.org/officeDocument/2006/relationships/image" Target="../media/image58.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60.wmf"/><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65.em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7168866" y="5903188"/>
            <a:ext cx="3118418"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Helvetica" charset="0"/>
              </a:defRPr>
            </a:lvl1pPr>
            <a:lvl2pPr marL="742950" indent="-285750">
              <a:defRPr sz="2400">
                <a:solidFill>
                  <a:schemeClr val="tx1"/>
                </a:solidFill>
                <a:latin typeface="Helvetica" charset="0"/>
              </a:defRPr>
            </a:lvl2pPr>
            <a:lvl3pPr marL="1143000" indent="-228600">
              <a:defRPr sz="2400">
                <a:solidFill>
                  <a:schemeClr val="tx1"/>
                </a:solidFill>
                <a:latin typeface="Helvetica" charset="0"/>
              </a:defRPr>
            </a:lvl3pPr>
            <a:lvl4pPr marL="1600200" indent="-228600">
              <a:defRPr sz="2400">
                <a:solidFill>
                  <a:schemeClr val="tx1"/>
                </a:solidFill>
                <a:latin typeface="Helvetica" charset="0"/>
              </a:defRPr>
            </a:lvl4pPr>
            <a:lvl5pPr marL="2057400" indent="-228600">
              <a:defRPr sz="2400">
                <a:solidFill>
                  <a:schemeClr val="tx1"/>
                </a:solidFill>
                <a:latin typeface="Helvetica" charset="0"/>
              </a:defRPr>
            </a:lvl5pPr>
            <a:lvl6pPr marL="2514600" indent="-228600" eaLnBrk="0" fontAlgn="base" hangingPunct="0">
              <a:spcBef>
                <a:spcPct val="0"/>
              </a:spcBef>
              <a:spcAft>
                <a:spcPct val="0"/>
              </a:spcAft>
              <a:defRPr sz="2400">
                <a:solidFill>
                  <a:schemeClr val="tx1"/>
                </a:solidFill>
                <a:latin typeface="Helvetica" charset="0"/>
              </a:defRPr>
            </a:lvl6pPr>
            <a:lvl7pPr marL="2971800" indent="-228600" eaLnBrk="0" fontAlgn="base" hangingPunct="0">
              <a:spcBef>
                <a:spcPct val="0"/>
              </a:spcBef>
              <a:spcAft>
                <a:spcPct val="0"/>
              </a:spcAft>
              <a:defRPr sz="2400">
                <a:solidFill>
                  <a:schemeClr val="tx1"/>
                </a:solidFill>
                <a:latin typeface="Helvetica" charset="0"/>
              </a:defRPr>
            </a:lvl7pPr>
            <a:lvl8pPr marL="3429000" indent="-228600" eaLnBrk="0" fontAlgn="base" hangingPunct="0">
              <a:spcBef>
                <a:spcPct val="0"/>
              </a:spcBef>
              <a:spcAft>
                <a:spcPct val="0"/>
              </a:spcAft>
              <a:defRPr sz="2400">
                <a:solidFill>
                  <a:schemeClr val="tx1"/>
                </a:solidFill>
                <a:latin typeface="Helvetica" charset="0"/>
              </a:defRPr>
            </a:lvl8pPr>
            <a:lvl9pPr marL="3886200" indent="-228600" eaLnBrk="0" fontAlgn="base" hangingPunct="0">
              <a:spcBef>
                <a:spcPct val="0"/>
              </a:spcBef>
              <a:spcAft>
                <a:spcPct val="0"/>
              </a:spcAft>
              <a:defRPr sz="2400">
                <a:solidFill>
                  <a:schemeClr val="tx1"/>
                </a:solidFill>
                <a:latin typeface="Helvetica" charset="0"/>
              </a:defRPr>
            </a:lvl9pPr>
          </a:lstStyle>
          <a:p>
            <a:pPr algn="ctr"/>
            <a:r>
              <a:rPr lang="en-US" sz="2000" dirty="0"/>
              <a:t>Dr. </a:t>
            </a:r>
            <a:r>
              <a:rPr lang="en-US" sz="2000" dirty="0" err="1"/>
              <a:t>Pritam</a:t>
            </a:r>
            <a:r>
              <a:rPr lang="en-US" sz="2000" dirty="0"/>
              <a:t> </a:t>
            </a:r>
            <a:r>
              <a:rPr lang="en-US" sz="2000" dirty="0" err="1"/>
              <a:t>Chattopadhyay</a:t>
            </a:r>
            <a:endParaRPr lang="en-US" sz="2000" dirty="0"/>
          </a:p>
          <a:p>
            <a:pPr algn="ctr"/>
            <a:r>
              <a:rPr lang="en-US" sz="1800" dirty="0"/>
              <a:t>Department of Botany</a:t>
            </a:r>
          </a:p>
          <a:p>
            <a:pPr algn="ctr"/>
            <a:r>
              <a:rPr lang="en-US" sz="1800" dirty="0"/>
              <a:t>MUC Women’s College </a:t>
            </a:r>
          </a:p>
        </p:txBody>
      </p:sp>
      <p:sp>
        <p:nvSpPr>
          <p:cNvPr id="4" name="AutoShape 2" descr="Emerging Computing Technologies: Bioinformatics Certificate | NYU Tandon  School of Engineeri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17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1"/>
            <a:ext cx="10287000" cy="6172200"/>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3"/>
          <p:cNvSpPr txBox="1">
            <a:spLocks noChangeArrowheads="1"/>
          </p:cNvSpPr>
          <p:nvPr/>
        </p:nvSpPr>
        <p:spPr>
          <a:xfrm>
            <a:off x="1215030" y="419016"/>
            <a:ext cx="9072254" cy="1752600"/>
          </a:xfrm>
          <a:prstGeom prst="rect">
            <a:avLst/>
          </a:prstGeom>
        </p:spPr>
        <p:txBody>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sz="4400" dirty="0" smtClean="0">
                <a:solidFill>
                  <a:schemeClr val="tx1">
                    <a:lumMod val="95000"/>
                  </a:schemeClr>
                </a:solidFill>
              </a:rPr>
              <a:t>Unit </a:t>
            </a:r>
            <a:r>
              <a:rPr lang="en-US" sz="4400" dirty="0" smtClean="0">
                <a:solidFill>
                  <a:schemeClr val="tx1">
                    <a:lumMod val="95000"/>
                  </a:schemeClr>
                </a:solidFill>
              </a:rPr>
              <a:t>6: </a:t>
            </a:r>
            <a:r>
              <a:rPr lang="en-US" sz="4400" dirty="0"/>
              <a:t>Applications of Bioinformatics</a:t>
            </a:r>
            <a:endParaRPr lang="en-US" sz="4400" dirty="0">
              <a:solidFill>
                <a:schemeClr val="tx1">
                  <a:lumMod val="95000"/>
                </a:schemeClr>
              </a:solidFill>
            </a:endParaRPr>
          </a:p>
        </p:txBody>
      </p:sp>
    </p:spTree>
    <p:extLst>
      <p:ext uri="{BB962C8B-B14F-4D97-AF65-F5344CB8AC3E}">
        <p14:creationId xmlns:p14="http://schemas.microsoft.com/office/powerpoint/2010/main" val="231701849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0287000" cy="6172200"/>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3"/>
          <p:cNvSpPr txBox="1">
            <a:spLocks noChangeArrowheads="1"/>
          </p:cNvSpPr>
          <p:nvPr/>
        </p:nvSpPr>
        <p:spPr>
          <a:xfrm>
            <a:off x="815430" y="730800"/>
            <a:ext cx="7525265" cy="1752600"/>
          </a:xfrm>
          <a:prstGeom prst="rect">
            <a:avLst/>
          </a:prstGeom>
        </p:spPr>
        <p:txBody>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r>
              <a:rPr lang="en-US" sz="4400" dirty="0" smtClean="0"/>
              <a:t>Introduction </a:t>
            </a:r>
          </a:p>
          <a:p>
            <a:pPr marL="0" indent="0">
              <a:buNone/>
            </a:pPr>
            <a:r>
              <a:rPr lang="en-US" sz="4400" dirty="0"/>
              <a:t>	</a:t>
            </a:r>
          </a:p>
        </p:txBody>
      </p:sp>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41121146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771525" y="609600"/>
            <a:ext cx="8743950" cy="3009363"/>
          </a:xfrm>
          <a:prstGeom prst="rect">
            <a:avLst/>
          </a:prstGeom>
        </p:spPr>
        <p:txBody>
          <a:bodyPr/>
          <a:lstStyle>
            <a:lvl1pPr algn="l" defTabSz="457200" rtl="0" eaLnBrk="1" latinLnBrk="0" hangingPunct="1">
              <a:spcBef>
                <a:spcPct val="0"/>
              </a:spcBef>
              <a:buNone/>
              <a:defRPr sz="32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smtClean="0"/>
              <a:t>Major </a:t>
            </a:r>
            <a:r>
              <a:rPr lang="en-US" dirty="0" smtClean="0">
                <a:solidFill>
                  <a:srgbClr val="CC9900"/>
                </a:solidFill>
              </a:rPr>
              <a:t>Applications</a:t>
            </a:r>
            <a:r>
              <a:rPr lang="en-US" dirty="0" smtClean="0"/>
              <a:t>:</a:t>
            </a:r>
            <a:br>
              <a:rPr lang="en-US" dirty="0" smtClean="0"/>
            </a:br>
            <a:r>
              <a:rPr lang="en-US" dirty="0" smtClean="0"/>
              <a:t>	</a:t>
            </a:r>
          </a:p>
          <a:p>
            <a:r>
              <a:rPr lang="en-US" dirty="0" smtClean="0"/>
              <a:t>	Drug discovery</a:t>
            </a:r>
          </a:p>
          <a:p>
            <a:r>
              <a:rPr lang="en-US" dirty="0" smtClean="0"/>
              <a:t>	Drug Designing</a:t>
            </a:r>
          </a:p>
          <a:p>
            <a:r>
              <a:rPr lang="en-US" dirty="0" smtClean="0"/>
              <a:t>	Microbial genome application</a:t>
            </a:r>
          </a:p>
          <a:p>
            <a:r>
              <a:rPr lang="en-US" dirty="0" smtClean="0"/>
              <a:t>	Crop improvement</a:t>
            </a:r>
            <a:endParaRPr lang="en-US" dirty="0"/>
          </a:p>
        </p:txBody>
      </p:sp>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3932825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0287000" cy="6172200"/>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3"/>
          <p:cNvSpPr txBox="1">
            <a:spLocks noChangeArrowheads="1"/>
          </p:cNvSpPr>
          <p:nvPr/>
        </p:nvSpPr>
        <p:spPr>
          <a:xfrm>
            <a:off x="815430" y="730800"/>
            <a:ext cx="7655470" cy="1752600"/>
          </a:xfrm>
          <a:prstGeom prst="rect">
            <a:avLst/>
          </a:prstGeom>
        </p:spPr>
        <p:txBody>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r>
              <a:rPr lang="en-US" sz="4400" dirty="0"/>
              <a:t>Structural </a:t>
            </a:r>
            <a:r>
              <a:rPr lang="en-US" sz="4400" dirty="0" smtClean="0"/>
              <a:t>Bioinformatics </a:t>
            </a:r>
            <a:r>
              <a:rPr lang="en-US" sz="4400" dirty="0"/>
              <a:t>in Drug Discovery</a:t>
            </a:r>
            <a:r>
              <a:rPr lang="en-US" sz="4400" dirty="0" smtClean="0"/>
              <a:t> </a:t>
            </a:r>
          </a:p>
          <a:p>
            <a:pPr marL="0" indent="0">
              <a:buNone/>
            </a:pPr>
            <a:r>
              <a:rPr lang="en-US" sz="4400" dirty="0"/>
              <a:t>	</a:t>
            </a:r>
          </a:p>
        </p:txBody>
      </p:sp>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975782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5521" t="33148" r="42083" b="39630"/>
          <a:stretch/>
        </p:blipFill>
        <p:spPr bwMode="auto">
          <a:xfrm>
            <a:off x="642635" y="1534732"/>
            <a:ext cx="9451181" cy="39709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2896669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4687" t="25741" r="42708" b="35185"/>
          <a:stretch/>
        </p:blipFill>
        <p:spPr bwMode="auto">
          <a:xfrm>
            <a:off x="171450" y="403718"/>
            <a:ext cx="9882151" cy="59215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9300150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5104" t="26481" r="43542" b="33333"/>
          <a:stretch/>
        </p:blipFill>
        <p:spPr bwMode="auto">
          <a:xfrm>
            <a:off x="202842" y="143500"/>
            <a:ext cx="9847037" cy="6310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0485867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5625" t="27223" r="42500" b="32778"/>
          <a:stretch/>
        </p:blipFill>
        <p:spPr bwMode="auto">
          <a:xfrm>
            <a:off x="333240" y="227885"/>
            <a:ext cx="9736428" cy="6109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6480136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4896" t="26481" r="42813" b="33333"/>
          <a:stretch/>
        </p:blipFill>
        <p:spPr bwMode="auto">
          <a:xfrm>
            <a:off x="161880" y="146318"/>
            <a:ext cx="9954105" cy="6193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4885311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4792" t="25185" r="42084" b="33333"/>
          <a:stretch/>
        </p:blipFill>
        <p:spPr bwMode="auto">
          <a:xfrm>
            <a:off x="273844" y="279401"/>
            <a:ext cx="9708356" cy="60787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8610073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4687" t="25741" r="42604" b="33333"/>
          <a:stretch/>
        </p:blipFill>
        <p:spPr bwMode="auto">
          <a:xfrm>
            <a:off x="234234" y="213305"/>
            <a:ext cx="9937369" cy="62170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7355050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4687" t="27408" r="42292" b="30555"/>
          <a:stretch/>
        </p:blipFill>
        <p:spPr bwMode="auto">
          <a:xfrm>
            <a:off x="204846" y="136413"/>
            <a:ext cx="9945548" cy="6330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4186314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4792" t="26481" r="43646" b="31481"/>
          <a:stretch/>
        </p:blipFill>
        <p:spPr bwMode="auto">
          <a:xfrm>
            <a:off x="412035" y="173775"/>
            <a:ext cx="9465250" cy="6303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42847013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4479" t="25555" r="41979" b="31481"/>
          <a:stretch/>
        </p:blipFill>
        <p:spPr bwMode="auto">
          <a:xfrm>
            <a:off x="353589" y="284408"/>
            <a:ext cx="9615912" cy="61584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7385115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4583" t="25926" r="42084" b="30555"/>
          <a:stretch/>
        </p:blipFill>
        <p:spPr bwMode="auto">
          <a:xfrm>
            <a:off x="402185" y="234144"/>
            <a:ext cx="9465715" cy="61790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805618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4687" t="25555" r="42187" b="33333"/>
          <a:stretch/>
        </p:blipFill>
        <p:spPr bwMode="auto">
          <a:xfrm>
            <a:off x="342899" y="243357"/>
            <a:ext cx="9643683" cy="5984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4132256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4271" t="25371" r="42812" b="30185"/>
          <a:stretch/>
        </p:blipFill>
        <p:spPr bwMode="auto">
          <a:xfrm>
            <a:off x="419100" y="70299"/>
            <a:ext cx="9529116" cy="6433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5056268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4167" t="25371" r="42396" b="35825"/>
          <a:stretch/>
        </p:blipFill>
        <p:spPr bwMode="auto">
          <a:xfrm>
            <a:off x="215900" y="304800"/>
            <a:ext cx="9853102" cy="5717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8606174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4583" t="27593" r="43438" b="33333"/>
          <a:stretch/>
        </p:blipFill>
        <p:spPr bwMode="auto">
          <a:xfrm>
            <a:off x="186543" y="292411"/>
            <a:ext cx="9944100" cy="6075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7914191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4167" t="25000" r="42709" b="35555"/>
          <a:stretch/>
        </p:blipFill>
        <p:spPr bwMode="auto">
          <a:xfrm>
            <a:off x="387351" y="838200"/>
            <a:ext cx="9518650" cy="5667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26367" t="38562" r="43437" b="51563"/>
          <a:stretch/>
        </p:blipFill>
        <p:spPr bwMode="auto">
          <a:xfrm>
            <a:off x="2609851" y="0"/>
            <a:ext cx="5134476" cy="8396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0004939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4583" t="25741" r="42084" b="30926"/>
          <a:stretch/>
        </p:blipFill>
        <p:spPr bwMode="auto">
          <a:xfrm>
            <a:off x="305202" y="162348"/>
            <a:ext cx="9689698" cy="6298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42944261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4479" t="26111" r="42291" b="35371"/>
          <a:stretch/>
        </p:blipFill>
        <p:spPr bwMode="auto">
          <a:xfrm>
            <a:off x="165278" y="350389"/>
            <a:ext cx="9944100" cy="5763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3595629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5313" t="27963" r="42916" b="36018"/>
          <a:stretch/>
        </p:blipFill>
        <p:spPr bwMode="auto">
          <a:xfrm>
            <a:off x="173831" y="623888"/>
            <a:ext cx="9944100" cy="5636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41303556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6459" t="26852" r="42083" b="33333"/>
          <a:stretch/>
        </p:blipFill>
        <p:spPr bwMode="auto">
          <a:xfrm>
            <a:off x="0" y="-7402"/>
            <a:ext cx="10287000" cy="65098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531"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42708" t="39445" r="45313" b="42691"/>
          <a:stretch/>
        </p:blipFill>
        <p:spPr bwMode="auto">
          <a:xfrm>
            <a:off x="46062" y="-27296"/>
            <a:ext cx="2464594" cy="18376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3735446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5000" t="26481" r="42604" b="31296"/>
          <a:stretch/>
        </p:blipFill>
        <p:spPr bwMode="auto">
          <a:xfrm>
            <a:off x="324094" y="128309"/>
            <a:ext cx="9664362" cy="62978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40818786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4479" t="27408" r="42708" b="35000"/>
          <a:stretch/>
        </p:blipFill>
        <p:spPr bwMode="auto">
          <a:xfrm>
            <a:off x="116753" y="198084"/>
            <a:ext cx="10051256" cy="6103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4867345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5000" t="26852" r="42291" b="36574"/>
          <a:stretch/>
        </p:blipFill>
        <p:spPr bwMode="auto">
          <a:xfrm>
            <a:off x="21431" y="379789"/>
            <a:ext cx="10265569" cy="57394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7010629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5104" t="27037" r="43334" b="39074"/>
          <a:stretch/>
        </p:blipFill>
        <p:spPr bwMode="auto">
          <a:xfrm>
            <a:off x="165100" y="509519"/>
            <a:ext cx="9942245" cy="53375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5593952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a:xfrm>
            <a:off x="385762" y="406400"/>
            <a:ext cx="9301163" cy="736600"/>
          </a:xfrm>
        </p:spPr>
        <p:txBody>
          <a:bodyPr/>
          <a:lstStyle/>
          <a:p>
            <a:r>
              <a:rPr lang="en-US"/>
              <a:t>Benefits of Bioinformatics</a:t>
            </a:r>
          </a:p>
        </p:txBody>
      </p:sp>
      <p:sp>
        <p:nvSpPr>
          <p:cNvPr id="138243" name="Rectangle 3"/>
          <p:cNvSpPr>
            <a:spLocks noChangeArrowheads="1"/>
          </p:cNvSpPr>
          <p:nvPr/>
        </p:nvSpPr>
        <p:spPr bwMode="auto">
          <a:xfrm>
            <a:off x="971550" y="1524000"/>
            <a:ext cx="8486775" cy="447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r>
              <a:rPr lang="en-GB">
                <a:solidFill>
                  <a:schemeClr val="tx2"/>
                </a:solidFill>
                <a:latin typeface="Arial" panose="020B0604020202020204" pitchFamily="34" charset="0"/>
              </a:rPr>
              <a:t>To the patient:</a:t>
            </a:r>
          </a:p>
          <a:p>
            <a:pPr lvl="1" eaLnBrk="0" hangingPunct="0"/>
            <a:r>
              <a:rPr lang="en-GB" sz="2800">
                <a:solidFill>
                  <a:schemeClr val="tx2"/>
                </a:solidFill>
                <a:latin typeface="Arial" panose="020B0604020202020204" pitchFamily="34" charset="0"/>
              </a:rPr>
              <a:t>Better drug, better treatment</a:t>
            </a:r>
          </a:p>
          <a:p>
            <a:pPr lvl="1" eaLnBrk="0" hangingPunct="0"/>
            <a:endParaRPr lang="en-GB">
              <a:solidFill>
                <a:schemeClr val="tx2"/>
              </a:solidFill>
              <a:latin typeface="Arial" panose="020B0604020202020204" pitchFamily="34" charset="0"/>
            </a:endParaRPr>
          </a:p>
          <a:p>
            <a:pPr eaLnBrk="0" hangingPunct="0"/>
            <a:r>
              <a:rPr lang="en-GB">
                <a:solidFill>
                  <a:schemeClr val="tx2"/>
                </a:solidFill>
                <a:latin typeface="Arial" panose="020B0604020202020204" pitchFamily="34" charset="0"/>
              </a:rPr>
              <a:t>To the pharma:</a:t>
            </a:r>
          </a:p>
          <a:p>
            <a:pPr lvl="1" eaLnBrk="0" hangingPunct="0"/>
            <a:r>
              <a:rPr lang="en-GB" sz="2800">
                <a:solidFill>
                  <a:schemeClr val="tx2"/>
                </a:solidFill>
                <a:latin typeface="Arial" panose="020B0604020202020204" pitchFamily="34" charset="0"/>
              </a:rPr>
              <a:t>Save time, save cost, make more $</a:t>
            </a:r>
          </a:p>
          <a:p>
            <a:pPr lvl="1" eaLnBrk="0" hangingPunct="0"/>
            <a:endParaRPr lang="en-GB" sz="2800">
              <a:solidFill>
                <a:schemeClr val="tx2"/>
              </a:solidFill>
              <a:latin typeface="Arial" panose="020B0604020202020204" pitchFamily="34" charset="0"/>
            </a:endParaRPr>
          </a:p>
          <a:p>
            <a:pPr eaLnBrk="0" hangingPunct="0"/>
            <a:r>
              <a:rPr lang="en-GB">
                <a:solidFill>
                  <a:schemeClr val="tx2"/>
                </a:solidFill>
                <a:latin typeface="Arial" panose="020B0604020202020204" pitchFamily="34" charset="0"/>
              </a:rPr>
              <a:t>To the scientist:</a:t>
            </a:r>
          </a:p>
          <a:p>
            <a:pPr lvl="1" eaLnBrk="0" hangingPunct="0"/>
            <a:r>
              <a:rPr lang="en-GB" sz="2800">
                <a:solidFill>
                  <a:schemeClr val="tx2"/>
                </a:solidFill>
                <a:latin typeface="Arial" panose="020B0604020202020204" pitchFamily="34" charset="0"/>
              </a:rPr>
              <a:t>Better science</a:t>
            </a:r>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997808611"/>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0287000" cy="6172200"/>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3"/>
          <p:cNvSpPr txBox="1">
            <a:spLocks noChangeArrowheads="1"/>
          </p:cNvSpPr>
          <p:nvPr/>
        </p:nvSpPr>
        <p:spPr>
          <a:xfrm>
            <a:off x="815430" y="730800"/>
            <a:ext cx="8277770" cy="2139400"/>
          </a:xfrm>
          <a:prstGeom prst="rect">
            <a:avLst/>
          </a:prstGeom>
        </p:spPr>
        <p:txBody>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r>
              <a:rPr lang="en-US" sz="4400" dirty="0"/>
              <a:t>Quantitative structure-activity relationship (</a:t>
            </a:r>
            <a:r>
              <a:rPr lang="en-US" sz="4400" dirty="0" smtClean="0"/>
              <a:t>QSAR) techniques </a:t>
            </a:r>
            <a:r>
              <a:rPr lang="en-US" sz="4400" dirty="0"/>
              <a:t>in Drug Design	</a:t>
            </a:r>
          </a:p>
        </p:txBody>
      </p:sp>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3461199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3" name="Rectangle 3"/>
          <p:cNvSpPr>
            <a:spLocks noGrp="1" noChangeArrowheads="1"/>
          </p:cNvSpPr>
          <p:nvPr>
            <p:ph type="body" sz="half" idx="1"/>
          </p:nvPr>
        </p:nvSpPr>
        <p:spPr>
          <a:xfrm>
            <a:off x="771525" y="1562100"/>
            <a:ext cx="8658225" cy="2020888"/>
          </a:xfrm>
        </p:spPr>
        <p:txBody>
          <a:bodyPr>
            <a:normAutofit fontScale="77500" lnSpcReduction="20000"/>
          </a:bodyPr>
          <a:lstStyle/>
          <a:p>
            <a:pPr marL="228600" indent="-228600">
              <a:lnSpc>
                <a:spcPct val="90000"/>
              </a:lnSpc>
            </a:pPr>
            <a:r>
              <a:rPr lang="en-US" sz="3100" dirty="0"/>
              <a:t>Understanding How Structures Bind Other Molecules (Function)</a:t>
            </a:r>
          </a:p>
          <a:p>
            <a:pPr marL="228600" indent="-228600">
              <a:lnSpc>
                <a:spcPct val="90000"/>
              </a:lnSpc>
            </a:pPr>
            <a:r>
              <a:rPr lang="en-US" sz="3100" dirty="0"/>
              <a:t>Designing Inhibitors</a:t>
            </a:r>
          </a:p>
          <a:p>
            <a:pPr marL="228600" indent="-228600">
              <a:lnSpc>
                <a:spcPct val="90000"/>
              </a:lnSpc>
            </a:pPr>
            <a:r>
              <a:rPr lang="en-US" sz="3100" dirty="0"/>
              <a:t>Docking, Structure Modeling</a:t>
            </a:r>
          </a:p>
          <a:p>
            <a:pPr marL="571500" lvl="1" indent="-228600">
              <a:lnSpc>
                <a:spcPct val="90000"/>
              </a:lnSpc>
            </a:pPr>
            <a:endParaRPr lang="en-US" sz="2400" dirty="0"/>
          </a:p>
          <a:p>
            <a:pPr marL="571500" lvl="1" indent="-228600">
              <a:lnSpc>
                <a:spcPct val="90000"/>
              </a:lnSpc>
              <a:buFontTx/>
              <a:buNone/>
            </a:pPr>
            <a:r>
              <a:rPr lang="en-US" sz="1400" dirty="0"/>
              <a:t>	(From left to right, figures adapted from Olsen Group Docking Page at Scripps, Dyson NMR Group Web page at Scripps, and from Computational Chemistry Page at Cornell Theory Center).</a:t>
            </a:r>
            <a:endParaRPr lang="en-US" sz="2400" dirty="0"/>
          </a:p>
        </p:txBody>
      </p:sp>
      <p:pic>
        <p:nvPicPr>
          <p:cNvPr id="143364" name="Picture 4" descr="pc-dock"/>
          <p:cNvPicPr>
            <a:picLocks noGrp="1" noChangeAspect="1" noChangeArrowheads="1"/>
          </p:cNvPicPr>
          <p:nvPr>
            <p:ph type="clipArt" sz="half" idx="2"/>
          </p:nvPr>
        </p:nvPicPr>
        <p:blipFill>
          <a:blip r:embed="rId4">
            <a:extLst>
              <a:ext uri="{28A0092B-C50C-407E-A947-70E740481C1C}">
                <a14:useLocalDpi xmlns:a14="http://schemas.microsoft.com/office/drawing/2010/main" val="0"/>
              </a:ext>
            </a:extLst>
          </a:blip>
          <a:srcRect/>
          <a:stretch>
            <a:fillRect/>
          </a:stretch>
        </p:blipFill>
        <p:spPr>
          <a:xfrm>
            <a:off x="4543425" y="3771900"/>
            <a:ext cx="2121694" cy="2286000"/>
          </a:xfrm>
        </p:spPr>
      </p:pic>
      <p:graphicFrame>
        <p:nvGraphicFramePr>
          <p:cNvPr id="143365" name="Object 5"/>
          <p:cNvGraphicFramePr>
            <a:graphicFrameLocks noChangeAspect="1"/>
          </p:cNvGraphicFramePr>
          <p:nvPr>
            <p:extLst>
              <p:ext uri="{D42A27DB-BD31-4B8C-83A1-F6EECF244321}">
                <p14:modId xmlns:p14="http://schemas.microsoft.com/office/powerpoint/2010/main" val="3644221569"/>
              </p:ext>
            </p:extLst>
          </p:nvPr>
        </p:nvGraphicFramePr>
        <p:xfrm>
          <a:off x="771525" y="3771901"/>
          <a:ext cx="3259337" cy="2347913"/>
        </p:xfrm>
        <a:graphic>
          <a:graphicData uri="http://schemas.openxmlformats.org/presentationml/2006/ole">
            <mc:AlternateContent xmlns:mc="http://schemas.openxmlformats.org/markup-compatibility/2006">
              <mc:Choice xmlns:v="urn:schemas-microsoft-com:vml" Requires="v">
                <p:oleObj spid="_x0000_s1034" name="Image" r:id="rId5" imgW="3964702" imgH="3214966" progId="Photoshop.Image.4">
                  <p:embed/>
                </p:oleObj>
              </mc:Choice>
              <mc:Fallback>
                <p:oleObj name="Image" r:id="rId5" imgW="3964702" imgH="3214966" progId="Photoshop.Image.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1525" y="3771901"/>
                        <a:ext cx="3259337" cy="2347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366" name="Object 6"/>
          <p:cNvGraphicFramePr>
            <a:graphicFrameLocks noChangeAspect="1"/>
          </p:cNvGraphicFramePr>
          <p:nvPr>
            <p:extLst>
              <p:ext uri="{D42A27DB-BD31-4B8C-83A1-F6EECF244321}">
                <p14:modId xmlns:p14="http://schemas.microsoft.com/office/powerpoint/2010/main" val="1447020503"/>
              </p:ext>
            </p:extLst>
          </p:nvPr>
        </p:nvGraphicFramePr>
        <p:xfrm>
          <a:off x="7115175" y="3924300"/>
          <a:ext cx="2687837" cy="2209800"/>
        </p:xfrm>
        <a:graphic>
          <a:graphicData uri="http://schemas.openxmlformats.org/presentationml/2006/ole">
            <mc:AlternateContent xmlns:mc="http://schemas.openxmlformats.org/markup-compatibility/2006">
              <mc:Choice xmlns:v="urn:schemas-microsoft-com:vml" Requires="v">
                <p:oleObj spid="_x0000_s1035" name="Image" r:id="rId7" imgW="6607836" imgH="6112248" progId="Photoshop.Image.4">
                  <p:embed/>
                </p:oleObj>
              </mc:Choice>
              <mc:Fallback>
                <p:oleObj name="Image" r:id="rId7" imgW="6607836" imgH="6112248" progId="Photoshop.Image.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15175" y="3924300"/>
                        <a:ext cx="2687837"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Rectangle 2"/>
          <p:cNvSpPr/>
          <p:nvPr/>
        </p:nvSpPr>
        <p:spPr>
          <a:xfrm>
            <a:off x="950885" y="468401"/>
            <a:ext cx="3018775" cy="646331"/>
          </a:xfrm>
          <a:prstGeom prst="rect">
            <a:avLst/>
          </a:prstGeom>
        </p:spPr>
        <p:txBody>
          <a:bodyPr wrap="none">
            <a:spAutoFit/>
          </a:bodyPr>
          <a:lstStyle/>
          <a:p>
            <a:r>
              <a:rPr lang="en-US" sz="3600" dirty="0"/>
              <a:t>Drug Designing</a:t>
            </a:r>
          </a:p>
        </p:txBody>
      </p:sp>
      <p:sp>
        <p:nvSpPr>
          <p:cNvPr id="7" name="Rectangle 6"/>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3889307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3"/>
          <p:cNvSpPr>
            <a:spLocks noGrp="1" noChangeArrowheads="1"/>
          </p:cNvSpPr>
          <p:nvPr>
            <p:ph type="subTitle" idx="1"/>
          </p:nvPr>
        </p:nvSpPr>
        <p:spPr>
          <a:xfrm>
            <a:off x="1658204" y="1377642"/>
            <a:ext cx="7200900" cy="1143000"/>
          </a:xfrm>
        </p:spPr>
        <p:txBody>
          <a:bodyPr>
            <a:normAutofit fontScale="92500" lnSpcReduction="10000"/>
          </a:bodyPr>
          <a:lstStyle/>
          <a:p>
            <a:r>
              <a:rPr lang="en-US" altLang="he-IL" sz="4000" b="1" dirty="0" err="1">
                <a:effectLst>
                  <a:outerShdw blurRad="38100" dist="38100" dir="2700000" algn="tl">
                    <a:srgbClr val="C0C0C0"/>
                  </a:outerShdw>
                </a:effectLst>
                <a:latin typeface="Comic Sans MS" pitchFamily="66" charset="0"/>
              </a:rPr>
              <a:t>Quantative</a:t>
            </a:r>
            <a:r>
              <a:rPr lang="en-US" altLang="he-IL" sz="4000" b="1" dirty="0">
                <a:effectLst>
                  <a:outerShdw blurRad="38100" dist="38100" dir="2700000" algn="tl">
                    <a:srgbClr val="C0C0C0"/>
                  </a:outerShdw>
                </a:effectLst>
                <a:latin typeface="Comic Sans MS" pitchFamily="66" charset="0"/>
              </a:rPr>
              <a:t> Structure-Activity Relationships</a:t>
            </a:r>
          </a:p>
        </p:txBody>
      </p:sp>
      <p:sp>
        <p:nvSpPr>
          <p:cNvPr id="2052" name="WordArt 4"/>
          <p:cNvSpPr>
            <a:spLocks noChangeArrowheads="1" noChangeShapeType="1" noTextEdit="1"/>
          </p:cNvSpPr>
          <p:nvPr/>
        </p:nvSpPr>
        <p:spPr bwMode="auto">
          <a:xfrm>
            <a:off x="3562065" y="1"/>
            <a:ext cx="3021806" cy="1285875"/>
          </a:xfrm>
          <a:prstGeom prst="rect">
            <a:avLst/>
          </a:prstGeom>
        </p:spPr>
        <p:txBody>
          <a:bodyPr wrap="none" fromWordArt="1">
            <a:prstTxWarp prst="textPlain">
              <a:avLst>
                <a:gd name="adj" fmla="val 50000"/>
              </a:avLst>
            </a:prstTxWarp>
          </a:bodyPr>
          <a:lstStyle/>
          <a:p>
            <a:pPr algn="ctr" rtl="0"/>
            <a:r>
              <a:rPr lang="en-US" sz="7200" b="1" kern="10" dirty="0">
                <a:ln w="9525">
                  <a:solidFill>
                    <a:srgbClr val="CC99FF"/>
                  </a:solidFill>
                  <a:round/>
                  <a:headEnd/>
                  <a:tailEnd/>
                </a:ln>
                <a:gradFill rotWithShape="0">
                  <a:gsLst>
                    <a:gs pos="0">
                      <a:srgbClr val="6600CC"/>
                    </a:gs>
                    <a:gs pos="100000">
                      <a:srgbClr val="CC00CC"/>
                    </a:gs>
                  </a:gsLst>
                  <a:lin ang="5400000" scaled="1"/>
                </a:gradFill>
                <a:effectLst>
                  <a:outerShdw dist="53882" dir="2700000" algn="ctr" rotWithShape="0">
                    <a:srgbClr val="9999FF"/>
                  </a:outerShdw>
                </a:effectLst>
                <a:latin typeface="Comic Sans MS"/>
              </a:rPr>
              <a:t>QSAR</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829" y="2425156"/>
            <a:ext cx="8498657" cy="40298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8484579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685800" y="304800"/>
            <a:ext cx="8743950" cy="1143000"/>
          </a:xfrm>
        </p:spPr>
        <p:txBody>
          <a:bodyPr/>
          <a:lstStyle/>
          <a:p>
            <a:r>
              <a:rPr lang="en-US" altLang="he-IL" b="1" dirty="0">
                <a:latin typeface="Comic Sans MS" pitchFamily="66" charset="0"/>
              </a:rPr>
              <a:t>Why QSAR?</a:t>
            </a:r>
          </a:p>
        </p:txBody>
      </p:sp>
      <p:sp>
        <p:nvSpPr>
          <p:cNvPr id="3075" name="Rectangle 3"/>
          <p:cNvSpPr>
            <a:spLocks noGrp="1" noChangeArrowheads="1"/>
          </p:cNvSpPr>
          <p:nvPr>
            <p:ph type="body" idx="1"/>
          </p:nvPr>
        </p:nvSpPr>
        <p:spPr>
          <a:xfrm>
            <a:off x="294879" y="1244600"/>
            <a:ext cx="9585721" cy="4114800"/>
          </a:xfrm>
        </p:spPr>
        <p:txBody>
          <a:bodyPr>
            <a:normAutofit/>
          </a:bodyPr>
          <a:lstStyle/>
          <a:p>
            <a:pPr algn="l" rtl="0">
              <a:buFontTx/>
              <a:buBlip>
                <a:blip r:embed="rId2"/>
              </a:buBlip>
            </a:pPr>
            <a:r>
              <a:rPr lang="en-US" altLang="he-IL" sz="2400" dirty="0"/>
              <a:t>The number of compounds required for synthesis in order to place 10 different groups in 4 positions of benzene ring is 10</a:t>
            </a:r>
            <a:r>
              <a:rPr lang="en-US" altLang="he-IL" sz="2400" baseline="30000" dirty="0"/>
              <a:t>4</a:t>
            </a:r>
          </a:p>
          <a:p>
            <a:pPr algn="l" rtl="0">
              <a:buFontTx/>
              <a:buBlip>
                <a:blip r:embed="rId2"/>
              </a:buBlip>
            </a:pPr>
            <a:r>
              <a:rPr lang="en-US" altLang="he-IL" sz="2400" dirty="0"/>
              <a:t>Solution: synthesize a small number of compounds and from their data derive rules to predict the biological activity of other compounds.</a:t>
            </a:r>
          </a:p>
          <a:p>
            <a:pPr algn="l" rtl="0">
              <a:buFontTx/>
              <a:buBlip>
                <a:blip r:embed="rId2"/>
              </a:buBlip>
            </a:pPr>
            <a:endParaRPr lang="en-US" altLang="he-IL" sz="2400" dirty="0"/>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6792053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07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07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5" grpId="0" build="p"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771525" y="228600"/>
            <a:ext cx="8743950" cy="1143000"/>
          </a:xfrm>
        </p:spPr>
        <p:txBody>
          <a:bodyPr/>
          <a:lstStyle/>
          <a:p>
            <a:r>
              <a:rPr lang="en-US" altLang="he-IL" b="1" dirty="0">
                <a:latin typeface="Comic Sans MS" pitchFamily="66" charset="0"/>
              </a:rPr>
              <a:t>QSAR and Drug Design</a:t>
            </a:r>
          </a:p>
        </p:txBody>
      </p:sp>
      <p:grpSp>
        <p:nvGrpSpPr>
          <p:cNvPr id="5" name="Group 4"/>
          <p:cNvGrpSpPr/>
          <p:nvPr/>
        </p:nvGrpSpPr>
        <p:grpSpPr>
          <a:xfrm>
            <a:off x="85725" y="1676400"/>
            <a:ext cx="10287000" cy="4648200"/>
            <a:chOff x="76200" y="1676400"/>
            <a:chExt cx="9144000" cy="4648200"/>
          </a:xfrm>
        </p:grpSpPr>
        <p:pic>
          <p:nvPicPr>
            <p:cNvPr id="14341" name="Picture 5" descr="D:\Program Files\Common Files\Microsoft Shared\Clipart\cagcat50\HM00361_.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2514600"/>
              <a:ext cx="2852738" cy="2573338"/>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oup 3"/>
            <p:cNvGrpSpPr/>
            <p:nvPr/>
          </p:nvGrpSpPr>
          <p:grpSpPr>
            <a:xfrm>
              <a:off x="1828800" y="1676400"/>
              <a:ext cx="5105400" cy="1371600"/>
              <a:chOff x="1828800" y="1676400"/>
              <a:chExt cx="5105400" cy="1371600"/>
            </a:xfrm>
          </p:grpSpPr>
          <p:sp>
            <p:nvSpPr>
              <p:cNvPr id="14343" name="AutoShape 7"/>
              <p:cNvSpPr>
                <a:spLocks noChangeArrowheads="1"/>
              </p:cNvSpPr>
              <p:nvPr/>
            </p:nvSpPr>
            <p:spPr bwMode="auto">
              <a:xfrm>
                <a:off x="2819400" y="2286000"/>
                <a:ext cx="2743200" cy="762000"/>
              </a:xfrm>
              <a:custGeom>
                <a:avLst/>
                <a:gdLst>
                  <a:gd name="G0" fmla="+- 0 0 0"/>
                  <a:gd name="G1" fmla="+- -11796480 0 0"/>
                  <a:gd name="G2" fmla="+- 0 0 -11796480"/>
                  <a:gd name="G3" fmla="+- 10800 0 0"/>
                  <a:gd name="G4" fmla="+- 0 0 0"/>
                  <a:gd name="T0" fmla="*/ 360 256 1"/>
                  <a:gd name="T1" fmla="*/ 0 256 1"/>
                  <a:gd name="G5" fmla="+- G2 T0 T1"/>
                  <a:gd name="G6" fmla="?: G2 G2 G5"/>
                  <a:gd name="G7" fmla="+- 0 0 G6"/>
                  <a:gd name="G8" fmla="+- 5400 0 0"/>
                  <a:gd name="G9" fmla="+- 0 0 -11796480"/>
                  <a:gd name="G10" fmla="+- 5400 0 2700"/>
                  <a:gd name="G11" fmla="cos G10 0"/>
                  <a:gd name="G12" fmla="sin G10 0"/>
                  <a:gd name="G13" fmla="cos 13500 0"/>
                  <a:gd name="G14" fmla="sin 13500 0"/>
                  <a:gd name="G15" fmla="+- G11 10800 0"/>
                  <a:gd name="G16" fmla="+- G12 10800 0"/>
                  <a:gd name="G17" fmla="+- G13 10800 0"/>
                  <a:gd name="G18" fmla="+- G14 10800 0"/>
                  <a:gd name="G19" fmla="*/ 5400 1 2"/>
                  <a:gd name="G20" fmla="+- G19 5400 0"/>
                  <a:gd name="G21" fmla="cos G20 0"/>
                  <a:gd name="G22" fmla="sin G20 0"/>
                  <a:gd name="G23" fmla="+- G21 10800 0"/>
                  <a:gd name="G24" fmla="+- G12 G23 G22"/>
                  <a:gd name="G25" fmla="+- G22 G23 G11"/>
                  <a:gd name="G26" fmla="cos 10800 0"/>
                  <a:gd name="G27" fmla="sin 10800 0"/>
                  <a:gd name="G28" fmla="cos 5400 0"/>
                  <a:gd name="G29" fmla="sin 5400 0"/>
                  <a:gd name="G30" fmla="+- G26 10800 0"/>
                  <a:gd name="G31" fmla="+- G27 10800 0"/>
                  <a:gd name="G32" fmla="+- G28 10800 0"/>
                  <a:gd name="G33" fmla="+- G29 10800 0"/>
                  <a:gd name="G34" fmla="+- G19 5400 0"/>
                  <a:gd name="G35" fmla="cos G34 -11796480"/>
                  <a:gd name="G36" fmla="sin G34 -11796480"/>
                  <a:gd name="G37" fmla="+/ -11796480 0 2"/>
                  <a:gd name="T2" fmla="*/ 180 256 1"/>
                  <a:gd name="T3" fmla="*/ 0 256 1"/>
                  <a:gd name="G38" fmla="+- G37 T2 T3"/>
                  <a:gd name="G39" fmla="?: G2 G37 G38"/>
                  <a:gd name="G40" fmla="cos 10800 G39"/>
                  <a:gd name="G41" fmla="sin 10800 G39"/>
                  <a:gd name="G42" fmla="cos 5400 G39"/>
                  <a:gd name="G43" fmla="sin 5400 G39"/>
                  <a:gd name="G44" fmla="+- G40 10800 0"/>
                  <a:gd name="G45" fmla="+- G41 10800 0"/>
                  <a:gd name="G46" fmla="+- G42 10800 0"/>
                  <a:gd name="G47" fmla="+- G43 10800 0"/>
                  <a:gd name="G48" fmla="+- G35 10800 0"/>
                  <a:gd name="G49" fmla="+- G36 10800 0"/>
                  <a:gd name="T4" fmla="*/ 10799 w 21600"/>
                  <a:gd name="T5" fmla="*/ 0 h 21600"/>
                  <a:gd name="T6" fmla="*/ 2700 w 21600"/>
                  <a:gd name="T7" fmla="*/ 10800 h 21600"/>
                  <a:gd name="T8" fmla="*/ 10799 w 21600"/>
                  <a:gd name="T9" fmla="*/ 5400 h 21600"/>
                  <a:gd name="T10" fmla="*/ 24300 w 21600"/>
                  <a:gd name="T11" fmla="*/ 10800 h 21600"/>
                  <a:gd name="T12" fmla="*/ 18900 w 21600"/>
                  <a:gd name="T13" fmla="*/ 16200 h 21600"/>
                  <a:gd name="T14" fmla="*/ 13500 w 21600"/>
                  <a:gd name="T15" fmla="*/ 10800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45" name="Text Box 9"/>
              <p:cNvSpPr txBox="1">
                <a:spLocks noChangeArrowheads="1"/>
              </p:cNvSpPr>
              <p:nvPr/>
            </p:nvSpPr>
            <p:spPr bwMode="auto">
              <a:xfrm>
                <a:off x="1828800" y="1676400"/>
                <a:ext cx="5105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sz="2800" b="1"/>
                  <a:t>Compounds + biological activity</a:t>
                </a:r>
                <a:endParaRPr lang="en-US" altLang="he-IL" sz="2800" b="1"/>
              </a:p>
            </p:txBody>
          </p:sp>
        </p:grpSp>
        <p:grpSp>
          <p:nvGrpSpPr>
            <p:cNvPr id="3" name="Group 2"/>
            <p:cNvGrpSpPr/>
            <p:nvPr/>
          </p:nvGrpSpPr>
          <p:grpSpPr>
            <a:xfrm>
              <a:off x="1828800" y="4616450"/>
              <a:ext cx="4800600" cy="1708150"/>
              <a:chOff x="1828800" y="4616450"/>
              <a:chExt cx="4800600" cy="1708150"/>
            </a:xfrm>
          </p:grpSpPr>
          <p:sp>
            <p:nvSpPr>
              <p:cNvPr id="14344" name="AutoShape 8"/>
              <p:cNvSpPr>
                <a:spLocks noChangeArrowheads="1"/>
              </p:cNvSpPr>
              <p:nvPr/>
            </p:nvSpPr>
            <p:spPr bwMode="auto">
              <a:xfrm rot="10803784">
                <a:off x="2895600" y="4616450"/>
                <a:ext cx="2743200" cy="762000"/>
              </a:xfrm>
              <a:custGeom>
                <a:avLst/>
                <a:gdLst>
                  <a:gd name="G0" fmla="+- 0 0 0"/>
                  <a:gd name="G1" fmla="+- -11796480 0 0"/>
                  <a:gd name="G2" fmla="+- 0 0 -11796480"/>
                  <a:gd name="G3" fmla="+- 10800 0 0"/>
                  <a:gd name="G4" fmla="+- 0 0 0"/>
                  <a:gd name="T0" fmla="*/ 360 256 1"/>
                  <a:gd name="T1" fmla="*/ 0 256 1"/>
                  <a:gd name="G5" fmla="+- G2 T0 T1"/>
                  <a:gd name="G6" fmla="?: G2 G2 G5"/>
                  <a:gd name="G7" fmla="+- 0 0 G6"/>
                  <a:gd name="G8" fmla="+- 5400 0 0"/>
                  <a:gd name="G9" fmla="+- 0 0 -11796480"/>
                  <a:gd name="G10" fmla="+- 5400 0 2700"/>
                  <a:gd name="G11" fmla="cos G10 0"/>
                  <a:gd name="G12" fmla="sin G10 0"/>
                  <a:gd name="G13" fmla="cos 13500 0"/>
                  <a:gd name="G14" fmla="sin 13500 0"/>
                  <a:gd name="G15" fmla="+- G11 10800 0"/>
                  <a:gd name="G16" fmla="+- G12 10800 0"/>
                  <a:gd name="G17" fmla="+- G13 10800 0"/>
                  <a:gd name="G18" fmla="+- G14 10800 0"/>
                  <a:gd name="G19" fmla="*/ 5400 1 2"/>
                  <a:gd name="G20" fmla="+- G19 5400 0"/>
                  <a:gd name="G21" fmla="cos G20 0"/>
                  <a:gd name="G22" fmla="sin G20 0"/>
                  <a:gd name="G23" fmla="+- G21 10800 0"/>
                  <a:gd name="G24" fmla="+- G12 G23 G22"/>
                  <a:gd name="G25" fmla="+- G22 G23 G11"/>
                  <a:gd name="G26" fmla="cos 10800 0"/>
                  <a:gd name="G27" fmla="sin 10800 0"/>
                  <a:gd name="G28" fmla="cos 5400 0"/>
                  <a:gd name="G29" fmla="sin 5400 0"/>
                  <a:gd name="G30" fmla="+- G26 10800 0"/>
                  <a:gd name="G31" fmla="+- G27 10800 0"/>
                  <a:gd name="G32" fmla="+- G28 10800 0"/>
                  <a:gd name="G33" fmla="+- G29 10800 0"/>
                  <a:gd name="G34" fmla="+- G19 5400 0"/>
                  <a:gd name="G35" fmla="cos G34 -11796480"/>
                  <a:gd name="G36" fmla="sin G34 -11796480"/>
                  <a:gd name="G37" fmla="+/ -11796480 0 2"/>
                  <a:gd name="T2" fmla="*/ 180 256 1"/>
                  <a:gd name="T3" fmla="*/ 0 256 1"/>
                  <a:gd name="G38" fmla="+- G37 T2 T3"/>
                  <a:gd name="G39" fmla="?: G2 G37 G38"/>
                  <a:gd name="G40" fmla="cos 10800 G39"/>
                  <a:gd name="G41" fmla="sin 10800 G39"/>
                  <a:gd name="G42" fmla="cos 5400 G39"/>
                  <a:gd name="G43" fmla="sin 5400 G39"/>
                  <a:gd name="G44" fmla="+- G40 10800 0"/>
                  <a:gd name="G45" fmla="+- G41 10800 0"/>
                  <a:gd name="G46" fmla="+- G42 10800 0"/>
                  <a:gd name="G47" fmla="+- G43 10800 0"/>
                  <a:gd name="G48" fmla="+- G35 10800 0"/>
                  <a:gd name="G49" fmla="+- G36 10800 0"/>
                  <a:gd name="T4" fmla="*/ 10799 w 21600"/>
                  <a:gd name="T5" fmla="*/ 0 h 21600"/>
                  <a:gd name="T6" fmla="*/ 2700 w 21600"/>
                  <a:gd name="T7" fmla="*/ 10800 h 21600"/>
                  <a:gd name="T8" fmla="*/ 10799 w 21600"/>
                  <a:gd name="T9" fmla="*/ 5400 h 21600"/>
                  <a:gd name="T10" fmla="*/ 24300 w 21600"/>
                  <a:gd name="T11" fmla="*/ 10800 h 21600"/>
                  <a:gd name="T12" fmla="*/ 18900 w 21600"/>
                  <a:gd name="T13" fmla="*/ 16200 h 21600"/>
                  <a:gd name="T14" fmla="*/ 13500 w 21600"/>
                  <a:gd name="T15" fmla="*/ 10800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46" name="Text Box 10"/>
              <p:cNvSpPr txBox="1">
                <a:spLocks noChangeArrowheads="1"/>
              </p:cNvSpPr>
              <p:nvPr/>
            </p:nvSpPr>
            <p:spPr bwMode="auto">
              <a:xfrm>
                <a:off x="1828800" y="5378450"/>
                <a:ext cx="48006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sz="2800" b="1"/>
                  <a:t>New compounds with improved biological activity</a:t>
                </a:r>
                <a:endParaRPr lang="en-US" altLang="he-IL" sz="2800" b="1"/>
              </a:p>
            </p:txBody>
          </p:sp>
        </p:grpSp>
        <p:grpSp>
          <p:nvGrpSpPr>
            <p:cNvPr id="2" name="Group 1"/>
            <p:cNvGrpSpPr/>
            <p:nvPr/>
          </p:nvGrpSpPr>
          <p:grpSpPr>
            <a:xfrm>
              <a:off x="5486400" y="2568575"/>
              <a:ext cx="3733800" cy="3146425"/>
              <a:chOff x="5486400" y="2568575"/>
              <a:chExt cx="3733800" cy="3146425"/>
            </a:xfrm>
          </p:grpSpPr>
          <p:pic>
            <p:nvPicPr>
              <p:cNvPr id="14342" name="Picture 6" descr="D:\Program Files\Common Files\Microsoft Shared\Clipart\cagcat50\BS00580_.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86400" y="2568575"/>
                <a:ext cx="3733800" cy="3146425"/>
              </a:xfrm>
              <a:prstGeom prst="rect">
                <a:avLst/>
              </a:prstGeom>
              <a:noFill/>
              <a:extLst>
                <a:ext uri="{909E8E84-426E-40DD-AFC4-6F175D3DCCD1}">
                  <a14:hiddenFill xmlns:a14="http://schemas.microsoft.com/office/drawing/2010/main">
                    <a:solidFill>
                      <a:srgbClr val="FFFFFF"/>
                    </a:solidFill>
                  </a14:hiddenFill>
                </a:ext>
              </a:extLst>
            </p:spPr>
          </p:pic>
          <p:sp>
            <p:nvSpPr>
              <p:cNvPr id="14349" name="Text Box 13"/>
              <p:cNvSpPr txBox="1">
                <a:spLocks noChangeArrowheads="1"/>
              </p:cNvSpPr>
              <p:nvPr/>
            </p:nvSpPr>
            <p:spPr bwMode="auto">
              <a:xfrm>
                <a:off x="6400800" y="3065463"/>
                <a:ext cx="1447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800" b="1">
                    <a:latin typeface="Comic Sans MS" pitchFamily="66" charset="0"/>
                  </a:rPr>
                  <a:t>QSAR</a:t>
                </a:r>
                <a:endParaRPr lang="en-US" altLang="he-IL" sz="2800" b="1">
                  <a:latin typeface="Comic Sans MS" pitchFamily="66" charset="0"/>
                </a:endParaRPr>
              </a:p>
            </p:txBody>
          </p:sp>
        </p:grpSp>
      </p:grpSp>
      <p:sp>
        <p:nvSpPr>
          <p:cNvPr id="14" name="Rectangle 1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45042774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28625" y="304800"/>
            <a:ext cx="8743950" cy="1143000"/>
          </a:xfrm>
        </p:spPr>
        <p:txBody>
          <a:bodyPr/>
          <a:lstStyle/>
          <a:p>
            <a:r>
              <a:rPr lang="en-US" altLang="he-IL" b="1" dirty="0">
                <a:latin typeface="Comic Sans MS" pitchFamily="66" charset="0"/>
              </a:rPr>
              <a:t>What is QSAR?</a:t>
            </a:r>
          </a:p>
        </p:txBody>
      </p:sp>
      <p:sp>
        <p:nvSpPr>
          <p:cNvPr id="13315" name="Rectangle 3"/>
          <p:cNvSpPr>
            <a:spLocks noGrp="1" noChangeArrowheads="1"/>
          </p:cNvSpPr>
          <p:nvPr>
            <p:ph type="body" idx="1"/>
          </p:nvPr>
        </p:nvSpPr>
        <p:spPr>
          <a:xfrm>
            <a:off x="282179" y="1752600"/>
            <a:ext cx="9233297" cy="4114800"/>
          </a:xfrm>
        </p:spPr>
        <p:txBody>
          <a:bodyPr>
            <a:normAutofit/>
          </a:bodyPr>
          <a:lstStyle/>
          <a:p>
            <a:pPr algn="l" rtl="0">
              <a:buFontTx/>
              <a:buBlip>
                <a:blip r:embed="rId2"/>
              </a:buBlip>
            </a:pPr>
            <a:r>
              <a:rPr lang="en-US" altLang="he-IL" sz="2400" dirty="0"/>
              <a:t>A QSAR is a mathematical relationship between a biological activity of a molecular system and its geometric and chemical characteristics.</a:t>
            </a:r>
          </a:p>
          <a:p>
            <a:pPr algn="l" rtl="0">
              <a:buFontTx/>
              <a:buBlip>
                <a:blip r:embed="rId2"/>
              </a:buBlip>
            </a:pPr>
            <a:r>
              <a:rPr lang="en-US" altLang="he-IL" sz="2400" dirty="0"/>
              <a:t>QSAR attempts to find consistent relationship between biological activity and molecular properties, so that these “rules” can be used to evaluate the activity of new compounds. </a:t>
            </a:r>
          </a:p>
          <a:p>
            <a:pPr algn="l" rtl="0">
              <a:buFontTx/>
              <a:buBlip>
                <a:blip r:embed="rId2"/>
              </a:buBlip>
            </a:pPr>
            <a:endParaRPr lang="en-US" altLang="en-US" sz="2400" dirty="0"/>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41331057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331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331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7587" y="115888"/>
            <a:ext cx="8743950" cy="1143000"/>
          </a:xfrm>
        </p:spPr>
        <p:txBody>
          <a:bodyPr/>
          <a:lstStyle/>
          <a:p>
            <a:r>
              <a:rPr lang="en-US" altLang="he-IL" b="1" dirty="0">
                <a:latin typeface="Comic Sans MS" pitchFamily="66" charset="0"/>
              </a:rPr>
              <a:t>Statistical Concepts</a:t>
            </a:r>
          </a:p>
        </p:txBody>
      </p:sp>
      <p:sp>
        <p:nvSpPr>
          <p:cNvPr id="4099" name="Rectangle 3"/>
          <p:cNvSpPr>
            <a:spLocks noGrp="1" noChangeArrowheads="1"/>
          </p:cNvSpPr>
          <p:nvPr>
            <p:ph type="body" sz="half" idx="1"/>
          </p:nvPr>
        </p:nvSpPr>
        <p:spPr>
          <a:xfrm>
            <a:off x="771525" y="1628776"/>
            <a:ext cx="8401050" cy="1376363"/>
          </a:xfrm>
        </p:spPr>
        <p:txBody>
          <a:bodyPr/>
          <a:lstStyle/>
          <a:p>
            <a:pPr marL="952500" indent="-952500" algn="l" rtl="0">
              <a:buFontTx/>
              <a:buNone/>
            </a:pPr>
            <a:r>
              <a:rPr lang="en-US" altLang="he-IL" sz="2800" dirty="0"/>
              <a:t>Input: </a:t>
            </a:r>
            <a:r>
              <a:rPr lang="en-US" altLang="he-IL" sz="2800" i="1" dirty="0"/>
              <a:t>n</a:t>
            </a:r>
            <a:r>
              <a:rPr lang="en-US" altLang="he-IL" sz="2800" dirty="0"/>
              <a:t> descriptors </a:t>
            </a:r>
            <a:r>
              <a:rPr lang="en-US" altLang="he-IL" sz="2800" i="1" dirty="0"/>
              <a:t>P</a:t>
            </a:r>
            <a:r>
              <a:rPr lang="en-US" altLang="he-IL" sz="2800" i="1" baseline="-25000" dirty="0"/>
              <a:t>1</a:t>
            </a:r>
            <a:r>
              <a:rPr lang="en-US" altLang="he-IL" sz="2800" i="1" dirty="0"/>
              <a:t>,..P</a:t>
            </a:r>
            <a:r>
              <a:rPr lang="en-US" altLang="he-IL" sz="2800" i="1" baseline="-25000" dirty="0"/>
              <a:t>n</a:t>
            </a:r>
            <a:r>
              <a:rPr lang="en-US" altLang="he-IL" sz="2800" dirty="0"/>
              <a:t> and the value of  biological activity (</a:t>
            </a:r>
            <a:r>
              <a:rPr lang="en-US" altLang="he-IL" sz="2800" i="1" dirty="0"/>
              <a:t>EC50</a:t>
            </a:r>
            <a:r>
              <a:rPr lang="en-US" altLang="he-IL" sz="2800" dirty="0"/>
              <a:t> for example) for </a:t>
            </a:r>
            <a:r>
              <a:rPr lang="en-US" altLang="he-IL" sz="2800" i="1" dirty="0"/>
              <a:t>m</a:t>
            </a:r>
            <a:r>
              <a:rPr lang="en-US" altLang="he-IL" sz="2800" dirty="0"/>
              <a:t> compounds.</a:t>
            </a:r>
          </a:p>
        </p:txBody>
      </p:sp>
      <p:graphicFrame>
        <p:nvGraphicFramePr>
          <p:cNvPr id="4251" name="Rectangle 155"/>
          <p:cNvGraphicFramePr>
            <a:graphicFrameLocks noGrp="1"/>
          </p:cNvGraphicFramePr>
          <p:nvPr>
            <p:ph sz="half" idx="2"/>
            <p:extLst>
              <p:ext uri="{D42A27DB-BD31-4B8C-83A1-F6EECF244321}">
                <p14:modId xmlns:p14="http://schemas.microsoft.com/office/powerpoint/2010/main" val="3886184801"/>
              </p:ext>
            </p:extLst>
          </p:nvPr>
        </p:nvGraphicFramePr>
        <p:xfrm>
          <a:off x="607219" y="3213100"/>
          <a:ext cx="8951119" cy="2590800"/>
        </p:xfrm>
        <a:graphic>
          <a:graphicData uri="http://schemas.openxmlformats.org/drawingml/2006/table">
            <a:tbl>
              <a:tblPr rtl="1"/>
              <a:tblGrid>
                <a:gridCol w="950119"/>
                <a:gridCol w="659010"/>
                <a:gridCol w="659012"/>
                <a:gridCol w="659010"/>
                <a:gridCol w="851893"/>
                <a:gridCol w="1009054"/>
                <a:gridCol w="1069777"/>
                <a:gridCol w="1394817"/>
                <a:gridCol w="1698427"/>
              </a:tblGrid>
              <a:tr h="250825">
                <a:tc>
                  <a:txBody>
                    <a:bodyPr/>
                    <a:lstStyle/>
                    <a:p>
                      <a:pPr marL="0" marR="0" lvl="0" indent="0" algn="r" defTabSz="914400" rtl="1"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err="1" smtClean="0">
                          <a:ln>
                            <a:noFill/>
                          </a:ln>
                          <a:solidFill>
                            <a:schemeClr val="tx1"/>
                          </a:solidFill>
                          <a:effectLst/>
                          <a:latin typeface="Times New Roman" pitchFamily="18" charset="0"/>
                          <a:cs typeface="Times New Roman (Hebrew)" pitchFamily="18" charset="-79"/>
                        </a:rPr>
                        <a:t>P</a:t>
                      </a:r>
                      <a:r>
                        <a:rPr kumimoji="0" lang="en-US" sz="2800" b="0" i="0" u="none" strike="noStrike" cap="none" normalizeH="0" baseline="-25000" dirty="0" err="1" smtClean="0">
                          <a:ln>
                            <a:noFill/>
                          </a:ln>
                          <a:solidFill>
                            <a:schemeClr val="tx1"/>
                          </a:solidFill>
                          <a:effectLst/>
                          <a:latin typeface="Times New Roman" pitchFamily="18" charset="0"/>
                          <a:cs typeface="Times New Roman (Hebrew)" pitchFamily="18" charset="-79"/>
                        </a:rPr>
                        <a:t>n</a:t>
                      </a:r>
                      <a:endParaRPr kumimoji="0" lang="en-US" sz="2800" b="0" i="0" u="none" strike="noStrike" cap="none" normalizeH="0" baseline="-25000" dirty="0" smtClean="0">
                        <a:ln>
                          <a:noFill/>
                        </a:ln>
                        <a:solidFill>
                          <a:schemeClr val="tx1"/>
                        </a:solidFill>
                        <a:effectLst/>
                        <a:latin typeface="Times New Roman" pitchFamily="18" charset="0"/>
                        <a:cs typeface="Times New Roman (Hebrew)" pitchFamily="18" charset="-79"/>
                      </a:endParaRPr>
                    </a:p>
                  </a:txBody>
                  <a:tcPr marL="102870" marR="10287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1"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Times New Roman" pitchFamily="18" charset="0"/>
                        <a:cs typeface="Times New Roman (Hebrew)" pitchFamily="18" charset="-79"/>
                      </a:endParaRPr>
                    </a:p>
                  </a:txBody>
                  <a:tcPr marL="102870" marR="10287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1"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Times New Roman" pitchFamily="18" charset="0"/>
                        <a:cs typeface="Times New Roman (Hebrew)" pitchFamily="18" charset="-79"/>
                      </a:endParaRPr>
                    </a:p>
                  </a:txBody>
                  <a:tcPr marL="102870" marR="10287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1"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Times New Roman" pitchFamily="18" charset="0"/>
                        <a:cs typeface="Times New Roman (Hebrew)" pitchFamily="18" charset="-79"/>
                      </a:endParaRPr>
                    </a:p>
                  </a:txBody>
                  <a:tcPr marL="102870" marR="10287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1"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Times New Roman" pitchFamily="18" charset="0"/>
                          <a:cs typeface="Times New Roman (Hebrew)" pitchFamily="18" charset="-79"/>
                        </a:rPr>
                        <a:t>...</a:t>
                      </a:r>
                    </a:p>
                  </a:txBody>
                  <a:tcPr marL="102870" marR="10287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1"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Times New Roman" pitchFamily="18" charset="0"/>
                          <a:cs typeface="Times New Roman (Hebrew)" pitchFamily="18" charset="-79"/>
                        </a:rPr>
                        <a:t>P</a:t>
                      </a:r>
                      <a:r>
                        <a:rPr kumimoji="0" lang="en-US" sz="2800" b="0" i="0" u="none" strike="noStrike" cap="none" normalizeH="0" baseline="-25000" smtClean="0">
                          <a:ln>
                            <a:noFill/>
                          </a:ln>
                          <a:solidFill>
                            <a:schemeClr val="tx1"/>
                          </a:solidFill>
                          <a:effectLst/>
                          <a:latin typeface="Times New Roman" pitchFamily="18" charset="0"/>
                          <a:cs typeface="Times New Roman (Hebrew)" pitchFamily="18" charset="-79"/>
                        </a:rPr>
                        <a:t>2</a:t>
                      </a:r>
                    </a:p>
                  </a:txBody>
                  <a:tcPr marL="102870" marR="10287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1"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Times New Roman" pitchFamily="18" charset="0"/>
                          <a:cs typeface="Times New Roman (Hebrew)" pitchFamily="18" charset="-79"/>
                        </a:rPr>
                        <a:t>P</a:t>
                      </a:r>
                      <a:r>
                        <a:rPr kumimoji="0" lang="en-US" sz="2800" b="0" i="0" u="none" strike="noStrike" cap="none" normalizeH="0" baseline="-25000" smtClean="0">
                          <a:ln>
                            <a:noFill/>
                          </a:ln>
                          <a:solidFill>
                            <a:schemeClr val="tx1"/>
                          </a:solidFill>
                          <a:effectLst/>
                          <a:latin typeface="Times New Roman" pitchFamily="18" charset="0"/>
                          <a:cs typeface="Times New Roman (Hebrew)" pitchFamily="18" charset="-79"/>
                        </a:rPr>
                        <a:t>1</a:t>
                      </a:r>
                    </a:p>
                  </a:txBody>
                  <a:tcPr marL="102870" marR="10287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1"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err="1" smtClean="0">
                          <a:ln>
                            <a:noFill/>
                          </a:ln>
                          <a:solidFill>
                            <a:schemeClr val="tx1"/>
                          </a:solidFill>
                          <a:effectLst/>
                          <a:latin typeface="Times New Roman" pitchFamily="18" charset="0"/>
                          <a:cs typeface="Times New Roman (Hebrew)" pitchFamily="18" charset="-79"/>
                        </a:rPr>
                        <a:t>BioA</a:t>
                      </a:r>
                      <a:endParaRPr kumimoji="0" lang="en-US" sz="2800" b="0" i="0" u="none" strike="noStrike" cap="none" normalizeH="0" baseline="0" dirty="0" smtClean="0">
                        <a:ln>
                          <a:noFill/>
                        </a:ln>
                        <a:solidFill>
                          <a:schemeClr val="tx1"/>
                        </a:solidFill>
                        <a:effectLst/>
                        <a:latin typeface="Times New Roman" pitchFamily="18" charset="0"/>
                        <a:cs typeface="Times New Roman (Hebrew)" pitchFamily="18" charset="-79"/>
                      </a:endParaRPr>
                    </a:p>
                  </a:txBody>
                  <a:tcPr marL="102870" marR="10287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1"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Times New Roman" pitchFamily="18" charset="0"/>
                        <a:cs typeface="Times New Roman (Hebrew)" pitchFamily="18" charset="-79"/>
                      </a:endParaRPr>
                    </a:p>
                  </a:txBody>
                  <a:tcPr marL="102870" marR="10287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2263">
                <a:tc>
                  <a:txBody>
                    <a:bodyPr/>
                    <a:lstStyle/>
                    <a:p>
                      <a:pPr marL="0" marR="0" lvl="0" indent="0" algn="r" defTabSz="914400" rtl="1"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Times New Roman" pitchFamily="18" charset="0"/>
                        <a:cs typeface="Times New Roman (Hebrew)" pitchFamily="18" charset="-79"/>
                      </a:endParaRPr>
                    </a:p>
                  </a:txBody>
                  <a:tcPr marL="102870" marR="10287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1"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Times New Roman" pitchFamily="18" charset="0"/>
                        <a:cs typeface="Times New Roman (Hebrew)" pitchFamily="18" charset="-79"/>
                      </a:endParaRPr>
                    </a:p>
                  </a:txBody>
                  <a:tcPr marL="102870" marR="10287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1"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Times New Roman" pitchFamily="18" charset="0"/>
                        <a:cs typeface="Times New Roman (Hebrew)" pitchFamily="18" charset="-79"/>
                      </a:endParaRPr>
                    </a:p>
                  </a:txBody>
                  <a:tcPr marL="102870" marR="10287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1"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Times New Roman" pitchFamily="18" charset="0"/>
                        <a:cs typeface="Times New Roman (Hebrew)" pitchFamily="18" charset="-79"/>
                      </a:endParaRPr>
                    </a:p>
                  </a:txBody>
                  <a:tcPr marL="102870" marR="10287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1"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Times New Roman" pitchFamily="18" charset="0"/>
                        <a:cs typeface="Times New Roman (Hebrew)" pitchFamily="18" charset="-79"/>
                      </a:endParaRPr>
                    </a:p>
                  </a:txBody>
                  <a:tcPr marL="102870" marR="10287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1"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Times New Roman" pitchFamily="18" charset="0"/>
                        <a:cs typeface="Times New Roman (Hebrew)" pitchFamily="18" charset="-79"/>
                      </a:endParaRPr>
                    </a:p>
                  </a:txBody>
                  <a:tcPr marL="102870" marR="10287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1"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Times New Roman" pitchFamily="18" charset="0"/>
                          <a:cs typeface="Times New Roman (Hebrew)" pitchFamily="18" charset="-79"/>
                        </a:rPr>
                        <a:t>3.7</a:t>
                      </a:r>
                    </a:p>
                  </a:txBody>
                  <a:tcPr marL="102870" marR="10287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1"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Times New Roman" pitchFamily="18" charset="0"/>
                          <a:cs typeface="Times New Roman (Hebrew)" pitchFamily="18" charset="-79"/>
                        </a:rPr>
                        <a:t>0.7</a:t>
                      </a:r>
                    </a:p>
                  </a:txBody>
                  <a:tcPr marL="102870" marR="10287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1"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Times New Roman" pitchFamily="18" charset="0"/>
                          <a:cs typeface="Times New Roman (Hebrew)" pitchFamily="18" charset="-79"/>
                        </a:rPr>
                        <a:t>Cpd1</a:t>
                      </a:r>
                    </a:p>
                  </a:txBody>
                  <a:tcPr marL="102870" marR="10287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2263">
                <a:tc>
                  <a:txBody>
                    <a:bodyPr/>
                    <a:lstStyle/>
                    <a:p>
                      <a:pPr marL="0" marR="0" lvl="0" indent="0" algn="r" defTabSz="914400" rtl="1"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Times New Roman" pitchFamily="18" charset="0"/>
                        <a:cs typeface="Times New Roman (Hebrew)" pitchFamily="18" charset="-79"/>
                      </a:endParaRPr>
                    </a:p>
                  </a:txBody>
                  <a:tcPr marL="102870" marR="10287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1"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Times New Roman" pitchFamily="18" charset="0"/>
                        <a:cs typeface="Times New Roman (Hebrew)" pitchFamily="18" charset="-79"/>
                      </a:endParaRPr>
                    </a:p>
                  </a:txBody>
                  <a:tcPr marL="102870" marR="10287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1"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Times New Roman" pitchFamily="18" charset="0"/>
                        <a:cs typeface="Times New Roman (Hebrew)" pitchFamily="18" charset="-79"/>
                      </a:endParaRPr>
                    </a:p>
                  </a:txBody>
                  <a:tcPr marL="102870" marR="10287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1"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Times New Roman" pitchFamily="18" charset="0"/>
                        <a:cs typeface="Times New Roman (Hebrew)" pitchFamily="18" charset="-79"/>
                      </a:endParaRPr>
                    </a:p>
                  </a:txBody>
                  <a:tcPr marL="102870" marR="10287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1"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Times New Roman" pitchFamily="18" charset="0"/>
                        <a:cs typeface="Times New Roman (Hebrew)" pitchFamily="18" charset="-79"/>
                      </a:endParaRPr>
                    </a:p>
                  </a:txBody>
                  <a:tcPr marL="102870" marR="10287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1"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Times New Roman" pitchFamily="18" charset="0"/>
                        <a:cs typeface="Times New Roman (Hebrew)" pitchFamily="18" charset="-79"/>
                      </a:endParaRPr>
                    </a:p>
                  </a:txBody>
                  <a:tcPr marL="102870" marR="10287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1"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Times New Roman" pitchFamily="18" charset="0"/>
                          <a:cs typeface="Times New Roman (Hebrew)" pitchFamily="18" charset="-79"/>
                        </a:rPr>
                        <a:t>0.4</a:t>
                      </a:r>
                    </a:p>
                  </a:txBody>
                  <a:tcPr marL="102870" marR="10287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1"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Times New Roman" pitchFamily="18" charset="0"/>
                          <a:cs typeface="Times New Roman (Hebrew)" pitchFamily="18" charset="-79"/>
                        </a:rPr>
                        <a:t>3.2</a:t>
                      </a:r>
                    </a:p>
                  </a:txBody>
                  <a:tcPr marL="102870" marR="10287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1"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Times New Roman" pitchFamily="18" charset="0"/>
                          <a:cs typeface="Times New Roman (Hebrew)" pitchFamily="18" charset="-79"/>
                        </a:rPr>
                        <a:t>Cpd2</a:t>
                      </a:r>
                    </a:p>
                  </a:txBody>
                  <a:tcPr marL="102870" marR="10287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0675">
                <a:tc>
                  <a:txBody>
                    <a:bodyPr/>
                    <a:lstStyle/>
                    <a:p>
                      <a:pPr marL="0" marR="0" lvl="0" indent="0" algn="r" defTabSz="914400" rtl="1"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Times New Roman" pitchFamily="18" charset="0"/>
                        <a:cs typeface="Times New Roman (Hebrew)" pitchFamily="18" charset="-79"/>
                      </a:endParaRPr>
                    </a:p>
                  </a:txBody>
                  <a:tcPr marL="102870" marR="10287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1"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Times New Roman" pitchFamily="18" charset="0"/>
                        <a:cs typeface="Times New Roman (Hebrew)" pitchFamily="18" charset="-79"/>
                      </a:endParaRPr>
                    </a:p>
                  </a:txBody>
                  <a:tcPr marL="102870" marR="10287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1"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Times New Roman" pitchFamily="18" charset="0"/>
                        <a:cs typeface="Times New Roman (Hebrew)" pitchFamily="18" charset="-79"/>
                      </a:endParaRPr>
                    </a:p>
                  </a:txBody>
                  <a:tcPr marL="102870" marR="10287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1"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Times New Roman" pitchFamily="18" charset="0"/>
                        <a:cs typeface="Times New Roman (Hebrew)" pitchFamily="18" charset="-79"/>
                      </a:endParaRPr>
                    </a:p>
                  </a:txBody>
                  <a:tcPr marL="102870" marR="10287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1"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Times New Roman" pitchFamily="18" charset="0"/>
                        <a:cs typeface="Times New Roman (Hebrew)" pitchFamily="18" charset="-79"/>
                      </a:endParaRPr>
                    </a:p>
                  </a:txBody>
                  <a:tcPr marL="102870" marR="10287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1"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Times New Roman" pitchFamily="18" charset="0"/>
                        <a:cs typeface="Times New Roman (Hebrew)" pitchFamily="18" charset="-79"/>
                      </a:endParaRPr>
                    </a:p>
                  </a:txBody>
                  <a:tcPr marL="102870" marR="10287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1"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Times New Roman" pitchFamily="18" charset="0"/>
                        <a:cs typeface="Times New Roman (Hebrew)" pitchFamily="18" charset="-79"/>
                      </a:endParaRPr>
                    </a:p>
                  </a:txBody>
                  <a:tcPr marL="102870" marR="10287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1"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Times New Roman" pitchFamily="18" charset="0"/>
                        <a:cs typeface="Times New Roman (Hebrew)" pitchFamily="18" charset="-79"/>
                      </a:endParaRPr>
                    </a:p>
                  </a:txBody>
                  <a:tcPr marL="102870" marR="10287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1"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Times New Roman" pitchFamily="18" charset="0"/>
                          <a:cs typeface="Times New Roman (Hebrew)" pitchFamily="18" charset="-79"/>
                        </a:rPr>
                        <a:t>…</a:t>
                      </a:r>
                    </a:p>
                  </a:txBody>
                  <a:tcPr marL="102870" marR="10287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80975">
                <a:tc>
                  <a:txBody>
                    <a:bodyPr/>
                    <a:lstStyle/>
                    <a:p>
                      <a:pPr marL="0" marR="0" lvl="0" indent="0" algn="r" defTabSz="914400" rtl="1"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Times New Roman" pitchFamily="18" charset="0"/>
                        <a:cs typeface="Times New Roman (Hebrew)" pitchFamily="18" charset="-79"/>
                      </a:endParaRPr>
                    </a:p>
                  </a:txBody>
                  <a:tcPr marL="102870" marR="10287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1"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Times New Roman" pitchFamily="18" charset="0"/>
                        <a:cs typeface="Times New Roman (Hebrew)" pitchFamily="18" charset="-79"/>
                      </a:endParaRPr>
                    </a:p>
                  </a:txBody>
                  <a:tcPr marL="102870" marR="10287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1"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Times New Roman" pitchFamily="18" charset="0"/>
                        <a:cs typeface="Times New Roman (Hebrew)" pitchFamily="18" charset="-79"/>
                      </a:endParaRPr>
                    </a:p>
                  </a:txBody>
                  <a:tcPr marL="102870" marR="10287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1"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Times New Roman" pitchFamily="18" charset="0"/>
                        <a:cs typeface="Times New Roman (Hebrew)" pitchFamily="18" charset="-79"/>
                      </a:endParaRPr>
                    </a:p>
                  </a:txBody>
                  <a:tcPr marL="102870" marR="10287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1"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Times New Roman" pitchFamily="18" charset="0"/>
                        <a:cs typeface="Times New Roman (Hebrew)" pitchFamily="18" charset="-79"/>
                      </a:endParaRPr>
                    </a:p>
                  </a:txBody>
                  <a:tcPr marL="102870" marR="10287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1"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Times New Roman" pitchFamily="18" charset="0"/>
                        <a:cs typeface="Times New Roman (Hebrew)" pitchFamily="18" charset="-79"/>
                      </a:endParaRPr>
                    </a:p>
                  </a:txBody>
                  <a:tcPr marL="102870" marR="10287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1"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Times New Roman" pitchFamily="18" charset="0"/>
                        <a:cs typeface="Times New Roman (Hebrew)" pitchFamily="18" charset="-79"/>
                      </a:endParaRPr>
                    </a:p>
                  </a:txBody>
                  <a:tcPr marL="102870" marR="10287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1"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chemeClr val="tx1"/>
                        </a:solidFill>
                        <a:effectLst/>
                        <a:latin typeface="Times New Roman" pitchFamily="18" charset="0"/>
                        <a:cs typeface="Times New Roman (Hebrew)" pitchFamily="18" charset="-79"/>
                      </a:endParaRPr>
                    </a:p>
                  </a:txBody>
                  <a:tcPr marL="102870" marR="10287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1"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err="1" smtClean="0">
                          <a:ln>
                            <a:noFill/>
                          </a:ln>
                          <a:solidFill>
                            <a:schemeClr val="tx1"/>
                          </a:solidFill>
                          <a:effectLst/>
                          <a:latin typeface="Times New Roman" pitchFamily="18" charset="0"/>
                          <a:cs typeface="Times New Roman (Hebrew)" pitchFamily="18" charset="-79"/>
                        </a:rPr>
                        <a:t>Cpdm</a:t>
                      </a:r>
                      <a:endParaRPr kumimoji="0" lang="en-US" sz="2800" b="0" i="0" u="none" strike="noStrike" cap="none" normalizeH="0" baseline="0" dirty="0" smtClean="0">
                        <a:ln>
                          <a:noFill/>
                        </a:ln>
                        <a:solidFill>
                          <a:schemeClr val="tx1"/>
                        </a:solidFill>
                        <a:effectLst/>
                        <a:latin typeface="Times New Roman" pitchFamily="18" charset="0"/>
                        <a:cs typeface="Times New Roman (Hebrew)" pitchFamily="18" charset="-79"/>
                      </a:endParaRPr>
                    </a:p>
                  </a:txBody>
                  <a:tcPr marL="102870" marR="10287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7721521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687587" y="228600"/>
            <a:ext cx="8743950" cy="1143000"/>
          </a:xfrm>
        </p:spPr>
        <p:txBody>
          <a:bodyPr/>
          <a:lstStyle/>
          <a:p>
            <a:r>
              <a:rPr lang="en-US" altLang="he-IL" b="1" dirty="0">
                <a:latin typeface="Comic Sans MS" pitchFamily="66" charset="0"/>
              </a:rPr>
              <a:t>Statistical Concepts</a:t>
            </a:r>
          </a:p>
        </p:txBody>
      </p:sp>
      <p:sp>
        <p:nvSpPr>
          <p:cNvPr id="9219" name="Rectangle 3"/>
          <p:cNvSpPr>
            <a:spLocks noGrp="1" noChangeArrowheads="1"/>
          </p:cNvSpPr>
          <p:nvPr>
            <p:ph type="body" sz="half" idx="1"/>
          </p:nvPr>
        </p:nvSpPr>
        <p:spPr>
          <a:xfrm>
            <a:off x="771525" y="1628775"/>
            <a:ext cx="8988624" cy="4619625"/>
          </a:xfrm>
        </p:spPr>
        <p:txBody>
          <a:bodyPr>
            <a:normAutofit/>
          </a:bodyPr>
          <a:lstStyle/>
          <a:p>
            <a:pPr algn="l" rtl="0">
              <a:buFontTx/>
              <a:buBlip>
                <a:blip r:embed="rId2"/>
              </a:buBlip>
            </a:pPr>
            <a:r>
              <a:rPr lang="en-US" altLang="he-IL" sz="2400" dirty="0"/>
              <a:t>The problem of QSAR is to find coefficients </a:t>
            </a:r>
            <a:r>
              <a:rPr lang="en-US" altLang="he-IL" sz="2400" i="1" dirty="0"/>
              <a:t>C</a:t>
            </a:r>
            <a:r>
              <a:rPr lang="en-US" altLang="he-IL" sz="2400" i="1" baseline="-25000" dirty="0"/>
              <a:t>0</a:t>
            </a:r>
            <a:r>
              <a:rPr lang="en-US" altLang="he-IL" sz="2400" i="1" dirty="0"/>
              <a:t>,C</a:t>
            </a:r>
            <a:r>
              <a:rPr lang="en-US" altLang="he-IL" sz="2400" i="1" baseline="-25000" dirty="0"/>
              <a:t>1</a:t>
            </a:r>
            <a:r>
              <a:rPr lang="en-US" altLang="he-IL" sz="2400" i="1" dirty="0"/>
              <a:t>,...</a:t>
            </a:r>
            <a:r>
              <a:rPr lang="en-US" altLang="he-IL" sz="2400" i="1" dirty="0" err="1"/>
              <a:t>C</a:t>
            </a:r>
            <a:r>
              <a:rPr lang="en-US" altLang="he-IL" sz="2400" i="1" baseline="-25000" dirty="0" err="1"/>
              <a:t>n</a:t>
            </a:r>
            <a:r>
              <a:rPr lang="en-US" altLang="he-IL" sz="2400" dirty="0"/>
              <a:t> such that:</a:t>
            </a:r>
          </a:p>
          <a:p>
            <a:pPr algn="ctr" rtl="0">
              <a:buFontTx/>
              <a:buNone/>
            </a:pPr>
            <a:r>
              <a:rPr lang="en-US" altLang="he-IL" sz="2400" b="1" i="1" dirty="0"/>
              <a:t>Biological activity = C</a:t>
            </a:r>
            <a:r>
              <a:rPr lang="en-US" altLang="he-IL" sz="2400" b="1" i="1" baseline="-25000" dirty="0"/>
              <a:t>0</a:t>
            </a:r>
            <a:r>
              <a:rPr lang="en-US" altLang="he-IL" sz="2400" b="1" i="1" dirty="0"/>
              <a:t>+(C</a:t>
            </a:r>
            <a:r>
              <a:rPr lang="en-US" altLang="he-IL" sz="2400" b="1" i="1" baseline="-25000" dirty="0"/>
              <a:t>1</a:t>
            </a:r>
            <a:r>
              <a:rPr lang="en-US" altLang="he-IL" sz="2400" b="1" i="1" dirty="0"/>
              <a:t>*P</a:t>
            </a:r>
            <a:r>
              <a:rPr lang="en-US" altLang="he-IL" sz="2400" b="1" i="1" baseline="-25000" dirty="0"/>
              <a:t>1</a:t>
            </a:r>
            <a:r>
              <a:rPr lang="en-US" altLang="he-IL" sz="2400" b="1" i="1" dirty="0"/>
              <a:t>)+...+(</a:t>
            </a:r>
            <a:r>
              <a:rPr lang="en-US" altLang="he-IL" sz="2400" b="1" i="1" dirty="0" err="1"/>
              <a:t>C</a:t>
            </a:r>
            <a:r>
              <a:rPr lang="en-US" altLang="he-IL" sz="2400" b="1" i="1" baseline="-25000" dirty="0" err="1"/>
              <a:t>n</a:t>
            </a:r>
            <a:r>
              <a:rPr lang="en-US" altLang="he-IL" sz="2400" b="1" i="1" dirty="0"/>
              <a:t>*</a:t>
            </a:r>
            <a:r>
              <a:rPr lang="en-US" altLang="he-IL" sz="2400" b="1" i="1" dirty="0" err="1"/>
              <a:t>P</a:t>
            </a:r>
            <a:r>
              <a:rPr lang="en-US" altLang="he-IL" sz="2400" b="1" i="1" baseline="-25000" dirty="0" err="1"/>
              <a:t>n</a:t>
            </a:r>
            <a:r>
              <a:rPr lang="en-US" altLang="he-IL" sz="2400" b="1" i="1" dirty="0"/>
              <a:t>)</a:t>
            </a:r>
          </a:p>
          <a:p>
            <a:pPr algn="l" rtl="0">
              <a:buFontTx/>
              <a:buNone/>
            </a:pPr>
            <a:r>
              <a:rPr lang="en-US" altLang="he-IL" sz="2400" dirty="0"/>
              <a:t>    and the prediction error is minimized for a list of given m compounds.</a:t>
            </a:r>
          </a:p>
          <a:p>
            <a:pPr algn="l" rtl="0">
              <a:buFontTx/>
              <a:buBlip>
                <a:blip r:embed="rId2"/>
              </a:buBlip>
            </a:pPr>
            <a:endParaRPr lang="en-US" altLang="he-IL" sz="2400" dirty="0"/>
          </a:p>
          <a:p>
            <a:pPr algn="l" rtl="0">
              <a:buFontTx/>
              <a:buBlip>
                <a:blip r:embed="rId2"/>
              </a:buBlip>
            </a:pPr>
            <a:r>
              <a:rPr lang="en-US" altLang="he-IL" sz="2400" dirty="0"/>
              <a:t>Partial least squares (PLS) is a technique used for computation of the coefficients of structural descriptors.</a:t>
            </a:r>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1404500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21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21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921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921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687587" y="152400"/>
            <a:ext cx="8743950" cy="1143000"/>
          </a:xfrm>
        </p:spPr>
        <p:txBody>
          <a:bodyPr/>
          <a:lstStyle/>
          <a:p>
            <a:r>
              <a:rPr lang="en-US" altLang="en-US" b="1" dirty="0">
                <a:latin typeface="Comic Sans MS" pitchFamily="66" charset="0"/>
              </a:rPr>
              <a:t>3</a:t>
            </a:r>
            <a:r>
              <a:rPr lang="en-US" altLang="he-IL" b="1" dirty="0">
                <a:latin typeface="Comic Sans MS" pitchFamily="66" charset="0"/>
              </a:rPr>
              <a:t>D-QSAR</a:t>
            </a:r>
          </a:p>
        </p:txBody>
      </p:sp>
      <p:sp>
        <p:nvSpPr>
          <p:cNvPr id="10243" name="Rectangle 3"/>
          <p:cNvSpPr>
            <a:spLocks noGrp="1" noChangeArrowheads="1"/>
          </p:cNvSpPr>
          <p:nvPr>
            <p:ph type="body" sz="half" idx="1"/>
          </p:nvPr>
        </p:nvSpPr>
        <p:spPr>
          <a:xfrm>
            <a:off x="342900" y="1628776"/>
            <a:ext cx="9686925" cy="3552825"/>
          </a:xfrm>
        </p:spPr>
        <p:txBody>
          <a:bodyPr/>
          <a:lstStyle/>
          <a:p>
            <a:pPr algn="l" rtl="0">
              <a:buFontTx/>
              <a:buBlip>
                <a:blip r:embed="rId2"/>
              </a:buBlip>
            </a:pPr>
            <a:r>
              <a:rPr lang="en-US" altLang="he-IL" sz="2800" dirty="0"/>
              <a:t>Structural descriptors are of immense importance in every QSAR model.</a:t>
            </a:r>
          </a:p>
          <a:p>
            <a:pPr algn="l" rtl="0">
              <a:buFontTx/>
              <a:buBlip>
                <a:blip r:embed="rId2"/>
              </a:buBlip>
            </a:pPr>
            <a:r>
              <a:rPr lang="en-US" altLang="he-IL" sz="2800" dirty="0"/>
              <a:t>Common structural descriptors are </a:t>
            </a:r>
            <a:r>
              <a:rPr lang="en-US" altLang="he-IL" sz="2800" dirty="0" err="1"/>
              <a:t>pharmacophores</a:t>
            </a:r>
            <a:r>
              <a:rPr lang="en-US" altLang="he-IL" sz="2800" dirty="0"/>
              <a:t> and molecular fields.</a:t>
            </a:r>
          </a:p>
          <a:p>
            <a:pPr algn="l" rtl="0">
              <a:buFontTx/>
              <a:buBlip>
                <a:blip r:embed="rId2"/>
              </a:buBlip>
            </a:pPr>
            <a:r>
              <a:rPr lang="en-US" altLang="he-IL" sz="2800" dirty="0"/>
              <a:t>Superimposition of the molecules is necessary.</a:t>
            </a:r>
          </a:p>
          <a:p>
            <a:pPr algn="l" rtl="0">
              <a:buFontTx/>
              <a:buBlip>
                <a:blip r:embed="rId2"/>
              </a:buBlip>
            </a:pPr>
            <a:r>
              <a:rPr lang="en-US" altLang="he-IL" sz="2800" dirty="0"/>
              <a:t>3D data has to be converted to 1D in order to use PLS.</a:t>
            </a:r>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2040586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24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024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024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024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257175" y="152400"/>
            <a:ext cx="8743950" cy="1143000"/>
          </a:xfrm>
        </p:spPr>
        <p:txBody>
          <a:bodyPr/>
          <a:lstStyle/>
          <a:p>
            <a:r>
              <a:rPr lang="en-US" altLang="en-US" b="1" dirty="0">
                <a:latin typeface="Comic Sans MS" pitchFamily="66" charset="0"/>
              </a:rPr>
              <a:t>3</a:t>
            </a:r>
            <a:r>
              <a:rPr lang="en-US" altLang="he-IL" b="1" dirty="0">
                <a:latin typeface="Comic Sans MS" pitchFamily="66" charset="0"/>
              </a:rPr>
              <a:t>D-QSAR Assumptions</a:t>
            </a:r>
          </a:p>
        </p:txBody>
      </p:sp>
      <p:sp>
        <p:nvSpPr>
          <p:cNvPr id="11267" name="Rectangle 3"/>
          <p:cNvSpPr>
            <a:spLocks noGrp="1" noChangeArrowheads="1"/>
          </p:cNvSpPr>
          <p:nvPr>
            <p:ph type="body" sz="half" idx="1"/>
          </p:nvPr>
        </p:nvSpPr>
        <p:spPr>
          <a:xfrm>
            <a:off x="0" y="1628776"/>
            <a:ext cx="10287000" cy="4924425"/>
          </a:xfrm>
        </p:spPr>
        <p:txBody>
          <a:bodyPr>
            <a:normAutofit/>
          </a:bodyPr>
          <a:lstStyle/>
          <a:p>
            <a:pPr algn="l" rtl="0">
              <a:lnSpc>
                <a:spcPct val="90000"/>
              </a:lnSpc>
              <a:buFontTx/>
              <a:buBlip>
                <a:blip r:embed="rId2"/>
              </a:buBlip>
            </a:pPr>
            <a:r>
              <a:rPr lang="en-US" altLang="he-IL" sz="2800" dirty="0"/>
              <a:t>The effect is produced by modeled compound and not it’s metabolites.</a:t>
            </a:r>
          </a:p>
          <a:p>
            <a:pPr algn="l" rtl="0">
              <a:lnSpc>
                <a:spcPct val="90000"/>
              </a:lnSpc>
              <a:buFontTx/>
              <a:buBlip>
                <a:blip r:embed="rId2"/>
              </a:buBlip>
            </a:pPr>
            <a:r>
              <a:rPr lang="en-US" altLang="he-IL" sz="2800" dirty="0"/>
              <a:t>The proposed conformation is the bioactive one.</a:t>
            </a:r>
          </a:p>
          <a:p>
            <a:pPr algn="l" rtl="0">
              <a:lnSpc>
                <a:spcPct val="90000"/>
              </a:lnSpc>
              <a:buFontTx/>
              <a:buBlip>
                <a:blip r:embed="rId2"/>
              </a:buBlip>
            </a:pPr>
            <a:r>
              <a:rPr lang="en-US" altLang="he-IL" sz="2800" dirty="0"/>
              <a:t>The binding site is the same for all modeled compounds.</a:t>
            </a:r>
          </a:p>
          <a:p>
            <a:pPr algn="l" rtl="0">
              <a:lnSpc>
                <a:spcPct val="90000"/>
              </a:lnSpc>
              <a:buFontTx/>
              <a:buBlip>
                <a:blip r:embed="rId2"/>
              </a:buBlip>
            </a:pPr>
            <a:r>
              <a:rPr lang="en-US" altLang="he-IL" sz="2800" dirty="0"/>
              <a:t>The biological activity is largely explained by </a:t>
            </a:r>
            <a:r>
              <a:rPr lang="en-US" altLang="he-IL" sz="2800" dirty="0" err="1"/>
              <a:t>enthalpic</a:t>
            </a:r>
            <a:r>
              <a:rPr lang="en-US" altLang="he-IL" sz="2800" dirty="0"/>
              <a:t> processes.</a:t>
            </a:r>
          </a:p>
          <a:p>
            <a:pPr algn="l" rtl="0">
              <a:lnSpc>
                <a:spcPct val="90000"/>
              </a:lnSpc>
              <a:buFontTx/>
              <a:buBlip>
                <a:blip r:embed="rId2"/>
              </a:buBlip>
            </a:pPr>
            <a:r>
              <a:rPr lang="en-US" altLang="he-IL" sz="2800" dirty="0"/>
              <a:t>Entropic  terms are similar for all the compounds.</a:t>
            </a:r>
          </a:p>
          <a:p>
            <a:pPr algn="l" rtl="0">
              <a:lnSpc>
                <a:spcPct val="90000"/>
              </a:lnSpc>
              <a:buFontTx/>
              <a:buBlip>
                <a:blip r:embed="rId2"/>
              </a:buBlip>
            </a:pPr>
            <a:r>
              <a:rPr lang="en-US" altLang="he-IL" sz="2800" dirty="0"/>
              <a:t>The system is considered to be at equilibrium, and kinetics aspects are usually not considered.</a:t>
            </a:r>
          </a:p>
          <a:p>
            <a:pPr algn="l" rtl="0">
              <a:lnSpc>
                <a:spcPct val="90000"/>
              </a:lnSpc>
              <a:buFontTx/>
              <a:buBlip>
                <a:blip r:embed="rId2"/>
              </a:buBlip>
            </a:pPr>
            <a:r>
              <a:rPr lang="en-US" altLang="he-IL" sz="2800" dirty="0"/>
              <a:t>Pharmacokinetics: solvent effects, diffusion, transport are not included.</a:t>
            </a:r>
          </a:p>
        </p:txBody>
      </p:sp>
      <p:pic>
        <p:nvPicPr>
          <p:cNvPr id="11268" name="Picture 4" descr="D:\Program Files\Common Files\Microsoft Shared\Clipart\cagcat50\BD00028_.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58225" y="381000"/>
            <a:ext cx="969765" cy="84455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42341838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 calcmode="lin" valueType="num">
                                      <p:cBhvr additive="base">
                                        <p:cTn id="7" dur="500" fill="hold"/>
                                        <p:tgtEl>
                                          <p:spTgt spid="1126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26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267">
                                            <p:txEl>
                                              <p:pRg st="1" end="1"/>
                                            </p:txEl>
                                          </p:spTgt>
                                        </p:tgtEl>
                                        <p:attrNameLst>
                                          <p:attrName>style.visibility</p:attrName>
                                        </p:attrNameLst>
                                      </p:cBhvr>
                                      <p:to>
                                        <p:strVal val="visible"/>
                                      </p:to>
                                    </p:set>
                                    <p:anim calcmode="lin" valueType="num">
                                      <p:cBhvr additive="base">
                                        <p:cTn id="13" dur="500" fill="hold"/>
                                        <p:tgtEl>
                                          <p:spTgt spid="1126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126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1267">
                                            <p:txEl>
                                              <p:pRg st="2" end="2"/>
                                            </p:txEl>
                                          </p:spTgt>
                                        </p:tgtEl>
                                        <p:attrNameLst>
                                          <p:attrName>style.visibility</p:attrName>
                                        </p:attrNameLst>
                                      </p:cBhvr>
                                      <p:to>
                                        <p:strVal val="visible"/>
                                      </p:to>
                                    </p:set>
                                    <p:anim calcmode="lin" valueType="num">
                                      <p:cBhvr additive="base">
                                        <p:cTn id="19" dur="500" fill="hold"/>
                                        <p:tgtEl>
                                          <p:spTgt spid="1126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126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1267">
                                            <p:txEl>
                                              <p:pRg st="3" end="3"/>
                                            </p:txEl>
                                          </p:spTgt>
                                        </p:tgtEl>
                                        <p:attrNameLst>
                                          <p:attrName>style.visibility</p:attrName>
                                        </p:attrNameLst>
                                      </p:cBhvr>
                                      <p:to>
                                        <p:strVal val="visible"/>
                                      </p:to>
                                    </p:set>
                                    <p:anim calcmode="lin" valueType="num">
                                      <p:cBhvr additive="base">
                                        <p:cTn id="25" dur="500" fill="hold"/>
                                        <p:tgtEl>
                                          <p:spTgt spid="1126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126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1267">
                                            <p:txEl>
                                              <p:pRg st="4" end="4"/>
                                            </p:txEl>
                                          </p:spTgt>
                                        </p:tgtEl>
                                        <p:attrNameLst>
                                          <p:attrName>style.visibility</p:attrName>
                                        </p:attrNameLst>
                                      </p:cBhvr>
                                      <p:to>
                                        <p:strVal val="visible"/>
                                      </p:to>
                                    </p:set>
                                    <p:anim calcmode="lin" valueType="num">
                                      <p:cBhvr additive="base">
                                        <p:cTn id="31" dur="500" fill="hold"/>
                                        <p:tgtEl>
                                          <p:spTgt spid="1126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126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1267">
                                            <p:txEl>
                                              <p:pRg st="5" end="5"/>
                                            </p:txEl>
                                          </p:spTgt>
                                        </p:tgtEl>
                                        <p:attrNameLst>
                                          <p:attrName>style.visibility</p:attrName>
                                        </p:attrNameLst>
                                      </p:cBhvr>
                                      <p:to>
                                        <p:strVal val="visible"/>
                                      </p:to>
                                    </p:set>
                                    <p:anim calcmode="lin" valueType="num">
                                      <p:cBhvr additive="base">
                                        <p:cTn id="37" dur="500" fill="hold"/>
                                        <p:tgtEl>
                                          <p:spTgt spid="11267">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1267">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1267">
                                            <p:txEl>
                                              <p:pRg st="6" end="6"/>
                                            </p:txEl>
                                          </p:spTgt>
                                        </p:tgtEl>
                                        <p:attrNameLst>
                                          <p:attrName>style.visibility</p:attrName>
                                        </p:attrNameLst>
                                      </p:cBhvr>
                                      <p:to>
                                        <p:strVal val="visible"/>
                                      </p:to>
                                    </p:set>
                                    <p:anim calcmode="lin" valueType="num">
                                      <p:cBhvr additive="base">
                                        <p:cTn id="43" dur="500" fill="hold"/>
                                        <p:tgtEl>
                                          <p:spTgt spid="11267">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1267">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771525" y="228600"/>
            <a:ext cx="8743950" cy="1143000"/>
          </a:xfrm>
        </p:spPr>
        <p:txBody>
          <a:bodyPr>
            <a:normAutofit/>
          </a:bodyPr>
          <a:lstStyle/>
          <a:p>
            <a:pPr rtl="0"/>
            <a:r>
              <a:rPr lang="en-US" altLang="he-IL" b="1" dirty="0">
                <a:latin typeface="Comic Sans MS" pitchFamily="66" charset="0"/>
              </a:rPr>
              <a:t>QSAR and 3D-QSAR Software</a:t>
            </a:r>
          </a:p>
        </p:txBody>
      </p:sp>
      <p:sp>
        <p:nvSpPr>
          <p:cNvPr id="12291" name="Rectangle 3"/>
          <p:cNvSpPr>
            <a:spLocks noGrp="1" noChangeArrowheads="1"/>
          </p:cNvSpPr>
          <p:nvPr>
            <p:ph type="body" idx="1"/>
          </p:nvPr>
        </p:nvSpPr>
        <p:spPr>
          <a:xfrm>
            <a:off x="428625" y="1981200"/>
            <a:ext cx="8743950" cy="1371600"/>
          </a:xfrm>
        </p:spPr>
        <p:txBody>
          <a:bodyPr>
            <a:normAutofit/>
          </a:bodyPr>
          <a:lstStyle/>
          <a:p>
            <a:pPr algn="l" rtl="0">
              <a:buFontTx/>
              <a:buBlip>
                <a:blip r:embed="rId2"/>
              </a:buBlip>
            </a:pPr>
            <a:r>
              <a:rPr lang="en-US" altLang="he-IL" sz="2800" dirty="0" err="1"/>
              <a:t>Tripos</a:t>
            </a:r>
            <a:r>
              <a:rPr lang="en-US" altLang="he-IL" sz="2800" dirty="0"/>
              <a:t> – </a:t>
            </a:r>
            <a:r>
              <a:rPr lang="en-US" altLang="he-IL" sz="2800" dirty="0" err="1"/>
              <a:t>CoMFA</a:t>
            </a:r>
            <a:r>
              <a:rPr lang="en-US" altLang="he-IL" sz="2800" dirty="0"/>
              <a:t>, </a:t>
            </a:r>
            <a:r>
              <a:rPr lang="en-US" altLang="he-IL" sz="2800" dirty="0" err="1"/>
              <a:t>VolSurf</a:t>
            </a:r>
            <a:endParaRPr lang="en-US" altLang="he-IL" sz="2800" dirty="0"/>
          </a:p>
          <a:p>
            <a:pPr algn="l" rtl="0">
              <a:buFontTx/>
              <a:buBlip>
                <a:blip r:embed="rId2"/>
              </a:buBlip>
            </a:pPr>
            <a:r>
              <a:rPr lang="en-US" altLang="he-IL" sz="2800" dirty="0"/>
              <a:t>MSI – Catalyst, </a:t>
            </a:r>
            <a:r>
              <a:rPr lang="en-US" altLang="he-IL" sz="2800" dirty="0" err="1"/>
              <a:t>Serius</a:t>
            </a:r>
            <a:endParaRPr lang="en-US" altLang="he-IL" sz="2800" dirty="0"/>
          </a:p>
          <a:p>
            <a:pPr algn="l" rtl="0">
              <a:buFontTx/>
              <a:buBlip>
                <a:blip r:embed="rId2"/>
              </a:buBlip>
            </a:pPr>
            <a:endParaRPr lang="en-US" altLang="en-US" sz="2800" dirty="0"/>
          </a:p>
        </p:txBody>
      </p:sp>
      <p:pic>
        <p:nvPicPr>
          <p:cNvPr id="12292" name="Picture 4" descr="F:\images\accelrys.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15026" y="2724150"/>
            <a:ext cx="2403872" cy="628650"/>
          </a:xfrm>
          <a:prstGeom prst="rect">
            <a:avLst/>
          </a:prstGeom>
          <a:noFill/>
          <a:extLst>
            <a:ext uri="{909E8E84-426E-40DD-AFC4-6F175D3DCCD1}">
              <a14:hiddenFill xmlns:a14="http://schemas.microsoft.com/office/drawing/2010/main">
                <a:solidFill>
                  <a:srgbClr val="FFFFFF"/>
                </a:solidFill>
              </a14:hiddenFill>
            </a:ext>
          </a:extLst>
        </p:spPr>
      </p:pic>
      <p:pic>
        <p:nvPicPr>
          <p:cNvPr id="12293" name="Picture 5" descr="F:\images\msilogo.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29675" y="2663826"/>
            <a:ext cx="925116" cy="765175"/>
          </a:xfrm>
          <a:prstGeom prst="rect">
            <a:avLst/>
          </a:prstGeom>
          <a:noFill/>
          <a:extLst>
            <a:ext uri="{909E8E84-426E-40DD-AFC4-6F175D3DCCD1}">
              <a14:hiddenFill xmlns:a14="http://schemas.microsoft.com/office/drawing/2010/main">
                <a:solidFill>
                  <a:srgbClr val="FFFFFF"/>
                </a:solidFill>
              </a14:hiddenFill>
            </a:ext>
          </a:extLst>
        </p:spPr>
      </p:pic>
      <p:pic>
        <p:nvPicPr>
          <p:cNvPr id="12294" name="Picture 6" descr="C:\MYDOC\Studies\SeminarBioInformatics\QSAR\tripos.bmp"/>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8076" y="1676400"/>
            <a:ext cx="1260872" cy="1143000"/>
          </a:xfrm>
          <a:prstGeom prst="rect">
            <a:avLst/>
          </a:prstGeom>
          <a:noFill/>
          <a:extLst>
            <a:ext uri="{909E8E84-426E-40DD-AFC4-6F175D3DCCD1}">
              <a14:hiddenFill xmlns:a14="http://schemas.microsoft.com/office/drawing/2010/main">
                <a:solidFill>
                  <a:srgbClr val="FFFFFF"/>
                </a:solidFill>
              </a14:hiddenFill>
            </a:ext>
          </a:extLst>
        </p:spPr>
      </p:pic>
      <p:sp>
        <p:nvSpPr>
          <p:cNvPr id="12295" name="Rectangle 7"/>
          <p:cNvSpPr>
            <a:spLocks noChangeArrowheads="1"/>
          </p:cNvSpPr>
          <p:nvPr/>
        </p:nvSpPr>
        <p:spPr bwMode="auto">
          <a:xfrm>
            <a:off x="728024" y="3352800"/>
            <a:ext cx="874395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rtl="0"/>
            <a:r>
              <a:rPr lang="en-US" sz="3600" dirty="0">
                <a:latin typeface="Comic Sans MS" pitchFamily="66" charset="0"/>
              </a:rPr>
              <a:t>Docking Software</a:t>
            </a:r>
          </a:p>
        </p:txBody>
      </p:sp>
      <p:sp>
        <p:nvSpPr>
          <p:cNvPr id="12296" name="Rectangle 8"/>
          <p:cNvSpPr>
            <a:spLocks noChangeArrowheads="1"/>
          </p:cNvSpPr>
          <p:nvPr/>
        </p:nvSpPr>
        <p:spPr bwMode="auto">
          <a:xfrm>
            <a:off x="428625" y="4572000"/>
            <a:ext cx="8743950"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gn="l" rtl="0">
              <a:spcBef>
                <a:spcPct val="20000"/>
              </a:spcBef>
              <a:buFontTx/>
              <a:buBlip>
                <a:blip r:embed="rId2"/>
              </a:buBlip>
            </a:pPr>
            <a:r>
              <a:rPr lang="en-US" sz="2400" dirty="0"/>
              <a:t>DOCK – Kuntz </a:t>
            </a:r>
          </a:p>
          <a:p>
            <a:pPr marL="342900" indent="-342900" algn="l" rtl="0">
              <a:spcBef>
                <a:spcPct val="20000"/>
              </a:spcBef>
              <a:buFontTx/>
              <a:buBlip>
                <a:blip r:embed="rId2"/>
              </a:buBlip>
            </a:pPr>
            <a:r>
              <a:rPr lang="en-US" sz="2400" dirty="0"/>
              <a:t>Flex – </a:t>
            </a:r>
            <a:r>
              <a:rPr lang="en-US" sz="2400" dirty="0" err="1"/>
              <a:t>Lengauer</a:t>
            </a:r>
            <a:endParaRPr lang="en-US" sz="2400" dirty="0"/>
          </a:p>
          <a:p>
            <a:pPr marL="342900" indent="-342900" algn="l" rtl="0">
              <a:spcBef>
                <a:spcPct val="20000"/>
              </a:spcBef>
              <a:buFontTx/>
              <a:buBlip>
                <a:blip r:embed="rId2"/>
              </a:buBlip>
            </a:pPr>
            <a:r>
              <a:rPr lang="en-US" sz="2400" dirty="0" err="1"/>
              <a:t>LigandFit</a:t>
            </a:r>
            <a:r>
              <a:rPr lang="en-US" sz="2400" dirty="0"/>
              <a:t> – MSI Catalyst</a:t>
            </a:r>
          </a:p>
          <a:p>
            <a:pPr marL="342900" indent="-342900" algn="l" rtl="0">
              <a:spcBef>
                <a:spcPct val="20000"/>
              </a:spcBef>
              <a:buFontTx/>
              <a:buBlip>
                <a:blip r:embed="rId2"/>
              </a:buBlip>
            </a:pPr>
            <a:endParaRPr lang="en-US" sz="2400" dirty="0"/>
          </a:p>
        </p:txBody>
      </p:sp>
      <p:sp>
        <p:nvSpPr>
          <p:cNvPr id="9" name="Rectangle 8"/>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4416068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771525" y="381000"/>
            <a:ext cx="8743950" cy="1143000"/>
          </a:xfrm>
        </p:spPr>
        <p:txBody>
          <a:bodyPr/>
          <a:lstStyle/>
          <a:p>
            <a:pPr rtl="0"/>
            <a:r>
              <a:rPr lang="en-US" altLang="en-US" b="1" dirty="0">
                <a:latin typeface="Comic Sans MS" pitchFamily="66" charset="0"/>
              </a:rPr>
              <a:t>3</a:t>
            </a:r>
            <a:r>
              <a:rPr lang="en-US" altLang="he-IL" b="1" dirty="0">
                <a:latin typeface="Comic Sans MS" pitchFamily="66" charset="0"/>
              </a:rPr>
              <a:t>D molecular fields</a:t>
            </a:r>
          </a:p>
        </p:txBody>
      </p:sp>
      <p:sp>
        <p:nvSpPr>
          <p:cNvPr id="5123" name="Rectangle 3"/>
          <p:cNvSpPr>
            <a:spLocks noGrp="1" noChangeArrowheads="1"/>
          </p:cNvSpPr>
          <p:nvPr>
            <p:ph type="body" idx="1"/>
          </p:nvPr>
        </p:nvSpPr>
        <p:spPr>
          <a:xfrm>
            <a:off x="428625" y="1981200"/>
            <a:ext cx="9515475" cy="4114800"/>
          </a:xfrm>
        </p:spPr>
        <p:txBody>
          <a:bodyPr>
            <a:normAutofit/>
          </a:bodyPr>
          <a:lstStyle/>
          <a:p>
            <a:pPr algn="l" rtl="0">
              <a:buFontTx/>
              <a:buBlip>
                <a:blip r:embed="rId2"/>
              </a:buBlip>
            </a:pPr>
            <a:r>
              <a:rPr lang="en-US" altLang="he-IL" sz="2800" dirty="0"/>
              <a:t>A molecular field may be represented by 3D grid.</a:t>
            </a:r>
          </a:p>
          <a:p>
            <a:pPr algn="l" rtl="0">
              <a:buFontTx/>
              <a:buBlip>
                <a:blip r:embed="rId2"/>
              </a:buBlip>
            </a:pPr>
            <a:r>
              <a:rPr lang="en-US" altLang="he-IL" sz="2800" dirty="0"/>
              <a:t>Each voxel  represents attractive and repulsive forces between an interacting partner and a target molecule.</a:t>
            </a:r>
          </a:p>
          <a:p>
            <a:pPr algn="l" rtl="0">
              <a:buFontTx/>
              <a:buBlip>
                <a:blip r:embed="rId2"/>
              </a:buBlip>
            </a:pPr>
            <a:r>
              <a:rPr lang="en-US" altLang="he-IL" sz="2800" dirty="0"/>
              <a:t>An interacting partner can be water, </a:t>
            </a:r>
            <a:r>
              <a:rPr lang="en-US" altLang="he-IL" sz="2800" dirty="0" err="1"/>
              <a:t>octanol</a:t>
            </a:r>
            <a:r>
              <a:rPr lang="en-US" altLang="he-IL" sz="2800" dirty="0"/>
              <a:t> or other solvents.</a:t>
            </a:r>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2849751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12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12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12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771525" y="457200"/>
            <a:ext cx="8743950" cy="1143000"/>
          </a:xfrm>
        </p:spPr>
        <p:txBody>
          <a:bodyPr/>
          <a:lstStyle/>
          <a:p>
            <a:pPr rtl="0"/>
            <a:r>
              <a:rPr lang="en-US" altLang="he-IL" b="1" dirty="0">
                <a:solidFill>
                  <a:schemeClr val="tx2"/>
                </a:solidFill>
                <a:latin typeface="Comic Sans MS" pitchFamily="66" charset="0"/>
              </a:rPr>
              <a:t>Common 3D molecular fields</a:t>
            </a:r>
          </a:p>
        </p:txBody>
      </p:sp>
      <p:sp>
        <p:nvSpPr>
          <p:cNvPr id="6147" name="Rectangle 3"/>
          <p:cNvSpPr>
            <a:spLocks noGrp="1" noChangeArrowheads="1"/>
          </p:cNvSpPr>
          <p:nvPr>
            <p:ph type="body" idx="1"/>
          </p:nvPr>
        </p:nvSpPr>
        <p:spPr>
          <a:xfrm>
            <a:off x="342900" y="1752600"/>
            <a:ext cx="9515475" cy="4572000"/>
          </a:xfrm>
        </p:spPr>
        <p:txBody>
          <a:bodyPr/>
          <a:lstStyle/>
          <a:p>
            <a:pPr algn="l" rtl="0">
              <a:buFontTx/>
              <a:buBlip>
                <a:blip r:embed="rId2"/>
              </a:buBlip>
            </a:pPr>
            <a:r>
              <a:rPr lang="en-US" altLang="he-IL" sz="2800" dirty="0"/>
              <a:t>MEP – Molecular Electrostatic Potential (unit positive charge probe).</a:t>
            </a:r>
          </a:p>
          <a:p>
            <a:pPr algn="l" rtl="0">
              <a:buFontTx/>
              <a:buBlip>
                <a:blip r:embed="rId2"/>
              </a:buBlip>
            </a:pPr>
            <a:r>
              <a:rPr lang="en-US" altLang="he-IL" sz="2800" dirty="0"/>
              <a:t>MLP – Molecular </a:t>
            </a:r>
            <a:r>
              <a:rPr lang="en-US" altLang="he-IL" sz="2800" dirty="0" err="1"/>
              <a:t>Lipophilicity</a:t>
            </a:r>
            <a:r>
              <a:rPr lang="en-US" altLang="he-IL" sz="2800" dirty="0"/>
              <a:t> Potential (no probe necessary).</a:t>
            </a:r>
          </a:p>
          <a:p>
            <a:pPr algn="l" rtl="0">
              <a:buFontTx/>
              <a:buBlip>
                <a:blip r:embed="rId2"/>
              </a:buBlip>
            </a:pPr>
            <a:r>
              <a:rPr lang="en-US" altLang="he-IL" sz="2800" dirty="0"/>
              <a:t>GRID – total energy of interaction: the sum of steric (</a:t>
            </a:r>
            <a:r>
              <a:rPr lang="en-US" altLang="he-IL" sz="2800" dirty="0" err="1"/>
              <a:t>Lennard</a:t>
            </a:r>
            <a:r>
              <a:rPr lang="en-US" altLang="he-IL" sz="2800" dirty="0"/>
              <a:t>-Jones), H-bonding and electrostatics (any probe can be used).</a:t>
            </a:r>
          </a:p>
          <a:p>
            <a:pPr algn="l" rtl="0">
              <a:buFontTx/>
              <a:buBlip>
                <a:blip r:embed="rId2"/>
              </a:buBlip>
            </a:pPr>
            <a:r>
              <a:rPr lang="en-US" altLang="he-IL" sz="2800" dirty="0" err="1"/>
              <a:t>CoMFA</a:t>
            </a:r>
            <a:r>
              <a:rPr lang="en-US" altLang="he-IL" sz="2800" dirty="0"/>
              <a:t> – standard: steric and electrostatic, additional: H-bonding, indicator, parabolic and others.</a:t>
            </a:r>
          </a:p>
          <a:p>
            <a:pPr algn="l" rtl="0">
              <a:buFontTx/>
              <a:buBlip>
                <a:blip r:embed="rId2"/>
              </a:buBlip>
            </a:pPr>
            <a:endParaRPr lang="en-US" altLang="en-US" sz="2800" dirty="0"/>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40461372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14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14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614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614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771525" y="609600"/>
            <a:ext cx="8743950" cy="1371600"/>
          </a:xfrm>
        </p:spPr>
        <p:txBody>
          <a:bodyPr>
            <a:normAutofit/>
          </a:bodyPr>
          <a:lstStyle/>
          <a:p>
            <a:pPr rtl="0"/>
            <a:r>
              <a:rPr lang="en-US" altLang="he-IL" b="1" dirty="0">
                <a:latin typeface="Comic Sans MS" pitchFamily="66" charset="0"/>
              </a:rPr>
              <a:t>C</a:t>
            </a:r>
            <a:r>
              <a:rPr lang="en-US" altLang="he-IL" dirty="0">
                <a:latin typeface="Comic Sans MS" pitchFamily="66" charset="0"/>
              </a:rPr>
              <a:t>omparative </a:t>
            </a:r>
            <a:r>
              <a:rPr lang="en-US" altLang="he-IL" b="1" dirty="0">
                <a:latin typeface="Comic Sans MS" pitchFamily="66" charset="0"/>
              </a:rPr>
              <a:t>M</a:t>
            </a:r>
            <a:r>
              <a:rPr lang="en-US" altLang="he-IL" dirty="0">
                <a:latin typeface="Comic Sans MS" pitchFamily="66" charset="0"/>
              </a:rPr>
              <a:t>olecular </a:t>
            </a:r>
            <a:r>
              <a:rPr lang="en-US" altLang="he-IL" b="1" dirty="0">
                <a:latin typeface="Comic Sans MS" pitchFamily="66" charset="0"/>
              </a:rPr>
              <a:t>F</a:t>
            </a:r>
            <a:r>
              <a:rPr lang="en-US" altLang="he-IL" dirty="0">
                <a:latin typeface="Comic Sans MS" pitchFamily="66" charset="0"/>
              </a:rPr>
              <a:t>ield </a:t>
            </a:r>
            <a:r>
              <a:rPr lang="en-US" altLang="he-IL" b="1" dirty="0">
                <a:latin typeface="Comic Sans MS" pitchFamily="66" charset="0"/>
              </a:rPr>
              <a:t>A</a:t>
            </a:r>
            <a:r>
              <a:rPr lang="en-US" altLang="he-IL" dirty="0">
                <a:latin typeface="Comic Sans MS" pitchFamily="66" charset="0"/>
              </a:rPr>
              <a:t>nalysis (</a:t>
            </a:r>
            <a:r>
              <a:rPr lang="en-US" altLang="he-IL" dirty="0" err="1">
                <a:latin typeface="Comic Sans MS" pitchFamily="66" charset="0"/>
              </a:rPr>
              <a:t>CoMFA</a:t>
            </a:r>
            <a:r>
              <a:rPr lang="en-US" altLang="he-IL" dirty="0">
                <a:latin typeface="Comic Sans MS" pitchFamily="66" charset="0"/>
              </a:rPr>
              <a:t>) - 1988</a:t>
            </a:r>
          </a:p>
        </p:txBody>
      </p:sp>
      <p:sp>
        <p:nvSpPr>
          <p:cNvPr id="7171" name="Rectangle 3"/>
          <p:cNvSpPr>
            <a:spLocks noGrp="1" noChangeArrowheads="1"/>
          </p:cNvSpPr>
          <p:nvPr>
            <p:ph type="body" idx="1"/>
          </p:nvPr>
        </p:nvSpPr>
        <p:spPr>
          <a:xfrm>
            <a:off x="771525" y="2590800"/>
            <a:ext cx="8743950" cy="2590800"/>
          </a:xfrm>
        </p:spPr>
        <p:txBody>
          <a:bodyPr>
            <a:normAutofit/>
          </a:bodyPr>
          <a:lstStyle/>
          <a:p>
            <a:pPr algn="l" rtl="0">
              <a:buFontTx/>
              <a:buBlip>
                <a:blip r:embed="rId2"/>
              </a:buBlip>
            </a:pPr>
            <a:r>
              <a:rPr lang="en-US" altLang="he-IL" sz="2800" dirty="0"/>
              <a:t>Compute molecular fields grid</a:t>
            </a:r>
          </a:p>
          <a:p>
            <a:pPr algn="l" rtl="0">
              <a:buFontTx/>
              <a:buBlip>
                <a:blip r:embed="rId2"/>
              </a:buBlip>
            </a:pPr>
            <a:r>
              <a:rPr lang="en-US" altLang="he-IL" sz="2800" dirty="0"/>
              <a:t>Extract 3D descriptors</a:t>
            </a:r>
          </a:p>
          <a:p>
            <a:pPr algn="l" rtl="0">
              <a:buFontTx/>
              <a:buBlip>
                <a:blip r:embed="rId2"/>
              </a:buBlip>
            </a:pPr>
            <a:r>
              <a:rPr lang="en-US" altLang="he-IL" sz="2800" dirty="0"/>
              <a:t>Compute coefficients of QSAR equation</a:t>
            </a:r>
          </a:p>
          <a:p>
            <a:pPr algn="l" rtl="0">
              <a:buFontTx/>
              <a:buBlip>
                <a:blip r:embed="rId2"/>
              </a:buBlip>
            </a:pPr>
            <a:endParaRPr lang="en-US" altLang="en-US" sz="2800" dirty="0"/>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40680677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771525" y="152400"/>
            <a:ext cx="8743950" cy="1143000"/>
          </a:xfrm>
        </p:spPr>
        <p:txBody>
          <a:bodyPr/>
          <a:lstStyle/>
          <a:p>
            <a:pPr rtl="0"/>
            <a:r>
              <a:rPr lang="en-US" altLang="he-IL" b="1" dirty="0" err="1">
                <a:latin typeface="Comic Sans MS" pitchFamily="66" charset="0"/>
              </a:rPr>
              <a:t>CoMFA</a:t>
            </a:r>
            <a:r>
              <a:rPr lang="en-US" altLang="he-IL" b="1" dirty="0">
                <a:latin typeface="Comic Sans MS" pitchFamily="66" charset="0"/>
              </a:rPr>
              <a:t> molecular fields</a:t>
            </a:r>
          </a:p>
        </p:txBody>
      </p:sp>
      <p:sp>
        <p:nvSpPr>
          <p:cNvPr id="15363" name="Rectangle 3"/>
          <p:cNvSpPr>
            <a:spLocks noGrp="1" noChangeArrowheads="1"/>
          </p:cNvSpPr>
          <p:nvPr>
            <p:ph type="body" idx="1"/>
          </p:nvPr>
        </p:nvSpPr>
        <p:spPr>
          <a:xfrm>
            <a:off x="342900" y="1981200"/>
            <a:ext cx="9515475" cy="3886200"/>
          </a:xfrm>
        </p:spPr>
        <p:txBody>
          <a:bodyPr>
            <a:normAutofit/>
          </a:bodyPr>
          <a:lstStyle/>
          <a:p>
            <a:pPr marL="388938" indent="-388938" algn="l" rtl="0">
              <a:buFontTx/>
              <a:buBlip>
                <a:blip r:embed="rId2"/>
              </a:buBlip>
            </a:pPr>
            <a:r>
              <a:rPr lang="en-US" altLang="he-IL" sz="2800" dirty="0"/>
              <a:t>A grid wit energy fields is calculated by placing a probe atom at each voxel. </a:t>
            </a:r>
          </a:p>
          <a:p>
            <a:pPr marL="388938" indent="-388938" algn="l" rtl="0">
              <a:buFontTx/>
              <a:buBlip>
                <a:blip r:embed="rId2"/>
              </a:buBlip>
            </a:pPr>
            <a:r>
              <a:rPr lang="en-US" altLang="he-IL" sz="2800" dirty="0"/>
              <a:t>The molecular fields are:</a:t>
            </a:r>
          </a:p>
          <a:p>
            <a:pPr marL="388938" indent="-388938" algn="l" rtl="0">
              <a:buFontTx/>
              <a:buNone/>
            </a:pPr>
            <a:r>
              <a:rPr lang="en-US" altLang="he-IL" sz="2800" dirty="0"/>
              <a:t>		Steric (</a:t>
            </a:r>
            <a:r>
              <a:rPr lang="en-US" altLang="he-IL" sz="2800" dirty="0" err="1"/>
              <a:t>Lennard</a:t>
            </a:r>
            <a:r>
              <a:rPr lang="en-US" altLang="he-IL" sz="2800" dirty="0"/>
              <a:t>-Jones) interactions</a:t>
            </a:r>
          </a:p>
          <a:p>
            <a:pPr marL="388938" indent="-388938" algn="l" rtl="0">
              <a:buFontTx/>
              <a:buNone/>
            </a:pPr>
            <a:r>
              <a:rPr lang="en-US" altLang="he-IL" sz="2800" dirty="0"/>
              <a:t>		Electrostatic (</a:t>
            </a:r>
            <a:r>
              <a:rPr lang="en-US" altLang="he-IL" sz="2800" dirty="0" err="1"/>
              <a:t>Coulombic</a:t>
            </a:r>
            <a:r>
              <a:rPr lang="en-US" altLang="he-IL" sz="2800" dirty="0"/>
              <a:t>) interactions</a:t>
            </a:r>
          </a:p>
          <a:p>
            <a:pPr marL="388938" indent="-388938" algn="l" rtl="0">
              <a:buFontTx/>
              <a:buBlip>
                <a:blip r:embed="rId2"/>
              </a:buBlip>
            </a:pPr>
            <a:r>
              <a:rPr lang="en-US" altLang="he-IL" sz="2800" dirty="0"/>
              <a:t> A probe is </a:t>
            </a:r>
            <a:r>
              <a:rPr lang="en-US" altLang="he-IL" sz="2800" i="1" dirty="0"/>
              <a:t>sp</a:t>
            </a:r>
            <a:r>
              <a:rPr lang="en-US" altLang="he-IL" sz="2800" i="1" baseline="30000" dirty="0"/>
              <a:t>3</a:t>
            </a:r>
            <a:r>
              <a:rPr lang="en-US" altLang="he-IL" sz="2800" i="1" dirty="0"/>
              <a:t> </a:t>
            </a:r>
            <a:r>
              <a:rPr lang="en-US" altLang="he-IL" sz="2800" dirty="0"/>
              <a:t>carbon atom with charge of +1.0</a:t>
            </a:r>
          </a:p>
          <a:p>
            <a:pPr marL="388938" indent="-388938" algn="l" rtl="0">
              <a:buFontTx/>
              <a:buBlip>
                <a:blip r:embed="rId2"/>
              </a:buBlip>
            </a:pPr>
            <a:endParaRPr lang="en-US" altLang="en-US" sz="2800" dirty="0"/>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7131752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8" name="Picture 4" descr="C:\MYDOC\Studies\SeminarBioInformatics\QSAR\comfa.bm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0287000" cy="69088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64867634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771525" y="152400"/>
            <a:ext cx="8743950" cy="1143000"/>
          </a:xfrm>
        </p:spPr>
        <p:txBody>
          <a:bodyPr/>
          <a:lstStyle/>
          <a:p>
            <a:pPr rtl="0"/>
            <a:r>
              <a:rPr lang="en-US" altLang="he-IL" b="1" dirty="0" err="1">
                <a:latin typeface="Comic Sans MS" pitchFamily="66" charset="0"/>
              </a:rPr>
              <a:t>CoMFA</a:t>
            </a:r>
            <a:r>
              <a:rPr lang="en-US" altLang="he-IL" b="1" dirty="0">
                <a:latin typeface="Comic Sans MS" pitchFamily="66" charset="0"/>
              </a:rPr>
              <a:t> 3D-QSAR</a:t>
            </a:r>
          </a:p>
        </p:txBody>
      </p:sp>
      <p:sp>
        <p:nvSpPr>
          <p:cNvPr id="20483" name="Rectangle 3"/>
          <p:cNvSpPr>
            <a:spLocks noGrp="1" noChangeArrowheads="1"/>
          </p:cNvSpPr>
          <p:nvPr>
            <p:ph type="body" idx="1"/>
          </p:nvPr>
        </p:nvSpPr>
        <p:spPr>
          <a:xfrm>
            <a:off x="342900" y="1371600"/>
            <a:ext cx="9515475" cy="4800600"/>
          </a:xfrm>
        </p:spPr>
        <p:txBody>
          <a:bodyPr>
            <a:normAutofit/>
          </a:bodyPr>
          <a:lstStyle/>
          <a:p>
            <a:pPr marL="609600" indent="-609600" algn="l" rtl="0">
              <a:buFontTx/>
              <a:buBlip>
                <a:blip r:embed="rId2"/>
              </a:buBlip>
            </a:pPr>
            <a:r>
              <a:rPr lang="en-US" altLang="he-IL" sz="2800" dirty="0"/>
              <a:t>Each grid voxel corresponds to two variables in QSAR equation: steric and electrostatic.</a:t>
            </a:r>
          </a:p>
          <a:p>
            <a:pPr marL="609600" indent="-609600" algn="l" rtl="0">
              <a:buFontTx/>
              <a:buBlip>
                <a:blip r:embed="rId2"/>
              </a:buBlip>
            </a:pPr>
            <a:r>
              <a:rPr lang="en-US" altLang="he-IL" sz="2800" dirty="0"/>
              <a:t>The PLS technique is applied to compute the coefficients.</a:t>
            </a:r>
          </a:p>
          <a:p>
            <a:pPr marL="609600" indent="-609600" algn="ctr" rtl="0">
              <a:buFontTx/>
              <a:buNone/>
            </a:pPr>
            <a:r>
              <a:rPr lang="en-US" altLang="he-IL" sz="2800" b="1" i="1" dirty="0">
                <a:solidFill>
                  <a:srgbClr val="990000"/>
                </a:solidFill>
              </a:rPr>
              <a:t>Problems:</a:t>
            </a:r>
          </a:p>
          <a:p>
            <a:pPr marL="609600" indent="-609600" algn="l" rtl="0">
              <a:buFontTx/>
              <a:buBlip>
                <a:blip r:embed="rId2"/>
              </a:buBlip>
            </a:pPr>
            <a:r>
              <a:rPr lang="en-US" altLang="he-IL" sz="2800" dirty="0"/>
              <a:t>Superposition: the molecules must be optimally aligned.</a:t>
            </a:r>
          </a:p>
          <a:p>
            <a:pPr marL="609600" indent="-609600" algn="l" rtl="0">
              <a:buFontTx/>
              <a:buBlip>
                <a:blip r:embed="rId2"/>
              </a:buBlip>
            </a:pPr>
            <a:r>
              <a:rPr lang="en-US" altLang="he-IL" sz="2800" dirty="0"/>
              <a:t>Flexibility of the molecules.</a:t>
            </a:r>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9316859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048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048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048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048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2048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771525" y="152400"/>
            <a:ext cx="8743950" cy="1143000"/>
          </a:xfrm>
        </p:spPr>
        <p:txBody>
          <a:bodyPr>
            <a:normAutofit/>
          </a:bodyPr>
          <a:lstStyle/>
          <a:p>
            <a:pPr rtl="0"/>
            <a:r>
              <a:rPr lang="en-US" altLang="he-IL" b="1" dirty="0">
                <a:latin typeface="Comic Sans MS" pitchFamily="66" charset="0"/>
              </a:rPr>
              <a:t>3D-QSAR of CYP450</a:t>
            </a:r>
            <a:r>
              <a:rPr lang="en-US" altLang="he-IL" b="1" baseline="-25000" dirty="0">
                <a:latin typeface="Comic Sans MS" pitchFamily="66" charset="0"/>
              </a:rPr>
              <a:t>cam</a:t>
            </a:r>
            <a:r>
              <a:rPr lang="en-US" altLang="he-IL" b="1" dirty="0">
                <a:latin typeface="Comic Sans MS" pitchFamily="66" charset="0"/>
              </a:rPr>
              <a:t> with </a:t>
            </a:r>
            <a:r>
              <a:rPr lang="en-US" altLang="he-IL" b="1" dirty="0" err="1">
                <a:latin typeface="Comic Sans MS" pitchFamily="66" charset="0"/>
              </a:rPr>
              <a:t>CoMFA</a:t>
            </a:r>
            <a:endParaRPr lang="en-US" altLang="he-IL" b="1" dirty="0">
              <a:latin typeface="Comic Sans MS" pitchFamily="66" charset="0"/>
            </a:endParaRPr>
          </a:p>
        </p:txBody>
      </p:sp>
      <p:sp>
        <p:nvSpPr>
          <p:cNvPr id="38915" name="Rectangle 3"/>
          <p:cNvSpPr>
            <a:spLocks noGrp="1" noChangeArrowheads="1"/>
          </p:cNvSpPr>
          <p:nvPr>
            <p:ph type="body" idx="1"/>
          </p:nvPr>
        </p:nvSpPr>
        <p:spPr>
          <a:xfrm>
            <a:off x="312192" y="1084997"/>
            <a:ext cx="9601200" cy="2819400"/>
          </a:xfrm>
        </p:spPr>
        <p:txBody>
          <a:bodyPr>
            <a:normAutofit/>
          </a:bodyPr>
          <a:lstStyle/>
          <a:p>
            <a:pPr marL="609600" indent="-609600" algn="l" rtl="0"/>
            <a:r>
              <a:rPr lang="en-US" altLang="he-IL" sz="2800" dirty="0"/>
              <a:t>Training dataset from 15 complexes of CYP450 with different compounds was used.</a:t>
            </a:r>
          </a:p>
          <a:p>
            <a:pPr marL="609600" indent="-609600" algn="l" rtl="0"/>
            <a:r>
              <a:rPr lang="en-US" altLang="he-IL" sz="2800" dirty="0"/>
              <a:t>The alignment of the compounds was done by aligning of the CYP450 </a:t>
            </a:r>
            <a:r>
              <a:rPr lang="en-US" altLang="he-IL" sz="2800" dirty="0" smtClean="0"/>
              <a:t>proteins </a:t>
            </a:r>
            <a:r>
              <a:rPr lang="en-US" altLang="he-IL" sz="2800" dirty="0"/>
              <a:t>from the</a:t>
            </a:r>
            <a:r>
              <a:rPr lang="en-US" altLang="he-IL" sz="2800" dirty="0">
                <a:solidFill>
                  <a:schemeClr val="tx2"/>
                </a:solidFill>
              </a:rPr>
              <a:t> </a:t>
            </a:r>
            <a:r>
              <a:rPr lang="en-US" altLang="he-IL" sz="2800" dirty="0" smtClean="0">
                <a:solidFill>
                  <a:schemeClr val="tx2"/>
                </a:solidFill>
              </a:rPr>
              <a:t>c</a:t>
            </a:r>
            <a:r>
              <a:rPr lang="en-US" altLang="he-IL" sz="2800" dirty="0" smtClean="0"/>
              <a:t>omplexes</a:t>
            </a:r>
            <a:r>
              <a:rPr lang="en-US" altLang="he-IL" sz="2800" dirty="0"/>
              <a:t>.</a:t>
            </a:r>
          </a:p>
          <a:p>
            <a:pPr marL="609600" indent="-609600" algn="l" rtl="0"/>
            <a:endParaRPr lang="en-US" altLang="he-IL" sz="2800" dirty="0"/>
          </a:p>
        </p:txBody>
      </p:sp>
      <p:pic>
        <p:nvPicPr>
          <p:cNvPr id="3891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4251" y="3200401"/>
            <a:ext cx="4441627" cy="349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7567505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771525" y="152400"/>
            <a:ext cx="8743950" cy="1143000"/>
          </a:xfrm>
        </p:spPr>
        <p:txBody>
          <a:bodyPr>
            <a:normAutofit/>
          </a:bodyPr>
          <a:lstStyle/>
          <a:p>
            <a:pPr rtl="0"/>
            <a:r>
              <a:rPr lang="en-US" altLang="he-IL" b="1" dirty="0">
                <a:latin typeface="Comic Sans MS" pitchFamily="66" charset="0"/>
              </a:rPr>
              <a:t>3D-QSAR of CYP450</a:t>
            </a:r>
            <a:r>
              <a:rPr lang="en-US" altLang="he-IL" b="1" baseline="-25000" dirty="0">
                <a:latin typeface="Comic Sans MS" pitchFamily="66" charset="0"/>
              </a:rPr>
              <a:t>cam</a:t>
            </a:r>
            <a:r>
              <a:rPr lang="en-US" altLang="he-IL" b="1" dirty="0">
                <a:latin typeface="Comic Sans MS" pitchFamily="66" charset="0"/>
              </a:rPr>
              <a:t> with </a:t>
            </a:r>
            <a:r>
              <a:rPr lang="en-US" altLang="he-IL" b="1" dirty="0" err="1">
                <a:latin typeface="Comic Sans MS" pitchFamily="66" charset="0"/>
              </a:rPr>
              <a:t>CoMFA</a:t>
            </a:r>
            <a:endParaRPr lang="en-US" altLang="he-IL" b="1" dirty="0">
              <a:latin typeface="Comic Sans MS" pitchFamily="66" charset="0"/>
            </a:endParaRPr>
          </a:p>
        </p:txBody>
      </p:sp>
      <p:pic>
        <p:nvPicPr>
          <p:cNvPr id="39940" name="Picture 4" descr="W:\Image50.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726" y="1600200"/>
            <a:ext cx="5477471" cy="5181600"/>
          </a:xfrm>
          <a:prstGeom prst="rect">
            <a:avLst/>
          </a:prstGeom>
          <a:noFill/>
          <a:extLst>
            <a:ext uri="{909E8E84-426E-40DD-AFC4-6F175D3DCCD1}">
              <a14:hiddenFill xmlns:a14="http://schemas.microsoft.com/office/drawing/2010/main">
                <a:solidFill>
                  <a:srgbClr val="FFFFFF"/>
                </a:solidFill>
              </a14:hiddenFill>
            </a:ext>
          </a:extLst>
        </p:spPr>
      </p:pic>
      <p:sp>
        <p:nvSpPr>
          <p:cNvPr id="39942" name="Text Box 6"/>
          <p:cNvSpPr txBox="1">
            <a:spLocks noChangeArrowheads="1"/>
          </p:cNvSpPr>
          <p:nvPr/>
        </p:nvSpPr>
        <p:spPr bwMode="auto">
          <a:xfrm>
            <a:off x="5829300" y="2057401"/>
            <a:ext cx="4286250" cy="43781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rtl="0">
              <a:spcBef>
                <a:spcPts val="500"/>
              </a:spcBef>
              <a:spcAft>
                <a:spcPts val="500"/>
              </a:spcAft>
            </a:pPr>
            <a:r>
              <a:rPr lang="en-US" altLang="he-IL" sz="2800" i="1" dirty="0"/>
              <a:t>Maps of electrostatic fields: </a:t>
            </a:r>
            <a:r>
              <a:rPr lang="en-US" altLang="he-IL" sz="2800" dirty="0">
                <a:solidFill>
                  <a:srgbClr val="000000"/>
                </a:solidFill>
              </a:rPr>
              <a:t/>
            </a:r>
            <a:br>
              <a:rPr lang="en-US" altLang="he-IL" sz="2800" dirty="0">
                <a:solidFill>
                  <a:srgbClr val="000000"/>
                </a:solidFill>
              </a:rPr>
            </a:br>
            <a:r>
              <a:rPr lang="en-US" altLang="he-IL" sz="2800" b="1" dirty="0">
                <a:solidFill>
                  <a:srgbClr val="000099"/>
                </a:solidFill>
              </a:rPr>
              <a:t>BLUE</a:t>
            </a:r>
            <a:r>
              <a:rPr lang="en-US" altLang="he-IL" sz="2800" dirty="0">
                <a:solidFill>
                  <a:srgbClr val="000000"/>
                </a:solidFill>
              </a:rPr>
              <a:t> - positive charges</a:t>
            </a:r>
            <a:r>
              <a:rPr lang="en-US" altLang="he-IL" sz="2800" dirty="0"/>
              <a:t/>
            </a:r>
            <a:br>
              <a:rPr lang="en-US" altLang="he-IL" sz="2800" dirty="0"/>
            </a:br>
            <a:r>
              <a:rPr lang="en-US" altLang="he-IL" sz="2800" b="1" dirty="0">
                <a:solidFill>
                  <a:srgbClr val="990000"/>
                </a:solidFill>
              </a:rPr>
              <a:t>RED</a:t>
            </a:r>
            <a:r>
              <a:rPr lang="en-US" altLang="he-IL" sz="2800" dirty="0"/>
              <a:t> - negative charges </a:t>
            </a:r>
          </a:p>
          <a:p>
            <a:pPr algn="l" rtl="0">
              <a:spcBef>
                <a:spcPts val="500"/>
              </a:spcBef>
              <a:spcAft>
                <a:spcPts val="500"/>
              </a:spcAft>
            </a:pPr>
            <a:r>
              <a:rPr lang="en-US" altLang="he-IL" sz="2800" i="1" dirty="0"/>
              <a:t>Maps of steric fields:</a:t>
            </a:r>
            <a:r>
              <a:rPr lang="en-US" altLang="he-IL" sz="2800" dirty="0">
                <a:solidFill>
                  <a:srgbClr val="000000"/>
                </a:solidFill>
              </a:rPr>
              <a:t/>
            </a:r>
            <a:br>
              <a:rPr lang="en-US" altLang="he-IL" sz="2800" dirty="0">
                <a:solidFill>
                  <a:srgbClr val="000000"/>
                </a:solidFill>
              </a:rPr>
            </a:br>
            <a:r>
              <a:rPr lang="en-US" altLang="he-IL" sz="2800" b="1" dirty="0">
                <a:solidFill>
                  <a:srgbClr val="00CC00"/>
                </a:solidFill>
              </a:rPr>
              <a:t>GREEN</a:t>
            </a:r>
            <a:r>
              <a:rPr lang="en-US" altLang="he-IL" sz="2800" dirty="0">
                <a:solidFill>
                  <a:srgbClr val="000000"/>
                </a:solidFill>
              </a:rPr>
              <a:t> - space filling areas for best </a:t>
            </a:r>
            <a:r>
              <a:rPr lang="en-US" altLang="he-IL" sz="2800" dirty="0" err="1">
                <a:solidFill>
                  <a:srgbClr val="000000"/>
                </a:solidFill>
              </a:rPr>
              <a:t>Kd</a:t>
            </a:r>
            <a:r>
              <a:rPr lang="en-US" altLang="he-IL" sz="2800" dirty="0"/>
              <a:t/>
            </a:r>
            <a:br>
              <a:rPr lang="en-US" altLang="he-IL" sz="2800" dirty="0"/>
            </a:br>
            <a:r>
              <a:rPr lang="en-US" altLang="he-IL" sz="2800" b="1" dirty="0">
                <a:solidFill>
                  <a:srgbClr val="FFCC66"/>
                </a:solidFill>
              </a:rPr>
              <a:t>YELLOW</a:t>
            </a:r>
            <a:r>
              <a:rPr lang="en-US" altLang="he-IL" sz="2800" dirty="0"/>
              <a:t> - space conflicting areas</a:t>
            </a:r>
          </a:p>
          <a:p>
            <a:pPr algn="l" rtl="0">
              <a:spcBef>
                <a:spcPct val="50000"/>
              </a:spcBef>
            </a:pPr>
            <a:endParaRPr lang="en-US" altLang="he-IL" sz="2800" dirty="0"/>
          </a:p>
        </p:txBody>
      </p:sp>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9471800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771525" y="304800"/>
            <a:ext cx="8743950" cy="1143000"/>
          </a:xfrm>
        </p:spPr>
        <p:txBody>
          <a:bodyPr/>
          <a:lstStyle/>
          <a:p>
            <a:pPr rtl="0"/>
            <a:r>
              <a:rPr lang="en-US" altLang="he-IL" b="1" dirty="0">
                <a:latin typeface="Comic Sans MS" pitchFamily="66" charset="0"/>
              </a:rPr>
              <a:t>VOLSURF</a:t>
            </a:r>
          </a:p>
        </p:txBody>
      </p:sp>
      <p:sp>
        <p:nvSpPr>
          <p:cNvPr id="17411" name="Rectangle 3"/>
          <p:cNvSpPr>
            <a:spLocks noGrp="1" noChangeArrowheads="1"/>
          </p:cNvSpPr>
          <p:nvPr>
            <p:ph type="body" idx="1"/>
          </p:nvPr>
        </p:nvSpPr>
        <p:spPr/>
        <p:txBody>
          <a:bodyPr>
            <a:normAutofit/>
          </a:bodyPr>
          <a:lstStyle/>
          <a:p>
            <a:pPr marL="0" indent="0" algn="l" rtl="0">
              <a:buFontTx/>
              <a:buNone/>
            </a:pPr>
            <a:r>
              <a:rPr lang="en-US" altLang="he-IL" sz="2800" dirty="0"/>
              <a:t>The </a:t>
            </a:r>
            <a:r>
              <a:rPr lang="en-US" altLang="he-IL" sz="2800" dirty="0" err="1"/>
              <a:t>VolSurf</a:t>
            </a:r>
            <a:r>
              <a:rPr lang="en-US" altLang="he-IL" sz="2800" dirty="0"/>
              <a:t> program predicts a variety of ADME properties based on pre-calculated models. The models included are:</a:t>
            </a:r>
          </a:p>
          <a:p>
            <a:pPr marL="0" indent="0" algn="l" rtl="0"/>
            <a:r>
              <a:rPr lang="en-US" altLang="he-IL" sz="2800" dirty="0">
                <a:latin typeface="TimesNewRoman"/>
              </a:rPr>
              <a:t> drug solubility</a:t>
            </a:r>
          </a:p>
          <a:p>
            <a:pPr marL="0" indent="0" algn="l" rtl="0"/>
            <a:r>
              <a:rPr lang="en-US" altLang="he-IL" sz="2800" dirty="0">
                <a:latin typeface="TimesNewRoman"/>
              </a:rPr>
              <a:t> Caco-2 cell absorption</a:t>
            </a:r>
          </a:p>
          <a:p>
            <a:pPr marL="0" indent="0" algn="l" rtl="0"/>
            <a:r>
              <a:rPr lang="en-US" altLang="he-IL" sz="2800" dirty="0">
                <a:latin typeface="TimesNewRoman"/>
              </a:rPr>
              <a:t> blood-brain barrier permeation</a:t>
            </a:r>
          </a:p>
          <a:p>
            <a:pPr marL="0" indent="0" algn="l" rtl="0"/>
            <a:r>
              <a:rPr lang="en-US" altLang="he-IL" sz="2800" dirty="0">
                <a:latin typeface="TimesNewRoman"/>
              </a:rPr>
              <a:t> distribution</a:t>
            </a:r>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8480244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741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741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741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7411">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74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771525" y="304800"/>
            <a:ext cx="8743950" cy="1143000"/>
          </a:xfrm>
        </p:spPr>
        <p:txBody>
          <a:bodyPr/>
          <a:lstStyle/>
          <a:p>
            <a:pPr rtl="0"/>
            <a:r>
              <a:rPr lang="en-US" altLang="he-IL" b="1" dirty="0">
                <a:latin typeface="Comic Sans MS" pitchFamily="66" charset="0"/>
              </a:rPr>
              <a:t>VOLSURF</a:t>
            </a:r>
          </a:p>
        </p:txBody>
      </p:sp>
      <p:sp>
        <p:nvSpPr>
          <p:cNvPr id="18435" name="Rectangle 3"/>
          <p:cNvSpPr>
            <a:spLocks noGrp="1" noChangeArrowheads="1"/>
          </p:cNvSpPr>
          <p:nvPr>
            <p:ph type="body" idx="1"/>
          </p:nvPr>
        </p:nvSpPr>
        <p:spPr/>
        <p:txBody>
          <a:bodyPr>
            <a:normAutofit/>
          </a:bodyPr>
          <a:lstStyle/>
          <a:p>
            <a:pPr marL="0" indent="0" algn="l" rtl="0">
              <a:buFontTx/>
              <a:buBlip>
                <a:blip r:embed="rId2"/>
              </a:buBlip>
            </a:pPr>
            <a:r>
              <a:rPr lang="en-US" altLang="en-US" sz="2400" dirty="0"/>
              <a:t> </a:t>
            </a:r>
            <a:r>
              <a:rPr lang="en-US" altLang="he-IL" sz="2400" dirty="0" err="1"/>
              <a:t>VolSurf</a:t>
            </a:r>
            <a:r>
              <a:rPr lang="en-US" altLang="he-IL" sz="2400" dirty="0"/>
              <a:t> reads or computes molecular fields, translates them to simple molecular descriptors by image processing techniques.</a:t>
            </a:r>
          </a:p>
          <a:p>
            <a:pPr marL="0" indent="0" algn="l" rtl="0">
              <a:buFontTx/>
              <a:buBlip>
                <a:blip r:embed="rId2"/>
              </a:buBlip>
            </a:pPr>
            <a:r>
              <a:rPr lang="en-US" altLang="he-IL" sz="2400" dirty="0">
                <a:latin typeface="TimesNewRoman"/>
              </a:rPr>
              <a:t> These descriptors quantitatively characterize </a:t>
            </a:r>
            <a:r>
              <a:rPr lang="en-US" altLang="he-IL" sz="2400" dirty="0">
                <a:solidFill>
                  <a:srgbClr val="FFFF00"/>
                </a:solidFill>
                <a:latin typeface="TimesNewRoman"/>
              </a:rPr>
              <a:t>size, shape, polarity, and hydrophobicity of molecules, and the balance between them.</a:t>
            </a:r>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8566618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43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843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771525" y="228600"/>
            <a:ext cx="8743950" cy="1143000"/>
          </a:xfrm>
        </p:spPr>
        <p:txBody>
          <a:bodyPr/>
          <a:lstStyle/>
          <a:p>
            <a:pPr rtl="0"/>
            <a:r>
              <a:rPr lang="en-US" altLang="he-IL" b="1" dirty="0">
                <a:latin typeface="Comic Sans MS" pitchFamily="66" charset="0"/>
              </a:rPr>
              <a:t>VOLSURF Descriptors</a:t>
            </a:r>
          </a:p>
        </p:txBody>
      </p:sp>
      <p:sp>
        <p:nvSpPr>
          <p:cNvPr id="31747" name="Rectangle 3"/>
          <p:cNvSpPr>
            <a:spLocks noGrp="1" noChangeArrowheads="1"/>
          </p:cNvSpPr>
          <p:nvPr>
            <p:ph type="body" idx="1"/>
          </p:nvPr>
        </p:nvSpPr>
        <p:spPr>
          <a:xfrm>
            <a:off x="171450" y="1295400"/>
            <a:ext cx="9944100" cy="5410200"/>
          </a:xfrm>
        </p:spPr>
        <p:txBody>
          <a:bodyPr/>
          <a:lstStyle/>
          <a:p>
            <a:pPr marL="0" indent="0" algn="l" rtl="0">
              <a:lnSpc>
                <a:spcPct val="90000"/>
              </a:lnSpc>
              <a:buFontTx/>
              <a:buBlip>
                <a:blip r:embed="rId2"/>
              </a:buBlip>
            </a:pPr>
            <a:r>
              <a:rPr lang="en-US" altLang="en-US" sz="2800" dirty="0">
                <a:cs typeface="Times New Roman" pitchFamily="18" charset="0"/>
              </a:rPr>
              <a:t> </a:t>
            </a:r>
            <a:r>
              <a:rPr lang="en-US" altLang="he-IL" sz="2800" dirty="0">
                <a:cs typeface="Times New Roman" pitchFamily="18" charset="0"/>
              </a:rPr>
              <a:t>Size and shape: volume </a:t>
            </a:r>
            <a:r>
              <a:rPr lang="en-US" altLang="he-IL" sz="2800" i="1" dirty="0">
                <a:cs typeface="Times New Roman" pitchFamily="18" charset="0"/>
              </a:rPr>
              <a:t>V</a:t>
            </a:r>
            <a:r>
              <a:rPr lang="en-US" altLang="he-IL" sz="2800" dirty="0">
                <a:cs typeface="Times New Roman" pitchFamily="18" charset="0"/>
              </a:rPr>
              <a:t>, surface area </a:t>
            </a:r>
            <a:r>
              <a:rPr lang="en-US" altLang="he-IL" sz="2800" i="1" dirty="0">
                <a:cs typeface="Times New Roman" pitchFamily="18" charset="0"/>
              </a:rPr>
              <a:t>S</a:t>
            </a:r>
            <a:r>
              <a:rPr lang="en-US" altLang="he-IL" sz="2800" dirty="0">
                <a:cs typeface="Times New Roman" pitchFamily="18" charset="0"/>
              </a:rPr>
              <a:t>, ratio volume surface </a:t>
            </a:r>
            <a:r>
              <a:rPr lang="en-US" altLang="he-IL" sz="2800" i="1" dirty="0">
                <a:cs typeface="Times New Roman" pitchFamily="18" charset="0"/>
              </a:rPr>
              <a:t>V/S</a:t>
            </a:r>
            <a:r>
              <a:rPr lang="en-US" altLang="he-IL" sz="2800" dirty="0">
                <a:cs typeface="Times New Roman" pitchFamily="18" charset="0"/>
              </a:rPr>
              <a:t>, globularity </a:t>
            </a:r>
            <a:r>
              <a:rPr lang="en-US" altLang="he-IL" sz="2800" i="1" dirty="0">
                <a:cs typeface="Times New Roman" pitchFamily="18" charset="0"/>
              </a:rPr>
              <a:t>S/</a:t>
            </a:r>
            <a:r>
              <a:rPr lang="en-US" altLang="he-IL" sz="2800" i="1" dirty="0" err="1">
                <a:cs typeface="Times New Roman" pitchFamily="18" charset="0"/>
              </a:rPr>
              <a:t>S</a:t>
            </a:r>
            <a:r>
              <a:rPr lang="en-US" altLang="he-IL" sz="2800" i="1" baseline="-25000" dirty="0" err="1">
                <a:cs typeface="Times New Roman" pitchFamily="18" charset="0"/>
              </a:rPr>
              <a:t>equiv</a:t>
            </a:r>
            <a:r>
              <a:rPr lang="en-US" altLang="he-IL" sz="2800" dirty="0">
                <a:cs typeface="Times New Roman" pitchFamily="18" charset="0"/>
              </a:rPr>
              <a:t>  (</a:t>
            </a:r>
            <a:r>
              <a:rPr lang="en-US" altLang="he-IL" sz="2800" i="1" dirty="0" err="1">
                <a:cs typeface="Times New Roman" pitchFamily="18" charset="0"/>
              </a:rPr>
              <a:t>S</a:t>
            </a:r>
            <a:r>
              <a:rPr lang="en-US" altLang="he-IL" sz="2800" i="1" baseline="-25000" dirty="0" err="1">
                <a:cs typeface="Times New Roman" pitchFamily="18" charset="0"/>
              </a:rPr>
              <a:t>equiv</a:t>
            </a:r>
            <a:r>
              <a:rPr lang="en-US" altLang="he-IL" sz="2800" dirty="0">
                <a:cs typeface="Times New Roman" pitchFamily="18" charset="0"/>
              </a:rPr>
              <a:t> is the surface area of a sphere of volume </a:t>
            </a:r>
            <a:r>
              <a:rPr lang="en-US" altLang="he-IL" sz="2800" i="1" dirty="0">
                <a:cs typeface="Times New Roman" pitchFamily="18" charset="0"/>
              </a:rPr>
              <a:t>V</a:t>
            </a:r>
            <a:r>
              <a:rPr lang="en-US" altLang="he-IL" sz="2800" dirty="0">
                <a:cs typeface="Times New Roman" pitchFamily="18" charset="0"/>
              </a:rPr>
              <a:t>).</a:t>
            </a:r>
          </a:p>
          <a:p>
            <a:pPr marL="0" indent="0" algn="l" rtl="0">
              <a:lnSpc>
                <a:spcPct val="90000"/>
              </a:lnSpc>
              <a:buFontTx/>
              <a:buBlip>
                <a:blip r:embed="rId2"/>
              </a:buBlip>
            </a:pPr>
            <a:r>
              <a:rPr lang="en-US" altLang="he-IL" sz="2800" dirty="0">
                <a:cs typeface="Times New Roman" pitchFamily="18" charset="0"/>
              </a:rPr>
              <a:t> Hydrophilic: hydrophilic surface area </a:t>
            </a:r>
            <a:r>
              <a:rPr lang="en-US" altLang="he-IL" sz="2800" i="1" dirty="0">
                <a:cs typeface="Times New Roman" pitchFamily="18" charset="0"/>
              </a:rPr>
              <a:t>HS</a:t>
            </a:r>
            <a:r>
              <a:rPr lang="en-US" altLang="he-IL" sz="2800" dirty="0">
                <a:cs typeface="Times New Roman" pitchFamily="18" charset="0"/>
              </a:rPr>
              <a:t>, capacity factor </a:t>
            </a:r>
            <a:r>
              <a:rPr lang="en-US" altLang="he-IL" sz="2800" i="1" dirty="0">
                <a:cs typeface="Times New Roman" pitchFamily="18" charset="0"/>
              </a:rPr>
              <a:t>HS/S</a:t>
            </a:r>
            <a:r>
              <a:rPr lang="en-US" altLang="he-IL" sz="2800" dirty="0">
                <a:cs typeface="Times New Roman" pitchFamily="18" charset="0"/>
              </a:rPr>
              <a:t>.</a:t>
            </a:r>
          </a:p>
          <a:p>
            <a:pPr marL="0" indent="0" algn="l" rtl="0">
              <a:lnSpc>
                <a:spcPct val="90000"/>
              </a:lnSpc>
              <a:buFontTx/>
              <a:buBlip>
                <a:blip r:embed="rId2"/>
              </a:buBlip>
            </a:pPr>
            <a:r>
              <a:rPr lang="en-US" altLang="he-IL" sz="2800" dirty="0">
                <a:cs typeface="Times New Roman" pitchFamily="18" charset="0"/>
              </a:rPr>
              <a:t> Hydrophobic: like hydrophilic </a:t>
            </a:r>
            <a:r>
              <a:rPr lang="en-US" altLang="he-IL" sz="2800" i="1" dirty="0">
                <a:cs typeface="Times New Roman" pitchFamily="18" charset="0"/>
              </a:rPr>
              <a:t>LS, LS/S.</a:t>
            </a:r>
          </a:p>
          <a:p>
            <a:pPr marL="0" indent="0" algn="l" rtl="0">
              <a:lnSpc>
                <a:spcPct val="90000"/>
              </a:lnSpc>
              <a:buFontTx/>
              <a:buBlip>
                <a:blip r:embed="rId2"/>
              </a:buBlip>
            </a:pPr>
            <a:r>
              <a:rPr lang="en-US" altLang="he-IL" sz="2800" dirty="0">
                <a:cs typeface="Times New Roman" pitchFamily="18" charset="0"/>
              </a:rPr>
              <a:t> Interaction energy moments: vectors pointing from the center of the mass to the center of hydrophobic/hydrophilic regions.</a:t>
            </a:r>
          </a:p>
          <a:p>
            <a:pPr marL="0" indent="0" algn="l" rtl="0">
              <a:lnSpc>
                <a:spcPct val="90000"/>
              </a:lnSpc>
              <a:buFontTx/>
              <a:buBlip>
                <a:blip r:embed="rId2"/>
              </a:buBlip>
            </a:pPr>
            <a:r>
              <a:rPr lang="en-US" altLang="he-IL" sz="2800" dirty="0">
                <a:solidFill>
                  <a:srgbClr val="000000"/>
                </a:solidFill>
                <a:cs typeface="Times New Roman" pitchFamily="18" charset="0"/>
              </a:rPr>
              <a:t> </a:t>
            </a:r>
            <a:r>
              <a:rPr lang="en-US" altLang="he-IL" sz="2800" dirty="0">
                <a:solidFill>
                  <a:srgbClr val="FFFF00"/>
                </a:solidFill>
                <a:cs typeface="Times New Roman" pitchFamily="18" charset="0"/>
              </a:rPr>
              <a:t>Mixed: local interaction energy minima, energy minima distances, hydrophilic-lipophilic balance </a:t>
            </a:r>
            <a:r>
              <a:rPr lang="en-US" altLang="he-IL" sz="2800" i="1" dirty="0">
                <a:solidFill>
                  <a:srgbClr val="FFFF00"/>
                </a:solidFill>
                <a:cs typeface="Times New Roman" pitchFamily="18" charset="0"/>
              </a:rPr>
              <a:t>HS/LS</a:t>
            </a:r>
            <a:r>
              <a:rPr lang="en-US" altLang="he-IL" sz="2800" dirty="0">
                <a:solidFill>
                  <a:srgbClr val="FFFF00"/>
                </a:solidFill>
                <a:cs typeface="Times New Roman" pitchFamily="18" charset="0"/>
              </a:rPr>
              <a:t>, </a:t>
            </a:r>
            <a:r>
              <a:rPr lang="en-US" altLang="he-IL" sz="2800" dirty="0" err="1">
                <a:solidFill>
                  <a:srgbClr val="FFFF00"/>
                </a:solidFill>
                <a:cs typeface="Times New Roman" pitchFamily="18" charset="0"/>
              </a:rPr>
              <a:t>amphiphilic</a:t>
            </a:r>
            <a:r>
              <a:rPr lang="en-US" altLang="he-IL" sz="2800" dirty="0">
                <a:solidFill>
                  <a:srgbClr val="FFFF00"/>
                </a:solidFill>
                <a:cs typeface="Times New Roman" pitchFamily="18" charset="0"/>
              </a:rPr>
              <a:t> moments, packing parameters, H-bonding, </a:t>
            </a:r>
            <a:r>
              <a:rPr lang="en-US" altLang="he-IL" sz="2800" dirty="0" err="1">
                <a:solidFill>
                  <a:srgbClr val="FFFF00"/>
                </a:solidFill>
                <a:cs typeface="Times New Roman" pitchFamily="18" charset="0"/>
              </a:rPr>
              <a:t>polarisability</a:t>
            </a:r>
            <a:r>
              <a:rPr lang="en-US" altLang="he-IL" sz="2800" dirty="0">
                <a:solidFill>
                  <a:srgbClr val="000000"/>
                </a:solidFill>
                <a:cs typeface="Times New Roman" pitchFamily="18" charset="0"/>
              </a:rPr>
              <a:t>.</a:t>
            </a:r>
            <a:endParaRPr lang="en-US" altLang="he-IL" sz="2800" i="1" dirty="0">
              <a:solidFill>
                <a:srgbClr val="000000"/>
              </a:solidFill>
              <a:cs typeface="Times New Roman" pitchFamily="18" charset="0"/>
            </a:endParaRPr>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4815864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anim calcmode="lin" valueType="num">
                                      <p:cBhvr additive="base">
                                        <p:cTn id="7" dur="500" fill="hold"/>
                                        <p:tgtEl>
                                          <p:spTgt spid="3174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174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1747">
                                            <p:txEl>
                                              <p:pRg st="1" end="1"/>
                                            </p:txEl>
                                          </p:spTgt>
                                        </p:tgtEl>
                                        <p:attrNameLst>
                                          <p:attrName>style.visibility</p:attrName>
                                        </p:attrNameLst>
                                      </p:cBhvr>
                                      <p:to>
                                        <p:strVal val="visible"/>
                                      </p:to>
                                    </p:set>
                                    <p:anim calcmode="lin" valueType="num">
                                      <p:cBhvr additive="base">
                                        <p:cTn id="13" dur="500" fill="hold"/>
                                        <p:tgtEl>
                                          <p:spTgt spid="3174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174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1747">
                                            <p:txEl>
                                              <p:pRg st="2" end="2"/>
                                            </p:txEl>
                                          </p:spTgt>
                                        </p:tgtEl>
                                        <p:attrNameLst>
                                          <p:attrName>style.visibility</p:attrName>
                                        </p:attrNameLst>
                                      </p:cBhvr>
                                      <p:to>
                                        <p:strVal val="visible"/>
                                      </p:to>
                                    </p:set>
                                    <p:anim calcmode="lin" valueType="num">
                                      <p:cBhvr additive="base">
                                        <p:cTn id="19" dur="500" fill="hold"/>
                                        <p:tgtEl>
                                          <p:spTgt spid="3174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174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1747">
                                            <p:txEl>
                                              <p:pRg st="3" end="3"/>
                                            </p:txEl>
                                          </p:spTgt>
                                        </p:tgtEl>
                                        <p:attrNameLst>
                                          <p:attrName>style.visibility</p:attrName>
                                        </p:attrNameLst>
                                      </p:cBhvr>
                                      <p:to>
                                        <p:strVal val="visible"/>
                                      </p:to>
                                    </p:set>
                                    <p:anim calcmode="lin" valueType="num">
                                      <p:cBhvr additive="base">
                                        <p:cTn id="25" dur="500" fill="hold"/>
                                        <p:tgtEl>
                                          <p:spTgt spid="3174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174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1747">
                                            <p:txEl>
                                              <p:pRg st="4" end="4"/>
                                            </p:txEl>
                                          </p:spTgt>
                                        </p:tgtEl>
                                        <p:attrNameLst>
                                          <p:attrName>style.visibility</p:attrName>
                                        </p:attrNameLst>
                                      </p:cBhvr>
                                      <p:to>
                                        <p:strVal val="visible"/>
                                      </p:to>
                                    </p:set>
                                    <p:anim calcmode="lin" valueType="num">
                                      <p:cBhvr additive="base">
                                        <p:cTn id="31" dur="500" fill="hold"/>
                                        <p:tgtEl>
                                          <p:spTgt spid="3174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1747">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771525" y="304800"/>
            <a:ext cx="8743950" cy="1143000"/>
          </a:xfrm>
        </p:spPr>
        <p:txBody>
          <a:bodyPr/>
          <a:lstStyle/>
          <a:p>
            <a:pPr rtl="0"/>
            <a:r>
              <a:rPr lang="en-US" altLang="he-IL" b="1" dirty="0">
                <a:latin typeface="Comic Sans MS" pitchFamily="66" charset="0"/>
              </a:rPr>
              <a:t>VOLSURF</a:t>
            </a:r>
          </a:p>
        </p:txBody>
      </p:sp>
      <p:pic>
        <p:nvPicPr>
          <p:cNvPr id="19461" name="Picture 5" descr="C:\MYDOC\Studies\SeminarBioInformatics\QSAR\volsurf2.bm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2050" y="1524001"/>
            <a:ext cx="4650581" cy="3298825"/>
          </a:xfrm>
          <a:prstGeom prst="rect">
            <a:avLst/>
          </a:prstGeom>
          <a:noFill/>
          <a:extLst>
            <a:ext uri="{909E8E84-426E-40DD-AFC4-6F175D3DCCD1}">
              <a14:hiddenFill xmlns:a14="http://schemas.microsoft.com/office/drawing/2010/main">
                <a:solidFill>
                  <a:srgbClr val="FFFFFF"/>
                </a:solidFill>
              </a14:hiddenFill>
            </a:ext>
          </a:extLst>
        </p:spPr>
      </p:pic>
      <p:pic>
        <p:nvPicPr>
          <p:cNvPr id="19462" name="Picture 6" descr="C:\MYDOC\Studies\SeminarBioInformatics\QSAR\volsurf1.bm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4425" y="1600200"/>
            <a:ext cx="3386138" cy="3200400"/>
          </a:xfrm>
          <a:prstGeom prst="rect">
            <a:avLst/>
          </a:prstGeom>
          <a:noFill/>
          <a:extLst>
            <a:ext uri="{909E8E84-426E-40DD-AFC4-6F175D3DCCD1}">
              <a14:hiddenFill xmlns:a14="http://schemas.microsoft.com/office/drawing/2010/main">
                <a:solidFill>
                  <a:srgbClr val="FFFFFF"/>
                </a:solidFill>
              </a14:hiddenFill>
            </a:ext>
          </a:extLst>
        </p:spPr>
      </p:pic>
      <p:sp>
        <p:nvSpPr>
          <p:cNvPr id="19463" name="Text Box 7"/>
          <p:cNvSpPr txBox="1">
            <a:spLocks noChangeArrowheads="1"/>
          </p:cNvSpPr>
          <p:nvPr/>
        </p:nvSpPr>
        <p:spPr bwMode="auto">
          <a:xfrm>
            <a:off x="1114425" y="5181600"/>
            <a:ext cx="840105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sz="2800" i="1"/>
              <a:t>hydrophobic (blue) and hydrophilic (red) surface area of diazepam.</a:t>
            </a:r>
            <a:endParaRPr lang="en-US" altLang="he-IL" sz="2800" i="1">
              <a:cs typeface="Times New Roman" pitchFamily="18" charset="0"/>
            </a:endParaRPr>
          </a:p>
        </p:txBody>
      </p:sp>
      <p:sp>
        <p:nvSpPr>
          <p:cNvPr id="6" name="Rectangle 5"/>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48593593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771525" y="152400"/>
            <a:ext cx="8743950" cy="1143000"/>
          </a:xfrm>
        </p:spPr>
        <p:txBody>
          <a:bodyPr/>
          <a:lstStyle/>
          <a:p>
            <a:pPr rtl="0"/>
            <a:r>
              <a:rPr lang="en-US" altLang="he-IL" b="1" dirty="0">
                <a:latin typeface="Comic Sans MS" pitchFamily="66" charset="0"/>
              </a:rPr>
              <a:t>Catalyst</a:t>
            </a:r>
          </a:p>
        </p:txBody>
      </p:sp>
      <p:sp>
        <p:nvSpPr>
          <p:cNvPr id="23555" name="Rectangle 3"/>
          <p:cNvSpPr>
            <a:spLocks noGrp="1" noChangeArrowheads="1"/>
          </p:cNvSpPr>
          <p:nvPr>
            <p:ph type="body" idx="1"/>
          </p:nvPr>
        </p:nvSpPr>
        <p:spPr>
          <a:xfrm>
            <a:off x="171450" y="1295400"/>
            <a:ext cx="9944100" cy="5410200"/>
          </a:xfrm>
        </p:spPr>
        <p:txBody>
          <a:bodyPr/>
          <a:lstStyle/>
          <a:p>
            <a:pPr marL="0" indent="0" algn="l" rtl="0">
              <a:buFontTx/>
              <a:buBlip>
                <a:blip r:embed="rId2"/>
              </a:buBlip>
            </a:pPr>
            <a:r>
              <a:rPr lang="en-US" altLang="en-US" sz="2800" dirty="0">
                <a:cs typeface="Times New Roman" pitchFamily="18" charset="0"/>
              </a:rPr>
              <a:t> </a:t>
            </a:r>
            <a:r>
              <a:rPr lang="en-US" altLang="he-IL" sz="2800" dirty="0">
                <a:cs typeface="Times New Roman" pitchFamily="18" charset="0"/>
              </a:rPr>
              <a:t>Catalyst develops 3D models (</a:t>
            </a:r>
            <a:r>
              <a:rPr lang="en-US" altLang="he-IL" sz="2800" dirty="0" err="1">
                <a:cs typeface="Times New Roman" pitchFamily="18" charset="0"/>
              </a:rPr>
              <a:t>pharmacophores</a:t>
            </a:r>
            <a:r>
              <a:rPr lang="en-US" altLang="he-IL" sz="2800" dirty="0">
                <a:cs typeface="Times New Roman" pitchFamily="18" charset="0"/>
              </a:rPr>
              <a:t>) from a collection of molecules possessing a range of diversity in both structures and activities.</a:t>
            </a:r>
          </a:p>
          <a:p>
            <a:pPr marL="0" indent="0" algn="l" rtl="0">
              <a:buFontTx/>
              <a:buBlip>
                <a:blip r:embed="rId2"/>
              </a:buBlip>
            </a:pPr>
            <a:r>
              <a:rPr lang="en-US" altLang="he-IL" sz="2800" dirty="0">
                <a:cs typeface="Times New Roman" pitchFamily="18" charset="0"/>
              </a:rPr>
              <a:t> Catalyst specifies hypotheses in terms of chemical features that are likely to be important for binding to the active site.</a:t>
            </a:r>
          </a:p>
          <a:p>
            <a:pPr marL="0" indent="0" algn="l" rtl="0">
              <a:buFontTx/>
              <a:buBlip>
                <a:blip r:embed="rId2"/>
              </a:buBlip>
            </a:pPr>
            <a:r>
              <a:rPr lang="en-US" altLang="he-IL" sz="2800" dirty="0">
                <a:cs typeface="Times New Roman" pitchFamily="18" charset="0"/>
              </a:rPr>
              <a:t> Each feature consists of four parts:</a:t>
            </a:r>
          </a:p>
          <a:p>
            <a:pPr lvl="1" algn="l" rtl="0">
              <a:buFontTx/>
              <a:buBlip>
                <a:blip r:embed="rId3"/>
              </a:buBlip>
            </a:pPr>
            <a:r>
              <a:rPr lang="en-US" altLang="he-IL" dirty="0">
                <a:cs typeface="Times New Roman" pitchFamily="18" charset="0"/>
              </a:rPr>
              <a:t> Chemical function</a:t>
            </a:r>
          </a:p>
          <a:p>
            <a:pPr lvl="1" algn="l" rtl="0">
              <a:buFontTx/>
              <a:buBlip>
                <a:blip r:embed="rId3"/>
              </a:buBlip>
            </a:pPr>
            <a:r>
              <a:rPr lang="en-US" altLang="he-IL" dirty="0">
                <a:cs typeface="Times New Roman" pitchFamily="18" charset="0"/>
              </a:rPr>
              <a:t> Location and orientation in 3D space</a:t>
            </a:r>
          </a:p>
          <a:p>
            <a:pPr lvl="1" algn="l" rtl="0">
              <a:buFontTx/>
              <a:buBlip>
                <a:blip r:embed="rId3"/>
              </a:buBlip>
            </a:pPr>
            <a:r>
              <a:rPr lang="en-US" altLang="he-IL" dirty="0">
                <a:cs typeface="Times New Roman" pitchFamily="18" charset="0"/>
              </a:rPr>
              <a:t> Tolerance in location</a:t>
            </a:r>
          </a:p>
          <a:p>
            <a:pPr lvl="1" algn="l" rtl="0">
              <a:buFontTx/>
              <a:buBlip>
                <a:blip r:embed="rId3"/>
              </a:buBlip>
            </a:pPr>
            <a:r>
              <a:rPr lang="en-US" altLang="he-IL" dirty="0">
                <a:cs typeface="Times New Roman" pitchFamily="18" charset="0"/>
              </a:rPr>
              <a:t> Weight</a:t>
            </a:r>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8501555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anim calcmode="lin" valueType="num">
                                      <p:cBhvr additive="base">
                                        <p:cTn id="7" dur="500" fill="hold"/>
                                        <p:tgtEl>
                                          <p:spTgt spid="2355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355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3555">
                                            <p:txEl>
                                              <p:pRg st="1" end="1"/>
                                            </p:txEl>
                                          </p:spTgt>
                                        </p:tgtEl>
                                        <p:attrNameLst>
                                          <p:attrName>style.visibility</p:attrName>
                                        </p:attrNameLst>
                                      </p:cBhvr>
                                      <p:to>
                                        <p:strVal val="visible"/>
                                      </p:to>
                                    </p:set>
                                    <p:anim calcmode="lin" valueType="num">
                                      <p:cBhvr additive="base">
                                        <p:cTn id="13" dur="500" fill="hold"/>
                                        <p:tgtEl>
                                          <p:spTgt spid="2355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355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3555">
                                            <p:txEl>
                                              <p:pRg st="2" end="2"/>
                                            </p:txEl>
                                          </p:spTgt>
                                        </p:tgtEl>
                                        <p:attrNameLst>
                                          <p:attrName>style.visibility</p:attrName>
                                        </p:attrNameLst>
                                      </p:cBhvr>
                                      <p:to>
                                        <p:strVal val="visible"/>
                                      </p:to>
                                    </p:set>
                                    <p:anim calcmode="lin" valueType="num">
                                      <p:cBhvr additive="base">
                                        <p:cTn id="19" dur="500" fill="hold"/>
                                        <p:tgtEl>
                                          <p:spTgt spid="2355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3555">
                                            <p:txEl>
                                              <p:pRg st="2" end="2"/>
                                            </p:txEl>
                                          </p:spTgt>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23555">
                                            <p:txEl>
                                              <p:pRg st="3" end="3"/>
                                            </p:txEl>
                                          </p:spTgt>
                                        </p:tgtEl>
                                        <p:attrNameLst>
                                          <p:attrName>style.visibility</p:attrName>
                                        </p:attrNameLst>
                                      </p:cBhvr>
                                      <p:to>
                                        <p:strVal val="visible"/>
                                      </p:to>
                                    </p:set>
                                    <p:anim calcmode="lin" valueType="num">
                                      <p:cBhvr additive="base">
                                        <p:cTn id="23" dur="500" fill="hold"/>
                                        <p:tgtEl>
                                          <p:spTgt spid="23555">
                                            <p:txEl>
                                              <p:pRg st="3" end="3"/>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23555">
                                            <p:txEl>
                                              <p:pRg st="3" end="3"/>
                                            </p:txEl>
                                          </p:spTgt>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23555">
                                            <p:txEl>
                                              <p:pRg st="4" end="4"/>
                                            </p:txEl>
                                          </p:spTgt>
                                        </p:tgtEl>
                                        <p:attrNameLst>
                                          <p:attrName>style.visibility</p:attrName>
                                        </p:attrNameLst>
                                      </p:cBhvr>
                                      <p:to>
                                        <p:strVal val="visible"/>
                                      </p:to>
                                    </p:set>
                                    <p:anim calcmode="lin" valueType="num">
                                      <p:cBhvr additive="base">
                                        <p:cTn id="27" dur="500" fill="hold"/>
                                        <p:tgtEl>
                                          <p:spTgt spid="23555">
                                            <p:txEl>
                                              <p:pRg st="4" end="4"/>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23555">
                                            <p:txEl>
                                              <p:pRg st="4" end="4"/>
                                            </p:txEl>
                                          </p:spTgt>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23555">
                                            <p:txEl>
                                              <p:pRg st="5" end="5"/>
                                            </p:txEl>
                                          </p:spTgt>
                                        </p:tgtEl>
                                        <p:attrNameLst>
                                          <p:attrName>style.visibility</p:attrName>
                                        </p:attrNameLst>
                                      </p:cBhvr>
                                      <p:to>
                                        <p:strVal val="visible"/>
                                      </p:to>
                                    </p:set>
                                    <p:anim calcmode="lin" valueType="num">
                                      <p:cBhvr additive="base">
                                        <p:cTn id="31" dur="500" fill="hold"/>
                                        <p:tgtEl>
                                          <p:spTgt spid="23555">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3555">
                                            <p:txEl>
                                              <p:pRg st="5" end="5"/>
                                            </p:txEl>
                                          </p:spTgt>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23555">
                                            <p:txEl>
                                              <p:pRg st="6" end="6"/>
                                            </p:txEl>
                                          </p:spTgt>
                                        </p:tgtEl>
                                        <p:attrNameLst>
                                          <p:attrName>style.visibility</p:attrName>
                                        </p:attrNameLst>
                                      </p:cBhvr>
                                      <p:to>
                                        <p:strVal val="visible"/>
                                      </p:to>
                                    </p:set>
                                    <p:anim calcmode="lin" valueType="num">
                                      <p:cBhvr additive="base">
                                        <p:cTn id="35" dur="500" fill="hold"/>
                                        <p:tgtEl>
                                          <p:spTgt spid="23555">
                                            <p:txEl>
                                              <p:pRg st="6" end="6"/>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23555">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build="p"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771525" y="304800"/>
            <a:ext cx="8743950" cy="1143000"/>
          </a:xfrm>
        </p:spPr>
        <p:txBody>
          <a:bodyPr/>
          <a:lstStyle/>
          <a:p>
            <a:pPr rtl="0"/>
            <a:r>
              <a:rPr lang="en-US" altLang="he-IL" b="1" dirty="0">
                <a:latin typeface="Comic Sans MS" pitchFamily="66" charset="0"/>
              </a:rPr>
              <a:t>Catalyst Features</a:t>
            </a:r>
            <a:endParaRPr lang="en-US" altLang="he-IL" dirty="0">
              <a:latin typeface="Comic Sans MS" pitchFamily="66" charset="0"/>
            </a:endParaRPr>
          </a:p>
        </p:txBody>
      </p:sp>
      <p:sp>
        <p:nvSpPr>
          <p:cNvPr id="24579" name="Rectangle 3"/>
          <p:cNvSpPr>
            <a:spLocks noGrp="1" noChangeArrowheads="1"/>
          </p:cNvSpPr>
          <p:nvPr>
            <p:ph type="body" idx="1"/>
          </p:nvPr>
        </p:nvSpPr>
        <p:spPr>
          <a:xfrm>
            <a:off x="171450" y="1447800"/>
            <a:ext cx="9944100" cy="4953000"/>
          </a:xfrm>
        </p:spPr>
        <p:txBody>
          <a:bodyPr>
            <a:normAutofit/>
          </a:bodyPr>
          <a:lstStyle/>
          <a:p>
            <a:pPr marL="0" indent="0" algn="l" rtl="0"/>
            <a:r>
              <a:rPr lang="en-US" altLang="en-US" sz="2800" dirty="0">
                <a:solidFill>
                  <a:srgbClr val="000000"/>
                </a:solidFill>
                <a:cs typeface="Times New Roman" pitchFamily="18" charset="0"/>
              </a:rPr>
              <a:t> </a:t>
            </a:r>
            <a:r>
              <a:rPr lang="en-US" altLang="he-IL" sz="2800" b="1" dirty="0">
                <a:solidFill>
                  <a:srgbClr val="00AF00"/>
                </a:solidFill>
                <a:latin typeface="ArialNarrow,Bold"/>
                <a:cs typeface="Times New Roman" pitchFamily="18" charset="0"/>
              </a:rPr>
              <a:t>HB Acceptor and Acceptor-Lipid</a:t>
            </a:r>
          </a:p>
          <a:p>
            <a:pPr marL="0" indent="0" algn="l" rtl="0"/>
            <a:r>
              <a:rPr lang="en-US" altLang="he-IL" sz="2800" b="1" dirty="0">
                <a:solidFill>
                  <a:srgbClr val="9A00CD"/>
                </a:solidFill>
                <a:latin typeface="ArialNarrow,Bold"/>
                <a:cs typeface="Times New Roman" pitchFamily="18" charset="0"/>
              </a:rPr>
              <a:t> HB Donor</a:t>
            </a:r>
          </a:p>
          <a:p>
            <a:pPr marL="0" indent="0" algn="l" rtl="0"/>
            <a:r>
              <a:rPr lang="en-US" altLang="he-IL" sz="2800" b="1" dirty="0">
                <a:solidFill>
                  <a:srgbClr val="0066FF"/>
                </a:solidFill>
                <a:latin typeface="ArialNarrow,Bold"/>
                <a:cs typeface="Times New Roman" pitchFamily="18" charset="0"/>
              </a:rPr>
              <a:t> Hydrophobic</a:t>
            </a:r>
          </a:p>
          <a:p>
            <a:pPr marL="0" indent="0" algn="l" rtl="0"/>
            <a:r>
              <a:rPr lang="en-US" altLang="he-IL" sz="2800" b="1" dirty="0">
                <a:solidFill>
                  <a:srgbClr val="0066FF"/>
                </a:solidFill>
                <a:latin typeface="ArialNarrow,Bold"/>
                <a:cs typeface="Times New Roman" pitchFamily="18" charset="0"/>
              </a:rPr>
              <a:t> Hydrophobic aliphatic</a:t>
            </a:r>
          </a:p>
          <a:p>
            <a:pPr marL="0" indent="0" algn="l" rtl="0"/>
            <a:r>
              <a:rPr lang="en-US" altLang="he-IL" sz="2800" b="1" dirty="0">
                <a:solidFill>
                  <a:srgbClr val="0066FF"/>
                </a:solidFill>
                <a:latin typeface="ArialNarrow,Bold"/>
                <a:cs typeface="Times New Roman" pitchFamily="18" charset="0"/>
              </a:rPr>
              <a:t> Hydrophobic aromatic</a:t>
            </a:r>
          </a:p>
          <a:p>
            <a:pPr marL="0" indent="0" algn="l" rtl="0"/>
            <a:r>
              <a:rPr lang="en-US" altLang="he-IL" sz="2800" b="1" dirty="0">
                <a:solidFill>
                  <a:srgbClr val="FD0128"/>
                </a:solidFill>
                <a:latin typeface="ArialNarrow,Bold"/>
                <a:cs typeface="Times New Roman" pitchFamily="18" charset="0"/>
              </a:rPr>
              <a:t> Positive charge/Pos. </a:t>
            </a:r>
            <a:r>
              <a:rPr lang="en-US" altLang="he-IL" sz="2800" b="1" dirty="0" err="1">
                <a:solidFill>
                  <a:srgbClr val="FD0128"/>
                </a:solidFill>
                <a:latin typeface="ArialNarrow,Bold"/>
                <a:cs typeface="Times New Roman" pitchFamily="18" charset="0"/>
              </a:rPr>
              <a:t>Ionizable</a:t>
            </a:r>
            <a:endParaRPr lang="en-US" altLang="he-IL" sz="2800" b="1" dirty="0">
              <a:solidFill>
                <a:srgbClr val="FD0128"/>
              </a:solidFill>
              <a:latin typeface="ArialNarrow,Bold"/>
              <a:cs typeface="Times New Roman" pitchFamily="18" charset="0"/>
            </a:endParaRPr>
          </a:p>
          <a:p>
            <a:pPr marL="0" indent="0" algn="l" rtl="0"/>
            <a:r>
              <a:rPr lang="en-US" altLang="he-IL" sz="2800" b="1" dirty="0">
                <a:solidFill>
                  <a:srgbClr val="063DE9"/>
                </a:solidFill>
                <a:latin typeface="ArialNarrow,Bold"/>
                <a:cs typeface="Times New Roman" pitchFamily="18" charset="0"/>
              </a:rPr>
              <a:t> Negative charge/Neg. </a:t>
            </a:r>
            <a:r>
              <a:rPr lang="en-US" altLang="he-IL" sz="2800" b="1" dirty="0" err="1">
                <a:solidFill>
                  <a:srgbClr val="063DE9"/>
                </a:solidFill>
                <a:latin typeface="ArialNarrow,Bold"/>
                <a:cs typeface="Times New Roman" pitchFamily="18" charset="0"/>
              </a:rPr>
              <a:t>Ionizable</a:t>
            </a:r>
            <a:endParaRPr lang="en-US" altLang="he-IL" sz="2800" b="1" dirty="0">
              <a:solidFill>
                <a:srgbClr val="063DE9"/>
              </a:solidFill>
              <a:latin typeface="ArialNarrow,Bold"/>
              <a:cs typeface="Times New Roman" pitchFamily="18" charset="0"/>
            </a:endParaRPr>
          </a:p>
          <a:p>
            <a:pPr marL="0" indent="0" algn="l" rtl="0"/>
            <a:r>
              <a:rPr lang="en-US" altLang="he-IL" sz="2800" b="1" dirty="0">
                <a:solidFill>
                  <a:srgbClr val="FF9A33"/>
                </a:solidFill>
                <a:latin typeface="ArialNarrow,Bold"/>
                <a:cs typeface="Times New Roman" pitchFamily="18" charset="0"/>
              </a:rPr>
              <a:t> Ring Aromatic</a:t>
            </a:r>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77707905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685800" y="152400"/>
            <a:ext cx="8743950" cy="1143000"/>
          </a:xfrm>
        </p:spPr>
        <p:txBody>
          <a:bodyPr/>
          <a:lstStyle/>
          <a:p>
            <a:pPr rtl="0"/>
            <a:r>
              <a:rPr lang="en-US" altLang="he-IL" b="1" dirty="0">
                <a:latin typeface="Comic Sans MS" pitchFamily="66" charset="0"/>
              </a:rPr>
              <a:t>Catalyst </a:t>
            </a:r>
            <a:r>
              <a:rPr lang="en-US" altLang="he-IL" b="1" dirty="0" err="1">
                <a:latin typeface="Comic Sans MS" pitchFamily="66" charset="0"/>
              </a:rPr>
              <a:t>HipHop</a:t>
            </a:r>
            <a:endParaRPr lang="en-US" altLang="he-IL" dirty="0">
              <a:latin typeface="Comic Sans MS" pitchFamily="66" charset="0"/>
            </a:endParaRPr>
          </a:p>
        </p:txBody>
      </p:sp>
      <p:sp>
        <p:nvSpPr>
          <p:cNvPr id="25603" name="Rectangle 3"/>
          <p:cNvSpPr>
            <a:spLocks noGrp="1" noChangeArrowheads="1"/>
          </p:cNvSpPr>
          <p:nvPr>
            <p:ph type="body" idx="1"/>
          </p:nvPr>
        </p:nvSpPr>
        <p:spPr>
          <a:xfrm>
            <a:off x="171450" y="1447800"/>
            <a:ext cx="10115550" cy="5410200"/>
          </a:xfrm>
        </p:spPr>
        <p:txBody>
          <a:bodyPr>
            <a:normAutofit/>
          </a:bodyPr>
          <a:lstStyle/>
          <a:p>
            <a:pPr marL="0" indent="0" algn="l" rtl="0">
              <a:buFontTx/>
              <a:buNone/>
            </a:pPr>
            <a:r>
              <a:rPr lang="en-US" altLang="en-US" sz="2800" dirty="0">
                <a:cs typeface="Times New Roman" pitchFamily="18" charset="0"/>
              </a:rPr>
              <a:t> </a:t>
            </a:r>
            <a:r>
              <a:rPr lang="en-US" altLang="he-IL" sz="2800" b="1" dirty="0">
                <a:cs typeface="Times New Roman" pitchFamily="18" charset="0"/>
              </a:rPr>
              <a:t>Feature-based </a:t>
            </a:r>
            <a:r>
              <a:rPr lang="en-US" altLang="he-IL" sz="2800" b="1" dirty="0" err="1">
                <a:cs typeface="Times New Roman" pitchFamily="18" charset="0"/>
              </a:rPr>
              <a:t>pharmacophore</a:t>
            </a:r>
            <a:r>
              <a:rPr lang="en-US" altLang="he-IL" sz="2800" b="1" dirty="0">
                <a:cs typeface="Times New Roman" pitchFamily="18" charset="0"/>
              </a:rPr>
              <a:t> modeling:</a:t>
            </a:r>
          </a:p>
          <a:p>
            <a:pPr marL="0" indent="0" algn="l" rtl="0">
              <a:buFontTx/>
              <a:buBlip>
                <a:blip r:embed="rId2"/>
              </a:buBlip>
            </a:pPr>
            <a:r>
              <a:rPr lang="en-US" altLang="he-IL" sz="2800" dirty="0">
                <a:cs typeface="Times New Roman" pitchFamily="18" charset="0"/>
              </a:rPr>
              <a:t> uses ONLY active ligands</a:t>
            </a:r>
          </a:p>
          <a:p>
            <a:pPr marL="0" indent="0" algn="l" rtl="0">
              <a:buFontTx/>
              <a:buBlip>
                <a:blip r:embed="rId2"/>
              </a:buBlip>
            </a:pPr>
            <a:r>
              <a:rPr lang="en-US" altLang="he-IL" sz="2800" dirty="0">
                <a:cs typeface="Times New Roman" pitchFamily="18" charset="0"/>
              </a:rPr>
              <a:t> no activity data required</a:t>
            </a:r>
          </a:p>
          <a:p>
            <a:pPr marL="0" indent="0" algn="l" rtl="0">
              <a:buFontTx/>
              <a:buBlip>
                <a:blip r:embed="rId2"/>
              </a:buBlip>
            </a:pPr>
            <a:r>
              <a:rPr lang="en-US" altLang="he-IL" sz="2800" dirty="0">
                <a:cs typeface="Times New Roman" pitchFamily="18" charset="0"/>
              </a:rPr>
              <a:t> identifies binding features for drug-receptor interactions</a:t>
            </a:r>
          </a:p>
          <a:p>
            <a:pPr marL="0" indent="0" algn="l" rtl="0">
              <a:buFontTx/>
              <a:buBlip>
                <a:blip r:embed="rId2"/>
              </a:buBlip>
            </a:pPr>
            <a:r>
              <a:rPr lang="en-US" altLang="he-IL" sz="2800" dirty="0">
                <a:cs typeface="Times New Roman" pitchFamily="18" charset="0"/>
              </a:rPr>
              <a:t> generates alignment of active leads</a:t>
            </a:r>
          </a:p>
          <a:p>
            <a:pPr marL="0" indent="0" algn="l" rtl="0">
              <a:buFontTx/>
              <a:buBlip>
                <a:blip r:embed="rId2"/>
              </a:buBlip>
            </a:pPr>
            <a:r>
              <a:rPr lang="en-US" altLang="he-IL" sz="2800" dirty="0">
                <a:cs typeface="Times New Roman" pitchFamily="18" charset="0"/>
              </a:rPr>
              <a:t> the flexibility is achieved by using multiple conformers</a:t>
            </a:r>
          </a:p>
          <a:p>
            <a:pPr marL="0" indent="0" algn="l" rtl="0">
              <a:buFontTx/>
              <a:buBlip>
                <a:blip r:embed="rId2"/>
              </a:buBlip>
            </a:pPr>
            <a:r>
              <a:rPr lang="en-US" altLang="he-IL" sz="2800" dirty="0">
                <a:cs typeface="Times New Roman" pitchFamily="18" charset="0"/>
              </a:rPr>
              <a:t> alignment can be used for 3D-QSAR analysis</a:t>
            </a:r>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061308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anim calcmode="lin" valueType="num">
                                      <p:cBhvr additive="base">
                                        <p:cTn id="7" dur="500" fill="hold"/>
                                        <p:tgtEl>
                                          <p:spTgt spid="2560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560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5603">
                                            <p:txEl>
                                              <p:pRg st="1" end="1"/>
                                            </p:txEl>
                                          </p:spTgt>
                                        </p:tgtEl>
                                        <p:attrNameLst>
                                          <p:attrName>style.visibility</p:attrName>
                                        </p:attrNameLst>
                                      </p:cBhvr>
                                      <p:to>
                                        <p:strVal val="visible"/>
                                      </p:to>
                                    </p:set>
                                    <p:anim calcmode="lin" valueType="num">
                                      <p:cBhvr additive="base">
                                        <p:cTn id="13" dur="500" fill="hold"/>
                                        <p:tgtEl>
                                          <p:spTgt spid="2560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560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5603">
                                            <p:txEl>
                                              <p:pRg st="2" end="2"/>
                                            </p:txEl>
                                          </p:spTgt>
                                        </p:tgtEl>
                                        <p:attrNameLst>
                                          <p:attrName>style.visibility</p:attrName>
                                        </p:attrNameLst>
                                      </p:cBhvr>
                                      <p:to>
                                        <p:strVal val="visible"/>
                                      </p:to>
                                    </p:set>
                                    <p:anim calcmode="lin" valueType="num">
                                      <p:cBhvr additive="base">
                                        <p:cTn id="19" dur="500" fill="hold"/>
                                        <p:tgtEl>
                                          <p:spTgt spid="2560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560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5603">
                                            <p:txEl>
                                              <p:pRg st="3" end="3"/>
                                            </p:txEl>
                                          </p:spTgt>
                                        </p:tgtEl>
                                        <p:attrNameLst>
                                          <p:attrName>style.visibility</p:attrName>
                                        </p:attrNameLst>
                                      </p:cBhvr>
                                      <p:to>
                                        <p:strVal val="visible"/>
                                      </p:to>
                                    </p:set>
                                    <p:anim calcmode="lin" valueType="num">
                                      <p:cBhvr additive="base">
                                        <p:cTn id="25" dur="500" fill="hold"/>
                                        <p:tgtEl>
                                          <p:spTgt spid="2560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560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5603">
                                            <p:txEl>
                                              <p:pRg st="4" end="4"/>
                                            </p:txEl>
                                          </p:spTgt>
                                        </p:tgtEl>
                                        <p:attrNameLst>
                                          <p:attrName>style.visibility</p:attrName>
                                        </p:attrNameLst>
                                      </p:cBhvr>
                                      <p:to>
                                        <p:strVal val="visible"/>
                                      </p:to>
                                    </p:set>
                                    <p:anim calcmode="lin" valueType="num">
                                      <p:cBhvr additive="base">
                                        <p:cTn id="31" dur="500" fill="hold"/>
                                        <p:tgtEl>
                                          <p:spTgt spid="2560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560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5603">
                                            <p:txEl>
                                              <p:pRg st="5" end="5"/>
                                            </p:txEl>
                                          </p:spTgt>
                                        </p:tgtEl>
                                        <p:attrNameLst>
                                          <p:attrName>style.visibility</p:attrName>
                                        </p:attrNameLst>
                                      </p:cBhvr>
                                      <p:to>
                                        <p:strVal val="visible"/>
                                      </p:to>
                                    </p:set>
                                    <p:anim calcmode="lin" valueType="num">
                                      <p:cBhvr additive="base">
                                        <p:cTn id="37" dur="500" fill="hold"/>
                                        <p:tgtEl>
                                          <p:spTgt spid="2560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560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5603">
                                            <p:txEl>
                                              <p:pRg st="6" end="6"/>
                                            </p:txEl>
                                          </p:spTgt>
                                        </p:tgtEl>
                                        <p:attrNameLst>
                                          <p:attrName>style.visibility</p:attrName>
                                        </p:attrNameLst>
                                      </p:cBhvr>
                                      <p:to>
                                        <p:strVal val="visible"/>
                                      </p:to>
                                    </p:set>
                                    <p:anim calcmode="lin" valueType="num">
                                      <p:cBhvr additive="base">
                                        <p:cTn id="43" dur="500" fill="hold"/>
                                        <p:tgtEl>
                                          <p:spTgt spid="2560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560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uild="p"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771525" y="304800"/>
            <a:ext cx="8743950" cy="1143000"/>
          </a:xfrm>
        </p:spPr>
        <p:txBody>
          <a:bodyPr/>
          <a:lstStyle/>
          <a:p>
            <a:pPr rtl="0"/>
            <a:r>
              <a:rPr lang="en-US" altLang="he-IL" b="1" dirty="0">
                <a:latin typeface="Comic Sans MS" pitchFamily="66" charset="0"/>
              </a:rPr>
              <a:t>Catalyst </a:t>
            </a:r>
            <a:r>
              <a:rPr lang="en-US" altLang="he-IL" b="1" dirty="0" err="1">
                <a:latin typeface="Comic Sans MS" pitchFamily="66" charset="0"/>
              </a:rPr>
              <a:t>HipoGen</a:t>
            </a:r>
            <a:endParaRPr lang="en-US" altLang="he-IL" dirty="0">
              <a:latin typeface="Comic Sans MS" pitchFamily="66" charset="0"/>
            </a:endParaRPr>
          </a:p>
        </p:txBody>
      </p:sp>
      <p:sp>
        <p:nvSpPr>
          <p:cNvPr id="26627" name="Rectangle 3"/>
          <p:cNvSpPr>
            <a:spLocks noGrp="1" noChangeArrowheads="1"/>
          </p:cNvSpPr>
          <p:nvPr>
            <p:ph type="body" idx="1"/>
          </p:nvPr>
        </p:nvSpPr>
        <p:spPr>
          <a:xfrm>
            <a:off x="171450" y="1447800"/>
            <a:ext cx="9772650" cy="4724400"/>
          </a:xfrm>
        </p:spPr>
        <p:txBody>
          <a:bodyPr/>
          <a:lstStyle/>
          <a:p>
            <a:pPr marL="0" indent="0" algn="l" rtl="0">
              <a:buFontTx/>
              <a:buNone/>
            </a:pPr>
            <a:r>
              <a:rPr lang="en-US" altLang="en-US" sz="3600">
                <a:solidFill>
                  <a:srgbClr val="000000"/>
                </a:solidFill>
                <a:cs typeface="Times New Roman" pitchFamily="18" charset="0"/>
              </a:rPr>
              <a:t> </a:t>
            </a:r>
            <a:r>
              <a:rPr lang="en-US" altLang="he-IL" b="1">
                <a:solidFill>
                  <a:srgbClr val="3D007A"/>
                </a:solidFill>
                <a:latin typeface="ArialNarrow,Bold"/>
                <a:cs typeface="Times New Roman" pitchFamily="18" charset="0"/>
              </a:rPr>
              <a:t>Activity-based pharmacophore modeling:</a:t>
            </a:r>
            <a:endParaRPr lang="en-US" altLang="he-IL">
              <a:solidFill>
                <a:srgbClr val="FD0128"/>
              </a:solidFill>
              <a:latin typeface="ArialNarrow,Bold"/>
              <a:cs typeface="Times New Roman" pitchFamily="18" charset="0"/>
            </a:endParaRPr>
          </a:p>
          <a:p>
            <a:pPr marL="0" indent="0" algn="l" rtl="0">
              <a:buFontTx/>
              <a:buBlip>
                <a:blip r:embed="rId2"/>
              </a:buBlip>
            </a:pPr>
            <a:r>
              <a:rPr lang="en-US" altLang="he-IL">
                <a:latin typeface="ArialNarrow,Bold"/>
                <a:cs typeface="Times New Roman" pitchFamily="18" charset="0"/>
              </a:rPr>
              <a:t> uses active + inactive ligands</a:t>
            </a:r>
          </a:p>
          <a:p>
            <a:pPr marL="0" indent="0" algn="l" rtl="0">
              <a:buFontTx/>
              <a:buBlip>
                <a:blip r:embed="rId2"/>
              </a:buBlip>
            </a:pPr>
            <a:r>
              <a:rPr lang="en-US" altLang="he-IL">
                <a:latin typeface="ArialNarrow,Bold"/>
                <a:cs typeface="Times New Roman" pitchFamily="18" charset="0"/>
              </a:rPr>
              <a:t> activity data required (concentration)</a:t>
            </a:r>
          </a:p>
          <a:p>
            <a:pPr marL="0" indent="0" algn="l" rtl="0">
              <a:buFontTx/>
              <a:buBlip>
                <a:blip r:embed="rId2"/>
              </a:buBlip>
            </a:pPr>
            <a:r>
              <a:rPr lang="en-US" altLang="he-IL">
                <a:latin typeface="ArialNarrow,Bold"/>
                <a:cs typeface="Times New Roman" pitchFamily="18" charset="0"/>
              </a:rPr>
              <a:t> identifies features common to actives missed by inactives</a:t>
            </a:r>
          </a:p>
          <a:p>
            <a:pPr marL="0" indent="0" algn="l" rtl="0">
              <a:buFontTx/>
              <a:buBlip>
                <a:blip r:embed="rId2"/>
              </a:buBlip>
            </a:pPr>
            <a:r>
              <a:rPr lang="en-US" altLang="he-IL">
                <a:latin typeface="ArialNarrow,Bold"/>
                <a:cs typeface="Times New Roman" pitchFamily="18" charset="0"/>
              </a:rPr>
              <a:t> used to “predict” or estimate activity of new ligands</a:t>
            </a:r>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6433029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anim calcmode="lin" valueType="num">
                                      <p:cBhvr additive="base">
                                        <p:cTn id="7" dur="500" fill="hold"/>
                                        <p:tgtEl>
                                          <p:spTgt spid="2662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62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6627">
                                            <p:txEl>
                                              <p:pRg st="1" end="1"/>
                                            </p:txEl>
                                          </p:spTgt>
                                        </p:tgtEl>
                                        <p:attrNameLst>
                                          <p:attrName>style.visibility</p:attrName>
                                        </p:attrNameLst>
                                      </p:cBhvr>
                                      <p:to>
                                        <p:strVal val="visible"/>
                                      </p:to>
                                    </p:set>
                                    <p:anim calcmode="lin" valueType="num">
                                      <p:cBhvr additive="base">
                                        <p:cTn id="13" dur="500" fill="hold"/>
                                        <p:tgtEl>
                                          <p:spTgt spid="2662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662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6627">
                                            <p:txEl>
                                              <p:pRg st="2" end="2"/>
                                            </p:txEl>
                                          </p:spTgt>
                                        </p:tgtEl>
                                        <p:attrNameLst>
                                          <p:attrName>style.visibility</p:attrName>
                                        </p:attrNameLst>
                                      </p:cBhvr>
                                      <p:to>
                                        <p:strVal val="visible"/>
                                      </p:to>
                                    </p:set>
                                    <p:anim calcmode="lin" valueType="num">
                                      <p:cBhvr additive="base">
                                        <p:cTn id="19" dur="500" fill="hold"/>
                                        <p:tgtEl>
                                          <p:spTgt spid="2662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662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6627">
                                            <p:txEl>
                                              <p:pRg st="3" end="3"/>
                                            </p:txEl>
                                          </p:spTgt>
                                        </p:tgtEl>
                                        <p:attrNameLst>
                                          <p:attrName>style.visibility</p:attrName>
                                        </p:attrNameLst>
                                      </p:cBhvr>
                                      <p:to>
                                        <p:strVal val="visible"/>
                                      </p:to>
                                    </p:set>
                                    <p:anim calcmode="lin" valueType="num">
                                      <p:cBhvr additive="base">
                                        <p:cTn id="25" dur="500" fill="hold"/>
                                        <p:tgtEl>
                                          <p:spTgt spid="2662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662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6627">
                                            <p:txEl>
                                              <p:pRg st="4" end="4"/>
                                            </p:txEl>
                                          </p:spTgt>
                                        </p:tgtEl>
                                        <p:attrNameLst>
                                          <p:attrName>style.visibility</p:attrName>
                                        </p:attrNameLst>
                                      </p:cBhvr>
                                      <p:to>
                                        <p:strVal val="visible"/>
                                      </p:to>
                                    </p:set>
                                    <p:anim calcmode="lin" valueType="num">
                                      <p:cBhvr additive="base">
                                        <p:cTn id="31" dur="500" fill="hold"/>
                                        <p:tgtEl>
                                          <p:spTgt spid="2662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662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771525" y="304800"/>
            <a:ext cx="8743950" cy="1143000"/>
          </a:xfrm>
        </p:spPr>
        <p:txBody>
          <a:bodyPr>
            <a:normAutofit/>
          </a:bodyPr>
          <a:lstStyle/>
          <a:p>
            <a:pPr rtl="0"/>
            <a:r>
              <a:rPr lang="en-US" altLang="he-IL" b="1" dirty="0">
                <a:latin typeface="Comic Sans MS" pitchFamily="66" charset="0"/>
              </a:rPr>
              <a:t>Catalyst CYP3A4 substrates </a:t>
            </a:r>
            <a:r>
              <a:rPr lang="en-US" altLang="he-IL" b="1" dirty="0" err="1">
                <a:latin typeface="Comic Sans MS" pitchFamily="66" charset="0"/>
              </a:rPr>
              <a:t>pharmacophore</a:t>
            </a:r>
            <a:endParaRPr lang="en-US" altLang="he-IL" dirty="0">
              <a:latin typeface="Comic Sans MS" pitchFamily="66" charset="0"/>
            </a:endParaRPr>
          </a:p>
        </p:txBody>
      </p:sp>
      <p:graphicFrame>
        <p:nvGraphicFramePr>
          <p:cNvPr id="36869" name="Object 5"/>
          <p:cNvGraphicFramePr>
            <a:graphicFrameLocks noChangeAspect="1"/>
          </p:cNvGraphicFramePr>
          <p:nvPr>
            <p:extLst>
              <p:ext uri="{D42A27DB-BD31-4B8C-83A1-F6EECF244321}">
                <p14:modId xmlns:p14="http://schemas.microsoft.com/office/powerpoint/2010/main" val="3526092359"/>
              </p:ext>
            </p:extLst>
          </p:nvPr>
        </p:nvGraphicFramePr>
        <p:xfrm>
          <a:off x="85725" y="1512888"/>
          <a:ext cx="5057775" cy="4011612"/>
        </p:xfrm>
        <a:graphic>
          <a:graphicData uri="http://schemas.openxmlformats.org/presentationml/2006/ole">
            <mc:AlternateContent xmlns:mc="http://schemas.openxmlformats.org/markup-compatibility/2006">
              <mc:Choice xmlns:v="urn:schemas-microsoft-com:vml" Requires="v">
                <p:oleObj spid="_x0000_s2058" name="Bitmap Image" r:id="rId3" imgW="4780952" imgH="4266667" progId="Paint.Picture">
                  <p:embed/>
                </p:oleObj>
              </mc:Choice>
              <mc:Fallback>
                <p:oleObj name="Bitmap Image" r:id="rId3" imgW="4780952" imgH="4266667"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725" y="1512888"/>
                        <a:ext cx="5057775" cy="4011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870" name="Object 6"/>
          <p:cNvGraphicFramePr>
            <a:graphicFrameLocks noChangeAspect="1"/>
          </p:cNvGraphicFramePr>
          <p:nvPr>
            <p:extLst>
              <p:ext uri="{D42A27DB-BD31-4B8C-83A1-F6EECF244321}">
                <p14:modId xmlns:p14="http://schemas.microsoft.com/office/powerpoint/2010/main" val="2314455231"/>
              </p:ext>
            </p:extLst>
          </p:nvPr>
        </p:nvGraphicFramePr>
        <p:xfrm>
          <a:off x="5229225" y="1511300"/>
          <a:ext cx="4972050" cy="4013200"/>
        </p:xfrm>
        <a:graphic>
          <a:graphicData uri="http://schemas.openxmlformats.org/presentationml/2006/ole">
            <mc:AlternateContent xmlns:mc="http://schemas.openxmlformats.org/markup-compatibility/2006">
              <mc:Choice xmlns:v="urn:schemas-microsoft-com:vml" Requires="v">
                <p:oleObj spid="_x0000_s2059" name="Bitmap Image" r:id="rId5" imgW="4761905" imgH="4323810" progId="Paint.Picture">
                  <p:embed/>
                </p:oleObj>
              </mc:Choice>
              <mc:Fallback>
                <p:oleObj name="Bitmap Image" r:id="rId5" imgW="4761905" imgH="4323810" progId="Paint.Picture">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29225" y="1511300"/>
                        <a:ext cx="4972050" cy="401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6871" name="Text Box 7"/>
          <p:cNvSpPr txBox="1">
            <a:spLocks noChangeArrowheads="1"/>
          </p:cNvSpPr>
          <p:nvPr/>
        </p:nvSpPr>
        <p:spPr bwMode="auto">
          <a:xfrm>
            <a:off x="342900" y="5616576"/>
            <a:ext cx="44577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he-IL"/>
              <a:t>Hydrophobic area, h-bond donor, 2 h-bond acceptors</a:t>
            </a:r>
          </a:p>
        </p:txBody>
      </p:sp>
      <p:sp>
        <p:nvSpPr>
          <p:cNvPr id="36872" name="Text Box 8"/>
          <p:cNvSpPr txBox="1">
            <a:spLocks noChangeArrowheads="1"/>
          </p:cNvSpPr>
          <p:nvPr/>
        </p:nvSpPr>
        <p:spPr bwMode="auto">
          <a:xfrm>
            <a:off x="5143500" y="5616576"/>
            <a:ext cx="522922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he-IL"/>
              <a:t>Saquinavir (most active compound) fitted to pharmacophore</a:t>
            </a:r>
          </a:p>
        </p:txBody>
      </p:sp>
      <p:sp>
        <p:nvSpPr>
          <p:cNvPr id="7" name="Rectangle 6"/>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09491216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771525" y="304800"/>
            <a:ext cx="8743950" cy="1143000"/>
          </a:xfrm>
        </p:spPr>
        <p:txBody>
          <a:bodyPr>
            <a:normAutofit/>
          </a:bodyPr>
          <a:lstStyle/>
          <a:p>
            <a:pPr rtl="0"/>
            <a:r>
              <a:rPr lang="en-US" altLang="he-IL" b="1" dirty="0">
                <a:latin typeface="Comic Sans MS" pitchFamily="66" charset="0"/>
              </a:rPr>
              <a:t>Catalyst CYP2B6 substrates </a:t>
            </a:r>
            <a:r>
              <a:rPr lang="en-US" altLang="he-IL" b="1" dirty="0" err="1">
                <a:latin typeface="Comic Sans MS" pitchFamily="66" charset="0"/>
              </a:rPr>
              <a:t>pharmacophore</a:t>
            </a:r>
            <a:endParaRPr lang="en-US" altLang="he-IL" dirty="0">
              <a:latin typeface="Comic Sans MS" pitchFamily="66" charset="0"/>
            </a:endParaRPr>
          </a:p>
        </p:txBody>
      </p:sp>
      <p:sp>
        <p:nvSpPr>
          <p:cNvPr id="37893" name="Text Box 5"/>
          <p:cNvSpPr txBox="1">
            <a:spLocks noChangeArrowheads="1"/>
          </p:cNvSpPr>
          <p:nvPr/>
        </p:nvSpPr>
        <p:spPr bwMode="auto">
          <a:xfrm>
            <a:off x="257175" y="5067301"/>
            <a:ext cx="44577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he-IL"/>
              <a:t>3 hydrophobic areas, h-bond acceptor</a:t>
            </a:r>
          </a:p>
        </p:txBody>
      </p:sp>
      <p:sp>
        <p:nvSpPr>
          <p:cNvPr id="37894" name="Text Box 6"/>
          <p:cNvSpPr txBox="1">
            <a:spLocks noChangeArrowheads="1"/>
          </p:cNvSpPr>
          <p:nvPr/>
        </p:nvSpPr>
        <p:spPr bwMode="auto">
          <a:xfrm>
            <a:off x="5057775" y="4864101"/>
            <a:ext cx="522922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he-IL" dirty="0"/>
              <a:t>7-ethoxy-4-trifluoromethylcoumarin  fitted to </a:t>
            </a:r>
            <a:r>
              <a:rPr lang="en-US" altLang="he-IL" dirty="0" err="1"/>
              <a:t>pharmacophore</a:t>
            </a:r>
            <a:endParaRPr lang="en-US" altLang="he-IL" dirty="0"/>
          </a:p>
        </p:txBody>
      </p:sp>
      <p:graphicFrame>
        <p:nvGraphicFramePr>
          <p:cNvPr id="37895" name="Object 7"/>
          <p:cNvGraphicFramePr>
            <a:graphicFrameLocks noChangeAspect="1"/>
          </p:cNvGraphicFramePr>
          <p:nvPr>
            <p:extLst>
              <p:ext uri="{D42A27DB-BD31-4B8C-83A1-F6EECF244321}">
                <p14:modId xmlns:p14="http://schemas.microsoft.com/office/powerpoint/2010/main" val="1931800040"/>
              </p:ext>
            </p:extLst>
          </p:nvPr>
        </p:nvGraphicFramePr>
        <p:xfrm>
          <a:off x="342900" y="1828800"/>
          <a:ext cx="4521994" cy="2781300"/>
        </p:xfrm>
        <a:graphic>
          <a:graphicData uri="http://schemas.openxmlformats.org/presentationml/2006/ole">
            <mc:AlternateContent xmlns:mc="http://schemas.openxmlformats.org/markup-compatibility/2006">
              <mc:Choice xmlns:v="urn:schemas-microsoft-com:vml" Requires="v">
                <p:oleObj spid="_x0000_s3082" name="Bitmap Image" r:id="rId3" imgW="4019048" imgH="2781688" progId="Paint.Picture">
                  <p:embed/>
                </p:oleObj>
              </mc:Choice>
              <mc:Fallback>
                <p:oleObj name="Bitmap Image" r:id="rId3" imgW="4019048" imgH="2781688"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900" y="1828800"/>
                        <a:ext cx="4521994" cy="278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7896" name="Object 8"/>
          <p:cNvGraphicFramePr>
            <a:graphicFrameLocks noChangeAspect="1"/>
          </p:cNvGraphicFramePr>
          <p:nvPr>
            <p:extLst>
              <p:ext uri="{D42A27DB-BD31-4B8C-83A1-F6EECF244321}">
                <p14:modId xmlns:p14="http://schemas.microsoft.com/office/powerpoint/2010/main" val="4120774777"/>
              </p:ext>
            </p:extLst>
          </p:nvPr>
        </p:nvGraphicFramePr>
        <p:xfrm>
          <a:off x="5486400" y="1409700"/>
          <a:ext cx="4543425" cy="3409950"/>
        </p:xfrm>
        <a:graphic>
          <a:graphicData uri="http://schemas.openxmlformats.org/presentationml/2006/ole">
            <mc:AlternateContent xmlns:mc="http://schemas.openxmlformats.org/markup-compatibility/2006">
              <mc:Choice xmlns:v="urn:schemas-microsoft-com:vml" Requires="v">
                <p:oleObj spid="_x0000_s3083" name="Bitmap Image" r:id="rId5" imgW="4038095" imgH="3409524" progId="Paint.Picture">
                  <p:embed/>
                </p:oleObj>
              </mc:Choice>
              <mc:Fallback>
                <p:oleObj name="Bitmap Image" r:id="rId5" imgW="4038095" imgH="3409524" progId="Paint.Picture">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86400" y="1409700"/>
                        <a:ext cx="4543425" cy="3409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Rectangle 6"/>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88491775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7654" name="Picture 6" descr="C:\MYDOC\Studies\SeminarBioInformatics\QSAR\cyp17.bm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1800" y="15875"/>
            <a:ext cx="9347200" cy="647091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017486689"/>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28625" y="304800"/>
            <a:ext cx="9429750" cy="1143000"/>
          </a:xfrm>
        </p:spPr>
        <p:txBody>
          <a:bodyPr/>
          <a:lstStyle/>
          <a:p>
            <a:pPr rtl="0"/>
            <a:r>
              <a:rPr lang="en-US" altLang="he-IL" b="1" dirty="0">
                <a:latin typeface="Comic Sans MS" pitchFamily="66" charset="0"/>
              </a:rPr>
              <a:t>Catalyst Docking – Ligand Fit</a:t>
            </a:r>
            <a:endParaRPr lang="en-US" altLang="he-IL" dirty="0">
              <a:latin typeface="Comic Sans MS" pitchFamily="66" charset="0"/>
            </a:endParaRPr>
          </a:p>
        </p:txBody>
      </p:sp>
      <p:sp>
        <p:nvSpPr>
          <p:cNvPr id="28675" name="Rectangle 3"/>
          <p:cNvSpPr>
            <a:spLocks noGrp="1" noChangeArrowheads="1"/>
          </p:cNvSpPr>
          <p:nvPr>
            <p:ph type="body" idx="1"/>
          </p:nvPr>
        </p:nvSpPr>
        <p:spPr>
          <a:xfrm>
            <a:off x="171450" y="1600200"/>
            <a:ext cx="9858375" cy="4724400"/>
          </a:xfrm>
        </p:spPr>
        <p:txBody>
          <a:bodyPr>
            <a:normAutofit/>
          </a:bodyPr>
          <a:lstStyle/>
          <a:p>
            <a:pPr marL="0" indent="0" algn="l" rtl="0">
              <a:buFontTx/>
              <a:buBlip>
                <a:blip r:embed="rId3"/>
              </a:buBlip>
            </a:pPr>
            <a:r>
              <a:rPr lang="en-US" altLang="en-US" sz="2800" dirty="0">
                <a:latin typeface="TimesNewRoman"/>
                <a:cs typeface="Times New Roman" pitchFamily="18" charset="0"/>
              </a:rPr>
              <a:t> </a:t>
            </a:r>
            <a:r>
              <a:rPr lang="en-US" altLang="he-IL" sz="2800" dirty="0">
                <a:latin typeface="TimesNewRoman"/>
                <a:cs typeface="Times New Roman" pitchFamily="18" charset="0"/>
              </a:rPr>
              <a:t>Active site finding</a:t>
            </a:r>
          </a:p>
          <a:p>
            <a:pPr marL="0" indent="0" algn="l" rtl="0">
              <a:buFontTx/>
              <a:buBlip>
                <a:blip r:embed="rId3"/>
              </a:buBlip>
            </a:pPr>
            <a:r>
              <a:rPr lang="en-US" altLang="he-IL" sz="2800" dirty="0">
                <a:latin typeface="TimesNewRoman"/>
                <a:cs typeface="Times New Roman" pitchFamily="18" charset="0"/>
              </a:rPr>
              <a:t> Conformation search of ligand against site</a:t>
            </a:r>
          </a:p>
          <a:p>
            <a:pPr marL="0" indent="0" algn="l" rtl="0">
              <a:buFontTx/>
              <a:buBlip>
                <a:blip r:embed="rId3"/>
              </a:buBlip>
            </a:pPr>
            <a:r>
              <a:rPr lang="en-US" altLang="he-IL" sz="2800" dirty="0">
                <a:latin typeface="TimesNewRoman"/>
                <a:cs typeface="Times New Roman" pitchFamily="18" charset="0"/>
              </a:rPr>
              <a:t> Rapid shape filter </a:t>
            </a:r>
          </a:p>
          <a:p>
            <a:pPr marL="0" indent="0" algn="l" rtl="0">
              <a:buFontTx/>
              <a:buNone/>
            </a:pPr>
            <a:r>
              <a:rPr lang="en-US" altLang="he-IL" sz="2800" dirty="0">
                <a:latin typeface="TimesNewRoman"/>
                <a:cs typeface="Times New Roman" pitchFamily="18" charset="0"/>
              </a:rPr>
              <a:t>determines which</a:t>
            </a:r>
          </a:p>
          <a:p>
            <a:pPr marL="0" indent="0" algn="l" rtl="0">
              <a:buFontTx/>
              <a:buNone/>
            </a:pPr>
            <a:r>
              <a:rPr lang="en-US" altLang="he-IL" sz="2800" dirty="0">
                <a:latin typeface="TimesNewRoman"/>
                <a:cs typeface="Times New Roman" pitchFamily="18" charset="0"/>
              </a:rPr>
              <a:t>conformations should be scored</a:t>
            </a:r>
          </a:p>
          <a:p>
            <a:pPr marL="0" indent="0" algn="l" rtl="0">
              <a:buFontTx/>
              <a:buBlip>
                <a:blip r:embed="rId3"/>
              </a:buBlip>
            </a:pPr>
            <a:r>
              <a:rPr lang="en-US" altLang="he-IL" sz="2800" dirty="0">
                <a:latin typeface="TimesNewRoman"/>
                <a:cs typeface="Times New Roman" pitchFamily="18" charset="0"/>
              </a:rPr>
              <a:t> Grid-based scoring for those </a:t>
            </a:r>
          </a:p>
          <a:p>
            <a:pPr marL="0" indent="0" algn="l" rtl="0">
              <a:buFontTx/>
              <a:buNone/>
            </a:pPr>
            <a:r>
              <a:rPr lang="en-US" altLang="he-IL" sz="2800" dirty="0">
                <a:latin typeface="TimesNewRoman"/>
                <a:cs typeface="Times New Roman" pitchFamily="18" charset="0"/>
              </a:rPr>
              <a:t>conformations passing the filter</a:t>
            </a:r>
          </a:p>
        </p:txBody>
      </p:sp>
      <p:graphicFrame>
        <p:nvGraphicFramePr>
          <p:cNvPr id="28676" name="Object 4"/>
          <p:cNvGraphicFramePr>
            <a:graphicFrameLocks noChangeAspect="1"/>
          </p:cNvGraphicFramePr>
          <p:nvPr>
            <p:extLst>
              <p:ext uri="{D42A27DB-BD31-4B8C-83A1-F6EECF244321}">
                <p14:modId xmlns:p14="http://schemas.microsoft.com/office/powerpoint/2010/main" val="1969871645"/>
              </p:ext>
            </p:extLst>
          </p:nvPr>
        </p:nvGraphicFramePr>
        <p:xfrm>
          <a:off x="6480672" y="3086100"/>
          <a:ext cx="3645593" cy="3302000"/>
        </p:xfrm>
        <a:graphic>
          <a:graphicData uri="http://schemas.openxmlformats.org/presentationml/2006/ole">
            <mc:AlternateContent xmlns:mc="http://schemas.openxmlformats.org/markup-compatibility/2006">
              <mc:Choice xmlns:v="urn:schemas-microsoft-com:vml" Requires="v">
                <p:oleObj spid="_x0000_s4102" name="Bitmap Image" r:id="rId4" imgW="3514286" imgH="3580952" progId="Paint.Picture">
                  <p:embed/>
                </p:oleObj>
              </mc:Choice>
              <mc:Fallback>
                <p:oleObj name="Bitmap Image" r:id="rId4" imgW="3514286" imgH="3580952" progId="Paint.Picture">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80672" y="3086100"/>
                        <a:ext cx="3645593" cy="3302000"/>
                      </a:xfrm>
                      <a:prstGeom prst="rect">
                        <a:avLst/>
                      </a:prstGeom>
                      <a:noFill/>
                      <a:ln>
                        <a:noFill/>
                      </a:ln>
                      <a:effectLst/>
                      <a:extLst/>
                    </p:spPr>
                  </p:pic>
                </p:oleObj>
              </mc:Fallback>
            </mc:AlternateContent>
          </a:graphicData>
        </a:graphic>
      </p:graphicFrame>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8563826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anim calcmode="lin" valueType="num">
                                      <p:cBhvr additive="base">
                                        <p:cTn id="7" dur="500" fill="hold"/>
                                        <p:tgtEl>
                                          <p:spTgt spid="2867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867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8675">
                                            <p:txEl>
                                              <p:pRg st="1" end="1"/>
                                            </p:txEl>
                                          </p:spTgt>
                                        </p:tgtEl>
                                        <p:attrNameLst>
                                          <p:attrName>style.visibility</p:attrName>
                                        </p:attrNameLst>
                                      </p:cBhvr>
                                      <p:to>
                                        <p:strVal val="visible"/>
                                      </p:to>
                                    </p:set>
                                    <p:anim calcmode="lin" valueType="num">
                                      <p:cBhvr additive="base">
                                        <p:cTn id="13" dur="500" fill="hold"/>
                                        <p:tgtEl>
                                          <p:spTgt spid="2867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867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8675">
                                            <p:txEl>
                                              <p:pRg st="2" end="2"/>
                                            </p:txEl>
                                          </p:spTgt>
                                        </p:tgtEl>
                                        <p:attrNameLst>
                                          <p:attrName>style.visibility</p:attrName>
                                        </p:attrNameLst>
                                      </p:cBhvr>
                                      <p:to>
                                        <p:strVal val="visible"/>
                                      </p:to>
                                    </p:set>
                                    <p:anim calcmode="lin" valueType="num">
                                      <p:cBhvr additive="base">
                                        <p:cTn id="19" dur="500" fill="hold"/>
                                        <p:tgtEl>
                                          <p:spTgt spid="2867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867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8675">
                                            <p:txEl>
                                              <p:pRg st="3" end="3"/>
                                            </p:txEl>
                                          </p:spTgt>
                                        </p:tgtEl>
                                        <p:attrNameLst>
                                          <p:attrName>style.visibility</p:attrName>
                                        </p:attrNameLst>
                                      </p:cBhvr>
                                      <p:to>
                                        <p:strVal val="visible"/>
                                      </p:to>
                                    </p:set>
                                    <p:anim calcmode="lin" valueType="num">
                                      <p:cBhvr additive="base">
                                        <p:cTn id="25" dur="500" fill="hold"/>
                                        <p:tgtEl>
                                          <p:spTgt spid="2867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867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8675">
                                            <p:txEl>
                                              <p:pRg st="4" end="4"/>
                                            </p:txEl>
                                          </p:spTgt>
                                        </p:tgtEl>
                                        <p:attrNameLst>
                                          <p:attrName>style.visibility</p:attrName>
                                        </p:attrNameLst>
                                      </p:cBhvr>
                                      <p:to>
                                        <p:strVal val="visible"/>
                                      </p:to>
                                    </p:set>
                                    <p:anim calcmode="lin" valueType="num">
                                      <p:cBhvr additive="base">
                                        <p:cTn id="31" dur="500" fill="hold"/>
                                        <p:tgtEl>
                                          <p:spTgt spid="28675">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867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8675">
                                            <p:txEl>
                                              <p:pRg st="5" end="5"/>
                                            </p:txEl>
                                          </p:spTgt>
                                        </p:tgtEl>
                                        <p:attrNameLst>
                                          <p:attrName>style.visibility</p:attrName>
                                        </p:attrNameLst>
                                      </p:cBhvr>
                                      <p:to>
                                        <p:strVal val="visible"/>
                                      </p:to>
                                    </p:set>
                                    <p:anim calcmode="lin" valueType="num">
                                      <p:cBhvr additive="base">
                                        <p:cTn id="37" dur="500" fill="hold"/>
                                        <p:tgtEl>
                                          <p:spTgt spid="28675">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8675">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8675">
                                            <p:txEl>
                                              <p:pRg st="6" end="6"/>
                                            </p:txEl>
                                          </p:spTgt>
                                        </p:tgtEl>
                                        <p:attrNameLst>
                                          <p:attrName>style.visibility</p:attrName>
                                        </p:attrNameLst>
                                      </p:cBhvr>
                                      <p:to>
                                        <p:strVal val="visible"/>
                                      </p:to>
                                    </p:set>
                                    <p:anim calcmode="lin" valueType="num">
                                      <p:cBhvr additive="base">
                                        <p:cTn id="43" dur="500" fill="hold"/>
                                        <p:tgtEl>
                                          <p:spTgt spid="28675">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8675">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uild="p"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771525" y="304800"/>
            <a:ext cx="8743950" cy="1143000"/>
          </a:xfrm>
        </p:spPr>
        <p:txBody>
          <a:bodyPr>
            <a:normAutofit/>
          </a:bodyPr>
          <a:lstStyle/>
          <a:p>
            <a:pPr rtl="0"/>
            <a:r>
              <a:rPr lang="en-US" altLang="he-IL" b="1" dirty="0">
                <a:latin typeface="Comic Sans MS" pitchFamily="66" charset="0"/>
              </a:rPr>
              <a:t>Catalyst Docking – Ligand Flexibility</a:t>
            </a:r>
            <a:endParaRPr lang="en-US" altLang="he-IL" dirty="0">
              <a:latin typeface="Comic Sans MS" pitchFamily="66" charset="0"/>
            </a:endParaRPr>
          </a:p>
        </p:txBody>
      </p:sp>
      <p:sp>
        <p:nvSpPr>
          <p:cNvPr id="29699" name="Rectangle 3"/>
          <p:cNvSpPr>
            <a:spLocks noGrp="1" noChangeArrowheads="1"/>
          </p:cNvSpPr>
          <p:nvPr>
            <p:ph type="body" idx="1"/>
          </p:nvPr>
        </p:nvSpPr>
        <p:spPr>
          <a:xfrm>
            <a:off x="171450" y="1580866"/>
            <a:ext cx="10115550" cy="2819400"/>
          </a:xfrm>
        </p:spPr>
        <p:txBody>
          <a:bodyPr/>
          <a:lstStyle/>
          <a:p>
            <a:pPr marL="0" indent="0" algn="l" rtl="0">
              <a:buFontTx/>
              <a:buBlip>
                <a:blip r:embed="rId2"/>
              </a:buBlip>
            </a:pPr>
            <a:r>
              <a:rPr lang="en-US" altLang="en-US" sz="3600" dirty="0">
                <a:latin typeface="TimesNewRoman"/>
                <a:cs typeface="Times New Roman" pitchFamily="18" charset="0"/>
              </a:rPr>
              <a:t> </a:t>
            </a:r>
            <a:r>
              <a:rPr lang="en-US" altLang="he-IL" sz="3600" dirty="0">
                <a:latin typeface="TimesNewRoman"/>
                <a:cs typeface="Times New Roman" pitchFamily="18" charset="0"/>
              </a:rPr>
              <a:t>Monte Carlo search in torsional space</a:t>
            </a:r>
          </a:p>
          <a:p>
            <a:pPr marL="0" indent="0" algn="l" rtl="0">
              <a:buFontTx/>
              <a:buBlip>
                <a:blip r:embed="rId2"/>
              </a:buBlip>
            </a:pPr>
            <a:r>
              <a:rPr lang="en-US" altLang="he-IL" sz="3600" dirty="0">
                <a:latin typeface="TimesNewRoman"/>
                <a:cs typeface="Times New Roman" pitchFamily="18" charset="0"/>
              </a:rPr>
              <a:t> Multiple torsion changes simultaneously</a:t>
            </a:r>
          </a:p>
          <a:p>
            <a:pPr marL="0" indent="0" algn="l" rtl="0">
              <a:buFontTx/>
              <a:buBlip>
                <a:blip r:embed="rId2"/>
              </a:buBlip>
            </a:pPr>
            <a:r>
              <a:rPr lang="en-US" altLang="he-IL" sz="3600" dirty="0">
                <a:latin typeface="TimesNewRoman"/>
                <a:cs typeface="Times New Roman" pitchFamily="18" charset="0"/>
              </a:rPr>
              <a:t> The random window size depends on the number of rotating atoms</a:t>
            </a:r>
          </a:p>
        </p:txBody>
      </p:sp>
      <p:pic>
        <p:nvPicPr>
          <p:cNvPr id="29700" name="Picture 4" descr="C:\MYDOC\Studies\SeminarBioInformatics\QSAR\flexLig.bm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5950" y="4238627"/>
            <a:ext cx="5683250" cy="227842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53165337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771525" y="304800"/>
            <a:ext cx="8743950" cy="1143000"/>
          </a:xfrm>
        </p:spPr>
        <p:txBody>
          <a:bodyPr/>
          <a:lstStyle/>
          <a:p>
            <a:pPr rtl="0"/>
            <a:r>
              <a:rPr lang="en-US" altLang="he-IL" b="1" dirty="0">
                <a:latin typeface="Comic Sans MS" pitchFamily="66" charset="0"/>
              </a:rPr>
              <a:t>Catalyst Docking – Scoring</a:t>
            </a:r>
            <a:endParaRPr lang="en-US" altLang="he-IL" dirty="0">
              <a:latin typeface="Comic Sans MS" pitchFamily="66" charset="0"/>
            </a:endParaRPr>
          </a:p>
        </p:txBody>
      </p:sp>
      <p:sp>
        <p:nvSpPr>
          <p:cNvPr id="30723" name="Rectangle 3"/>
          <p:cNvSpPr>
            <a:spLocks noGrp="1" noChangeArrowheads="1"/>
          </p:cNvSpPr>
          <p:nvPr>
            <p:ph type="body" idx="1"/>
          </p:nvPr>
        </p:nvSpPr>
        <p:spPr>
          <a:xfrm>
            <a:off x="171450" y="1600200"/>
            <a:ext cx="10115550" cy="4648200"/>
          </a:xfrm>
        </p:spPr>
        <p:txBody>
          <a:bodyPr>
            <a:normAutofit lnSpcReduction="10000"/>
          </a:bodyPr>
          <a:lstStyle/>
          <a:p>
            <a:pPr marL="0" indent="0" algn="l" rtl="0">
              <a:buFontTx/>
              <a:buNone/>
            </a:pPr>
            <a:r>
              <a:rPr lang="en-US" altLang="he-IL" sz="2800" b="1" dirty="0" err="1">
                <a:latin typeface="TimesNewRoman"/>
                <a:cs typeface="Times New Roman" pitchFamily="18" charset="0"/>
              </a:rPr>
              <a:t>pKi</a:t>
            </a:r>
            <a:r>
              <a:rPr lang="en-US" altLang="he-IL" sz="2800" b="1" dirty="0">
                <a:latin typeface="TimesNewRoman"/>
                <a:cs typeface="Times New Roman" pitchFamily="18" charset="0"/>
              </a:rPr>
              <a:t> = – c – x (</a:t>
            </a:r>
            <a:r>
              <a:rPr lang="en-US" altLang="he-IL" sz="2800" b="1" i="1" dirty="0" err="1">
                <a:latin typeface="TimesNewRoman"/>
                <a:cs typeface="Times New Roman" pitchFamily="18" charset="0"/>
              </a:rPr>
              <a:t>vdW_Exact</a:t>
            </a:r>
            <a:r>
              <a:rPr lang="en-US" altLang="he-IL" sz="2800" b="1" i="1" dirty="0">
                <a:latin typeface="TimesNewRoman"/>
                <a:cs typeface="Times New Roman" pitchFamily="18" charset="0"/>
              </a:rPr>
              <a:t>/ </a:t>
            </a:r>
            <a:r>
              <a:rPr lang="en-US" altLang="he-IL" sz="2800" b="1" i="1" dirty="0" err="1">
                <a:latin typeface="TimesNewRoman"/>
                <a:cs typeface="Times New Roman" pitchFamily="18" charset="0"/>
              </a:rPr>
              <a:t>Grid_Soft</a:t>
            </a:r>
            <a:r>
              <a:rPr lang="en-US" altLang="he-IL" sz="2800" b="1" dirty="0">
                <a:latin typeface="TimesNewRoman"/>
                <a:cs typeface="Times New Roman" pitchFamily="18" charset="0"/>
              </a:rPr>
              <a:t>) </a:t>
            </a:r>
          </a:p>
          <a:p>
            <a:pPr marL="0" indent="0" algn="l" rtl="0">
              <a:buFontTx/>
              <a:buNone/>
            </a:pPr>
            <a:r>
              <a:rPr lang="en-US" altLang="he-IL" sz="2800" b="1" dirty="0">
                <a:latin typeface="TimesNewRoman"/>
                <a:cs typeface="Times New Roman" pitchFamily="18" charset="0"/>
              </a:rPr>
              <a:t>                 + y (</a:t>
            </a:r>
            <a:r>
              <a:rPr lang="en-US" altLang="he-IL" sz="2800" b="1" i="1" dirty="0" err="1">
                <a:latin typeface="TimesNewRoman"/>
                <a:cs typeface="Times New Roman" pitchFamily="18" charset="0"/>
              </a:rPr>
              <a:t>C+_pol</a:t>
            </a:r>
            <a:r>
              <a:rPr lang="en-US" altLang="he-IL" sz="2800" b="1" dirty="0">
                <a:latin typeface="TimesNewRoman"/>
                <a:cs typeface="Times New Roman" pitchFamily="18" charset="0"/>
              </a:rPr>
              <a:t>) </a:t>
            </a:r>
          </a:p>
          <a:p>
            <a:pPr marL="0" indent="0" algn="l" rtl="0">
              <a:buFontTx/>
              <a:buNone/>
            </a:pPr>
            <a:r>
              <a:rPr lang="en-US" altLang="he-IL" sz="2800" b="1" dirty="0">
                <a:latin typeface="TimesNewRoman"/>
                <a:cs typeface="Times New Roman" pitchFamily="18" charset="0"/>
              </a:rPr>
              <a:t>                 – z (</a:t>
            </a:r>
            <a:r>
              <a:rPr lang="en-US" altLang="he-IL" sz="2800" b="1" i="1" dirty="0" err="1">
                <a:latin typeface="TimesNewRoman"/>
                <a:cs typeface="Times New Roman" pitchFamily="18" charset="0"/>
              </a:rPr>
              <a:t>Totpol</a:t>
            </a:r>
            <a:r>
              <a:rPr lang="en-US" altLang="he-IL" sz="2800" b="1" i="1" dirty="0">
                <a:latin typeface="TimesNewRoman"/>
                <a:cs typeface="Times New Roman" pitchFamily="18" charset="0"/>
              </a:rPr>
              <a:t>^ 2</a:t>
            </a:r>
            <a:r>
              <a:rPr lang="en-US" altLang="he-IL" sz="2800" b="1" dirty="0">
                <a:latin typeface="TimesNewRoman"/>
                <a:cs typeface="Times New Roman" pitchFamily="18" charset="0"/>
              </a:rPr>
              <a:t>)</a:t>
            </a:r>
          </a:p>
          <a:p>
            <a:pPr marL="0" indent="0" algn="l" rtl="0">
              <a:buFontTx/>
              <a:buNone/>
            </a:pPr>
            <a:endParaRPr lang="en-US" altLang="he-IL" sz="2800" b="1" dirty="0">
              <a:latin typeface="TimesNewRoman"/>
              <a:cs typeface="Times New Roman" pitchFamily="18" charset="0"/>
            </a:endParaRPr>
          </a:p>
          <a:p>
            <a:pPr marL="0" indent="0" algn="l" rtl="0"/>
            <a:r>
              <a:rPr lang="en-US" altLang="he-IL" sz="2800" b="1" dirty="0">
                <a:latin typeface="TimesNewRoman"/>
                <a:cs typeface="Times New Roman" pitchFamily="18" charset="0"/>
              </a:rPr>
              <a:t> </a:t>
            </a:r>
            <a:r>
              <a:rPr lang="en-US" altLang="he-IL" sz="2800" b="1" i="1" dirty="0" err="1">
                <a:latin typeface="TimesNewRoman"/>
                <a:cs typeface="Times New Roman" pitchFamily="18" charset="0"/>
              </a:rPr>
              <a:t>vdW</a:t>
            </a:r>
            <a:r>
              <a:rPr lang="en-US" altLang="he-IL" sz="2800" b="1" i="1" dirty="0">
                <a:latin typeface="TimesNewRoman"/>
                <a:cs typeface="Times New Roman" pitchFamily="18" charset="0"/>
              </a:rPr>
              <a:t> </a:t>
            </a:r>
            <a:r>
              <a:rPr lang="en-US" altLang="he-IL" sz="2800" b="1" dirty="0">
                <a:latin typeface="TimesNewRoman"/>
                <a:cs typeface="Times New Roman" pitchFamily="18" charset="0"/>
              </a:rPr>
              <a:t>= </a:t>
            </a:r>
            <a:r>
              <a:rPr lang="en-US" altLang="he-IL" sz="2800" dirty="0">
                <a:latin typeface="TimesNewRoman"/>
                <a:cs typeface="Times New Roman" pitchFamily="18" charset="0"/>
              </a:rPr>
              <a:t>softened </a:t>
            </a:r>
            <a:r>
              <a:rPr lang="en-US" altLang="he-IL" sz="2800" dirty="0" err="1">
                <a:latin typeface="TimesNewRoman"/>
                <a:cs typeface="Times New Roman" pitchFamily="18" charset="0"/>
              </a:rPr>
              <a:t>Lennard</a:t>
            </a:r>
            <a:r>
              <a:rPr lang="en-US" altLang="he-IL" sz="2800" dirty="0">
                <a:latin typeface="TimesNewRoman"/>
                <a:cs typeface="Times New Roman" pitchFamily="18" charset="0"/>
              </a:rPr>
              <a:t>-Jones 6-9 potential</a:t>
            </a:r>
          </a:p>
          <a:p>
            <a:pPr marL="0" indent="0" algn="l" rtl="0"/>
            <a:r>
              <a:rPr lang="en-US" altLang="he-IL" sz="2800" b="1" dirty="0">
                <a:latin typeface="TimesNewRoman"/>
                <a:cs typeface="Times New Roman" pitchFamily="18" charset="0"/>
              </a:rPr>
              <a:t> </a:t>
            </a:r>
            <a:r>
              <a:rPr lang="en-US" altLang="he-IL" sz="2800" b="1" i="1" dirty="0" err="1">
                <a:latin typeface="TimesNewRoman"/>
                <a:cs typeface="Times New Roman" pitchFamily="18" charset="0"/>
              </a:rPr>
              <a:t>C+_pol</a:t>
            </a:r>
            <a:r>
              <a:rPr lang="en-US" altLang="he-IL" sz="2800" b="1" dirty="0">
                <a:latin typeface="TimesNewRoman"/>
                <a:cs typeface="Times New Roman" pitchFamily="18" charset="0"/>
              </a:rPr>
              <a:t> = </a:t>
            </a:r>
            <a:r>
              <a:rPr lang="en-US" altLang="he-IL" sz="2800" dirty="0">
                <a:latin typeface="TimesNewRoman"/>
                <a:cs typeface="Times New Roman" pitchFamily="18" charset="0"/>
              </a:rPr>
              <a:t>buried polar surface area involved in attractive ligand-protein interactions</a:t>
            </a:r>
          </a:p>
          <a:p>
            <a:pPr marL="0" indent="0" algn="l" rtl="0"/>
            <a:r>
              <a:rPr lang="en-US" altLang="he-IL" sz="2800" b="1" dirty="0">
                <a:latin typeface="TimesNewRoman"/>
                <a:cs typeface="Times New Roman" pitchFamily="18" charset="0"/>
              </a:rPr>
              <a:t> </a:t>
            </a:r>
            <a:r>
              <a:rPr lang="en-US" altLang="he-IL" sz="2800" b="1" i="1" dirty="0" err="1">
                <a:latin typeface="TimesNewRoman"/>
                <a:cs typeface="Times New Roman" pitchFamily="18" charset="0"/>
              </a:rPr>
              <a:t>Totpol</a:t>
            </a:r>
            <a:r>
              <a:rPr lang="en-US" altLang="he-IL" sz="2800" b="1" i="1" dirty="0">
                <a:latin typeface="TimesNewRoman"/>
                <a:cs typeface="Times New Roman" pitchFamily="18" charset="0"/>
              </a:rPr>
              <a:t>^ 2</a:t>
            </a:r>
            <a:r>
              <a:rPr lang="en-US" altLang="he-IL" sz="2800" b="1" dirty="0">
                <a:latin typeface="TimesNewRoman"/>
                <a:cs typeface="Times New Roman" pitchFamily="18" charset="0"/>
              </a:rPr>
              <a:t> = </a:t>
            </a:r>
            <a:r>
              <a:rPr lang="en-US" altLang="he-IL" sz="2800" dirty="0">
                <a:latin typeface="TimesNewRoman"/>
                <a:cs typeface="Times New Roman" pitchFamily="18" charset="0"/>
              </a:rPr>
              <a:t>buried polar surface area involved in both attractive and repulsive protein-ligand interactions</a:t>
            </a:r>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3337226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0723">
                                            <p:txEl>
                                              <p:pRg st="0" end="0"/>
                                            </p:txEl>
                                          </p:spTgt>
                                        </p:tgtEl>
                                        <p:attrNameLst>
                                          <p:attrName>style.visibility</p:attrName>
                                        </p:attrNameLst>
                                      </p:cBhvr>
                                      <p:to>
                                        <p:strVal val="visible"/>
                                      </p:to>
                                    </p:set>
                                    <p:anim calcmode="lin" valueType="num">
                                      <p:cBhvr additive="base">
                                        <p:cTn id="7" dur="500" fill="hold"/>
                                        <p:tgtEl>
                                          <p:spTgt spid="307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072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0723">
                                            <p:txEl>
                                              <p:pRg st="1" end="1"/>
                                            </p:txEl>
                                          </p:spTgt>
                                        </p:tgtEl>
                                        <p:attrNameLst>
                                          <p:attrName>style.visibility</p:attrName>
                                        </p:attrNameLst>
                                      </p:cBhvr>
                                      <p:to>
                                        <p:strVal val="visible"/>
                                      </p:to>
                                    </p:set>
                                    <p:anim calcmode="lin" valueType="num">
                                      <p:cBhvr additive="base">
                                        <p:cTn id="11" dur="500" fill="hold"/>
                                        <p:tgtEl>
                                          <p:spTgt spid="3072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072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0723">
                                            <p:txEl>
                                              <p:pRg st="2" end="2"/>
                                            </p:txEl>
                                          </p:spTgt>
                                        </p:tgtEl>
                                        <p:attrNameLst>
                                          <p:attrName>style.visibility</p:attrName>
                                        </p:attrNameLst>
                                      </p:cBhvr>
                                      <p:to>
                                        <p:strVal val="visible"/>
                                      </p:to>
                                    </p:set>
                                    <p:anim calcmode="lin" valueType="num">
                                      <p:cBhvr additive="base">
                                        <p:cTn id="15" dur="500" fill="hold"/>
                                        <p:tgtEl>
                                          <p:spTgt spid="3072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072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4" fill="hold" nodeType="clickEffect">
                                  <p:stCondLst>
                                    <p:cond delay="0"/>
                                  </p:stCondLst>
                                  <p:childTnLst>
                                    <p:set>
                                      <p:cBhvr>
                                        <p:cTn id="20" dur="1" fill="hold">
                                          <p:stCondLst>
                                            <p:cond delay="0"/>
                                          </p:stCondLst>
                                        </p:cTn>
                                        <p:tgtEl>
                                          <p:spTgt spid="30723">
                                            <p:txEl>
                                              <p:pRg st="4" end="4"/>
                                            </p:txEl>
                                          </p:spTgt>
                                        </p:tgtEl>
                                        <p:attrNameLst>
                                          <p:attrName>style.visibility</p:attrName>
                                        </p:attrNameLst>
                                      </p:cBhvr>
                                      <p:to>
                                        <p:strVal val="visible"/>
                                      </p:to>
                                    </p:set>
                                    <p:animEffect transition="in" filter="wipe(down)">
                                      <p:cBhvr>
                                        <p:cTn id="21" dur="500"/>
                                        <p:tgtEl>
                                          <p:spTgt spid="30723">
                                            <p:txEl>
                                              <p:pRg st="4" end="4"/>
                                            </p:txEl>
                                          </p:spTgt>
                                        </p:tgtEl>
                                      </p:cBhvr>
                                    </p:animEffect>
                                  </p:childTnLst>
                                </p:cTn>
                              </p:par>
                              <p:par>
                                <p:cTn id="22" presetID="22" presetClass="entr" presetSubtype="4" fill="hold" nodeType="withEffect">
                                  <p:stCondLst>
                                    <p:cond delay="0"/>
                                  </p:stCondLst>
                                  <p:childTnLst>
                                    <p:set>
                                      <p:cBhvr>
                                        <p:cTn id="23" dur="1" fill="hold">
                                          <p:stCondLst>
                                            <p:cond delay="0"/>
                                          </p:stCondLst>
                                        </p:cTn>
                                        <p:tgtEl>
                                          <p:spTgt spid="30723">
                                            <p:txEl>
                                              <p:pRg st="5" end="5"/>
                                            </p:txEl>
                                          </p:spTgt>
                                        </p:tgtEl>
                                        <p:attrNameLst>
                                          <p:attrName>style.visibility</p:attrName>
                                        </p:attrNameLst>
                                      </p:cBhvr>
                                      <p:to>
                                        <p:strVal val="visible"/>
                                      </p:to>
                                    </p:set>
                                    <p:animEffect transition="in" filter="wipe(down)">
                                      <p:cBhvr>
                                        <p:cTn id="24" dur="500"/>
                                        <p:tgtEl>
                                          <p:spTgt spid="30723">
                                            <p:txEl>
                                              <p:pRg st="5" end="5"/>
                                            </p:txEl>
                                          </p:spTgt>
                                        </p:tgtEl>
                                      </p:cBhvr>
                                    </p:animEffect>
                                  </p:childTnLst>
                                </p:cTn>
                              </p:par>
                              <p:par>
                                <p:cTn id="25" presetID="22" presetClass="entr" presetSubtype="4" fill="hold" nodeType="withEffect">
                                  <p:stCondLst>
                                    <p:cond delay="0"/>
                                  </p:stCondLst>
                                  <p:childTnLst>
                                    <p:set>
                                      <p:cBhvr>
                                        <p:cTn id="26" dur="1" fill="hold">
                                          <p:stCondLst>
                                            <p:cond delay="0"/>
                                          </p:stCondLst>
                                        </p:cTn>
                                        <p:tgtEl>
                                          <p:spTgt spid="30723">
                                            <p:txEl>
                                              <p:pRg st="6" end="6"/>
                                            </p:txEl>
                                          </p:spTgt>
                                        </p:tgtEl>
                                        <p:attrNameLst>
                                          <p:attrName>style.visibility</p:attrName>
                                        </p:attrNameLst>
                                      </p:cBhvr>
                                      <p:to>
                                        <p:strVal val="visible"/>
                                      </p:to>
                                    </p:set>
                                    <p:animEffect transition="in" filter="wipe(down)">
                                      <p:cBhvr>
                                        <p:cTn id="27" dur="500"/>
                                        <p:tgtEl>
                                          <p:spTgt spid="3072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771525" y="304800"/>
            <a:ext cx="8743950" cy="1143000"/>
          </a:xfrm>
        </p:spPr>
        <p:txBody>
          <a:bodyPr>
            <a:normAutofit/>
          </a:bodyPr>
          <a:lstStyle/>
          <a:p>
            <a:pPr rtl="0"/>
            <a:r>
              <a:rPr lang="en-US" altLang="en-US" b="1" dirty="0">
                <a:latin typeface="Comic Sans MS" pitchFamily="66" charset="0"/>
              </a:rPr>
              <a:t>3</a:t>
            </a:r>
            <a:r>
              <a:rPr lang="en-US" altLang="he-IL" b="1" dirty="0">
                <a:latin typeface="Comic Sans MS" pitchFamily="66" charset="0"/>
              </a:rPr>
              <a:t>D-QSAR of CYP450</a:t>
            </a:r>
            <a:r>
              <a:rPr lang="en-US" altLang="he-IL" b="1" baseline="-25000" dirty="0">
                <a:latin typeface="Comic Sans MS" pitchFamily="66" charset="0"/>
              </a:rPr>
              <a:t>cam</a:t>
            </a:r>
            <a:r>
              <a:rPr lang="en-US" altLang="he-IL" b="1" dirty="0">
                <a:latin typeface="Comic Sans MS" pitchFamily="66" charset="0"/>
              </a:rPr>
              <a:t> with DOCK</a:t>
            </a:r>
            <a:endParaRPr lang="en-US" altLang="he-IL" dirty="0">
              <a:latin typeface="Comic Sans MS" pitchFamily="66" charset="0"/>
            </a:endParaRPr>
          </a:p>
        </p:txBody>
      </p:sp>
      <p:sp>
        <p:nvSpPr>
          <p:cNvPr id="32772" name="Rectangle 4"/>
          <p:cNvSpPr>
            <a:spLocks noGrp="1" noChangeArrowheads="1"/>
          </p:cNvSpPr>
          <p:nvPr>
            <p:ph type="body" idx="1"/>
          </p:nvPr>
        </p:nvSpPr>
        <p:spPr>
          <a:xfrm>
            <a:off x="171450" y="1893888"/>
            <a:ext cx="9772650" cy="4343400"/>
          </a:xfrm>
          <a:noFill/>
          <a:ln/>
        </p:spPr>
        <p:txBody>
          <a:bodyPr>
            <a:normAutofit/>
          </a:bodyPr>
          <a:lstStyle/>
          <a:p>
            <a:pPr marL="0" indent="0" algn="l" rtl="0">
              <a:buFontTx/>
              <a:buNone/>
            </a:pPr>
            <a:r>
              <a:rPr lang="en-US" altLang="he-IL" sz="2800" b="1" dirty="0">
                <a:latin typeface="TimesNewRoman"/>
                <a:cs typeface="Times New Roman" pitchFamily="18" charset="0"/>
              </a:rPr>
              <a:t>Goal:</a:t>
            </a:r>
          </a:p>
          <a:p>
            <a:pPr marL="0" indent="0" algn="l" rtl="0"/>
            <a:r>
              <a:rPr lang="en-US" altLang="he-IL" sz="2800" dirty="0">
                <a:latin typeface="TimesNewRoman"/>
                <a:cs typeface="Times New Roman" pitchFamily="18" charset="0"/>
              </a:rPr>
              <a:t> Test the ability of DOCK to discriminate between substrates and non-substrates.</a:t>
            </a:r>
          </a:p>
          <a:p>
            <a:pPr marL="0" indent="0" algn="l" rtl="0">
              <a:buFontTx/>
              <a:buNone/>
            </a:pPr>
            <a:r>
              <a:rPr lang="en-US" altLang="he-IL" sz="2800" b="1" dirty="0">
                <a:latin typeface="TimesNewRoman"/>
                <a:cs typeface="Times New Roman" pitchFamily="18" charset="0"/>
              </a:rPr>
              <a:t>Assumption:</a:t>
            </a:r>
          </a:p>
          <a:p>
            <a:pPr marL="0" indent="0" algn="l" rtl="0"/>
            <a:r>
              <a:rPr lang="en-US" altLang="he-IL" sz="2800" dirty="0">
                <a:latin typeface="TimesNewRoman"/>
                <a:cs typeface="Times New Roman" pitchFamily="18" charset="0"/>
              </a:rPr>
              <a:t> Non-substrate candidate is a compound that doesn’t fit to the active site of CYP, but fits to the site of it’s L244A mutant.</a:t>
            </a:r>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74839496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771525" y="304800"/>
            <a:ext cx="8743950" cy="1143000"/>
          </a:xfrm>
        </p:spPr>
        <p:txBody>
          <a:bodyPr/>
          <a:lstStyle/>
          <a:p>
            <a:pPr rtl="0"/>
            <a:r>
              <a:rPr lang="en-US" altLang="en-US" b="1" dirty="0">
                <a:latin typeface="Comic Sans MS" pitchFamily="66" charset="0"/>
              </a:rPr>
              <a:t>Methods</a:t>
            </a:r>
            <a:endParaRPr lang="en-US" altLang="he-IL" dirty="0">
              <a:latin typeface="Comic Sans MS" pitchFamily="66" charset="0"/>
            </a:endParaRPr>
          </a:p>
        </p:txBody>
      </p:sp>
      <p:sp>
        <p:nvSpPr>
          <p:cNvPr id="33795" name="Rectangle 3"/>
          <p:cNvSpPr>
            <a:spLocks noGrp="1" noChangeArrowheads="1"/>
          </p:cNvSpPr>
          <p:nvPr>
            <p:ph type="body" idx="1"/>
          </p:nvPr>
        </p:nvSpPr>
        <p:spPr>
          <a:xfrm>
            <a:off x="171450" y="1484313"/>
            <a:ext cx="9772650" cy="5029200"/>
          </a:xfrm>
          <a:noFill/>
          <a:ln/>
        </p:spPr>
        <p:txBody>
          <a:bodyPr>
            <a:normAutofit/>
          </a:bodyPr>
          <a:lstStyle/>
          <a:p>
            <a:pPr marL="0" indent="0" algn="l" rtl="0">
              <a:buFontTx/>
              <a:buBlip>
                <a:blip r:embed="rId2"/>
              </a:buBlip>
            </a:pPr>
            <a:r>
              <a:rPr lang="en-US" altLang="he-IL" sz="2800" dirty="0">
                <a:latin typeface="TimesNewRoman"/>
                <a:cs typeface="Times New Roman" pitchFamily="18" charset="0"/>
              </a:rPr>
              <a:t> Docking of 20,000 compounds to ‘bound’ structure of CYP and L244A mutant.</a:t>
            </a:r>
          </a:p>
          <a:p>
            <a:pPr marL="0" indent="0" algn="l" rtl="0">
              <a:buFontTx/>
              <a:buBlip>
                <a:blip r:embed="rId2"/>
              </a:buBlip>
            </a:pPr>
            <a:r>
              <a:rPr lang="en-US" altLang="he-IL" sz="2800" dirty="0">
                <a:latin typeface="TimesNewRoman"/>
                <a:cs typeface="Times New Roman" pitchFamily="18" charset="0"/>
              </a:rPr>
              <a:t> 11 substrate candidates were selected from 500 high scoring compounds for CYP.</a:t>
            </a:r>
          </a:p>
          <a:p>
            <a:pPr marL="0" indent="0" algn="l" rtl="0">
              <a:buFontTx/>
              <a:buBlip>
                <a:blip r:embed="rId2"/>
              </a:buBlip>
            </a:pPr>
            <a:r>
              <a:rPr lang="en-US" altLang="he-IL" sz="2800" dirty="0">
                <a:latin typeface="TimesNewRoman"/>
                <a:cs typeface="Times New Roman" pitchFamily="18" charset="0"/>
              </a:rPr>
              <a:t> 6 non-substrate candidates were selected from a difference list of L244A and CYP.</a:t>
            </a:r>
          </a:p>
          <a:p>
            <a:pPr marL="0" indent="0" algn="l" rtl="0">
              <a:buFontTx/>
              <a:buBlip>
                <a:blip r:embed="rId2"/>
              </a:buBlip>
            </a:pPr>
            <a:r>
              <a:rPr lang="en-US" altLang="he-IL" sz="2800" dirty="0">
                <a:latin typeface="TimesNewRoman"/>
                <a:cs typeface="Times New Roman" pitchFamily="18" charset="0"/>
              </a:rPr>
              <a:t> Optimization of compounds 3D structures by SYBYL molecular mechanics program and re-docking. As a result 2 compounds move from “non-substrate” list to “substrate” list and one in the opposite direction.</a:t>
            </a:r>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53203338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771525" y="304800"/>
            <a:ext cx="8743950" cy="1143000"/>
          </a:xfrm>
        </p:spPr>
        <p:txBody>
          <a:bodyPr/>
          <a:lstStyle/>
          <a:p>
            <a:pPr rtl="0"/>
            <a:r>
              <a:rPr lang="en-US" altLang="he-IL" b="1" dirty="0">
                <a:latin typeface="Comic Sans MS" pitchFamily="66" charset="0"/>
              </a:rPr>
              <a:t>Prediction Results</a:t>
            </a:r>
            <a:endParaRPr lang="en-US" altLang="he-IL" dirty="0">
              <a:latin typeface="Comic Sans MS" pitchFamily="66" charset="0"/>
            </a:endParaRPr>
          </a:p>
        </p:txBody>
      </p:sp>
      <p:sp>
        <p:nvSpPr>
          <p:cNvPr id="34819" name="Rectangle 3"/>
          <p:cNvSpPr>
            <a:spLocks noGrp="1" noChangeArrowheads="1"/>
          </p:cNvSpPr>
          <p:nvPr>
            <p:ph type="body" idx="1"/>
          </p:nvPr>
        </p:nvSpPr>
        <p:spPr>
          <a:xfrm>
            <a:off x="171450" y="1676400"/>
            <a:ext cx="9772650" cy="3768725"/>
          </a:xfrm>
          <a:noFill/>
          <a:ln/>
        </p:spPr>
        <p:txBody>
          <a:bodyPr/>
          <a:lstStyle/>
          <a:p>
            <a:pPr marL="0" indent="0" algn="l" rtl="0">
              <a:buFontTx/>
              <a:buBlip>
                <a:blip r:embed="rId2"/>
              </a:buBlip>
            </a:pPr>
            <a:r>
              <a:rPr lang="en-US" altLang="en-US" sz="2800" dirty="0">
                <a:latin typeface="TimesNewRoman"/>
                <a:cs typeface="Times New Roman" pitchFamily="18" charset="0"/>
              </a:rPr>
              <a:t> </a:t>
            </a:r>
            <a:r>
              <a:rPr lang="en-US" altLang="he-IL" sz="2800" dirty="0">
                <a:latin typeface="TimesNewRoman"/>
                <a:cs typeface="Times New Roman" pitchFamily="18" charset="0"/>
              </a:rPr>
              <a:t>All compounds predicted as “non-substrates” shown no biological activity.</a:t>
            </a:r>
          </a:p>
          <a:p>
            <a:pPr marL="0" indent="0" algn="l" rtl="0">
              <a:buFontTx/>
              <a:buBlip>
                <a:blip r:embed="rId2"/>
              </a:buBlip>
            </a:pPr>
            <a:r>
              <a:rPr lang="en-US" altLang="he-IL" sz="2800" dirty="0">
                <a:latin typeface="TimesNewRoman"/>
                <a:cs typeface="Times New Roman" pitchFamily="18" charset="0"/>
              </a:rPr>
              <a:t> 4 of the 11 molecules predicted as “substrates” were found as non-substrates.</a:t>
            </a:r>
          </a:p>
          <a:p>
            <a:pPr marL="0" indent="0" algn="l" rtl="0">
              <a:buFontTx/>
              <a:buBlip>
                <a:blip r:embed="rId2"/>
              </a:buBlip>
            </a:pPr>
            <a:r>
              <a:rPr lang="en-US" altLang="he-IL" sz="2800" dirty="0">
                <a:latin typeface="TimesNewRoman"/>
                <a:cs typeface="Times New Roman" pitchFamily="18" charset="0"/>
              </a:rPr>
              <a:t> The predictions of DOCK are sensitive to the parameter of minimum distance allowed between an atom of the ligand and the receptor (penetration constrains).</a:t>
            </a:r>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91177554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771525" y="304800"/>
            <a:ext cx="8743950" cy="1143000"/>
          </a:xfrm>
        </p:spPr>
        <p:txBody>
          <a:bodyPr/>
          <a:lstStyle/>
          <a:p>
            <a:pPr rtl="0"/>
            <a:r>
              <a:rPr lang="en-US" altLang="he-IL" b="1" dirty="0">
                <a:latin typeface="Comic Sans MS" pitchFamily="66" charset="0"/>
              </a:rPr>
              <a:t>Prediction Results</a:t>
            </a:r>
            <a:endParaRPr lang="en-US" altLang="he-IL" dirty="0">
              <a:latin typeface="Comic Sans MS" pitchFamily="66" charset="0"/>
            </a:endParaRPr>
          </a:p>
        </p:txBody>
      </p:sp>
      <p:graphicFrame>
        <p:nvGraphicFramePr>
          <p:cNvPr id="35845" name="Object 5"/>
          <p:cNvGraphicFramePr>
            <a:graphicFrameLocks noChangeAspect="1"/>
          </p:cNvGraphicFramePr>
          <p:nvPr/>
        </p:nvGraphicFramePr>
        <p:xfrm>
          <a:off x="685800" y="1847851"/>
          <a:ext cx="8915400" cy="4443413"/>
        </p:xfrm>
        <a:graphic>
          <a:graphicData uri="http://schemas.openxmlformats.org/presentationml/2006/ole">
            <mc:AlternateContent xmlns:mc="http://schemas.openxmlformats.org/markup-compatibility/2006">
              <mc:Choice xmlns:v="urn:schemas-microsoft-com:vml" Requires="v">
                <p:oleObj spid="_x0000_s5126" name="Bitmap Image" r:id="rId3" imgW="5638095" imgH="3161905" progId="Paint.Picture">
                  <p:embed/>
                </p:oleObj>
              </mc:Choice>
              <mc:Fallback>
                <p:oleObj name="Bitmap Image" r:id="rId3" imgW="5638095" imgH="3161905"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1847851"/>
                        <a:ext cx="8915400" cy="4443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30082516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0287000" cy="6172200"/>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3"/>
          <p:cNvSpPr txBox="1">
            <a:spLocks noChangeArrowheads="1"/>
          </p:cNvSpPr>
          <p:nvPr/>
        </p:nvSpPr>
        <p:spPr>
          <a:xfrm>
            <a:off x="815430" y="730800"/>
            <a:ext cx="7655470" cy="1752600"/>
          </a:xfrm>
          <a:prstGeom prst="rect">
            <a:avLst/>
          </a:prstGeom>
        </p:spPr>
        <p:txBody>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r>
              <a:rPr lang="en-US" sz="4400" dirty="0"/>
              <a:t>Microbial genome applications	</a:t>
            </a:r>
          </a:p>
        </p:txBody>
      </p:sp>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72698676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a:xfrm>
            <a:off x="828675" y="0"/>
            <a:ext cx="9458325" cy="584200"/>
          </a:xfrm>
        </p:spPr>
        <p:txBody>
          <a:bodyPr>
            <a:normAutofit fontScale="90000"/>
          </a:bodyPr>
          <a:lstStyle/>
          <a:p>
            <a:r>
              <a:rPr lang="en-US" sz="4000" dirty="0" smtClean="0"/>
              <a:t>Finding </a:t>
            </a:r>
            <a:r>
              <a:rPr lang="en-US" sz="4000" dirty="0"/>
              <a:t>Homologues</a:t>
            </a:r>
          </a:p>
        </p:txBody>
      </p:sp>
      <p:graphicFrame>
        <p:nvGraphicFramePr>
          <p:cNvPr id="145411" name="Object 3"/>
          <p:cNvGraphicFramePr>
            <a:graphicFrameLocks noChangeAspect="1"/>
          </p:cNvGraphicFramePr>
          <p:nvPr>
            <p:extLst>
              <p:ext uri="{D42A27DB-BD31-4B8C-83A1-F6EECF244321}">
                <p14:modId xmlns:p14="http://schemas.microsoft.com/office/powerpoint/2010/main" val="3330662509"/>
              </p:ext>
            </p:extLst>
          </p:nvPr>
        </p:nvGraphicFramePr>
        <p:xfrm>
          <a:off x="1028700" y="838201"/>
          <a:ext cx="8318500" cy="5758251"/>
        </p:xfrm>
        <a:graphic>
          <a:graphicData uri="http://schemas.openxmlformats.org/presentationml/2006/ole">
            <mc:AlternateContent xmlns:mc="http://schemas.openxmlformats.org/markup-compatibility/2006">
              <mc:Choice xmlns:v="urn:schemas-microsoft-com:vml" Requires="v">
                <p:oleObj spid="_x0000_s6150" name="Image" r:id="rId3" imgW="10801271" imgH="8412284" progId="Photoshop.Image.5">
                  <p:embed/>
                </p:oleObj>
              </mc:Choice>
              <mc:Fallback>
                <p:oleObj name="Image" r:id="rId3" imgW="10801271" imgH="8412284" progId="Photoshop.Image.5">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8700" y="838201"/>
                        <a:ext cx="8318500" cy="5758251"/>
                      </a:xfrm>
                      <a:prstGeom prst="rect">
                        <a:avLst/>
                      </a:prstGeom>
                      <a:noFill/>
                      <a:ln>
                        <a:noFill/>
                      </a:ln>
                      <a:effectLst/>
                      <a:extLst/>
                    </p:spPr>
                  </p:pic>
                </p:oleObj>
              </mc:Fallback>
            </mc:AlternateContent>
          </a:graphicData>
        </a:graphic>
      </p:graphicFrame>
      <p:sp>
        <p:nvSpPr>
          <p:cNvPr id="145412" name="Text Box 4"/>
          <p:cNvSpPr txBox="1">
            <a:spLocks noChangeArrowheads="1"/>
          </p:cNvSpPr>
          <p:nvPr/>
        </p:nvSpPr>
        <p:spPr bwMode="auto">
          <a:xfrm>
            <a:off x="7000875" y="1600201"/>
            <a:ext cx="14001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lang="en-US" sz="1000"/>
              <a:t>Implicated in </a:t>
            </a:r>
          </a:p>
          <a:p>
            <a:pPr algn="ctr" eaLnBrk="0" hangingPunct="0"/>
            <a:r>
              <a:rPr lang="en-US" sz="1000"/>
              <a:t>Colorectal cancer</a:t>
            </a:r>
          </a:p>
        </p:txBody>
      </p:sp>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7325344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a:xfrm>
            <a:off x="342900" y="152400"/>
            <a:ext cx="9944100" cy="584200"/>
          </a:xfrm>
        </p:spPr>
        <p:txBody>
          <a:bodyPr/>
          <a:lstStyle/>
          <a:p>
            <a:r>
              <a:rPr lang="en-US" dirty="0" smtClean="0"/>
              <a:t>Finding </a:t>
            </a:r>
            <a:r>
              <a:rPr lang="en-US" dirty="0"/>
              <a:t>Homologues</a:t>
            </a:r>
          </a:p>
        </p:txBody>
      </p:sp>
      <p:sp>
        <p:nvSpPr>
          <p:cNvPr id="146435" name="Rectangle 3"/>
          <p:cNvSpPr>
            <a:spLocks noGrp="1" noChangeArrowheads="1"/>
          </p:cNvSpPr>
          <p:nvPr>
            <p:ph type="body" sz="half" idx="1"/>
          </p:nvPr>
        </p:nvSpPr>
        <p:spPr>
          <a:xfrm>
            <a:off x="514350" y="1371600"/>
            <a:ext cx="8915400" cy="1143000"/>
          </a:xfrm>
        </p:spPr>
        <p:txBody>
          <a:bodyPr>
            <a:normAutofit fontScale="70000" lnSpcReduction="20000"/>
          </a:bodyPr>
          <a:lstStyle/>
          <a:p>
            <a:pPr>
              <a:lnSpc>
                <a:spcPct val="90000"/>
              </a:lnSpc>
            </a:pPr>
            <a:r>
              <a:rPr lang="en-US" sz="2400"/>
              <a:t>Find Similar Ones in Different Organisms</a:t>
            </a:r>
          </a:p>
          <a:p>
            <a:pPr>
              <a:lnSpc>
                <a:spcPct val="90000"/>
              </a:lnSpc>
            </a:pPr>
            <a:r>
              <a:rPr lang="en-US" sz="2400"/>
              <a:t>Human vs. Mouse  vs. Yeast </a:t>
            </a:r>
          </a:p>
          <a:p>
            <a:pPr lvl="1">
              <a:lnSpc>
                <a:spcPct val="90000"/>
              </a:lnSpc>
            </a:pPr>
            <a:r>
              <a:rPr lang="en-US" sz="2000"/>
              <a:t>Easier to do expts. on latter!</a:t>
            </a:r>
          </a:p>
          <a:p>
            <a:pPr lvl="1">
              <a:lnSpc>
                <a:spcPct val="90000"/>
              </a:lnSpc>
              <a:buFontTx/>
              <a:buNone/>
            </a:pPr>
            <a:r>
              <a:rPr lang="en-US" sz="1200"/>
              <a:t>(Section from NCBI Disease Genes Database Reproduced Below.)</a:t>
            </a:r>
            <a:r>
              <a:rPr lang="en-US" sz="2000"/>
              <a:t> </a:t>
            </a:r>
          </a:p>
        </p:txBody>
      </p:sp>
      <p:sp>
        <p:nvSpPr>
          <p:cNvPr id="146436" name="Text Box 4"/>
          <p:cNvSpPr txBox="1">
            <a:spLocks noChangeArrowheads="1"/>
          </p:cNvSpPr>
          <p:nvPr/>
        </p:nvSpPr>
        <p:spPr bwMode="auto">
          <a:xfrm>
            <a:off x="514350" y="2667000"/>
            <a:ext cx="9172575" cy="3589338"/>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sz="800" dirty="0">
                <a:latin typeface="Courier New" panose="02070309020205020404" pitchFamily="49" charset="0"/>
              </a:rPr>
              <a:t>Best Sequence Similarity Matches to Date Between </a:t>
            </a:r>
            <a:r>
              <a:rPr lang="en-US" sz="800" dirty="0" err="1">
                <a:latin typeface="Courier New" panose="02070309020205020404" pitchFamily="49" charset="0"/>
              </a:rPr>
              <a:t>Positionally</a:t>
            </a:r>
            <a:r>
              <a:rPr lang="en-US" sz="800" dirty="0">
                <a:latin typeface="Courier New" panose="02070309020205020404" pitchFamily="49" charset="0"/>
              </a:rPr>
              <a:t> Cloned</a:t>
            </a:r>
          </a:p>
          <a:p>
            <a:pPr eaLnBrk="0" hangingPunct="0"/>
            <a:r>
              <a:rPr lang="en-US" sz="800" dirty="0">
                <a:latin typeface="Courier New" panose="02070309020205020404" pitchFamily="49" charset="0"/>
              </a:rPr>
              <a:t>Human Genes and S. </a:t>
            </a:r>
            <a:r>
              <a:rPr lang="en-US" sz="800" dirty="0" err="1">
                <a:latin typeface="Courier New" panose="02070309020205020404" pitchFamily="49" charset="0"/>
              </a:rPr>
              <a:t>cerevisiae</a:t>
            </a:r>
            <a:r>
              <a:rPr lang="en-US" sz="800" dirty="0">
                <a:latin typeface="Courier New" panose="02070309020205020404" pitchFamily="49" charset="0"/>
              </a:rPr>
              <a:t> Proteins</a:t>
            </a:r>
          </a:p>
          <a:p>
            <a:pPr eaLnBrk="0" hangingPunct="0"/>
            <a:endParaRPr lang="en-US" sz="800" dirty="0">
              <a:latin typeface="Courier New" panose="02070309020205020404" pitchFamily="49" charset="0"/>
            </a:endParaRPr>
          </a:p>
          <a:p>
            <a:pPr eaLnBrk="0" hangingPunct="0"/>
            <a:r>
              <a:rPr lang="en-US" sz="800" dirty="0">
                <a:latin typeface="Courier New" panose="02070309020205020404" pitchFamily="49" charset="0"/>
              </a:rPr>
              <a:t>Human Disease                           MIM #   Human  </a:t>
            </a:r>
            <a:r>
              <a:rPr lang="en-US" sz="800" dirty="0" err="1">
                <a:latin typeface="Courier New" panose="02070309020205020404" pitchFamily="49" charset="0"/>
              </a:rPr>
              <a:t>GenBank</a:t>
            </a:r>
            <a:r>
              <a:rPr lang="en-US" sz="800" dirty="0">
                <a:latin typeface="Courier New" panose="02070309020205020404" pitchFamily="49" charset="0"/>
              </a:rPr>
              <a:t>    BLASTX    Yeast    </a:t>
            </a:r>
            <a:r>
              <a:rPr lang="en-US" sz="800" dirty="0" err="1">
                <a:latin typeface="Courier New" panose="02070309020205020404" pitchFamily="49" charset="0"/>
              </a:rPr>
              <a:t>GenBank</a:t>
            </a:r>
            <a:r>
              <a:rPr lang="en-US" sz="800" dirty="0">
                <a:latin typeface="Courier New" panose="02070309020205020404" pitchFamily="49" charset="0"/>
              </a:rPr>
              <a:t>    Yeast Gene   </a:t>
            </a:r>
          </a:p>
          <a:p>
            <a:pPr eaLnBrk="0" hangingPunct="0"/>
            <a:r>
              <a:rPr lang="en-US" sz="800" dirty="0">
                <a:latin typeface="Courier New" panose="02070309020205020404" pitchFamily="49" charset="0"/>
              </a:rPr>
              <a:t>                                                Gene   </a:t>
            </a:r>
            <a:r>
              <a:rPr lang="en-US" sz="800" dirty="0" err="1">
                <a:latin typeface="Courier New" panose="02070309020205020404" pitchFamily="49" charset="0"/>
              </a:rPr>
              <a:t>Acc</a:t>
            </a:r>
            <a:r>
              <a:rPr lang="en-US" sz="800" dirty="0">
                <a:latin typeface="Courier New" panose="02070309020205020404" pitchFamily="49" charset="0"/>
              </a:rPr>
              <a:t># for   P-value   Gene     </a:t>
            </a:r>
            <a:r>
              <a:rPr lang="en-US" sz="800" dirty="0" err="1">
                <a:latin typeface="Courier New" panose="02070309020205020404" pitchFamily="49" charset="0"/>
              </a:rPr>
              <a:t>Acc</a:t>
            </a:r>
            <a:r>
              <a:rPr lang="en-US" sz="800" dirty="0">
                <a:latin typeface="Courier New" panose="02070309020205020404" pitchFamily="49" charset="0"/>
              </a:rPr>
              <a:t># for   Description </a:t>
            </a:r>
          </a:p>
          <a:p>
            <a:pPr eaLnBrk="0" hangingPunct="0"/>
            <a:r>
              <a:rPr lang="en-US" sz="800" dirty="0">
                <a:latin typeface="Courier New" panose="02070309020205020404" pitchFamily="49" charset="0"/>
              </a:rPr>
              <a:t>                                                       Human </a:t>
            </a:r>
            <a:r>
              <a:rPr lang="en-US" sz="800" dirty="0" err="1">
                <a:latin typeface="Courier New" panose="02070309020205020404" pitchFamily="49" charset="0"/>
              </a:rPr>
              <a:t>cDNA</a:t>
            </a:r>
            <a:r>
              <a:rPr lang="en-US" sz="800" dirty="0">
                <a:latin typeface="Courier New" panose="02070309020205020404" pitchFamily="49" charset="0"/>
              </a:rPr>
              <a:t>                    Yeast </a:t>
            </a:r>
            <a:r>
              <a:rPr lang="en-US" sz="800" dirty="0" err="1">
                <a:latin typeface="Courier New" panose="02070309020205020404" pitchFamily="49" charset="0"/>
              </a:rPr>
              <a:t>cDNA</a:t>
            </a:r>
            <a:r>
              <a:rPr lang="en-US" sz="800" dirty="0">
                <a:latin typeface="Courier New" panose="02070309020205020404" pitchFamily="49" charset="0"/>
              </a:rPr>
              <a:t>  </a:t>
            </a:r>
          </a:p>
          <a:p>
            <a:pPr eaLnBrk="0" hangingPunct="0"/>
            <a:endParaRPr lang="en-US" sz="800" dirty="0">
              <a:latin typeface="Courier New" panose="02070309020205020404" pitchFamily="49" charset="0"/>
            </a:endParaRPr>
          </a:p>
          <a:p>
            <a:pPr eaLnBrk="0" hangingPunct="0"/>
            <a:r>
              <a:rPr lang="en-US" sz="800" dirty="0">
                <a:latin typeface="Courier New" panose="02070309020205020404" pitchFamily="49" charset="0"/>
              </a:rPr>
              <a:t>Hereditary Non-polyposis Colon Cancer   120436  MSH2   U03911     9.2e-261  MSH2     M84170     DNA repair protein</a:t>
            </a:r>
          </a:p>
          <a:p>
            <a:pPr eaLnBrk="0" hangingPunct="0"/>
            <a:r>
              <a:rPr lang="en-US" sz="800" dirty="0">
                <a:latin typeface="Courier New" panose="02070309020205020404" pitchFamily="49" charset="0"/>
              </a:rPr>
              <a:t>Hereditary Non-polyposis Colon Cancer   120436  MLH1   U07418     6.3e-196  MLH1     U07187     DNA repair protein</a:t>
            </a:r>
          </a:p>
          <a:p>
            <a:pPr eaLnBrk="0" hangingPunct="0"/>
            <a:r>
              <a:rPr lang="en-US" sz="800" dirty="0">
                <a:latin typeface="Courier New" panose="02070309020205020404" pitchFamily="49" charset="0"/>
              </a:rPr>
              <a:t>Cystic Fibrosis                         219700  CFTR   M28668     1.3e-167  YCF1     L35237     Metal resistance protein</a:t>
            </a:r>
          </a:p>
          <a:p>
            <a:pPr eaLnBrk="0" hangingPunct="0"/>
            <a:r>
              <a:rPr lang="en-US" sz="800" dirty="0">
                <a:latin typeface="Courier New" panose="02070309020205020404" pitchFamily="49" charset="0"/>
              </a:rPr>
              <a:t>Wilson Disease                          277900  WND    U11700     5.9e-161  CCC2     L36317     Probable copper transporter</a:t>
            </a:r>
          </a:p>
          <a:p>
            <a:pPr eaLnBrk="0" hangingPunct="0"/>
            <a:r>
              <a:rPr lang="en-US" sz="800" dirty="0">
                <a:latin typeface="Courier New" panose="02070309020205020404" pitchFamily="49" charset="0"/>
              </a:rPr>
              <a:t>Glycerol Kinase Deficiency              307030  GK     L13943     1.8e-129  GUT1     X69049     Glycerol kinase</a:t>
            </a:r>
          </a:p>
          <a:p>
            <a:pPr eaLnBrk="0" hangingPunct="0"/>
            <a:r>
              <a:rPr lang="en-US" sz="800" dirty="0">
                <a:latin typeface="Courier New" panose="02070309020205020404" pitchFamily="49" charset="0"/>
              </a:rPr>
              <a:t>Bloom Syndrome                          210900  BLM    U39817     2.6e-119  SGS1     U22341     Helicase</a:t>
            </a:r>
          </a:p>
          <a:p>
            <a:pPr eaLnBrk="0" hangingPunct="0"/>
            <a:r>
              <a:rPr lang="en-US" sz="800" dirty="0" err="1">
                <a:latin typeface="Courier New" panose="02070309020205020404" pitchFamily="49" charset="0"/>
              </a:rPr>
              <a:t>Adrenoleukodystrophy</a:t>
            </a:r>
            <a:r>
              <a:rPr lang="en-US" sz="800" dirty="0">
                <a:latin typeface="Courier New" panose="02070309020205020404" pitchFamily="49" charset="0"/>
              </a:rPr>
              <a:t>, X-linked          300100  ALD    Z21876     3.4e-107  PXA1     U17065     </a:t>
            </a:r>
            <a:r>
              <a:rPr lang="en-US" sz="800" dirty="0" err="1">
                <a:latin typeface="Courier New" panose="02070309020205020404" pitchFamily="49" charset="0"/>
              </a:rPr>
              <a:t>Peroxisomal</a:t>
            </a:r>
            <a:r>
              <a:rPr lang="en-US" sz="800" dirty="0">
                <a:latin typeface="Courier New" panose="02070309020205020404" pitchFamily="49" charset="0"/>
              </a:rPr>
              <a:t> ABC transporter</a:t>
            </a:r>
          </a:p>
          <a:p>
            <a:pPr eaLnBrk="0" hangingPunct="0"/>
            <a:r>
              <a:rPr lang="en-US" sz="800" dirty="0">
                <a:latin typeface="Courier New" panose="02070309020205020404" pitchFamily="49" charset="0"/>
              </a:rPr>
              <a:t>Ataxia Telangiectasia                   208900  ATM    U26455     2.8e-90   TEL1     U31331     PI3 kinase</a:t>
            </a:r>
          </a:p>
          <a:p>
            <a:pPr eaLnBrk="0" hangingPunct="0"/>
            <a:r>
              <a:rPr lang="en-US" sz="800" dirty="0">
                <a:latin typeface="Courier New" panose="02070309020205020404" pitchFamily="49" charset="0"/>
              </a:rPr>
              <a:t>Amyotrophic Lateral Sclerosis           105400  SOD1   K00065     2.0e-58   SOD1     J03279     Superoxide dismutase</a:t>
            </a:r>
          </a:p>
          <a:p>
            <a:pPr eaLnBrk="0" hangingPunct="0"/>
            <a:r>
              <a:rPr lang="en-US" sz="800" dirty="0" err="1">
                <a:latin typeface="Courier New" panose="02070309020205020404" pitchFamily="49" charset="0"/>
              </a:rPr>
              <a:t>Myotonic</a:t>
            </a:r>
            <a:r>
              <a:rPr lang="en-US" sz="800" dirty="0">
                <a:latin typeface="Courier New" panose="02070309020205020404" pitchFamily="49" charset="0"/>
              </a:rPr>
              <a:t> Dystrophy                      160900  DM     L19268     5.4e-53   YPK1     M21307     Serine/threonine protein kinase</a:t>
            </a:r>
          </a:p>
          <a:p>
            <a:pPr eaLnBrk="0" hangingPunct="0"/>
            <a:r>
              <a:rPr lang="en-US" sz="800" dirty="0">
                <a:latin typeface="Courier New" panose="02070309020205020404" pitchFamily="49" charset="0"/>
              </a:rPr>
              <a:t>Lowe Syndrome                           309000  OCRL   M88162     1.2e-47   YIL002C  Z47047     Putative IPP-5-phosphatase</a:t>
            </a:r>
          </a:p>
          <a:p>
            <a:pPr eaLnBrk="0" hangingPunct="0"/>
            <a:r>
              <a:rPr lang="en-US" sz="800" dirty="0">
                <a:latin typeface="Courier New" panose="02070309020205020404" pitchFamily="49" charset="0"/>
              </a:rPr>
              <a:t>Neurofibromatosis, Type 1               162200  NF1    M89914     2.0e-46   IRA2     M33779     Inhibitory regulator protein</a:t>
            </a:r>
          </a:p>
          <a:p>
            <a:pPr eaLnBrk="0" hangingPunct="0"/>
            <a:endParaRPr lang="en-US" sz="800" dirty="0">
              <a:latin typeface="Courier New" panose="02070309020205020404" pitchFamily="49" charset="0"/>
            </a:endParaRPr>
          </a:p>
          <a:p>
            <a:pPr eaLnBrk="0" hangingPunct="0"/>
            <a:r>
              <a:rPr lang="en-US" sz="800" dirty="0" err="1">
                <a:latin typeface="Courier New" panose="02070309020205020404" pitchFamily="49" charset="0"/>
              </a:rPr>
              <a:t>Choroideremia</a:t>
            </a:r>
            <a:r>
              <a:rPr lang="en-US" sz="800" dirty="0">
                <a:latin typeface="Courier New" panose="02070309020205020404" pitchFamily="49" charset="0"/>
              </a:rPr>
              <a:t>                           303100  CHM    X78121     2.1e-42   GDI1     S69371     GDP dissociation inhibitor</a:t>
            </a:r>
          </a:p>
          <a:p>
            <a:pPr eaLnBrk="0" hangingPunct="0"/>
            <a:r>
              <a:rPr lang="en-US" sz="800" dirty="0">
                <a:latin typeface="Courier New" panose="02070309020205020404" pitchFamily="49" charset="0"/>
              </a:rPr>
              <a:t>Diastrophic Dysplasia                   222600  DTD    U14528     7.2e-38   SUL1     X82013     Sulfate </a:t>
            </a:r>
            <a:r>
              <a:rPr lang="en-US" sz="800" dirty="0" err="1">
                <a:latin typeface="Courier New" panose="02070309020205020404" pitchFamily="49" charset="0"/>
              </a:rPr>
              <a:t>permease</a:t>
            </a:r>
            <a:endParaRPr lang="en-US" sz="800" dirty="0">
              <a:latin typeface="Courier New" panose="02070309020205020404" pitchFamily="49" charset="0"/>
            </a:endParaRPr>
          </a:p>
          <a:p>
            <a:pPr eaLnBrk="0" hangingPunct="0"/>
            <a:r>
              <a:rPr lang="en-US" sz="800" dirty="0" err="1">
                <a:latin typeface="Courier New" panose="02070309020205020404" pitchFamily="49" charset="0"/>
              </a:rPr>
              <a:t>Lissencephaly</a:t>
            </a:r>
            <a:r>
              <a:rPr lang="en-US" sz="800" dirty="0">
                <a:latin typeface="Courier New" panose="02070309020205020404" pitchFamily="49" charset="0"/>
              </a:rPr>
              <a:t>                           247200  LIS1   L13385     1.7e-34   MET30    L26505     Methionine metabolism</a:t>
            </a:r>
          </a:p>
          <a:p>
            <a:pPr eaLnBrk="0" hangingPunct="0"/>
            <a:r>
              <a:rPr lang="en-US" sz="800" dirty="0">
                <a:latin typeface="Courier New" panose="02070309020205020404" pitchFamily="49" charset="0"/>
              </a:rPr>
              <a:t>Thomsen Disease                         160800  CLC1   Z25884     7.9e-31   GEF1     Z23117     Voltage-gated chloride channel</a:t>
            </a:r>
          </a:p>
          <a:p>
            <a:pPr eaLnBrk="0" hangingPunct="0"/>
            <a:r>
              <a:rPr lang="en-US" sz="800" dirty="0" err="1">
                <a:latin typeface="Courier New" panose="02070309020205020404" pitchFamily="49" charset="0"/>
              </a:rPr>
              <a:t>Wilms</a:t>
            </a:r>
            <a:r>
              <a:rPr lang="en-US" sz="800" dirty="0">
                <a:latin typeface="Courier New" panose="02070309020205020404" pitchFamily="49" charset="0"/>
              </a:rPr>
              <a:t> Tumor                             194070  WT1    X51630     1.1e-20   FZF1     X67787     </a:t>
            </a:r>
            <a:r>
              <a:rPr lang="en-US" sz="800" dirty="0" err="1">
                <a:latin typeface="Courier New" panose="02070309020205020404" pitchFamily="49" charset="0"/>
              </a:rPr>
              <a:t>Sulphite</a:t>
            </a:r>
            <a:r>
              <a:rPr lang="en-US" sz="800" dirty="0">
                <a:latin typeface="Courier New" panose="02070309020205020404" pitchFamily="49" charset="0"/>
              </a:rPr>
              <a:t> resistance protein</a:t>
            </a:r>
          </a:p>
          <a:p>
            <a:pPr eaLnBrk="0" hangingPunct="0"/>
            <a:r>
              <a:rPr lang="en-US" sz="800" dirty="0" err="1">
                <a:latin typeface="Courier New" panose="02070309020205020404" pitchFamily="49" charset="0"/>
              </a:rPr>
              <a:t>Achondroplasia</a:t>
            </a:r>
            <a:r>
              <a:rPr lang="en-US" sz="800" dirty="0">
                <a:latin typeface="Courier New" panose="02070309020205020404" pitchFamily="49" charset="0"/>
              </a:rPr>
              <a:t>                          100800  FGFR3  M58051     2.0e-18   IPL1     U07163     Serine/</a:t>
            </a:r>
            <a:r>
              <a:rPr lang="en-US" sz="800" dirty="0" err="1">
                <a:latin typeface="Courier New" panose="02070309020205020404" pitchFamily="49" charset="0"/>
              </a:rPr>
              <a:t>threoinine</a:t>
            </a:r>
            <a:r>
              <a:rPr lang="en-US" sz="800" dirty="0">
                <a:latin typeface="Courier New" panose="02070309020205020404" pitchFamily="49" charset="0"/>
              </a:rPr>
              <a:t> protein kinase</a:t>
            </a:r>
          </a:p>
          <a:p>
            <a:pPr eaLnBrk="0" hangingPunct="0"/>
            <a:r>
              <a:rPr lang="en-US" sz="800" dirty="0" err="1">
                <a:latin typeface="Courier New" panose="02070309020205020404" pitchFamily="49" charset="0"/>
              </a:rPr>
              <a:t>Menkes</a:t>
            </a:r>
            <a:r>
              <a:rPr lang="en-US" sz="800" dirty="0">
                <a:latin typeface="Courier New" panose="02070309020205020404" pitchFamily="49" charset="0"/>
              </a:rPr>
              <a:t> Syndrome                         309400  MNK    X69208     2.1e-17   CCC2     L36317     Probable copper transporter</a:t>
            </a:r>
          </a:p>
          <a:p>
            <a:pPr>
              <a:spcBef>
                <a:spcPct val="50000"/>
              </a:spcBef>
            </a:pPr>
            <a:endParaRPr lang="en-US" sz="800" dirty="0">
              <a:latin typeface="Courier New" panose="02070309020205020404" pitchFamily="49" charset="0"/>
            </a:endParaRPr>
          </a:p>
        </p:txBody>
      </p:sp>
      <p:sp>
        <p:nvSpPr>
          <p:cNvPr id="146437" name="Oval 5"/>
          <p:cNvSpPr>
            <a:spLocks noChangeArrowheads="1"/>
          </p:cNvSpPr>
          <p:nvPr/>
        </p:nvSpPr>
        <p:spPr bwMode="auto">
          <a:xfrm>
            <a:off x="3600450" y="2971800"/>
            <a:ext cx="857250" cy="666750"/>
          </a:xfrm>
          <a:prstGeom prst="ellipse">
            <a:avLst/>
          </a:prstGeom>
          <a:noFill/>
          <a:ln w="38100">
            <a:solidFill>
              <a:schemeClr val="folHlink"/>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6438" name="Oval 6"/>
          <p:cNvSpPr>
            <a:spLocks noChangeArrowheads="1"/>
          </p:cNvSpPr>
          <p:nvPr/>
        </p:nvSpPr>
        <p:spPr bwMode="auto">
          <a:xfrm>
            <a:off x="5400675" y="2971800"/>
            <a:ext cx="857250" cy="666750"/>
          </a:xfrm>
          <a:prstGeom prst="ellipse">
            <a:avLst/>
          </a:prstGeom>
          <a:noFill/>
          <a:ln w="38100">
            <a:solidFill>
              <a:schemeClr val="folHlink"/>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cxnSp>
        <p:nvCxnSpPr>
          <p:cNvPr id="146439" name="AutoShape 7"/>
          <p:cNvCxnSpPr>
            <a:cxnSpLocks noChangeShapeType="1"/>
            <a:stCxn id="146437" idx="4"/>
            <a:endCxn id="146438" idx="4"/>
          </p:cNvCxnSpPr>
          <p:nvPr/>
        </p:nvCxnSpPr>
        <p:spPr bwMode="auto">
          <a:xfrm rot="16200000" flipH="1">
            <a:off x="4928394" y="2758282"/>
            <a:ext cx="1588" cy="1800225"/>
          </a:xfrm>
          <a:prstGeom prst="curvedConnector3">
            <a:avLst>
              <a:gd name="adj1" fmla="val 50299995"/>
            </a:avLst>
          </a:prstGeom>
          <a:noFill/>
          <a:ln w="28575">
            <a:solidFill>
              <a:schemeClr val="folHlink"/>
            </a:solidFill>
            <a:round/>
            <a:headEnd type="triangle" w="lg" len="lg"/>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Rectangle 7"/>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91954135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ChangeArrowheads="1"/>
          </p:cNvSpPr>
          <p:nvPr>
            <p:ph type="title"/>
          </p:nvPr>
        </p:nvSpPr>
        <p:spPr>
          <a:xfrm>
            <a:off x="514350" y="177800"/>
            <a:ext cx="9772650" cy="1117600"/>
          </a:xfrm>
        </p:spPr>
        <p:txBody>
          <a:bodyPr/>
          <a:lstStyle/>
          <a:p>
            <a:r>
              <a:rPr lang="en-US" dirty="0" smtClean="0"/>
              <a:t>Overall </a:t>
            </a:r>
            <a:r>
              <a:rPr lang="en-US" dirty="0"/>
              <a:t>Genome Characterization</a:t>
            </a:r>
          </a:p>
        </p:txBody>
      </p:sp>
      <p:sp>
        <p:nvSpPr>
          <p:cNvPr id="150531" name="Rectangle 3"/>
          <p:cNvSpPr>
            <a:spLocks noGrp="1" noChangeArrowheads="1"/>
          </p:cNvSpPr>
          <p:nvPr>
            <p:ph type="body" idx="1"/>
          </p:nvPr>
        </p:nvSpPr>
        <p:spPr>
          <a:xfrm>
            <a:off x="771525" y="1447800"/>
            <a:ext cx="5057775" cy="4953000"/>
          </a:xfrm>
        </p:spPr>
        <p:txBody>
          <a:bodyPr/>
          <a:lstStyle/>
          <a:p>
            <a:pPr>
              <a:lnSpc>
                <a:spcPct val="90000"/>
              </a:lnSpc>
            </a:pPr>
            <a:r>
              <a:rPr lang="en-US" sz="2800"/>
              <a:t>Overall Occurrence of a certain feature in the genome </a:t>
            </a:r>
          </a:p>
          <a:p>
            <a:pPr lvl="1">
              <a:lnSpc>
                <a:spcPct val="90000"/>
              </a:lnSpc>
            </a:pPr>
            <a:r>
              <a:rPr lang="en-US" sz="2400"/>
              <a:t>e.g. how many kinases in Yeast</a:t>
            </a:r>
          </a:p>
          <a:p>
            <a:pPr>
              <a:lnSpc>
                <a:spcPct val="90000"/>
              </a:lnSpc>
            </a:pPr>
            <a:r>
              <a:rPr lang="en-US" sz="2800"/>
              <a:t>Compare Organisms and Tissues</a:t>
            </a:r>
          </a:p>
          <a:p>
            <a:pPr lvl="1">
              <a:lnSpc>
                <a:spcPct val="90000"/>
              </a:lnSpc>
            </a:pPr>
            <a:r>
              <a:rPr lang="en-US" sz="2400"/>
              <a:t>Expression levels in Cancerous vs Normal Tissues</a:t>
            </a:r>
          </a:p>
          <a:p>
            <a:pPr>
              <a:lnSpc>
                <a:spcPct val="90000"/>
              </a:lnSpc>
            </a:pPr>
            <a:r>
              <a:rPr lang="en-US" sz="2800"/>
              <a:t>Relationships within a specie and across species</a:t>
            </a:r>
          </a:p>
        </p:txBody>
      </p:sp>
      <p:pic>
        <p:nvPicPr>
          <p:cNvPr id="150532" name="Picture 4" descr="NY_func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86475" y="1404938"/>
            <a:ext cx="2828925" cy="1414462"/>
          </a:xfrm>
          <a:prstGeom prst="rect">
            <a:avLst/>
          </a:prstGeom>
          <a:noFill/>
          <a:extLst>
            <a:ext uri="{909E8E84-426E-40DD-AFC4-6F175D3DCCD1}">
              <a14:hiddenFill xmlns:a14="http://schemas.microsoft.com/office/drawing/2010/main">
                <a:solidFill>
                  <a:srgbClr val="FFFFFF"/>
                </a:solidFill>
              </a14:hiddenFill>
            </a:ext>
          </a:extLst>
        </p:spPr>
      </p:pic>
      <p:pic>
        <p:nvPicPr>
          <p:cNvPr id="150533" name="Picture 5" descr="CY97a_functi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86475" y="2776538"/>
            <a:ext cx="2828925" cy="1414462"/>
          </a:xfrm>
          <a:prstGeom prst="rect">
            <a:avLst/>
          </a:prstGeom>
          <a:noFill/>
          <a:extLst>
            <a:ext uri="{909E8E84-426E-40DD-AFC4-6F175D3DCCD1}">
              <a14:hiddenFill xmlns:a14="http://schemas.microsoft.com/office/drawing/2010/main">
                <a:solidFill>
                  <a:srgbClr val="FFFFFF"/>
                </a:solidFill>
              </a14:hiddenFill>
            </a:ext>
          </a:extLst>
        </p:spPr>
      </p:pic>
      <p:pic>
        <p:nvPicPr>
          <p:cNvPr id="150534"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72200" y="4267201"/>
            <a:ext cx="2657475" cy="2060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77351197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685800" y="304800"/>
            <a:ext cx="8743950" cy="1143000"/>
          </a:xfrm>
        </p:spPr>
        <p:txBody>
          <a:bodyPr>
            <a:noAutofit/>
          </a:bodyPr>
          <a:lstStyle/>
          <a:p>
            <a:r>
              <a:rPr lang="en-US" sz="3600" dirty="0"/>
              <a:t>Web resources for microbial genomes</a:t>
            </a:r>
          </a:p>
        </p:txBody>
      </p:sp>
      <p:sp>
        <p:nvSpPr>
          <p:cNvPr id="11267" name="Rectangle 3"/>
          <p:cNvSpPr>
            <a:spLocks noGrp="1" noChangeArrowheads="1"/>
          </p:cNvSpPr>
          <p:nvPr>
            <p:ph type="body" idx="1"/>
          </p:nvPr>
        </p:nvSpPr>
        <p:spPr>
          <a:xfrm>
            <a:off x="771525" y="1752600"/>
            <a:ext cx="8743950" cy="4114800"/>
          </a:xfrm>
        </p:spPr>
        <p:txBody>
          <a:bodyPr>
            <a:normAutofit/>
          </a:bodyPr>
          <a:lstStyle/>
          <a:p>
            <a:pPr>
              <a:lnSpc>
                <a:spcPct val="90000"/>
              </a:lnSpc>
            </a:pPr>
            <a:r>
              <a:rPr lang="en-US" sz="2800" dirty="0"/>
              <a:t>TIGR CMR</a:t>
            </a:r>
          </a:p>
          <a:p>
            <a:pPr lvl="1">
              <a:lnSpc>
                <a:spcPct val="90000"/>
              </a:lnSpc>
            </a:pPr>
            <a:r>
              <a:rPr lang="en-US" sz="2800" dirty="0"/>
              <a:t>Comprehensive microbial resource</a:t>
            </a:r>
          </a:p>
          <a:p>
            <a:pPr>
              <a:lnSpc>
                <a:spcPct val="90000"/>
              </a:lnSpc>
            </a:pPr>
            <a:r>
              <a:rPr lang="en-US" sz="2800" dirty="0"/>
              <a:t>NCBI </a:t>
            </a:r>
          </a:p>
          <a:p>
            <a:pPr lvl="1">
              <a:lnSpc>
                <a:spcPct val="90000"/>
              </a:lnSpc>
            </a:pPr>
            <a:r>
              <a:rPr lang="en-US" sz="2800" dirty="0"/>
              <a:t>BLAST</a:t>
            </a:r>
          </a:p>
          <a:p>
            <a:pPr lvl="1">
              <a:lnSpc>
                <a:spcPct val="90000"/>
              </a:lnSpc>
            </a:pPr>
            <a:r>
              <a:rPr lang="en-US" sz="2800" dirty="0"/>
              <a:t>Individual species sites</a:t>
            </a:r>
          </a:p>
          <a:p>
            <a:pPr>
              <a:lnSpc>
                <a:spcPct val="90000"/>
              </a:lnSpc>
            </a:pPr>
            <a:r>
              <a:rPr lang="en-US" sz="2800" dirty="0"/>
              <a:t>Custom websites</a:t>
            </a:r>
          </a:p>
          <a:p>
            <a:pPr lvl="1">
              <a:lnSpc>
                <a:spcPct val="90000"/>
              </a:lnSpc>
            </a:pPr>
            <a:r>
              <a:rPr lang="en-US" sz="2800" dirty="0" err="1"/>
              <a:t>Subtilist</a:t>
            </a:r>
            <a:endParaRPr lang="en-US" sz="2800" dirty="0"/>
          </a:p>
          <a:p>
            <a:pPr lvl="1">
              <a:lnSpc>
                <a:spcPct val="90000"/>
              </a:lnSpc>
            </a:pPr>
            <a:r>
              <a:rPr lang="en-US" sz="2800" dirty="0" err="1"/>
              <a:t>Colibri</a:t>
            </a:r>
            <a:endParaRPr lang="en-US" sz="2800" dirty="0"/>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54756264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xfrm>
            <a:off x="771525" y="228600"/>
            <a:ext cx="8743950" cy="1143000"/>
          </a:xfrm>
        </p:spPr>
        <p:txBody>
          <a:bodyPr>
            <a:normAutofit/>
          </a:bodyPr>
          <a:lstStyle/>
          <a:p>
            <a:r>
              <a:rPr lang="en-US" sz="3600" dirty="0" smtClean="0"/>
              <a:t>Microbial Genomes Applications</a:t>
            </a:r>
            <a:endParaRPr lang="en-US" sz="3600" dirty="0"/>
          </a:p>
        </p:txBody>
      </p:sp>
      <p:sp>
        <p:nvSpPr>
          <p:cNvPr id="2051" name="Rectangle 3"/>
          <p:cNvSpPr>
            <a:spLocks noGrp="1" noChangeArrowheads="1"/>
          </p:cNvSpPr>
          <p:nvPr>
            <p:ph type="body" idx="1"/>
          </p:nvPr>
        </p:nvSpPr>
        <p:spPr>
          <a:xfrm>
            <a:off x="771525" y="1447800"/>
            <a:ext cx="8743950" cy="4114800"/>
          </a:xfrm>
        </p:spPr>
        <p:txBody>
          <a:bodyPr>
            <a:normAutofit/>
          </a:bodyPr>
          <a:lstStyle/>
          <a:p>
            <a:r>
              <a:rPr lang="en-US" sz="2800" dirty="0"/>
              <a:t>Features</a:t>
            </a:r>
          </a:p>
          <a:p>
            <a:r>
              <a:rPr lang="en-US" sz="2800" dirty="0"/>
              <a:t>Analysis</a:t>
            </a:r>
          </a:p>
          <a:p>
            <a:r>
              <a:rPr lang="en-US" sz="2800" dirty="0"/>
              <a:t>Role of high-throughput sequencing</a:t>
            </a:r>
          </a:p>
          <a:p>
            <a:r>
              <a:rPr lang="en-US" sz="2800" dirty="0"/>
              <a:t>Yeast - the eukaryotic model microbe</a:t>
            </a:r>
          </a:p>
          <a:p>
            <a:r>
              <a:rPr lang="en-US" sz="2800" dirty="0"/>
              <a:t>Databases</a:t>
            </a:r>
          </a:p>
          <a:p>
            <a:pPr lvl="1"/>
            <a:r>
              <a:rPr lang="en-US" sz="2800" dirty="0"/>
              <a:t>TIGR CMR</a:t>
            </a:r>
          </a:p>
          <a:p>
            <a:pPr lvl="1"/>
            <a:r>
              <a:rPr lang="en-US" sz="2800" dirty="0"/>
              <a:t>NCBI Microbial Genomes</a:t>
            </a:r>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23812156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0" y="609600"/>
            <a:ext cx="7115175" cy="1143000"/>
          </a:xfrm>
        </p:spPr>
        <p:txBody>
          <a:bodyPr>
            <a:normAutofit/>
          </a:bodyPr>
          <a:lstStyle/>
          <a:p>
            <a:r>
              <a:rPr lang="en-US"/>
              <a:t>Genome of the week - </a:t>
            </a:r>
            <a:r>
              <a:rPr lang="en-US" i="1"/>
              <a:t>Haemophilus influenzae</a:t>
            </a:r>
            <a:endParaRPr lang="en-US"/>
          </a:p>
        </p:txBody>
      </p:sp>
      <p:sp>
        <p:nvSpPr>
          <p:cNvPr id="9219" name="Rectangle 3"/>
          <p:cNvSpPr>
            <a:spLocks noGrp="1" noChangeArrowheads="1"/>
          </p:cNvSpPr>
          <p:nvPr>
            <p:ph type="body" idx="1"/>
          </p:nvPr>
        </p:nvSpPr>
        <p:spPr>
          <a:xfrm>
            <a:off x="600075" y="2362200"/>
            <a:ext cx="8743950" cy="3352800"/>
          </a:xfrm>
        </p:spPr>
        <p:txBody>
          <a:bodyPr/>
          <a:lstStyle/>
          <a:p>
            <a:pPr>
              <a:lnSpc>
                <a:spcPct val="90000"/>
              </a:lnSpc>
            </a:pPr>
            <a:r>
              <a:rPr lang="en-US" sz="2800"/>
              <a:t>First microbial genome completely sequenced.</a:t>
            </a:r>
            <a:endParaRPr lang="en-US" sz="2400"/>
          </a:p>
          <a:p>
            <a:pPr lvl="1">
              <a:lnSpc>
                <a:spcPct val="90000"/>
              </a:lnSpc>
            </a:pPr>
            <a:r>
              <a:rPr lang="en-US" sz="2000"/>
              <a:t>Took one year from start to finish.  (</a:t>
            </a:r>
            <a:r>
              <a:rPr lang="en-US" sz="2000" i="1"/>
              <a:t>E. coli</a:t>
            </a:r>
            <a:r>
              <a:rPr lang="en-US" sz="2000"/>
              <a:t> took 7).</a:t>
            </a:r>
          </a:p>
          <a:p>
            <a:pPr>
              <a:lnSpc>
                <a:spcPct val="90000"/>
              </a:lnSpc>
            </a:pPr>
            <a:r>
              <a:rPr lang="en-US" sz="2800"/>
              <a:t>First genome sequenced by the shotgun method.</a:t>
            </a:r>
          </a:p>
          <a:p>
            <a:pPr>
              <a:lnSpc>
                <a:spcPct val="90000"/>
              </a:lnSpc>
            </a:pPr>
            <a:r>
              <a:rPr lang="en-US" sz="2800"/>
              <a:t>Sequenced at TIGR in 1995.</a:t>
            </a:r>
          </a:p>
          <a:p>
            <a:pPr>
              <a:lnSpc>
                <a:spcPct val="90000"/>
              </a:lnSpc>
            </a:pPr>
            <a:r>
              <a:rPr lang="en-US" sz="2800"/>
              <a:t>Started 4 years after the </a:t>
            </a:r>
            <a:r>
              <a:rPr lang="en-US" sz="2800" i="1"/>
              <a:t>E. coli</a:t>
            </a:r>
            <a:r>
              <a:rPr lang="en-US" sz="2800"/>
              <a:t> genome sequencing project and finished 2 years ahead!</a:t>
            </a:r>
          </a:p>
          <a:p>
            <a:pPr>
              <a:lnSpc>
                <a:spcPct val="90000"/>
              </a:lnSpc>
            </a:pPr>
            <a:endParaRPr lang="en-US" sz="2400"/>
          </a:p>
          <a:p>
            <a:pPr>
              <a:lnSpc>
                <a:spcPct val="90000"/>
              </a:lnSpc>
            </a:pPr>
            <a:endParaRPr lang="en-US" sz="2400"/>
          </a:p>
          <a:p>
            <a:pPr>
              <a:lnSpc>
                <a:spcPct val="90000"/>
              </a:lnSpc>
            </a:pPr>
            <a:endParaRPr lang="en-US" sz="2400"/>
          </a:p>
        </p:txBody>
      </p:sp>
      <p:pic>
        <p:nvPicPr>
          <p:cNvPr id="922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15175" y="457200"/>
            <a:ext cx="2614613" cy="166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6024228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3"/>
          <p:cNvSpPr>
            <a:spLocks noChangeArrowheads="1"/>
          </p:cNvSpPr>
          <p:nvPr/>
        </p:nvSpPr>
        <p:spPr bwMode="auto">
          <a:xfrm>
            <a:off x="771525" y="609600"/>
            <a:ext cx="874395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1" hangingPunct="1"/>
            <a:r>
              <a:rPr lang="en-US" sz="4400" i="1">
                <a:solidFill>
                  <a:schemeClr val="tx2"/>
                </a:solidFill>
              </a:rPr>
              <a:t>E. coli</a:t>
            </a:r>
            <a:r>
              <a:rPr lang="en-US" sz="4400">
                <a:solidFill>
                  <a:schemeClr val="tx2"/>
                </a:solidFill>
              </a:rPr>
              <a:t> nucleoid</a:t>
            </a:r>
          </a:p>
        </p:txBody>
      </p:sp>
      <p:pic>
        <p:nvPicPr>
          <p:cNvPr id="307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3125" y="1828801"/>
            <a:ext cx="6000750" cy="4411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66692516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771525" y="609600"/>
            <a:ext cx="9086850" cy="1143000"/>
          </a:xfrm>
        </p:spPr>
        <p:txBody>
          <a:bodyPr>
            <a:normAutofit/>
          </a:bodyPr>
          <a:lstStyle/>
          <a:p>
            <a:r>
              <a:rPr lang="en-US" sz="4000"/>
              <a:t>Microbial Genome - old view (</a:t>
            </a:r>
            <a:r>
              <a:rPr lang="en-US" sz="4000" i="1"/>
              <a:t>E. coli</a:t>
            </a:r>
            <a:r>
              <a:rPr lang="en-US" sz="4000"/>
              <a:t>)</a:t>
            </a:r>
            <a:endParaRPr lang="en-US"/>
          </a:p>
        </p:txBody>
      </p:sp>
      <p:sp>
        <p:nvSpPr>
          <p:cNvPr id="12291" name="Rectangle 3"/>
          <p:cNvSpPr>
            <a:spLocks noGrp="1" noChangeArrowheads="1"/>
          </p:cNvSpPr>
          <p:nvPr>
            <p:ph type="body" idx="1"/>
          </p:nvPr>
        </p:nvSpPr>
        <p:spPr/>
        <p:txBody>
          <a:bodyPr>
            <a:normAutofit/>
          </a:bodyPr>
          <a:lstStyle/>
          <a:p>
            <a:r>
              <a:rPr lang="en-US" sz="2800" dirty="0"/>
              <a:t>Single chromosome.</a:t>
            </a:r>
          </a:p>
          <a:p>
            <a:r>
              <a:rPr lang="en-US" sz="2800" dirty="0"/>
              <a:t>Circular.</a:t>
            </a:r>
          </a:p>
          <a:p>
            <a:r>
              <a:rPr lang="en-US" sz="2800" dirty="0"/>
              <a:t>Replication initiates from a single fixed origin.</a:t>
            </a:r>
          </a:p>
          <a:p>
            <a:r>
              <a:rPr lang="en-US" sz="2800" dirty="0"/>
              <a:t>Little or no horizontal gene transfer.</a:t>
            </a:r>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66995841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771525" y="609600"/>
            <a:ext cx="9086850" cy="1143000"/>
          </a:xfrm>
        </p:spPr>
        <p:txBody>
          <a:bodyPr/>
          <a:lstStyle/>
          <a:p>
            <a:r>
              <a:rPr lang="en-US" sz="4000"/>
              <a:t>Microbial Genome - new view</a:t>
            </a:r>
          </a:p>
        </p:txBody>
      </p:sp>
      <p:sp>
        <p:nvSpPr>
          <p:cNvPr id="13315" name="Rectangle 3"/>
          <p:cNvSpPr>
            <a:spLocks noGrp="1" noChangeArrowheads="1"/>
          </p:cNvSpPr>
          <p:nvPr>
            <p:ph type="body" idx="1"/>
          </p:nvPr>
        </p:nvSpPr>
        <p:spPr>
          <a:xfrm>
            <a:off x="1028700" y="1828800"/>
            <a:ext cx="8743950" cy="4114800"/>
          </a:xfrm>
        </p:spPr>
        <p:txBody>
          <a:bodyPr>
            <a:normAutofit/>
          </a:bodyPr>
          <a:lstStyle/>
          <a:p>
            <a:r>
              <a:rPr lang="en-US" sz="2800" dirty="0"/>
              <a:t>Bacteria can contain more than one chromosome.</a:t>
            </a:r>
          </a:p>
          <a:p>
            <a:r>
              <a:rPr lang="en-US" sz="2800" dirty="0"/>
              <a:t>Bacterial chromosomes can be linear.</a:t>
            </a:r>
          </a:p>
          <a:p>
            <a:r>
              <a:rPr lang="en-US" sz="2800" dirty="0"/>
              <a:t>Horizontal gene transfer is common!</a:t>
            </a:r>
          </a:p>
          <a:p>
            <a:endParaRPr lang="en-US" sz="2800" dirty="0"/>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54412096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descr="splash_circle_514.gif                                          0002303BMacintosh HD                   B74677A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60862" y="1538786"/>
            <a:ext cx="5419866" cy="4817659"/>
          </a:xfrm>
          <a:prstGeom prst="rect">
            <a:avLst/>
          </a:prstGeom>
          <a:noFill/>
          <a:extLst>
            <a:ext uri="{909E8E84-426E-40DD-AFC4-6F175D3DCCD1}">
              <a14:hiddenFill xmlns:a14="http://schemas.microsoft.com/office/drawing/2010/main">
                <a:solidFill>
                  <a:srgbClr val="FFFFFF"/>
                </a:solidFill>
              </a14:hiddenFill>
            </a:ext>
          </a:extLst>
        </p:spPr>
      </p:pic>
      <p:sp>
        <p:nvSpPr>
          <p:cNvPr id="4101" name="Rectangle 5"/>
          <p:cNvSpPr>
            <a:spLocks noGrp="1" noChangeArrowheads="1"/>
          </p:cNvSpPr>
          <p:nvPr>
            <p:ph type="title"/>
          </p:nvPr>
        </p:nvSpPr>
        <p:spPr>
          <a:xfrm>
            <a:off x="0" y="381000"/>
            <a:ext cx="8143875" cy="1143000"/>
          </a:xfrm>
        </p:spPr>
        <p:txBody>
          <a:bodyPr>
            <a:normAutofit/>
          </a:bodyPr>
          <a:lstStyle/>
          <a:p>
            <a:r>
              <a:rPr lang="en-US" sz="4000"/>
              <a:t>Features of microbial genomes</a:t>
            </a:r>
            <a:endParaRPr lang="en-US"/>
          </a:p>
        </p:txBody>
      </p:sp>
      <p:sp>
        <p:nvSpPr>
          <p:cNvPr id="4102" name="Rectangle 6"/>
          <p:cNvSpPr>
            <a:spLocks noGrp="1" noChangeArrowheads="1"/>
          </p:cNvSpPr>
          <p:nvPr>
            <p:ph type="body" idx="1"/>
          </p:nvPr>
        </p:nvSpPr>
        <p:spPr>
          <a:xfrm>
            <a:off x="179127" y="1486469"/>
            <a:ext cx="8743950" cy="4114800"/>
          </a:xfrm>
        </p:spPr>
        <p:txBody>
          <a:bodyPr>
            <a:normAutofit/>
          </a:bodyPr>
          <a:lstStyle/>
          <a:p>
            <a:r>
              <a:rPr lang="en-US" sz="2800" dirty="0"/>
              <a:t>4 bases -A,G,C,T</a:t>
            </a:r>
          </a:p>
          <a:p>
            <a:endParaRPr lang="en-US" sz="2800" dirty="0"/>
          </a:p>
        </p:txBody>
      </p:sp>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0368584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3" name="Picture 3" descr="SL15016.gif                                                    0002303BMacintosh HD                   B74677A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2975" y="1198564"/>
            <a:ext cx="8572500" cy="503078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82056227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normAutofit/>
          </a:bodyPr>
          <a:lstStyle/>
          <a:p>
            <a:r>
              <a:rPr lang="en-US" sz="3600"/>
              <a:t>Establishing gene function - bioinformatics can only get you so far</a:t>
            </a:r>
            <a:endParaRPr lang="en-US"/>
          </a:p>
        </p:txBody>
      </p:sp>
      <p:sp>
        <p:nvSpPr>
          <p:cNvPr id="16387" name="Rectangle 3"/>
          <p:cNvSpPr>
            <a:spLocks noGrp="1" noChangeArrowheads="1"/>
          </p:cNvSpPr>
          <p:nvPr>
            <p:ph type="body" idx="1"/>
          </p:nvPr>
        </p:nvSpPr>
        <p:spPr/>
        <p:txBody>
          <a:bodyPr>
            <a:noAutofit/>
          </a:bodyPr>
          <a:lstStyle/>
          <a:p>
            <a:pPr>
              <a:lnSpc>
                <a:spcPct val="90000"/>
              </a:lnSpc>
            </a:pPr>
            <a:r>
              <a:rPr lang="en-US" sz="2800" dirty="0"/>
              <a:t>Book - claims that over 75% of genes can be assigned function.</a:t>
            </a:r>
          </a:p>
          <a:p>
            <a:pPr lvl="1">
              <a:lnSpc>
                <a:spcPct val="90000"/>
              </a:lnSpc>
            </a:pPr>
            <a:r>
              <a:rPr lang="en-US" sz="2800" dirty="0"/>
              <a:t>Genomes in table 1.4 - doesn’t support this claim.</a:t>
            </a:r>
          </a:p>
          <a:p>
            <a:pPr lvl="1">
              <a:lnSpc>
                <a:spcPct val="90000"/>
              </a:lnSpc>
            </a:pPr>
            <a:r>
              <a:rPr lang="en-US" sz="2800" dirty="0"/>
              <a:t>Many annotations suggest biochemical role, not biological function.</a:t>
            </a:r>
          </a:p>
          <a:p>
            <a:pPr lvl="1">
              <a:lnSpc>
                <a:spcPct val="90000"/>
              </a:lnSpc>
            </a:pPr>
            <a:r>
              <a:rPr lang="en-US" sz="2800" dirty="0"/>
              <a:t>Many annotations need to be verified experimentally.</a:t>
            </a:r>
          </a:p>
          <a:p>
            <a:pPr lvl="1">
              <a:lnSpc>
                <a:spcPct val="90000"/>
              </a:lnSpc>
            </a:pPr>
            <a:r>
              <a:rPr lang="en-US" sz="2800" dirty="0"/>
              <a:t>Some annotations are wrong.</a:t>
            </a:r>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11846923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rmAutofit/>
          </a:bodyPr>
          <a:lstStyle/>
          <a:p>
            <a:r>
              <a:rPr lang="en-US" dirty="0"/>
              <a:t>Microbial genome sequencing projects</a:t>
            </a:r>
          </a:p>
        </p:txBody>
      </p:sp>
      <p:sp>
        <p:nvSpPr>
          <p:cNvPr id="5123" name="Rectangle 3"/>
          <p:cNvSpPr>
            <a:spLocks noGrp="1" noChangeArrowheads="1"/>
          </p:cNvSpPr>
          <p:nvPr>
            <p:ph type="body" idx="1"/>
          </p:nvPr>
        </p:nvSpPr>
        <p:spPr>
          <a:xfrm>
            <a:off x="771525" y="2133600"/>
            <a:ext cx="8743950" cy="4114800"/>
          </a:xfrm>
        </p:spPr>
        <p:txBody>
          <a:bodyPr>
            <a:normAutofit/>
          </a:bodyPr>
          <a:lstStyle/>
          <a:p>
            <a:r>
              <a:rPr lang="en-US" sz="2800" dirty="0"/>
              <a:t>330 bacteria, 23 </a:t>
            </a:r>
            <a:r>
              <a:rPr lang="en-US" sz="2800" dirty="0" err="1"/>
              <a:t>archaea</a:t>
            </a:r>
            <a:r>
              <a:rPr lang="en-US" sz="2800" dirty="0"/>
              <a:t>, 60 eukaryotic genome projects available for analysis at the NCBI website.</a:t>
            </a:r>
          </a:p>
          <a:p>
            <a:r>
              <a:rPr lang="en-US" sz="2800" dirty="0"/>
              <a:t>487microbial genomes completed or currently being sequenced.</a:t>
            </a:r>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67298666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body" idx="1"/>
          </p:nvPr>
        </p:nvSpPr>
        <p:spPr>
          <a:xfrm>
            <a:off x="122830" y="762000"/>
            <a:ext cx="9918511" cy="5334000"/>
          </a:xfrm>
        </p:spPr>
        <p:txBody>
          <a:bodyPr>
            <a:noAutofit/>
          </a:bodyPr>
          <a:lstStyle/>
          <a:p>
            <a:pPr>
              <a:lnSpc>
                <a:spcPct val="90000"/>
              </a:lnSpc>
            </a:pPr>
            <a:r>
              <a:rPr lang="en-US" sz="2800" dirty="0"/>
              <a:t>Why sequence so many microbial genomes?</a:t>
            </a:r>
          </a:p>
          <a:p>
            <a:pPr lvl="1">
              <a:lnSpc>
                <a:spcPct val="90000"/>
              </a:lnSpc>
            </a:pPr>
            <a:r>
              <a:rPr lang="en-US" sz="2800" dirty="0"/>
              <a:t>Develop technology for human genome project</a:t>
            </a:r>
          </a:p>
          <a:p>
            <a:pPr lvl="1">
              <a:lnSpc>
                <a:spcPct val="90000"/>
              </a:lnSpc>
            </a:pPr>
            <a:r>
              <a:rPr lang="en-US" sz="2800" dirty="0"/>
              <a:t>Examine the genomes of a wide range of microbes</a:t>
            </a:r>
          </a:p>
          <a:p>
            <a:pPr lvl="2">
              <a:lnSpc>
                <a:spcPct val="90000"/>
              </a:lnSpc>
            </a:pPr>
            <a:r>
              <a:rPr lang="en-US" sz="2800" dirty="0"/>
              <a:t>Novel drug/vaccine targets</a:t>
            </a:r>
          </a:p>
          <a:p>
            <a:pPr lvl="2">
              <a:lnSpc>
                <a:spcPct val="90000"/>
              </a:lnSpc>
            </a:pPr>
            <a:r>
              <a:rPr lang="en-US" sz="2800" dirty="0"/>
              <a:t>Identify new agricultural and industrial important enzymes</a:t>
            </a:r>
          </a:p>
          <a:p>
            <a:pPr lvl="2">
              <a:lnSpc>
                <a:spcPct val="90000"/>
              </a:lnSpc>
            </a:pPr>
            <a:r>
              <a:rPr lang="en-US" sz="2800" dirty="0"/>
              <a:t>Comparative genomics/evolution</a:t>
            </a:r>
          </a:p>
          <a:p>
            <a:pPr lvl="2">
              <a:lnSpc>
                <a:spcPct val="90000"/>
              </a:lnSpc>
            </a:pPr>
            <a:r>
              <a:rPr lang="en-US" sz="2800" dirty="0"/>
              <a:t>Sequence microbes that have no genetics</a:t>
            </a:r>
          </a:p>
          <a:p>
            <a:pPr lvl="2">
              <a:lnSpc>
                <a:spcPct val="90000"/>
              </a:lnSpc>
            </a:pPr>
            <a:r>
              <a:rPr lang="en-US" sz="2800" dirty="0"/>
              <a:t>Sequence microbes we can’t culture - </a:t>
            </a:r>
            <a:r>
              <a:rPr lang="en-US" sz="2800" dirty="0" err="1"/>
              <a:t>metagenomics</a:t>
            </a:r>
            <a:endParaRPr lang="en-US" sz="2800" dirty="0"/>
          </a:p>
          <a:p>
            <a:pPr lvl="1">
              <a:lnSpc>
                <a:spcPct val="90000"/>
              </a:lnSpc>
            </a:pPr>
            <a:r>
              <a:rPr lang="en-US" sz="2800" dirty="0"/>
              <a:t>Because we can.</a:t>
            </a:r>
          </a:p>
          <a:p>
            <a:pPr lvl="2">
              <a:lnSpc>
                <a:spcPct val="90000"/>
              </a:lnSpc>
            </a:pPr>
            <a:r>
              <a:rPr lang="en-US" sz="2800" dirty="0"/>
              <a:t>Financially feasible to sequence entire genomes.</a:t>
            </a:r>
          </a:p>
        </p:txBody>
      </p:sp>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45065410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normAutofit/>
          </a:bodyPr>
          <a:lstStyle/>
          <a:p>
            <a:r>
              <a:rPr lang="en-US" sz="3600" dirty="0"/>
              <a:t>Minimal Genome </a:t>
            </a:r>
          </a:p>
        </p:txBody>
      </p:sp>
      <p:sp>
        <p:nvSpPr>
          <p:cNvPr id="15363" name="Rectangle 3"/>
          <p:cNvSpPr>
            <a:spLocks noGrp="1" noChangeArrowheads="1"/>
          </p:cNvSpPr>
          <p:nvPr>
            <p:ph type="body" idx="1"/>
          </p:nvPr>
        </p:nvSpPr>
        <p:spPr/>
        <p:txBody>
          <a:bodyPr>
            <a:normAutofit/>
          </a:bodyPr>
          <a:lstStyle/>
          <a:p>
            <a:r>
              <a:rPr lang="en-US" sz="2800" dirty="0"/>
              <a:t>Fewest amount of genes necessary for life.</a:t>
            </a:r>
          </a:p>
          <a:p>
            <a:r>
              <a:rPr lang="en-US" sz="2800" dirty="0"/>
              <a:t>~250-350</a:t>
            </a:r>
          </a:p>
          <a:p>
            <a:pPr lvl="1"/>
            <a:r>
              <a:rPr lang="en-US" sz="2800" dirty="0"/>
              <a:t>Experimentally - disrupting every gene in a genome.</a:t>
            </a:r>
          </a:p>
          <a:p>
            <a:pPr lvl="1"/>
            <a:r>
              <a:rPr lang="en-US" sz="2800" dirty="0"/>
              <a:t>Bioinformatics -  comparative analysis of sequenced.</a:t>
            </a:r>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66480762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5000" t="17592" r="26667" b="17777"/>
          <a:stretch/>
        </p:blipFill>
        <p:spPr bwMode="auto">
          <a:xfrm>
            <a:off x="321399" y="95250"/>
            <a:ext cx="9657625" cy="64569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63418884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0287000" cy="6172200"/>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3"/>
          <p:cNvSpPr txBox="1">
            <a:spLocks noChangeArrowheads="1"/>
          </p:cNvSpPr>
          <p:nvPr/>
        </p:nvSpPr>
        <p:spPr>
          <a:xfrm>
            <a:off x="815430" y="730800"/>
            <a:ext cx="7655470" cy="1752600"/>
          </a:xfrm>
          <a:prstGeom prst="rect">
            <a:avLst/>
          </a:prstGeom>
        </p:spPr>
        <p:txBody>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r>
              <a:rPr lang="en-US" sz="4400" dirty="0"/>
              <a:t>Crop improvement</a:t>
            </a:r>
          </a:p>
        </p:txBody>
      </p:sp>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43682275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
            <a:ext cx="10115550" cy="6678751"/>
          </a:xfrm>
          <a:prstGeom prst="rect">
            <a:avLst/>
          </a:prstGeom>
        </p:spPr>
        <p:txBody>
          <a:bodyPr wrap="square">
            <a:spAutoFit/>
          </a:bodyPr>
          <a:lstStyle/>
          <a:p>
            <a:pPr algn="ctr"/>
            <a:r>
              <a:rPr lang="en-US" sz="3600" b="1" dirty="0"/>
              <a:t>Application of Bioinformatics in </a:t>
            </a:r>
            <a:r>
              <a:rPr lang="en-US" sz="3600" b="1" dirty="0" smtClean="0"/>
              <a:t>Crop Plants</a:t>
            </a:r>
          </a:p>
          <a:p>
            <a:endParaRPr lang="en-US" sz="2800" dirty="0"/>
          </a:p>
          <a:p>
            <a:r>
              <a:rPr lang="en-US" sz="2800" dirty="0"/>
              <a:t>Bioinformatics have number of applications in plants:</a:t>
            </a:r>
          </a:p>
          <a:p>
            <a:endParaRPr lang="en-US" sz="2800" dirty="0" smtClean="0"/>
          </a:p>
          <a:p>
            <a:r>
              <a:rPr lang="en-US" sz="2800" dirty="0" smtClean="0"/>
              <a:t>1</a:t>
            </a:r>
            <a:r>
              <a:rPr lang="en-US" sz="2800" dirty="0"/>
              <a:t>. </a:t>
            </a:r>
            <a:r>
              <a:rPr lang="en-US" sz="2800" i="1" dirty="0"/>
              <a:t>Single gene analysis</a:t>
            </a:r>
            <a:r>
              <a:rPr lang="en-US" sz="2800" dirty="0"/>
              <a:t> - Single gene analysis include DNA, RNA and protein sequences. These are the most fundamental at the molecular level.</a:t>
            </a:r>
            <a:br>
              <a:rPr lang="en-US" sz="2800" dirty="0"/>
            </a:br>
            <a:endParaRPr lang="en-US" sz="2800" dirty="0" smtClean="0"/>
          </a:p>
          <a:p>
            <a:r>
              <a:rPr lang="en-US" sz="2800" dirty="0" smtClean="0"/>
              <a:t>2</a:t>
            </a:r>
            <a:r>
              <a:rPr lang="en-US" sz="2800" dirty="0"/>
              <a:t>. </a:t>
            </a:r>
            <a:r>
              <a:rPr lang="en-US" sz="2800" i="1" dirty="0"/>
              <a:t>Biochemical pathways</a:t>
            </a:r>
            <a:r>
              <a:rPr lang="en-US" sz="2800" dirty="0"/>
              <a:t> - KEGG (Kyoto Encyclopedia of Genes and Genomes) is a database that contain contains all the metabolic pathways which help in understanding the high level function and utilities of the biological system.</a:t>
            </a:r>
            <a:br>
              <a:rPr lang="en-US" sz="2800" dirty="0"/>
            </a:br>
            <a:endParaRPr lang="en-US" sz="2800" dirty="0" smtClean="0"/>
          </a:p>
          <a:p>
            <a:r>
              <a:rPr lang="en-US" sz="2800" dirty="0" smtClean="0"/>
              <a:t>3</a:t>
            </a:r>
            <a:r>
              <a:rPr lang="en-US" sz="2800" dirty="0"/>
              <a:t>. </a:t>
            </a:r>
            <a:r>
              <a:rPr lang="en-US" sz="2800" i="1" dirty="0"/>
              <a:t>Molecular techniques</a:t>
            </a:r>
            <a:r>
              <a:rPr lang="en-US" sz="2800" dirty="0"/>
              <a:t> - There are some online tools for the designing of primer. </a:t>
            </a:r>
            <a:r>
              <a:rPr lang="en-US" sz="2800" dirty="0" err="1"/>
              <a:t>Eg</a:t>
            </a:r>
            <a:r>
              <a:rPr lang="en-US" sz="2800" dirty="0"/>
              <a:t>: primer premier, Primer3, </a:t>
            </a:r>
            <a:r>
              <a:rPr lang="en-US" sz="2800" dirty="0" err="1"/>
              <a:t>GenScript</a:t>
            </a:r>
            <a:r>
              <a:rPr lang="en-US" sz="2800" dirty="0"/>
              <a:t>. </a:t>
            </a:r>
          </a:p>
        </p:txBody>
      </p:sp>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80894397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61454"/>
            <a:ext cx="10287000" cy="4832092"/>
          </a:xfrm>
          <a:prstGeom prst="rect">
            <a:avLst/>
          </a:prstGeom>
        </p:spPr>
        <p:txBody>
          <a:bodyPr wrap="square">
            <a:spAutoFit/>
          </a:bodyPr>
          <a:lstStyle/>
          <a:p>
            <a:r>
              <a:rPr lang="en-US" sz="2800" dirty="0"/>
              <a:t>4. </a:t>
            </a:r>
            <a:r>
              <a:rPr lang="en-US" sz="2800" i="1" dirty="0"/>
              <a:t>Sequence similarity</a:t>
            </a:r>
            <a:r>
              <a:rPr lang="en-US" sz="2800" dirty="0"/>
              <a:t> -NCBI (National Centre for Biotechnology Information) tool and BLAST (Basic Local Alignment Search Tool) use dynamic programming algorithm which helps in searching of similarity between two different species. The dynamic programming finds the similarity between two species sequences by the use of substitution matrix and gap penalties.</a:t>
            </a:r>
          </a:p>
          <a:p>
            <a:endParaRPr lang="en-US" sz="2800" dirty="0" smtClean="0"/>
          </a:p>
          <a:p>
            <a:r>
              <a:rPr lang="en-US" sz="2800" dirty="0" smtClean="0"/>
              <a:t>5</a:t>
            </a:r>
            <a:r>
              <a:rPr lang="en-US" sz="2800" dirty="0"/>
              <a:t>. </a:t>
            </a:r>
            <a:r>
              <a:rPr lang="en-US" sz="2800" i="1" dirty="0" err="1"/>
              <a:t>Modelling</a:t>
            </a:r>
            <a:r>
              <a:rPr lang="en-US" sz="2800" i="1" dirty="0"/>
              <a:t> of protein</a:t>
            </a:r>
            <a:r>
              <a:rPr lang="en-US" sz="2800" dirty="0"/>
              <a:t>: Protein structure can be easily determined by the use of various tools of bioinformatics like Swiss Model from the sequence. There are number of tools available for the </a:t>
            </a:r>
            <a:r>
              <a:rPr lang="en-US" sz="2800" dirty="0" err="1"/>
              <a:t>modelling</a:t>
            </a:r>
            <a:r>
              <a:rPr lang="en-US" sz="2800" dirty="0"/>
              <a:t> of the protein.</a:t>
            </a:r>
          </a:p>
        </p:txBody>
      </p:sp>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54638385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431" y="0"/>
            <a:ext cx="10287000" cy="5509200"/>
          </a:xfrm>
          <a:prstGeom prst="rect">
            <a:avLst/>
          </a:prstGeom>
        </p:spPr>
        <p:txBody>
          <a:bodyPr wrap="square">
            <a:spAutoFit/>
          </a:bodyPr>
          <a:lstStyle/>
          <a:p>
            <a:pPr algn="ctr"/>
            <a:r>
              <a:rPr lang="en-US" sz="3600" b="1" dirty="0"/>
              <a:t>Role of Bioinformatics in Plant Sciences Research</a:t>
            </a:r>
            <a:r>
              <a:rPr lang="en-US" sz="3600" dirty="0" smtClean="0"/>
              <a:t/>
            </a:r>
            <a:br>
              <a:rPr lang="en-US" sz="3600" dirty="0" smtClean="0"/>
            </a:br>
            <a:endParaRPr lang="en-US" sz="3600" dirty="0" smtClean="0"/>
          </a:p>
          <a:p>
            <a:pPr algn="just"/>
            <a:r>
              <a:rPr lang="en-US" sz="2800" dirty="0" smtClean="0"/>
              <a:t>1</a:t>
            </a:r>
            <a:r>
              <a:rPr lang="en-US" sz="2800" dirty="0"/>
              <a:t>. </a:t>
            </a:r>
            <a:r>
              <a:rPr lang="en-US" sz="2800" i="1" dirty="0"/>
              <a:t>Crop improvement</a:t>
            </a:r>
            <a:r>
              <a:rPr lang="en-US" sz="2800" dirty="0"/>
              <a:t>:  The storage and interrogating the data has become an expanding challenge after the introduction of next generation sequencing techniques. </a:t>
            </a:r>
            <a:r>
              <a:rPr lang="en-US" sz="2800" dirty="0" err="1"/>
              <a:t>Bioinformatic</a:t>
            </a:r>
            <a:r>
              <a:rPr lang="en-US" sz="2800" dirty="0"/>
              <a:t> techniques have replaced the molecular marker technology with high throughput screening. But now bioinformatics which has developed number of database. </a:t>
            </a:r>
            <a:endParaRPr lang="en-US" sz="2800" dirty="0" smtClean="0"/>
          </a:p>
          <a:p>
            <a:pPr algn="just"/>
            <a:r>
              <a:rPr lang="en-US" sz="2800" dirty="0"/>
              <a:t>	 By the use of bioinformatics we can easily identify the short sequence repeats and can bring improvement in </a:t>
            </a:r>
            <a:r>
              <a:rPr lang="en-US" sz="2800" dirty="0" smtClean="0"/>
              <a:t>crop. The </a:t>
            </a:r>
            <a:r>
              <a:rPr lang="en-US" sz="2800" dirty="0"/>
              <a:t>most important database EST (expressed sequence tag) database consists of ESTs drawn from the multiple </a:t>
            </a:r>
            <a:r>
              <a:rPr lang="en-US" sz="2800" dirty="0" err="1"/>
              <a:t>cDNA</a:t>
            </a:r>
            <a:r>
              <a:rPr lang="en-US" sz="2800" dirty="0"/>
              <a:t>.</a:t>
            </a:r>
          </a:p>
        </p:txBody>
      </p:sp>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33231368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518615"/>
            <a:ext cx="10287000" cy="5262979"/>
          </a:xfrm>
          <a:prstGeom prst="rect">
            <a:avLst/>
          </a:prstGeom>
        </p:spPr>
        <p:txBody>
          <a:bodyPr wrap="square">
            <a:spAutoFit/>
          </a:bodyPr>
          <a:lstStyle/>
          <a:p>
            <a:pPr marL="457200" indent="-457200" algn="just">
              <a:buFont typeface="Arial" pitchFamily="34" charset="0"/>
              <a:buChar char="•"/>
            </a:pPr>
            <a:r>
              <a:rPr lang="en-US" sz="2800" dirty="0" smtClean="0"/>
              <a:t>EST has an application in the discovery of new genes, genomes and identification of the coding regions in the genomic sequences. </a:t>
            </a:r>
          </a:p>
          <a:p>
            <a:pPr marL="457200" indent="-457200" algn="just">
              <a:buFont typeface="Arial" pitchFamily="34" charset="0"/>
              <a:buChar char="•"/>
            </a:pPr>
            <a:r>
              <a:rPr lang="en-US" sz="2800" dirty="0"/>
              <a:t>EST is highly polymorphic due the mutation which affects number of units. They are highly polymorphic due to mutation affecting the number of repeat units.</a:t>
            </a:r>
            <a:endParaRPr lang="en-US" sz="2800" dirty="0" smtClean="0"/>
          </a:p>
          <a:p>
            <a:pPr marL="457200" indent="-457200" algn="just">
              <a:buFont typeface="Arial" pitchFamily="34" charset="0"/>
              <a:buChar char="•"/>
            </a:pPr>
            <a:r>
              <a:rPr lang="en-US" sz="2800" dirty="0" smtClean="0"/>
              <a:t>SSRs are the short stretches of DNA sequence which are present at the tandem repeats. </a:t>
            </a:r>
          </a:p>
          <a:p>
            <a:pPr marL="457200" indent="-457200" algn="just">
              <a:buFont typeface="Arial" pitchFamily="34" charset="0"/>
              <a:buChar char="•"/>
            </a:pPr>
            <a:r>
              <a:rPr lang="en-US" sz="2800" dirty="0" smtClean="0"/>
              <a:t>These short sequences help in genetic co-dominance. </a:t>
            </a:r>
          </a:p>
          <a:p>
            <a:pPr marL="457200" indent="-457200" algn="just">
              <a:buFont typeface="Arial" pitchFamily="34" charset="0"/>
              <a:buChar char="•"/>
            </a:pPr>
            <a:r>
              <a:rPr lang="en-US" sz="2800" dirty="0" smtClean="0"/>
              <a:t>The hyper- variability of short sequence repeats among related organisms makes them excellent markers for genotype identification, analysis of genetic diversity, phenotype mapping and marker assisted selection. </a:t>
            </a:r>
          </a:p>
        </p:txBody>
      </p:sp>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41702294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770" y="285460"/>
            <a:ext cx="10115550" cy="6124754"/>
          </a:xfrm>
          <a:prstGeom prst="rect">
            <a:avLst/>
          </a:prstGeom>
        </p:spPr>
        <p:txBody>
          <a:bodyPr wrap="square">
            <a:spAutoFit/>
          </a:bodyPr>
          <a:lstStyle/>
          <a:p>
            <a:r>
              <a:rPr lang="en-US" sz="2800" dirty="0"/>
              <a:t>2. </a:t>
            </a:r>
            <a:r>
              <a:rPr lang="en-US" sz="2800" i="1" dirty="0"/>
              <a:t>Insect resistance</a:t>
            </a:r>
            <a:r>
              <a:rPr lang="en-US" sz="2800" dirty="0"/>
              <a:t>:  Plants are made resistant to insects by incorporating desire gene to the plant. The first resistant plant was made by incorporating the cry gene from Bacillus </a:t>
            </a:r>
            <a:r>
              <a:rPr lang="en-US" sz="2800" dirty="0" err="1"/>
              <a:t>thuringiensis</a:t>
            </a:r>
            <a:r>
              <a:rPr lang="en-US" sz="2800" dirty="0"/>
              <a:t> (</a:t>
            </a:r>
            <a:r>
              <a:rPr lang="en-US" sz="2800" dirty="0" err="1"/>
              <a:t>Bt</a:t>
            </a:r>
            <a:r>
              <a:rPr lang="en-US" sz="2800" dirty="0"/>
              <a:t>). It is bacterial species which increases the soil fertility and protect the plant from pests. The genes of the </a:t>
            </a:r>
            <a:r>
              <a:rPr lang="en-US" sz="2800" dirty="0" err="1"/>
              <a:t>Bt</a:t>
            </a:r>
            <a:r>
              <a:rPr lang="en-US" sz="2800" dirty="0"/>
              <a:t> can be incorporated into the plant gene</a:t>
            </a:r>
            <a:r>
              <a:rPr lang="en-US" sz="2800" dirty="0" smtClean="0"/>
              <a:t>.</a:t>
            </a:r>
          </a:p>
          <a:p>
            <a:endParaRPr lang="en-US" sz="2800" dirty="0" smtClean="0"/>
          </a:p>
          <a:p>
            <a:r>
              <a:rPr lang="en-US" sz="2800" dirty="0" smtClean="0"/>
              <a:t>3</a:t>
            </a:r>
            <a:r>
              <a:rPr lang="en-US" sz="2800" dirty="0"/>
              <a:t>. </a:t>
            </a:r>
            <a:r>
              <a:rPr lang="en-US" sz="2800" i="1" dirty="0"/>
              <a:t>Plant breeding</a:t>
            </a:r>
            <a:r>
              <a:rPr lang="en-US" sz="2800" dirty="0"/>
              <a:t>:  Plant genomics helps in understanding the genetic and molecular basis of all biological process. Now-a-days the Genome program is an important tool for the plant improvement. </a:t>
            </a:r>
          </a:p>
          <a:p>
            <a:pPr marL="457200" indent="-457200">
              <a:buFont typeface="Arial" pitchFamily="34" charset="0"/>
              <a:buChar char="•"/>
            </a:pPr>
            <a:r>
              <a:rPr lang="en-US" sz="2800" dirty="0"/>
              <a:t>This genome </a:t>
            </a:r>
            <a:r>
              <a:rPr lang="en-US" sz="2800" dirty="0" err="1"/>
              <a:t>programme</a:t>
            </a:r>
            <a:r>
              <a:rPr lang="en-US" sz="2800" dirty="0"/>
              <a:t> helps in identifying the key genes and their function. </a:t>
            </a:r>
          </a:p>
          <a:p>
            <a:pPr marL="457200" indent="-457200">
              <a:buFont typeface="Arial" pitchFamily="34" charset="0"/>
              <a:buChar char="•"/>
            </a:pPr>
            <a:r>
              <a:rPr lang="en-US" sz="2800" dirty="0"/>
              <a:t>This genome project generates data, which includes sequence information, markers etc. </a:t>
            </a:r>
          </a:p>
        </p:txBody>
      </p:sp>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91225326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34370"/>
            <a:ext cx="10287000" cy="3539430"/>
          </a:xfrm>
          <a:prstGeom prst="rect">
            <a:avLst/>
          </a:prstGeom>
        </p:spPr>
        <p:txBody>
          <a:bodyPr wrap="square">
            <a:spAutoFit/>
          </a:bodyPr>
          <a:lstStyle/>
          <a:p>
            <a:pPr marL="457200" indent="-457200">
              <a:buFont typeface="Arial" pitchFamily="34" charset="0"/>
              <a:buChar char="•"/>
            </a:pPr>
            <a:r>
              <a:rPr lang="en-US" sz="2800" dirty="0" smtClean="0"/>
              <a:t>These data are then distributed to the multinational research community. </a:t>
            </a:r>
          </a:p>
          <a:p>
            <a:pPr marL="457200" indent="-457200">
              <a:buFont typeface="Arial" pitchFamily="34" charset="0"/>
              <a:buChar char="•"/>
            </a:pPr>
            <a:r>
              <a:rPr lang="en-US" sz="2800" dirty="0" smtClean="0"/>
              <a:t>The bioinformatics helps in the submission of all data through ENTREZ Global Query Cross-Database Search System to the public domain. This helps in retrieving sequence from the NCBI. The bioinformatics helps in providing rational annotation of genes, proteins and phenotypes. By the use of bioinformatics tools relationship between plant data can be elaborated.</a:t>
            </a:r>
            <a:endParaRPr lang="en-US" sz="2800" dirty="0"/>
          </a:p>
        </p:txBody>
      </p:sp>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71726001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8184" y="1056143"/>
            <a:ext cx="10148816" cy="3108543"/>
          </a:xfrm>
          <a:prstGeom prst="rect">
            <a:avLst/>
          </a:prstGeom>
        </p:spPr>
        <p:txBody>
          <a:bodyPr wrap="square">
            <a:spAutoFit/>
          </a:bodyPr>
          <a:lstStyle/>
          <a:p>
            <a:r>
              <a:rPr lang="en-US" sz="2800" dirty="0"/>
              <a:t>4. </a:t>
            </a:r>
            <a:r>
              <a:rPr lang="en-US" sz="2800" i="1" dirty="0"/>
              <a:t>Improve nutritional quality</a:t>
            </a:r>
            <a:r>
              <a:rPr lang="en-US" sz="2800" dirty="0"/>
              <a:t>:  There are various ways of improving nutrition quality. It can be improved by the redirection of the cellular activity, by the modification of the enzymatic transport and by regulating the function of the cell. Various tools are available to identify the genes. With the advances in the proteomics and </a:t>
            </a:r>
            <a:r>
              <a:rPr lang="en-US" sz="2800" dirty="0" err="1"/>
              <a:t>glycomics</a:t>
            </a:r>
            <a:r>
              <a:rPr lang="en-US" sz="2800" dirty="0"/>
              <a:t>, there are various tools for the analysis of primary and secondary metabolic pathways.</a:t>
            </a:r>
          </a:p>
        </p:txBody>
      </p:sp>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08582261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8890" y="1166843"/>
            <a:ext cx="10118109" cy="3416320"/>
          </a:xfrm>
          <a:prstGeom prst="rect">
            <a:avLst/>
          </a:prstGeom>
        </p:spPr>
        <p:txBody>
          <a:bodyPr wrap="square">
            <a:spAutoFit/>
          </a:bodyPr>
          <a:lstStyle/>
          <a:p>
            <a:r>
              <a:rPr lang="en-US" sz="2400" dirty="0"/>
              <a:t>5. </a:t>
            </a:r>
            <a:r>
              <a:rPr lang="en-US" sz="2400" i="1" dirty="0"/>
              <a:t>Development of drought resistant varieties</a:t>
            </a:r>
            <a:r>
              <a:rPr lang="en-US" sz="2400" dirty="0"/>
              <a:t>:  Drought resistant varieties can be developed by identifying the drought tolerance genes and alleles. Various tools have been developed to study the physiology, expression profiling, comparative genomics. The KEGG database contains all the metabolic pathways like the pathway for the carbohydrate production. Genes in the ABA production pathway are important for the development of drought resistant varieties. KEGG databases can be important in identifying the pathway for carbohydrate production and ABA production. After the identification of the pathway the genes involved in the same pathway are studied for the development.</a:t>
            </a:r>
          </a:p>
        </p:txBody>
      </p:sp>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27897416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p:cNvSpPr>
            <a:spLocks noGrp="1" noChangeArrowheads="1"/>
          </p:cNvSpPr>
          <p:nvPr>
            <p:ph type="title"/>
          </p:nvPr>
        </p:nvSpPr>
        <p:spPr>
          <a:xfrm>
            <a:off x="771525" y="174626"/>
            <a:ext cx="8743950" cy="739775"/>
          </a:xfrm>
        </p:spPr>
        <p:txBody>
          <a:bodyPr/>
          <a:lstStyle/>
          <a:p>
            <a:pPr algn="ctr"/>
            <a:r>
              <a:rPr lang="en-AU" b="1" dirty="0"/>
              <a:t>Challenges in bioinformatics</a:t>
            </a:r>
          </a:p>
        </p:txBody>
      </p:sp>
      <p:sp>
        <p:nvSpPr>
          <p:cNvPr id="233475" name="Rectangle 3"/>
          <p:cNvSpPr>
            <a:spLocks noGrp="1" noChangeArrowheads="1"/>
          </p:cNvSpPr>
          <p:nvPr>
            <p:ph type="body" idx="1"/>
          </p:nvPr>
        </p:nvSpPr>
        <p:spPr>
          <a:xfrm>
            <a:off x="257175" y="1143000"/>
            <a:ext cx="9772650" cy="5562600"/>
          </a:xfrm>
        </p:spPr>
        <p:txBody>
          <a:bodyPr/>
          <a:lstStyle/>
          <a:p>
            <a:r>
              <a:rPr lang="en-AU" sz="2800">
                <a:solidFill>
                  <a:schemeClr val="folHlink"/>
                </a:solidFill>
              </a:rPr>
              <a:t>Explosion of information</a:t>
            </a:r>
          </a:p>
          <a:p>
            <a:pPr lvl="1"/>
            <a:r>
              <a:rPr lang="en-AU" sz="2400"/>
              <a:t>Need faster, automated analysis to process large amounts of data</a:t>
            </a:r>
          </a:p>
          <a:p>
            <a:pPr lvl="1"/>
            <a:r>
              <a:rPr lang="en-AU" sz="2400"/>
              <a:t>Need for integration between different types of information (sequences, literature, annotations, protein levels, RNA levels etc…)</a:t>
            </a:r>
          </a:p>
          <a:p>
            <a:pPr lvl="1"/>
            <a:r>
              <a:rPr lang="en-AU" sz="2400"/>
              <a:t>Need for “smarter” software to identify interesting relationships in very large data sets </a:t>
            </a:r>
          </a:p>
          <a:p>
            <a:r>
              <a:rPr lang="en-AU" sz="2800">
                <a:solidFill>
                  <a:schemeClr val="folHlink"/>
                </a:solidFill>
              </a:rPr>
              <a:t>Lack of “bioinformaticians”</a:t>
            </a:r>
          </a:p>
          <a:p>
            <a:pPr lvl="1"/>
            <a:r>
              <a:rPr lang="en-AU" sz="2400"/>
              <a:t>Software needs to be easier to access, use and understand</a:t>
            </a:r>
          </a:p>
          <a:p>
            <a:pPr lvl="1"/>
            <a:r>
              <a:rPr lang="en-AU" sz="2400"/>
              <a:t>Biologists need to learn about the software, its limitations, and how to interpret its results</a:t>
            </a:r>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544119007"/>
      </p:ext>
    </p:extLst>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0287000" cy="6858000"/>
          </a:xfrm>
          <a:prstGeom prst="rect">
            <a:avLst/>
          </a:prstGeom>
        </p:spPr>
      </p:pic>
    </p:spTree>
    <p:extLst>
      <p:ext uri="{BB962C8B-B14F-4D97-AF65-F5344CB8AC3E}">
        <p14:creationId xmlns:p14="http://schemas.microsoft.com/office/powerpoint/2010/main" val="117628317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TM03457452[[fn=Celestial]]</Template>
  <TotalTime>3777</TotalTime>
  <Words>3104</Words>
  <Application>Microsoft Office PowerPoint</Application>
  <PresentationFormat>35mm Slides</PresentationFormat>
  <Paragraphs>445</Paragraphs>
  <Slides>94</Slides>
  <Notes>5</Notes>
  <HiddenSlides>1</HiddenSlides>
  <MMClips>0</MMClips>
  <ScaleCrop>false</ScaleCrop>
  <HeadingPairs>
    <vt:vector size="6" baseType="variant">
      <vt:variant>
        <vt:lpstr>Theme</vt:lpstr>
      </vt:variant>
      <vt:variant>
        <vt:i4>1</vt:i4>
      </vt:variant>
      <vt:variant>
        <vt:lpstr>Embedded OLE Servers</vt:lpstr>
      </vt:variant>
      <vt:variant>
        <vt:i4>2</vt:i4>
      </vt:variant>
      <vt:variant>
        <vt:lpstr>Slide Titles</vt:lpstr>
      </vt:variant>
      <vt:variant>
        <vt:i4>94</vt:i4>
      </vt:variant>
    </vt:vector>
  </HeadingPairs>
  <TitlesOfParts>
    <vt:vector size="97" baseType="lpstr">
      <vt:lpstr>Celestial</vt:lpstr>
      <vt:lpstr>Image</vt:lpstr>
      <vt:lpstr>Bitmap Image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Benefits of Bioinformatics</vt:lpstr>
      <vt:lpstr>PowerPoint Presentation</vt:lpstr>
      <vt:lpstr>PowerPoint Presentation</vt:lpstr>
      <vt:lpstr>PowerPoint Presentation</vt:lpstr>
      <vt:lpstr>Why QSAR?</vt:lpstr>
      <vt:lpstr>QSAR and Drug Design</vt:lpstr>
      <vt:lpstr>What is QSAR?</vt:lpstr>
      <vt:lpstr>Statistical Concepts</vt:lpstr>
      <vt:lpstr>Statistical Concepts</vt:lpstr>
      <vt:lpstr>3D-QSAR</vt:lpstr>
      <vt:lpstr>3D-QSAR Assumptions</vt:lpstr>
      <vt:lpstr>QSAR and 3D-QSAR Software</vt:lpstr>
      <vt:lpstr>3D molecular fields</vt:lpstr>
      <vt:lpstr>Common 3D molecular fields</vt:lpstr>
      <vt:lpstr>Comparative Molecular Field Analysis (CoMFA) - 1988</vt:lpstr>
      <vt:lpstr>CoMFA molecular fields</vt:lpstr>
      <vt:lpstr>PowerPoint Presentation</vt:lpstr>
      <vt:lpstr>CoMFA 3D-QSAR</vt:lpstr>
      <vt:lpstr>3D-QSAR of CYP450cam with CoMFA</vt:lpstr>
      <vt:lpstr>3D-QSAR of CYP450cam with CoMFA</vt:lpstr>
      <vt:lpstr>VOLSURF</vt:lpstr>
      <vt:lpstr>VOLSURF</vt:lpstr>
      <vt:lpstr>VOLSURF Descriptors</vt:lpstr>
      <vt:lpstr>VOLSURF</vt:lpstr>
      <vt:lpstr>Catalyst</vt:lpstr>
      <vt:lpstr>Catalyst Features</vt:lpstr>
      <vt:lpstr>Catalyst HipHop</vt:lpstr>
      <vt:lpstr>Catalyst HipoGen</vt:lpstr>
      <vt:lpstr>Catalyst CYP3A4 substrates pharmacophore</vt:lpstr>
      <vt:lpstr>Catalyst CYP2B6 substrates pharmacophore</vt:lpstr>
      <vt:lpstr>PowerPoint Presentation</vt:lpstr>
      <vt:lpstr>Catalyst Docking – Ligand Fit</vt:lpstr>
      <vt:lpstr>Catalyst Docking – Ligand Flexibility</vt:lpstr>
      <vt:lpstr>Catalyst Docking – Scoring</vt:lpstr>
      <vt:lpstr>3D-QSAR of CYP450cam with DOCK</vt:lpstr>
      <vt:lpstr>Methods</vt:lpstr>
      <vt:lpstr>Prediction Results</vt:lpstr>
      <vt:lpstr>Prediction Results</vt:lpstr>
      <vt:lpstr>PowerPoint Presentation</vt:lpstr>
      <vt:lpstr>Finding Homologues</vt:lpstr>
      <vt:lpstr>Finding Homologues</vt:lpstr>
      <vt:lpstr>Overall Genome Characterization</vt:lpstr>
      <vt:lpstr>Web resources for microbial genomes</vt:lpstr>
      <vt:lpstr>Microbial Genomes Applications</vt:lpstr>
      <vt:lpstr>Genome of the week - Haemophilus influenzae</vt:lpstr>
      <vt:lpstr>PowerPoint Presentation</vt:lpstr>
      <vt:lpstr>Microbial Genome - old view (E. coli)</vt:lpstr>
      <vt:lpstr>Microbial Genome - new view</vt:lpstr>
      <vt:lpstr>Features of microbial genomes</vt:lpstr>
      <vt:lpstr>PowerPoint Presentation</vt:lpstr>
      <vt:lpstr>Establishing gene function - bioinformatics can only get you so far</vt:lpstr>
      <vt:lpstr>Microbial genome sequencing projects</vt:lpstr>
      <vt:lpstr>PowerPoint Presentation</vt:lpstr>
      <vt:lpstr>Minimal Genome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Challenges in bioinformatics</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Pritam</dc:creator>
  <cp:lastModifiedBy>Pritam</cp:lastModifiedBy>
  <cp:revision>146</cp:revision>
  <dcterms:created xsi:type="dcterms:W3CDTF">2020-08-29T16:56:40Z</dcterms:created>
  <dcterms:modified xsi:type="dcterms:W3CDTF">2021-10-23T19:09:36Z</dcterms:modified>
</cp:coreProperties>
</file>