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47"/>
  </p:notesMasterIdLst>
  <p:sldIdLst>
    <p:sldId id="256" r:id="rId2"/>
    <p:sldId id="258" r:id="rId3"/>
    <p:sldId id="316" r:id="rId4"/>
    <p:sldId id="317" r:id="rId5"/>
    <p:sldId id="318" r:id="rId6"/>
    <p:sldId id="319" r:id="rId7"/>
    <p:sldId id="320" r:id="rId8"/>
    <p:sldId id="321" r:id="rId9"/>
    <p:sldId id="322" r:id="rId10"/>
    <p:sldId id="323" r:id="rId11"/>
    <p:sldId id="324" r:id="rId12"/>
    <p:sldId id="325" r:id="rId13"/>
    <p:sldId id="332" r:id="rId14"/>
    <p:sldId id="333" r:id="rId15"/>
    <p:sldId id="334" r:id="rId16"/>
    <p:sldId id="361" r:id="rId17"/>
    <p:sldId id="335" r:id="rId18"/>
    <p:sldId id="336" r:id="rId19"/>
    <p:sldId id="337" r:id="rId20"/>
    <p:sldId id="338" r:id="rId21"/>
    <p:sldId id="339" r:id="rId22"/>
    <p:sldId id="340" r:id="rId23"/>
    <p:sldId id="341" r:id="rId24"/>
    <p:sldId id="342" r:id="rId25"/>
    <p:sldId id="343" r:id="rId26"/>
    <p:sldId id="344" r:id="rId27"/>
    <p:sldId id="345" r:id="rId28"/>
    <p:sldId id="346" r:id="rId29"/>
    <p:sldId id="347" r:id="rId30"/>
    <p:sldId id="348" r:id="rId31"/>
    <p:sldId id="349" r:id="rId32"/>
    <p:sldId id="350" r:id="rId33"/>
    <p:sldId id="351" r:id="rId34"/>
    <p:sldId id="352" r:id="rId35"/>
    <p:sldId id="362" r:id="rId36"/>
    <p:sldId id="353" r:id="rId37"/>
    <p:sldId id="354" r:id="rId38"/>
    <p:sldId id="363" r:id="rId39"/>
    <p:sldId id="355" r:id="rId40"/>
    <p:sldId id="356" r:id="rId41"/>
    <p:sldId id="357" r:id="rId42"/>
    <p:sldId id="358" r:id="rId43"/>
    <p:sldId id="359" r:id="rId44"/>
    <p:sldId id="360" r:id="rId45"/>
    <p:sldId id="315" r:id="rId46"/>
  </p:sldIdLst>
  <p:sldSz cx="10287000" cy="6858000" type="35mm"/>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50" d="100"/>
          <a:sy n="50" d="100"/>
        </p:scale>
        <p:origin x="-1544" y="-476"/>
      </p:cViewPr>
      <p:guideLst>
        <p:guide orient="horz" pos="2160"/>
        <p:guide pos="32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9BF85-77C1-41AE-9F39-6050061EDF6A}" type="datetimeFigureOut">
              <a:rPr lang="en-US" smtClean="0"/>
              <a:t>10/23/2021</a:t>
            </a:fld>
            <a:endParaRPr lang="en-US"/>
          </a:p>
        </p:txBody>
      </p:sp>
      <p:sp>
        <p:nvSpPr>
          <p:cNvPr id="4" name="Slide Image Placeholder 3"/>
          <p:cNvSpPr>
            <a:spLocks noGrp="1" noRot="1" noChangeAspect="1"/>
          </p:cNvSpPr>
          <p:nvPr>
            <p:ph type="sldImg" idx="2"/>
          </p:nvPr>
        </p:nvSpPr>
        <p:spPr>
          <a:xfrm>
            <a:off x="1114425" y="1143000"/>
            <a:ext cx="46291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76B26-3396-4668-8E95-206BD960031C}" type="slidenum">
              <a:rPr lang="en-US" smtClean="0"/>
              <a:t>‹#›</a:t>
            </a:fld>
            <a:endParaRPr lang="en-US"/>
          </a:p>
        </p:txBody>
      </p:sp>
    </p:spTree>
    <p:extLst>
      <p:ext uri="{BB962C8B-B14F-4D97-AF65-F5344CB8AC3E}">
        <p14:creationId xmlns:p14="http://schemas.microsoft.com/office/powerpoint/2010/main" val="2202817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8322469" cy="6858000"/>
          </a:xfrm>
          <a:prstGeom prst="rect">
            <a:avLst/>
          </a:prstGeom>
        </p:spPr>
      </p:pic>
      <p:sp>
        <p:nvSpPr>
          <p:cNvPr id="2" name="Title 1"/>
          <p:cNvSpPr>
            <a:spLocks noGrp="1"/>
          </p:cNvSpPr>
          <p:nvPr>
            <p:ph type="ctrTitle"/>
          </p:nvPr>
        </p:nvSpPr>
        <p:spPr>
          <a:xfrm>
            <a:off x="3086969" y="1964267"/>
            <a:ext cx="6428507" cy="2421464"/>
          </a:xfrm>
        </p:spPr>
        <p:txBody>
          <a:bodyPr anchor="b">
            <a:normAutofit/>
          </a:bodyPr>
          <a:lstStyle>
            <a:lvl1pPr algn="r">
              <a:defRPr sz="4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086969" y="4385734"/>
            <a:ext cx="6428507"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96350" y="5870577"/>
            <a:ext cx="1363695" cy="377825"/>
          </a:xfrm>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a:xfrm>
            <a:off x="3086970" y="5870577"/>
            <a:ext cx="4423654" cy="377825"/>
          </a:xfrm>
        </p:spPr>
        <p:txBody>
          <a:bodyPr/>
          <a:lstStyle/>
          <a:p>
            <a:endParaRPr lang="en-US"/>
          </a:p>
        </p:txBody>
      </p:sp>
      <p:sp>
        <p:nvSpPr>
          <p:cNvPr id="6" name="Slide Number Placeholder 5"/>
          <p:cNvSpPr>
            <a:spLocks noGrp="1"/>
          </p:cNvSpPr>
          <p:nvPr>
            <p:ph type="sldNum" sz="quarter" idx="12"/>
          </p:nvPr>
        </p:nvSpPr>
        <p:spPr>
          <a:xfrm>
            <a:off x="9045770" y="5870577"/>
            <a:ext cx="469706" cy="377825"/>
          </a:xfrm>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5706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32262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308581"/>
            <a:ext cx="8743950" cy="14688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514351" y="4777381"/>
            <a:ext cx="874395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1702602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14351" y="2142068"/>
            <a:ext cx="4289679"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968622" y="2142069"/>
            <a:ext cx="4289679"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8656250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36416" y="2218267"/>
            <a:ext cx="398317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14350"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300010" y="2218267"/>
            <a:ext cx="395829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968621" y="2870201"/>
            <a:ext cx="4289679"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4136626-2AE9-4567-8D5E-94F038CBDAA7}" type="datetimeFigureOut">
              <a:rPr lang="en-US" smtClean="0"/>
              <a:t>10/23/2021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7214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609602"/>
            <a:ext cx="8743950" cy="1456267"/>
          </a:xfrm>
        </p:spPr>
        <p:txBody>
          <a:bodyPr>
            <a:normAutofit/>
          </a:bodyPr>
          <a:lstStyle>
            <a:lvl1pPr>
              <a:defRPr sz="32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4136626-2AE9-4567-8D5E-94F038CBDAA7}" type="datetimeFigureOut">
              <a:rPr lang="en-US" smtClean="0"/>
              <a:t>10/23/2021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6047701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Date Placeholder 1"/>
          <p:cNvSpPr>
            <a:spLocks noGrp="1"/>
          </p:cNvSpPr>
          <p:nvPr>
            <p:ph type="dt" sz="half" idx="10"/>
          </p:nvPr>
        </p:nvSpPr>
        <p:spPr/>
        <p:txBody>
          <a:bodyPr/>
          <a:lstStyle/>
          <a:p>
            <a:fld id="{E4136626-2AE9-4567-8D5E-94F038CBDAA7}" type="datetimeFigureOut">
              <a:rPr lang="en-US" smtClean="0"/>
              <a:t>10/23/2021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63377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433" y="1557868"/>
            <a:ext cx="3220774" cy="1439332"/>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056913" y="609601"/>
            <a:ext cx="5206472"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19433" y="2997201"/>
            <a:ext cx="3220774"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260361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9894" y="1735672"/>
            <a:ext cx="4609355" cy="1371600"/>
          </a:xfrm>
        </p:spPr>
        <p:txBody>
          <a:bodyPr anchor="b">
            <a:normAutofit/>
          </a:bodyPr>
          <a:lstStyle>
            <a:lvl1pPr algn="l">
              <a:defRPr sz="24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5657850" y="914400"/>
            <a:ext cx="360045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9894" y="3107272"/>
            <a:ext cx="460935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455269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1" y="4732865"/>
            <a:ext cx="8743950" cy="566738"/>
          </a:xfrm>
        </p:spPr>
        <p:txBody>
          <a:bodyPr anchor="b">
            <a:normAutofit/>
          </a:bodyPr>
          <a:lstStyle>
            <a:lvl1pPr algn="l">
              <a:defRPr sz="20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8701" y="932112"/>
            <a:ext cx="771525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a:xfrm>
            <a:off x="514351" y="5299603"/>
            <a:ext cx="874395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4136626-2AE9-4567-8D5E-94F038CBDAA7}" type="datetimeFigureOut">
              <a:rPr lang="en-US" smtClean="0"/>
              <a:t>10/23/2021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0343046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4" y="609603"/>
            <a:ext cx="8743949"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3" y="4343400"/>
            <a:ext cx="874394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43701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4" name="TextBox 13"/>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112255" y="3352800"/>
            <a:ext cx="7735650"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520049" y="4343400"/>
            <a:ext cx="874395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8669568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14352" y="3291648"/>
            <a:ext cx="8743951" cy="1468800"/>
          </a:xfrm>
        </p:spPr>
        <p:txBody>
          <a:bodyPr anchor="b">
            <a:normAutofit/>
          </a:bodyPr>
          <a:lstStyle>
            <a:lvl1pPr algn="l">
              <a:defRPr sz="2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514350" y="4760448"/>
            <a:ext cx="874395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1005130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11" name="TextBox 10"/>
          <p:cNvSpPr txBox="1"/>
          <p:nvPr/>
        </p:nvSpPr>
        <p:spPr>
          <a:xfrm>
            <a:off x="474521" y="718114"/>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8702776" y="2751671"/>
            <a:ext cx="514484"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89005" y="609603"/>
            <a:ext cx="797770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514351" y="3886200"/>
            <a:ext cx="874395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14351" y="4775200"/>
            <a:ext cx="874395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131742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Title 1"/>
          <p:cNvSpPr>
            <a:spLocks noGrp="1"/>
          </p:cNvSpPr>
          <p:nvPr>
            <p:ph type="title"/>
          </p:nvPr>
        </p:nvSpPr>
        <p:spPr>
          <a:xfrm>
            <a:off x="522496" y="609603"/>
            <a:ext cx="8743951" cy="2743199"/>
          </a:xfrm>
        </p:spPr>
        <p:txBody>
          <a:bodyPr vert="horz" lIns="91440" tIns="45720" rIns="91440" bIns="45720" rtlCol="0" anchor="ctr">
            <a:normAutofit/>
          </a:bodyPr>
          <a:lstStyle>
            <a:lvl1pPr>
              <a:defRPr lang="en-US" sz="2800"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522496" y="3505200"/>
            <a:ext cx="874395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522495" y="4343400"/>
            <a:ext cx="874395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3507549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8" name="Title 1"/>
          <p:cNvSpPr>
            <a:spLocks noGrp="1"/>
          </p:cNvSpPr>
          <p:nvPr>
            <p:ph type="title"/>
          </p:nvPr>
        </p:nvSpPr>
        <p:spPr>
          <a:xfrm>
            <a:off x="514350" y="609602"/>
            <a:ext cx="8743950" cy="1456267"/>
          </a:xfrm>
        </p:spPr>
        <p:txBody>
          <a:bodyPr>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3785357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01" y="0"/>
            <a:ext cx="10258425" cy="6858000"/>
          </a:xfrm>
          <a:prstGeom prst="rect">
            <a:avLst/>
          </a:prstGeom>
        </p:spPr>
      </p:pic>
      <p:sp>
        <p:nvSpPr>
          <p:cNvPr id="2" name="Vertical Title 1"/>
          <p:cNvSpPr>
            <a:spLocks noGrp="1"/>
          </p:cNvSpPr>
          <p:nvPr>
            <p:ph type="title" orient="vert"/>
          </p:nvPr>
        </p:nvSpPr>
        <p:spPr>
          <a:xfrm>
            <a:off x="7372101" y="609601"/>
            <a:ext cx="1886199" cy="5181601"/>
          </a:xfrm>
        </p:spPr>
        <p:txBody>
          <a:bodyPr vert="eaVert">
            <a:normAutofit/>
          </a:bodyPr>
          <a:lstStyle>
            <a:lvl1pPr>
              <a:defRPr sz="2800"/>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514350" y="609600"/>
            <a:ext cx="6738957"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4136626-2AE9-4567-8D5E-94F038CBDAA7}" type="datetimeFigureOut">
              <a:rPr lang="en-US" smtClean="0"/>
              <a:t>10/23/2021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276F9-8EC0-4ED6-B069-0CC0FD5EB513}" type="slidenum">
              <a:rPr lang="en-US" smtClean="0"/>
              <a:t>‹#›</a:t>
            </a:fld>
            <a:endParaRPr lang="en-US"/>
          </a:p>
        </p:txBody>
      </p:sp>
    </p:spTree>
    <p:extLst>
      <p:ext uri="{BB962C8B-B14F-4D97-AF65-F5344CB8AC3E}">
        <p14:creationId xmlns:p14="http://schemas.microsoft.com/office/powerpoint/2010/main" val="296390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4350" y="609602"/>
            <a:ext cx="8743950"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14350" y="2142069"/>
            <a:ext cx="8743950"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339176" y="5870577"/>
            <a:ext cx="1363695"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4136626-2AE9-4567-8D5E-94F038CBDAA7}" type="datetimeFigureOut">
              <a:rPr lang="en-US" smtClean="0"/>
              <a:t>10/23/2021</a:t>
            </a:fld>
            <a:endParaRPr lang="en-US"/>
          </a:p>
        </p:txBody>
      </p:sp>
      <p:sp>
        <p:nvSpPr>
          <p:cNvPr id="5" name="Footer Placeholder 4"/>
          <p:cNvSpPr>
            <a:spLocks noGrp="1"/>
          </p:cNvSpPr>
          <p:nvPr>
            <p:ph type="ftr" sz="quarter" idx="3"/>
          </p:nvPr>
        </p:nvSpPr>
        <p:spPr>
          <a:xfrm>
            <a:off x="514351" y="5870577"/>
            <a:ext cx="6739100"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788595" y="5870577"/>
            <a:ext cx="46970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2276F9-8EC0-4ED6-B069-0CC0FD5EB513}" type="slidenum">
              <a:rPr lang="en-US" smtClean="0"/>
              <a:t>‹#›</a:t>
            </a:fld>
            <a:endParaRPr lang="en-US"/>
          </a:p>
        </p:txBody>
      </p:sp>
    </p:spTree>
    <p:extLst>
      <p:ext uri="{BB962C8B-B14F-4D97-AF65-F5344CB8AC3E}">
        <p14:creationId xmlns:p14="http://schemas.microsoft.com/office/powerpoint/2010/main" val="246596487"/>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
          <p:cNvSpPr txBox="1">
            <a:spLocks noChangeArrowheads="1"/>
          </p:cNvSpPr>
          <p:nvPr/>
        </p:nvSpPr>
        <p:spPr bwMode="auto">
          <a:xfrm>
            <a:off x="7168866" y="5903188"/>
            <a:ext cx="311841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Helvetica" charset="0"/>
              </a:defRPr>
            </a:lvl1pPr>
            <a:lvl2pPr marL="742950" indent="-285750">
              <a:defRPr sz="2400">
                <a:solidFill>
                  <a:schemeClr val="tx1"/>
                </a:solidFill>
                <a:latin typeface="Helvetica" charset="0"/>
              </a:defRPr>
            </a:lvl2pPr>
            <a:lvl3pPr marL="1143000" indent="-228600">
              <a:defRPr sz="2400">
                <a:solidFill>
                  <a:schemeClr val="tx1"/>
                </a:solidFill>
                <a:latin typeface="Helvetica" charset="0"/>
              </a:defRPr>
            </a:lvl3pPr>
            <a:lvl4pPr marL="1600200" indent="-228600">
              <a:defRPr sz="2400">
                <a:solidFill>
                  <a:schemeClr val="tx1"/>
                </a:solidFill>
                <a:latin typeface="Helvetica" charset="0"/>
              </a:defRPr>
            </a:lvl4pPr>
            <a:lvl5pPr marL="2057400" indent="-228600">
              <a:defRPr sz="2400">
                <a:solidFill>
                  <a:schemeClr val="tx1"/>
                </a:solidFill>
                <a:latin typeface="Helvetica" charset="0"/>
              </a:defRPr>
            </a:lvl5pPr>
            <a:lvl6pPr marL="2514600" indent="-228600" eaLnBrk="0" fontAlgn="base" hangingPunct="0">
              <a:spcBef>
                <a:spcPct val="0"/>
              </a:spcBef>
              <a:spcAft>
                <a:spcPct val="0"/>
              </a:spcAft>
              <a:defRPr sz="2400">
                <a:solidFill>
                  <a:schemeClr val="tx1"/>
                </a:solidFill>
                <a:latin typeface="Helvetica" charset="0"/>
              </a:defRPr>
            </a:lvl6pPr>
            <a:lvl7pPr marL="2971800" indent="-228600" eaLnBrk="0" fontAlgn="base" hangingPunct="0">
              <a:spcBef>
                <a:spcPct val="0"/>
              </a:spcBef>
              <a:spcAft>
                <a:spcPct val="0"/>
              </a:spcAft>
              <a:defRPr sz="2400">
                <a:solidFill>
                  <a:schemeClr val="tx1"/>
                </a:solidFill>
                <a:latin typeface="Helvetica" charset="0"/>
              </a:defRPr>
            </a:lvl7pPr>
            <a:lvl8pPr marL="3429000" indent="-228600" eaLnBrk="0" fontAlgn="base" hangingPunct="0">
              <a:spcBef>
                <a:spcPct val="0"/>
              </a:spcBef>
              <a:spcAft>
                <a:spcPct val="0"/>
              </a:spcAft>
              <a:defRPr sz="2400">
                <a:solidFill>
                  <a:schemeClr val="tx1"/>
                </a:solidFill>
                <a:latin typeface="Helvetica" charset="0"/>
              </a:defRPr>
            </a:lvl8pPr>
            <a:lvl9pPr marL="3886200" indent="-228600" eaLnBrk="0" fontAlgn="base" hangingPunct="0">
              <a:spcBef>
                <a:spcPct val="0"/>
              </a:spcBef>
              <a:spcAft>
                <a:spcPct val="0"/>
              </a:spcAft>
              <a:defRPr sz="2400">
                <a:solidFill>
                  <a:schemeClr val="tx1"/>
                </a:solidFill>
                <a:latin typeface="Helvetica" charset="0"/>
              </a:defRPr>
            </a:lvl9pPr>
          </a:lstStyle>
          <a:p>
            <a:pPr algn="ctr"/>
            <a:r>
              <a:rPr lang="en-US" sz="2000" dirty="0"/>
              <a:t>Dr. </a:t>
            </a:r>
            <a:r>
              <a:rPr lang="en-US" sz="2000" dirty="0" err="1"/>
              <a:t>Pritam</a:t>
            </a:r>
            <a:r>
              <a:rPr lang="en-US" sz="2000" dirty="0"/>
              <a:t> </a:t>
            </a:r>
            <a:r>
              <a:rPr lang="en-US" sz="2000" dirty="0" err="1"/>
              <a:t>Chattopadhyay</a:t>
            </a:r>
            <a:endParaRPr lang="en-US" sz="2000" dirty="0"/>
          </a:p>
          <a:p>
            <a:pPr algn="ctr"/>
            <a:r>
              <a:rPr lang="en-US" sz="1800" dirty="0"/>
              <a:t>Department of Botany</a:t>
            </a:r>
          </a:p>
          <a:p>
            <a:pPr algn="ctr"/>
            <a:r>
              <a:rPr lang="en-US" sz="1800" dirty="0"/>
              <a:t>MUC Women’s College </a:t>
            </a:r>
          </a:p>
        </p:txBody>
      </p:sp>
      <p:sp>
        <p:nvSpPr>
          <p:cNvPr id="4" name="AutoShape 2" descr="Emerging Computing Technologies: Bioinformatics Certificate | NYU Tandon  School of Engineer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txBox="1">
            <a:spLocks noChangeArrowheads="1"/>
          </p:cNvSpPr>
          <p:nvPr/>
        </p:nvSpPr>
        <p:spPr>
          <a:xfrm>
            <a:off x="1215030" y="419016"/>
            <a:ext cx="9072254"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marL="0" indent="0">
              <a:buNone/>
            </a:pPr>
            <a:r>
              <a:rPr lang="en-US" sz="4400" dirty="0" smtClean="0">
                <a:solidFill>
                  <a:schemeClr val="tx1">
                    <a:lumMod val="95000"/>
                  </a:schemeClr>
                </a:solidFill>
              </a:rPr>
              <a:t>Unit </a:t>
            </a:r>
            <a:r>
              <a:rPr lang="en-US" sz="4400" dirty="0" smtClean="0">
                <a:solidFill>
                  <a:schemeClr val="tx1">
                    <a:lumMod val="95000"/>
                  </a:schemeClr>
                </a:solidFill>
              </a:rPr>
              <a:t>5: </a:t>
            </a:r>
            <a:r>
              <a:rPr lang="en-US" sz="4400" dirty="0"/>
              <a:t>Molecular </a:t>
            </a:r>
            <a:r>
              <a:rPr lang="en-US" sz="4400" dirty="0" smtClean="0"/>
              <a:t>Phylogeny</a:t>
            </a:r>
            <a:endParaRPr lang="en-US" sz="4400" dirty="0">
              <a:solidFill>
                <a:schemeClr val="tx1">
                  <a:lumMod val="95000"/>
                </a:schemeClr>
              </a:solidFill>
            </a:endParaRPr>
          </a:p>
        </p:txBody>
      </p:sp>
    </p:spTree>
    <p:extLst>
      <p:ext uri="{BB962C8B-B14F-4D97-AF65-F5344CB8AC3E}">
        <p14:creationId xmlns:p14="http://schemas.microsoft.com/office/powerpoint/2010/main" val="23170184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smtClean="0"/>
              <a:t>Introduction </a:t>
            </a:r>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121146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8353" y="197346"/>
            <a:ext cx="10098647" cy="5539978"/>
          </a:xfrm>
          <a:prstGeom prst="rect">
            <a:avLst/>
          </a:prstGeom>
        </p:spPr>
        <p:txBody>
          <a:bodyPr wrap="square">
            <a:spAutoFit/>
          </a:bodyPr>
          <a:lstStyle/>
          <a:p>
            <a:r>
              <a:rPr lang="en-US" sz="3600" b="1" dirty="0"/>
              <a:t>Introduction</a:t>
            </a:r>
          </a:p>
          <a:p>
            <a:r>
              <a:rPr lang="en-US" sz="2400" dirty="0"/>
              <a:t>Phylogeny is the evolution of genetically related group of organisms. </a:t>
            </a:r>
            <a:r>
              <a:rPr lang="en-US" sz="2400" dirty="0" err="1"/>
              <a:t>Phylogenetics</a:t>
            </a:r>
            <a:r>
              <a:rPr lang="en-US" sz="2400" dirty="0"/>
              <a:t> is the </a:t>
            </a:r>
            <a:r>
              <a:rPr lang="en-US" sz="2400" dirty="0" smtClean="0"/>
              <a:t>study of </a:t>
            </a:r>
            <a:r>
              <a:rPr lang="en-US" sz="2400" dirty="0"/>
              <a:t>relationships between collection of "things" (genes, proteins, organs..) that are derived from </a:t>
            </a:r>
            <a:r>
              <a:rPr lang="en-US" sz="2400" dirty="0" smtClean="0"/>
              <a:t>a common </a:t>
            </a:r>
            <a:r>
              <a:rPr lang="en-US" sz="2400" dirty="0"/>
              <a:t>ancestor</a:t>
            </a:r>
            <a:r>
              <a:rPr lang="en-US" sz="2400" dirty="0" smtClean="0"/>
              <a:t>.</a:t>
            </a:r>
          </a:p>
          <a:p>
            <a:endParaRPr lang="en-US" dirty="0"/>
          </a:p>
          <a:p>
            <a:r>
              <a:rPr lang="en-US" sz="3600" b="1" dirty="0"/>
              <a:t>Purpose of </a:t>
            </a:r>
            <a:r>
              <a:rPr lang="en-US" sz="3600" b="1" dirty="0" err="1"/>
              <a:t>phylogenetics</a:t>
            </a:r>
            <a:r>
              <a:rPr lang="en-US" sz="3600" b="1" dirty="0"/>
              <a:t>:</a:t>
            </a:r>
          </a:p>
          <a:p>
            <a:r>
              <a:rPr lang="en-US" sz="2400" dirty="0"/>
              <a:t>With the aid of sequences, it should be possible to find the </a:t>
            </a:r>
            <a:r>
              <a:rPr lang="en-US" sz="2400" dirty="0" smtClean="0"/>
              <a:t>genealogical </a:t>
            </a:r>
            <a:r>
              <a:rPr lang="en-US" sz="2400" dirty="0"/>
              <a:t>ties between </a:t>
            </a:r>
            <a:r>
              <a:rPr lang="en-US" sz="2400" dirty="0" smtClean="0"/>
              <a:t>organisms. Experience </a:t>
            </a:r>
            <a:r>
              <a:rPr lang="en-US" sz="2400" dirty="0"/>
              <a:t>learns that closely related organisms have similar sequences; more distantly </a:t>
            </a:r>
            <a:r>
              <a:rPr lang="en-US" sz="2400" dirty="0" smtClean="0"/>
              <a:t>related organisms </a:t>
            </a:r>
            <a:r>
              <a:rPr lang="en-US" sz="2400" dirty="0"/>
              <a:t>have more dissimilar sequences. </a:t>
            </a:r>
            <a:endParaRPr lang="en-US" sz="2400" dirty="0" smtClean="0"/>
          </a:p>
          <a:p>
            <a:pPr marL="342900" indent="-342900">
              <a:buFont typeface="Wingdings" pitchFamily="2" charset="2"/>
              <a:buChar char="Ø"/>
            </a:pPr>
            <a:r>
              <a:rPr lang="en-US" sz="2400" dirty="0" smtClean="0"/>
              <a:t>	One </a:t>
            </a:r>
            <a:r>
              <a:rPr lang="en-US" sz="2400" dirty="0"/>
              <a:t>objective is to reconstruct the </a:t>
            </a:r>
            <a:r>
              <a:rPr lang="en-US" sz="2400" dirty="0" smtClean="0"/>
              <a:t>evolutionary relationship 	between </a:t>
            </a:r>
            <a:r>
              <a:rPr lang="en-US" sz="2400" dirty="0"/>
              <a:t>species.</a:t>
            </a:r>
          </a:p>
          <a:p>
            <a:pPr marL="342900" indent="-342900">
              <a:buFont typeface="Wingdings" pitchFamily="2" charset="2"/>
              <a:buChar char="Ø"/>
            </a:pPr>
            <a:r>
              <a:rPr lang="en-US" sz="2400" dirty="0" smtClean="0"/>
              <a:t>	Another </a:t>
            </a:r>
            <a:r>
              <a:rPr lang="en-US" sz="2400" dirty="0"/>
              <a:t>objective is to estimate the time of divergence </a:t>
            </a:r>
            <a:r>
              <a:rPr lang="en-US" sz="2400" dirty="0" smtClean="0"/>
              <a:t>	between </a:t>
            </a:r>
            <a:r>
              <a:rPr lang="en-US" sz="2400" dirty="0"/>
              <a:t>two organisms since they </a:t>
            </a:r>
            <a:r>
              <a:rPr lang="en-US" sz="2400" dirty="0" smtClean="0"/>
              <a:t>last shared </a:t>
            </a:r>
            <a:r>
              <a:rPr lang="en-US" sz="2400" dirty="0"/>
              <a:t>a common </a:t>
            </a:r>
            <a:r>
              <a:rPr lang="en-US" sz="2400" dirty="0" smtClean="0"/>
              <a:t>	ancestor</a:t>
            </a:r>
            <a:r>
              <a:rPr lang="en-US" sz="2400" dirty="0"/>
              <a:t>.</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122247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r>
              <a:rPr lang="en-US"/>
              <a:t>Phylogenetic Analysis</a:t>
            </a:r>
          </a:p>
        </p:txBody>
      </p:sp>
      <p:sp>
        <p:nvSpPr>
          <p:cNvPr id="126979" name="Rectangle 3"/>
          <p:cNvSpPr>
            <a:spLocks noGrp="1" noChangeArrowheads="1"/>
          </p:cNvSpPr>
          <p:nvPr>
            <p:ph type="body" idx="1"/>
          </p:nvPr>
        </p:nvSpPr>
        <p:spPr/>
        <p:txBody>
          <a:bodyPr>
            <a:normAutofit/>
          </a:bodyPr>
          <a:lstStyle/>
          <a:p>
            <a:r>
              <a:rPr lang="en-US" sz="2400" dirty="0"/>
              <a:t>Study relationships between organisms</a:t>
            </a:r>
          </a:p>
          <a:p>
            <a:pPr lvl="1"/>
            <a:r>
              <a:rPr lang="en-US" sz="2400" dirty="0"/>
              <a:t>Characteristic similarity</a:t>
            </a:r>
          </a:p>
          <a:p>
            <a:pPr lvl="1"/>
            <a:r>
              <a:rPr lang="en-US" sz="2400" dirty="0"/>
              <a:t>Sequence similarity</a:t>
            </a:r>
          </a:p>
          <a:p>
            <a:pPr lvl="1"/>
            <a:r>
              <a:rPr lang="en-US" sz="2400" dirty="0"/>
              <a:t>Whole genome </a:t>
            </a:r>
            <a:r>
              <a:rPr lang="en-US" sz="2400" dirty="0" smtClean="0"/>
              <a:t>comparison</a:t>
            </a:r>
            <a:endParaRPr 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3697566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3241" y="751345"/>
            <a:ext cx="9953759" cy="4339650"/>
          </a:xfrm>
          <a:prstGeom prst="rect">
            <a:avLst/>
          </a:prstGeom>
        </p:spPr>
        <p:txBody>
          <a:bodyPr wrap="square">
            <a:spAutoFit/>
          </a:bodyPr>
          <a:lstStyle/>
          <a:p>
            <a:r>
              <a:rPr lang="en-US" sz="3600" b="1" dirty="0"/>
              <a:t>Molecular phylogenies</a:t>
            </a:r>
          </a:p>
          <a:p>
            <a:r>
              <a:rPr lang="en-US" sz="2400" dirty="0"/>
              <a:t>In the last thirty years, numerous interesting ex-</a:t>
            </a:r>
            <a:r>
              <a:rPr lang="en-US" sz="2400" dirty="0" err="1"/>
              <a:t>amples</a:t>
            </a:r>
            <a:r>
              <a:rPr lang="en-US" sz="2400" dirty="0"/>
              <a:t> of evolutionary relationships </a:t>
            </a:r>
            <a:r>
              <a:rPr lang="en-US" sz="2400" dirty="0" smtClean="0"/>
              <a:t>deciphered by </a:t>
            </a:r>
            <a:r>
              <a:rPr lang="en-US" sz="2400" dirty="0"/>
              <a:t>sequence analysis have been accumulated</a:t>
            </a:r>
          </a:p>
          <a:p>
            <a:r>
              <a:rPr lang="en-US" sz="2400" dirty="0"/>
              <a:t>These studies have had important implications in medicine, agriculture, conservation of </a:t>
            </a:r>
            <a:r>
              <a:rPr lang="en-US" sz="2400" dirty="0" smtClean="0"/>
              <a:t>the species</a:t>
            </a:r>
            <a:endParaRPr lang="en-US" sz="2400" dirty="0"/>
          </a:p>
          <a:p>
            <a:r>
              <a:rPr lang="en-US" sz="2400" dirty="0"/>
              <a:t>It is likely that a particular drug effective against a certain type of infection is also effective </a:t>
            </a:r>
            <a:r>
              <a:rPr lang="en-US" sz="2400" dirty="0" smtClean="0"/>
              <a:t>on infections </a:t>
            </a:r>
            <a:r>
              <a:rPr lang="en-US" sz="2400" dirty="0"/>
              <a:t>caused by related organisms</a:t>
            </a:r>
          </a:p>
          <a:p>
            <a:r>
              <a:rPr lang="en-US" sz="2400" dirty="0"/>
              <a:t>Easy transfer of resistance factors to parasites among closely related plant </a:t>
            </a:r>
            <a:r>
              <a:rPr lang="en-US" sz="2400" dirty="0" smtClean="0"/>
              <a:t>species Possibility </a:t>
            </a:r>
            <a:r>
              <a:rPr lang="en-US" sz="2400" dirty="0"/>
              <a:t>of determining whether a given population of organisms is distinguished enough to </a:t>
            </a:r>
            <a:r>
              <a:rPr lang="en-US" sz="2400" dirty="0" smtClean="0"/>
              <a:t>be classified </a:t>
            </a:r>
            <a:r>
              <a:rPr lang="en-US" sz="2400" dirty="0"/>
              <a:t>as a separate species, to eventually deserve it a special protection</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525551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title"/>
          </p:nvPr>
        </p:nvSpPr>
        <p:spPr/>
        <p:txBody>
          <a:bodyPr/>
          <a:lstStyle/>
          <a:p>
            <a:r>
              <a:rPr lang="en-US"/>
              <a:t>Phylogenetic Analysis</a:t>
            </a:r>
          </a:p>
        </p:txBody>
      </p:sp>
      <p:pic>
        <p:nvPicPr>
          <p:cNvPr id="128003"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771525" y="1987551"/>
            <a:ext cx="8743950" cy="4100513"/>
          </a:xfrm>
          <a:noFill/>
          <a:ln/>
          <a:extLst>
            <a:ext uri="{91240B29-F687-4F45-9708-019B960494DF}">
              <a14:hiddenLine xmlns:a14="http://schemas.microsoft.com/office/drawing/2010/main" w="12700">
                <a:solidFill>
                  <a:schemeClr val="tx1"/>
                </a:solidFill>
                <a:miter lim="800000"/>
                <a:headEnd/>
                <a:tailEnd/>
              </a14:hiddenLine>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65402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 y="0"/>
            <a:ext cx="10286999" cy="6186309"/>
          </a:xfrm>
          <a:prstGeom prst="rect">
            <a:avLst/>
          </a:prstGeom>
        </p:spPr>
        <p:txBody>
          <a:bodyPr wrap="square">
            <a:spAutoFit/>
          </a:bodyPr>
          <a:lstStyle/>
          <a:p>
            <a:r>
              <a:rPr lang="en-US" sz="3600" b="1" dirty="0"/>
              <a:t>Terminology:</a:t>
            </a:r>
          </a:p>
          <a:p>
            <a:pPr marL="342900" indent="-342900">
              <a:buFont typeface="Wingdings" pitchFamily="2" charset="2"/>
              <a:buChar char="Ø"/>
            </a:pPr>
            <a:r>
              <a:rPr lang="en-US" sz="2400" b="1" dirty="0" smtClean="0"/>
              <a:t>node</a:t>
            </a:r>
            <a:r>
              <a:rPr lang="en-US" sz="2400" b="1" dirty="0"/>
              <a:t>: </a:t>
            </a:r>
            <a:r>
              <a:rPr lang="en-US" sz="2400" dirty="0"/>
              <a:t>a node represents a taxonomic unit. This can be a taxon (an existing species) or </a:t>
            </a:r>
            <a:r>
              <a:rPr lang="en-US" sz="2400" dirty="0" smtClean="0"/>
              <a:t>an ancestor </a:t>
            </a:r>
            <a:r>
              <a:rPr lang="en-US" sz="2400" dirty="0"/>
              <a:t>(unknown species: represents the ancestor of 2 or more species).</a:t>
            </a:r>
          </a:p>
          <a:p>
            <a:pPr marL="342900" indent="-342900">
              <a:buFont typeface="Wingdings" pitchFamily="2" charset="2"/>
              <a:buChar char="Ø"/>
            </a:pPr>
            <a:r>
              <a:rPr lang="en-US" sz="2400" b="1" dirty="0" smtClean="0"/>
              <a:t>terminal </a:t>
            </a:r>
            <a:r>
              <a:rPr lang="en-US" sz="2400" b="1" dirty="0"/>
              <a:t>nodes</a:t>
            </a:r>
            <a:r>
              <a:rPr lang="en-US" sz="2400" dirty="0"/>
              <a:t>: represent the data (</a:t>
            </a:r>
            <a:r>
              <a:rPr lang="en-US" sz="2400" dirty="0" err="1"/>
              <a:t>e.g</a:t>
            </a:r>
            <a:r>
              <a:rPr lang="en-US" sz="2400" dirty="0"/>
              <a:t> sequences) under comparison (A,B,C,D,E), </a:t>
            </a:r>
            <a:r>
              <a:rPr lang="en-US" sz="2400" dirty="0" smtClean="0"/>
              <a:t>also known </a:t>
            </a:r>
            <a:r>
              <a:rPr lang="en-US" sz="2400" dirty="0"/>
              <a:t>as OTUs, (Operational Taxonomic Units).</a:t>
            </a:r>
          </a:p>
          <a:p>
            <a:pPr marL="342900" indent="-342900">
              <a:buFont typeface="Wingdings" pitchFamily="2" charset="2"/>
              <a:buChar char="Ø"/>
            </a:pPr>
            <a:r>
              <a:rPr lang="en-US" sz="2400" b="1" dirty="0" smtClean="0"/>
              <a:t>internal </a:t>
            </a:r>
            <a:r>
              <a:rPr lang="en-US" sz="2400" b="1" dirty="0"/>
              <a:t>nodes</a:t>
            </a:r>
            <a:r>
              <a:rPr lang="en-US" sz="2400" dirty="0"/>
              <a:t>: represent inferred ancestral units (usually without empirical data), </a:t>
            </a:r>
            <a:r>
              <a:rPr lang="en-US" sz="2400" dirty="0" smtClean="0"/>
              <a:t>also known </a:t>
            </a:r>
            <a:r>
              <a:rPr lang="en-US" sz="2400" dirty="0"/>
              <a:t>as HTUs, (Hypothetical Taxonomic Units).</a:t>
            </a:r>
          </a:p>
          <a:p>
            <a:pPr marL="342900" indent="-342900">
              <a:buFont typeface="Wingdings" pitchFamily="2" charset="2"/>
              <a:buChar char="Ø"/>
            </a:pPr>
            <a:r>
              <a:rPr lang="en-US" sz="2400" b="1" dirty="0" smtClean="0"/>
              <a:t>branch</a:t>
            </a:r>
            <a:r>
              <a:rPr lang="en-US" sz="2400" b="1" dirty="0"/>
              <a:t>: </a:t>
            </a:r>
            <a:r>
              <a:rPr lang="en-US" sz="2400" dirty="0"/>
              <a:t>defines the relationship between the taxa in terms of descent and ancestry.</a:t>
            </a:r>
          </a:p>
          <a:p>
            <a:pPr marL="342900" indent="-342900">
              <a:buFont typeface="Wingdings" pitchFamily="2" charset="2"/>
              <a:buChar char="Ø"/>
            </a:pPr>
            <a:r>
              <a:rPr lang="en-US" sz="2400" b="1" dirty="0" smtClean="0"/>
              <a:t>topology</a:t>
            </a:r>
            <a:r>
              <a:rPr lang="en-US" sz="2400" b="1" dirty="0"/>
              <a:t>: </a:t>
            </a:r>
            <a:r>
              <a:rPr lang="en-US" sz="2400" dirty="0"/>
              <a:t>is the branching pattern.</a:t>
            </a:r>
          </a:p>
          <a:p>
            <a:pPr marL="342900" indent="-342900">
              <a:buFont typeface="Wingdings" pitchFamily="2" charset="2"/>
              <a:buChar char="Ø"/>
            </a:pPr>
            <a:r>
              <a:rPr lang="en-US" sz="2400" b="1" dirty="0" smtClean="0"/>
              <a:t>branch </a:t>
            </a:r>
            <a:r>
              <a:rPr lang="en-US" sz="2400" b="1" dirty="0"/>
              <a:t>length : </a:t>
            </a:r>
            <a:r>
              <a:rPr lang="en-US" sz="2400" dirty="0"/>
              <a:t>often represents the number of changes that have occurred in </a:t>
            </a:r>
            <a:r>
              <a:rPr lang="en-US" sz="2400" dirty="0" smtClean="0"/>
              <a:t>that branch</a:t>
            </a:r>
            <a:r>
              <a:rPr lang="en-US" sz="2400" dirty="0"/>
              <a:t>.</a:t>
            </a:r>
          </a:p>
          <a:p>
            <a:pPr marL="342900" indent="-342900">
              <a:buFont typeface="Wingdings" pitchFamily="2" charset="2"/>
              <a:buChar char="Ø"/>
            </a:pPr>
            <a:r>
              <a:rPr lang="en-US" sz="2400" b="1" dirty="0" smtClean="0"/>
              <a:t>root</a:t>
            </a:r>
            <a:r>
              <a:rPr lang="en-US" sz="2400" b="1" dirty="0"/>
              <a:t>: </a:t>
            </a:r>
            <a:r>
              <a:rPr lang="en-US" sz="2400" dirty="0"/>
              <a:t>is the common ancestor of all taxa.</a:t>
            </a:r>
          </a:p>
          <a:p>
            <a:pPr marL="342900" indent="-342900">
              <a:buFont typeface="Wingdings" pitchFamily="2" charset="2"/>
              <a:buChar char="Ø"/>
            </a:pPr>
            <a:r>
              <a:rPr lang="en-US" sz="2400" b="1" dirty="0" smtClean="0"/>
              <a:t>distance </a:t>
            </a:r>
            <a:r>
              <a:rPr lang="en-US" sz="2400" b="1" dirty="0"/>
              <a:t>scale: </a:t>
            </a:r>
            <a:r>
              <a:rPr lang="en-US" sz="2400" dirty="0"/>
              <a:t>scale which represents the number of differences between sequences (</a:t>
            </a:r>
            <a:r>
              <a:rPr lang="en-US" sz="2400" dirty="0" smtClean="0"/>
              <a:t>e.g. 0.1 </a:t>
            </a:r>
            <a:r>
              <a:rPr lang="en-US" sz="2400" dirty="0"/>
              <a:t>means 10 % differences between two sequences)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36421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9934" y="1127125"/>
            <a:ext cx="5647134" cy="461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77210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066" y="1066800"/>
            <a:ext cx="9236869"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05410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15911" y="1617"/>
            <a:ext cx="10171090" cy="6432530"/>
          </a:xfrm>
          <a:prstGeom prst="rect">
            <a:avLst/>
          </a:prstGeom>
        </p:spPr>
        <p:txBody>
          <a:bodyPr wrap="square">
            <a:spAutoFit/>
          </a:bodyPr>
          <a:lstStyle/>
          <a:p>
            <a:r>
              <a:rPr lang="en-US" sz="3600" b="1" dirty="0"/>
              <a:t>Relationships of phylogenetic analysis and sequences analysis</a:t>
            </a:r>
          </a:p>
          <a:p>
            <a:pPr marL="342900" indent="-342900">
              <a:buFont typeface="Wingdings" pitchFamily="2" charset="2"/>
              <a:buChar char="Ø"/>
            </a:pPr>
            <a:r>
              <a:rPr lang="en-US" sz="2000" dirty="0" smtClean="0"/>
              <a:t>When </a:t>
            </a:r>
            <a:r>
              <a:rPr lang="en-US" sz="2000" dirty="0"/>
              <a:t>2 sequences found in 2 organisms are very similar, we assume that they </a:t>
            </a:r>
            <a:r>
              <a:rPr lang="en-US" sz="2000" dirty="0" smtClean="0"/>
              <a:t>have derived </a:t>
            </a:r>
            <a:r>
              <a:rPr lang="en-US" sz="2000" dirty="0"/>
              <a:t>from one ancestor. The sequence alignments reveal which positions </a:t>
            </a:r>
            <a:r>
              <a:rPr lang="en-US" sz="2000" dirty="0" smtClean="0"/>
              <a:t>are conserved </a:t>
            </a:r>
            <a:r>
              <a:rPr lang="en-US" sz="2000" dirty="0"/>
              <a:t>from the ancestor sequence.</a:t>
            </a:r>
          </a:p>
          <a:p>
            <a:pPr marL="342900" indent="-342900">
              <a:buFont typeface="Wingdings" pitchFamily="2" charset="2"/>
              <a:buChar char="Ø"/>
            </a:pPr>
            <a:r>
              <a:rPr lang="en-US" sz="2000" dirty="0" smtClean="0"/>
              <a:t>If </a:t>
            </a:r>
            <a:r>
              <a:rPr lang="en-US" sz="2000" dirty="0"/>
              <a:t>two sequences of length N differ from each other at n sites, then their degree </a:t>
            </a:r>
            <a:r>
              <a:rPr lang="en-US" sz="2000" dirty="0" smtClean="0"/>
              <a:t>of </a:t>
            </a:r>
            <a:r>
              <a:rPr lang="pt-BR" sz="2000" dirty="0" smtClean="0"/>
              <a:t>divergence </a:t>
            </a:r>
            <a:r>
              <a:rPr lang="pt-BR" sz="2000" dirty="0"/>
              <a:t>is: n/N or n/N*100</a:t>
            </a:r>
            <a:r>
              <a:rPr lang="pt-BR" sz="2000" dirty="0" smtClean="0"/>
              <a:t>%.</a:t>
            </a:r>
          </a:p>
          <a:p>
            <a:pPr marL="342900" indent="-342900">
              <a:buFont typeface="Wingdings" pitchFamily="2" charset="2"/>
              <a:buChar char="Ø"/>
            </a:pPr>
            <a:r>
              <a:rPr lang="en-US" sz="2000" dirty="0" smtClean="0"/>
              <a:t>The </a:t>
            </a:r>
            <a:r>
              <a:rPr lang="en-US" sz="2000" dirty="0"/>
              <a:t>progressive multiple alignment of a group of sequences, first aligns the most </a:t>
            </a:r>
            <a:r>
              <a:rPr lang="en-US" sz="2000" dirty="0" smtClean="0"/>
              <a:t>similar pair</a:t>
            </a:r>
            <a:r>
              <a:rPr lang="en-US" sz="2000" dirty="0"/>
              <a:t>. Then it adds the more distant pairs. The alignment is influenced by the “</a:t>
            </a:r>
            <a:r>
              <a:rPr lang="en-US" sz="2000" dirty="0" smtClean="0"/>
              <a:t>most similar</a:t>
            </a:r>
            <a:r>
              <a:rPr lang="en-US" sz="2000" dirty="0"/>
              <a:t>” pairs and arranged accordingly, but….it does not always correctly represent </a:t>
            </a:r>
            <a:r>
              <a:rPr lang="en-US" sz="2000" dirty="0" smtClean="0"/>
              <a:t>the evolutionary </a:t>
            </a:r>
            <a:r>
              <a:rPr lang="en-US" sz="2000" dirty="0"/>
              <a:t>history of the occurred changes. Not all phylogenetic methods work </a:t>
            </a:r>
            <a:r>
              <a:rPr lang="en-US" sz="2000" dirty="0" err="1" smtClean="0"/>
              <a:t>thisway</a:t>
            </a:r>
            <a:r>
              <a:rPr lang="en-US" sz="2000" dirty="0"/>
              <a:t>.</a:t>
            </a:r>
          </a:p>
          <a:p>
            <a:pPr marL="342900" indent="-342900">
              <a:buFont typeface="Wingdings" pitchFamily="2" charset="2"/>
              <a:buChar char="Ø"/>
            </a:pPr>
            <a:r>
              <a:rPr lang="en-US" sz="2000" dirty="0" smtClean="0"/>
              <a:t>Most </a:t>
            </a:r>
            <a:r>
              <a:rPr lang="en-US" sz="2000" dirty="0"/>
              <a:t>phylogenetic methods assume that each position in a sequence can </a:t>
            </a:r>
            <a:r>
              <a:rPr lang="en-US" sz="2000" dirty="0" smtClean="0"/>
              <a:t>change independently </a:t>
            </a:r>
            <a:r>
              <a:rPr lang="en-US" sz="2000" dirty="0"/>
              <a:t>from the other positions. Gaps in alignments represent mutations </a:t>
            </a:r>
            <a:r>
              <a:rPr lang="en-US" sz="2000" dirty="0" smtClean="0"/>
              <a:t>in sequences </a:t>
            </a:r>
            <a:r>
              <a:rPr lang="en-US" sz="2000" dirty="0"/>
              <a:t>such as: insertion, deletion, and genetic </a:t>
            </a:r>
            <a:r>
              <a:rPr lang="en-US" sz="2000" dirty="0" err="1"/>
              <a:t>rearrangments</a:t>
            </a:r>
            <a:r>
              <a:rPr lang="en-US" sz="2000" dirty="0"/>
              <a:t>. Gaps are treated </a:t>
            </a:r>
            <a:r>
              <a:rPr lang="en-US" sz="2000" dirty="0" smtClean="0"/>
              <a:t>in various </a:t>
            </a:r>
            <a:r>
              <a:rPr lang="en-US" sz="2000" dirty="0"/>
              <a:t>ways by the phylogenetic methods. Most of them ignore gaps.</a:t>
            </a:r>
          </a:p>
          <a:p>
            <a:pPr marL="342900" indent="-342900">
              <a:buFont typeface="Wingdings" pitchFamily="2" charset="2"/>
              <a:buChar char="Ø"/>
            </a:pPr>
            <a:r>
              <a:rPr lang="en-US" sz="2000" dirty="0" smtClean="0"/>
              <a:t>Another </a:t>
            </a:r>
            <a:r>
              <a:rPr lang="en-US" sz="2000" dirty="0"/>
              <a:t>approach to treat gaps is by using sequences similarity scores as the base for </a:t>
            </a:r>
            <a:r>
              <a:rPr lang="en-US" sz="2000" dirty="0" smtClean="0"/>
              <a:t>the phylogenetic </a:t>
            </a:r>
            <a:r>
              <a:rPr lang="en-US" sz="2000" dirty="0"/>
              <a:t>analysis, instead of using the alignment itself, and trying to decide </a:t>
            </a:r>
            <a:r>
              <a:rPr lang="en-US" sz="2000" dirty="0" smtClean="0"/>
              <a:t>what happened </a:t>
            </a:r>
            <a:r>
              <a:rPr lang="en-US" sz="2000" dirty="0"/>
              <a:t>at each position. The similarity scores based on scoring matrices (with </a:t>
            </a:r>
            <a:r>
              <a:rPr lang="en-US" sz="2000" dirty="0" smtClean="0"/>
              <a:t>gaps scores</a:t>
            </a:r>
            <a:r>
              <a:rPr lang="en-US" sz="2000" dirty="0"/>
              <a:t>) are used by the DISTANCE methods.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1323891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199" y="283339"/>
            <a:ext cx="10221801" cy="4524315"/>
          </a:xfrm>
          <a:prstGeom prst="rect">
            <a:avLst/>
          </a:prstGeom>
        </p:spPr>
        <p:txBody>
          <a:bodyPr wrap="square">
            <a:spAutoFit/>
          </a:bodyPr>
          <a:lstStyle/>
          <a:p>
            <a:r>
              <a:rPr lang="en-US" sz="3600" b="1" dirty="0"/>
              <a:t>The molecular clock hypothesis</a:t>
            </a:r>
          </a:p>
          <a:p>
            <a:r>
              <a:rPr lang="en-US" sz="2400" dirty="0"/>
              <a:t>All the mutations occur in the same rate in all the tree branches.</a:t>
            </a:r>
          </a:p>
          <a:p>
            <a:r>
              <a:rPr lang="en-US" sz="2400" dirty="0"/>
              <a:t>The rate of the mutations is the same for all positions along the sequence.</a:t>
            </a:r>
          </a:p>
          <a:p>
            <a:r>
              <a:rPr lang="en-US" sz="2400" dirty="0"/>
              <a:t>The Molecular Clock Hypothesis is most suitable for closely related </a:t>
            </a:r>
            <a:r>
              <a:rPr lang="en-US" sz="2400" dirty="0" smtClean="0"/>
              <a:t>species. Example</a:t>
            </a:r>
            <a:r>
              <a:rPr lang="en-US" sz="2400" dirty="0"/>
              <a:t>: DNA Barcoding </a:t>
            </a:r>
            <a:r>
              <a:rPr lang="en-US" sz="2400" dirty="0" smtClean="0"/>
              <a:t>loci</a:t>
            </a:r>
          </a:p>
          <a:p>
            <a:endParaRPr lang="en-US" sz="2400" dirty="0"/>
          </a:p>
          <a:p>
            <a:r>
              <a:rPr lang="en-US" sz="3600" b="1" dirty="0"/>
              <a:t>Theoretical implication of mutation on phylogeny</a:t>
            </a:r>
          </a:p>
          <a:p>
            <a:r>
              <a:rPr lang="en-US" sz="2400" b="1" dirty="0" err="1"/>
              <a:t>Orhhologs</a:t>
            </a:r>
            <a:r>
              <a:rPr lang="en-US" sz="2400" dirty="0"/>
              <a:t>: genes related by speciation events. Meaning same genes in different species.</a:t>
            </a:r>
          </a:p>
          <a:p>
            <a:r>
              <a:rPr lang="en-US" sz="2400" b="1" dirty="0" err="1"/>
              <a:t>Paralogs</a:t>
            </a:r>
            <a:r>
              <a:rPr lang="en-US" sz="2400" dirty="0"/>
              <a:t>: genes related by duplication events. Meaning duplicated genes in same species.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218201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713"/>
            <a:ext cx="10287000" cy="6247864"/>
          </a:xfrm>
          <a:prstGeom prst="rect">
            <a:avLst/>
          </a:prstGeom>
        </p:spPr>
        <p:txBody>
          <a:bodyPr wrap="square">
            <a:spAutoFit/>
          </a:bodyPr>
          <a:lstStyle/>
          <a:p>
            <a:r>
              <a:rPr lang="en-US" sz="3600" b="1" dirty="0"/>
              <a:t>Selecting sequences for phylogenetic analysis</a:t>
            </a:r>
          </a:p>
          <a:p>
            <a:r>
              <a:rPr lang="en-US" sz="2800" dirty="0"/>
              <a:t>(What </a:t>
            </a:r>
            <a:r>
              <a:rPr lang="en-US" sz="2800" i="1" dirty="0"/>
              <a:t>type </a:t>
            </a:r>
            <a:r>
              <a:rPr lang="en-US" sz="2800" dirty="0"/>
              <a:t>of sequence to use, Protein or DNA?)</a:t>
            </a:r>
          </a:p>
          <a:p>
            <a:r>
              <a:rPr lang="en-US" sz="2400" dirty="0"/>
              <a:t>The rate of mutation is assumed to be the same in both coding and non-coding </a:t>
            </a:r>
            <a:r>
              <a:rPr lang="en-US" sz="2400" dirty="0" smtClean="0"/>
              <a:t>regions. However</a:t>
            </a:r>
            <a:r>
              <a:rPr lang="en-US" sz="2400" dirty="0"/>
              <a:t>, there is a difference in the substitution rate.</a:t>
            </a:r>
          </a:p>
          <a:p>
            <a:pPr marL="342900" indent="-342900">
              <a:buFont typeface="Wingdings" pitchFamily="2" charset="2"/>
              <a:buChar char="Ø"/>
            </a:pPr>
            <a:r>
              <a:rPr lang="en-US" sz="2400" dirty="0" smtClean="0"/>
              <a:t>Non-coding </a:t>
            </a:r>
            <a:r>
              <a:rPr lang="en-US" sz="2400" dirty="0"/>
              <a:t>DNA regions have more substitution than coding regions.</a:t>
            </a:r>
          </a:p>
          <a:p>
            <a:pPr marL="342900" indent="-342900">
              <a:buFont typeface="Wingdings" pitchFamily="2" charset="2"/>
              <a:buChar char="Ø"/>
            </a:pPr>
            <a:r>
              <a:rPr lang="en-US" sz="2400" dirty="0" smtClean="0"/>
              <a:t>Proteins </a:t>
            </a:r>
            <a:r>
              <a:rPr lang="en-US" sz="2400" dirty="0"/>
              <a:t>are much more conserved since they "need" to conserve their function.</a:t>
            </a:r>
          </a:p>
          <a:p>
            <a:r>
              <a:rPr lang="en-US" sz="2400" dirty="0"/>
              <a:t>So it is better to use sequences that mutate slowly (proteins) than DNA. However, if the </a:t>
            </a:r>
            <a:r>
              <a:rPr lang="en-US" sz="2400" dirty="0" smtClean="0"/>
              <a:t>genes are </a:t>
            </a:r>
            <a:r>
              <a:rPr lang="en-US" sz="2400" dirty="0"/>
              <a:t>very small, or they mutate slowly, we can use them for building the trees.</a:t>
            </a:r>
          </a:p>
          <a:p>
            <a:r>
              <a:rPr lang="en-US" sz="2400" dirty="0"/>
              <a:t>Sequences that are being compared belong together (</a:t>
            </a:r>
            <a:r>
              <a:rPr lang="en-US" sz="2400" dirty="0" err="1"/>
              <a:t>orthologs</a:t>
            </a:r>
            <a:r>
              <a:rPr lang="en-US" sz="2400" dirty="0"/>
              <a:t>).</a:t>
            </a:r>
          </a:p>
          <a:p>
            <a:pPr marL="342900" indent="-342900">
              <a:buFont typeface="Wingdings" pitchFamily="2" charset="2"/>
              <a:buChar char="Ø"/>
            </a:pPr>
            <a:r>
              <a:rPr lang="en-US" sz="2400" dirty="0" smtClean="0"/>
              <a:t>If </a:t>
            </a:r>
            <a:r>
              <a:rPr lang="en-US" sz="2400" dirty="0"/>
              <a:t>no ancestral sequence is available you may use an "</a:t>
            </a:r>
            <a:r>
              <a:rPr lang="en-US" sz="2400" dirty="0" err="1"/>
              <a:t>outgroup</a:t>
            </a:r>
            <a:r>
              <a:rPr lang="en-US" sz="2400" dirty="0"/>
              <a:t>" as a reference to </a:t>
            </a:r>
            <a:r>
              <a:rPr lang="en-US" sz="2400" dirty="0" smtClean="0"/>
              <a:t>measure distances</a:t>
            </a:r>
            <a:r>
              <a:rPr lang="en-US" sz="2400" dirty="0"/>
              <a:t>.</a:t>
            </a:r>
          </a:p>
          <a:p>
            <a:pPr marL="342900" indent="-342900">
              <a:buFont typeface="Wingdings" pitchFamily="2" charset="2"/>
              <a:buChar char="Ø"/>
            </a:pPr>
            <a:r>
              <a:rPr lang="en-US" sz="2400" dirty="0" smtClean="0"/>
              <a:t>In </a:t>
            </a:r>
            <a:r>
              <a:rPr lang="en-US" sz="2400" dirty="0"/>
              <a:t>such a case, for an </a:t>
            </a:r>
            <a:r>
              <a:rPr lang="en-US" sz="2400" dirty="0" err="1"/>
              <a:t>outgroup</a:t>
            </a:r>
            <a:r>
              <a:rPr lang="en-US" sz="2400" dirty="0"/>
              <a:t> you need to choose a close relative to the group </a:t>
            </a:r>
            <a:r>
              <a:rPr lang="en-US" sz="2400" dirty="0" smtClean="0"/>
              <a:t>being compared</a:t>
            </a:r>
            <a:r>
              <a:rPr lang="en-US" sz="2400" dirty="0"/>
              <a:t>. For example: if the group is </a:t>
            </a:r>
            <a:r>
              <a:rPr lang="en-US" sz="2400" dirty="0" smtClean="0"/>
              <a:t>of mammalian </a:t>
            </a:r>
            <a:r>
              <a:rPr lang="en-US" sz="2400" dirty="0"/>
              <a:t>sequences then the </a:t>
            </a:r>
            <a:r>
              <a:rPr lang="en-US" sz="2400" dirty="0" err="1" smtClean="0"/>
              <a:t>outgroup</a:t>
            </a:r>
            <a:r>
              <a:rPr lang="en-US" sz="2400" dirty="0" smtClean="0"/>
              <a:t> should </a:t>
            </a:r>
            <a:r>
              <a:rPr lang="en-US" sz="2400" dirty="0"/>
              <a:t>be a sequence from birds and not plants.</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905341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0098" name="Picture 2"/>
          <p:cNvPicPr>
            <a:picLocks noChangeAspect="1" noChangeArrowheads="1"/>
          </p:cNvPicPr>
          <p:nvPr/>
        </p:nvPicPr>
        <p:blipFill>
          <a:blip r:embed="rId2">
            <a:extLst>
              <a:ext uri="{28A0092B-C50C-407E-A947-70E740481C1C}">
                <a14:useLocalDpi xmlns:a14="http://schemas.microsoft.com/office/drawing/2010/main" val="0"/>
              </a:ext>
            </a:extLst>
          </a:blip>
          <a:srcRect l="21094" t="8333" r="20313" b="13542"/>
          <a:stretch>
            <a:fillRect/>
          </a:stretch>
        </p:blipFill>
        <p:spPr bwMode="auto">
          <a:xfrm>
            <a:off x="3686175" y="381000"/>
            <a:ext cx="6429375"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0099" name="Text Box 3"/>
          <p:cNvSpPr txBox="1">
            <a:spLocks noChangeArrowheads="1"/>
          </p:cNvSpPr>
          <p:nvPr/>
        </p:nvSpPr>
        <p:spPr bwMode="auto">
          <a:xfrm>
            <a:off x="239316" y="795338"/>
            <a:ext cx="3275409"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5000"/>
              </a:spcBef>
            </a:pPr>
            <a:r>
              <a:rPr lang="en-US" sz="2000">
                <a:latin typeface="Tahoma" panose="020B0604030504040204" pitchFamily="34" charset="0"/>
              </a:rPr>
              <a:t>Neighbor Joining tree constructed with a web-ClustalW applet (Jalview)</a:t>
            </a:r>
          </a:p>
          <a:p>
            <a:pPr>
              <a:spcBef>
                <a:spcPct val="35000"/>
              </a:spcBef>
            </a:pPr>
            <a:r>
              <a:rPr lang="en-US" sz="2000">
                <a:latin typeface="Tahoma" panose="020B0604030504040204" pitchFamily="34" charset="0"/>
              </a:rPr>
              <a:t>FosB &amp; c-Fos can be distinguished</a:t>
            </a:r>
          </a:p>
          <a:p>
            <a:pPr>
              <a:spcBef>
                <a:spcPct val="35000"/>
              </a:spcBef>
            </a:pPr>
            <a:r>
              <a:rPr lang="en-US" sz="2000">
                <a:latin typeface="Tahoma" panose="020B0604030504040204" pitchFamily="34" charset="0"/>
              </a:rPr>
              <a:t>Rat &amp; mouse cluster apart from chicken, with respect to c-Fos</a:t>
            </a:r>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44796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664" y="1"/>
            <a:ext cx="10178335" cy="5816977"/>
          </a:xfrm>
          <a:prstGeom prst="rect">
            <a:avLst/>
          </a:prstGeom>
        </p:spPr>
        <p:txBody>
          <a:bodyPr wrap="square">
            <a:spAutoFit/>
          </a:bodyPr>
          <a:lstStyle/>
          <a:p>
            <a:r>
              <a:rPr lang="en-US" sz="3600" b="1" dirty="0"/>
              <a:t>Possible ways of drawing a tree:</a:t>
            </a:r>
          </a:p>
          <a:p>
            <a:endParaRPr lang="en-US" sz="2400" dirty="0" smtClean="0"/>
          </a:p>
          <a:p>
            <a:pPr marL="342900" indent="-342900">
              <a:buFont typeface="Arial" pitchFamily="34" charset="0"/>
              <a:buChar char="•"/>
            </a:pPr>
            <a:r>
              <a:rPr lang="en-US" sz="2400" dirty="0" smtClean="0"/>
              <a:t>Trees </a:t>
            </a:r>
            <a:r>
              <a:rPr lang="en-US" sz="2400" dirty="0"/>
              <a:t>can be drawn in different ways. There are trees with </a:t>
            </a:r>
            <a:r>
              <a:rPr lang="en-US" sz="2400" dirty="0" err="1"/>
              <a:t>unscaled</a:t>
            </a:r>
            <a:r>
              <a:rPr lang="en-US" sz="2400" dirty="0"/>
              <a:t> branches </a:t>
            </a:r>
            <a:r>
              <a:rPr lang="en-US" sz="2400" dirty="0" smtClean="0"/>
              <a:t>and with </a:t>
            </a:r>
            <a:r>
              <a:rPr lang="en-US" sz="2400" dirty="0"/>
              <a:t>scaled branches.</a:t>
            </a:r>
          </a:p>
          <a:p>
            <a:pPr marL="342900" indent="-342900">
              <a:buFont typeface="Arial" pitchFamily="34" charset="0"/>
              <a:buChar char="•"/>
            </a:pPr>
            <a:r>
              <a:rPr lang="en-US" sz="2400" b="1" dirty="0" err="1" smtClean="0"/>
              <a:t>Unscaled</a:t>
            </a:r>
            <a:r>
              <a:rPr lang="en-US" sz="2400" b="1" dirty="0" smtClean="0"/>
              <a:t> </a:t>
            </a:r>
            <a:r>
              <a:rPr lang="en-US" sz="2400" b="1" dirty="0"/>
              <a:t>branches</a:t>
            </a:r>
            <a:r>
              <a:rPr lang="en-US" sz="2400" dirty="0"/>
              <a:t>: the length is not proportional to the number of changes. </a:t>
            </a:r>
            <a:r>
              <a:rPr lang="en-US" sz="2400" dirty="0" smtClean="0"/>
              <a:t>Sometimes, the </a:t>
            </a:r>
            <a:r>
              <a:rPr lang="en-US" sz="2400" dirty="0"/>
              <a:t>numbers of changes are indicated on the branches with numbers. The nodes </a:t>
            </a:r>
            <a:r>
              <a:rPr lang="en-US" sz="2400" dirty="0" smtClean="0"/>
              <a:t>represent the </a:t>
            </a:r>
            <a:r>
              <a:rPr lang="en-US" sz="2400" dirty="0"/>
              <a:t>divergence event on a time scale</a:t>
            </a:r>
            <a:r>
              <a:rPr lang="en-US" sz="2400" dirty="0" smtClean="0"/>
              <a:t>.</a:t>
            </a:r>
          </a:p>
          <a:p>
            <a:pPr marL="342900" indent="-342900">
              <a:buFont typeface="Arial" pitchFamily="34" charset="0"/>
              <a:buChar char="•"/>
            </a:pPr>
            <a:r>
              <a:rPr lang="en-US" sz="2400" b="1" dirty="0" smtClean="0"/>
              <a:t>Scaled </a:t>
            </a:r>
            <a:r>
              <a:rPr lang="en-US" sz="2400" b="1" dirty="0"/>
              <a:t>branches</a:t>
            </a:r>
            <a:r>
              <a:rPr lang="en-US" sz="2400" dirty="0"/>
              <a:t>: the length of the branch is proportional to the number of changes. </a:t>
            </a:r>
            <a:r>
              <a:rPr lang="en-US" sz="2400" dirty="0" smtClean="0"/>
              <a:t>The distance </a:t>
            </a:r>
            <a:r>
              <a:rPr lang="en-US" sz="2400" dirty="0"/>
              <a:t>between 2 species is the sum of the length of all branches connecting them.</a:t>
            </a:r>
          </a:p>
          <a:p>
            <a:pPr marL="342900" indent="-342900">
              <a:buFont typeface="Arial" pitchFamily="34" charset="0"/>
              <a:buChar char="•"/>
            </a:pPr>
            <a:r>
              <a:rPr lang="en-US" sz="2400" dirty="0" smtClean="0"/>
              <a:t>It </a:t>
            </a:r>
            <a:r>
              <a:rPr lang="en-US" sz="2400" dirty="0"/>
              <a:t>is also possible to draw these trees with or without a root. For rooted trees, the root </a:t>
            </a:r>
            <a:r>
              <a:rPr lang="en-US" sz="2400" dirty="0" smtClean="0"/>
              <a:t>is the </a:t>
            </a:r>
            <a:r>
              <a:rPr lang="en-US" sz="2400" dirty="0"/>
              <a:t>common ancestor. For each species, there is a unique path that leads from the root </a:t>
            </a:r>
            <a:r>
              <a:rPr lang="en-US" sz="2400" dirty="0" smtClean="0"/>
              <a:t>to that </a:t>
            </a:r>
            <a:r>
              <a:rPr lang="en-US" sz="2400" dirty="0"/>
              <a:t>species. The direction of each path corresponds to evolutionary time. An </a:t>
            </a:r>
            <a:r>
              <a:rPr lang="en-US" sz="2400" b="1" dirty="0" err="1" smtClean="0"/>
              <a:t>unrooted</a:t>
            </a:r>
            <a:r>
              <a:rPr lang="en-US" sz="2400" b="1" dirty="0"/>
              <a:t> </a:t>
            </a:r>
            <a:r>
              <a:rPr lang="en-US" sz="2400" b="1" dirty="0" smtClean="0"/>
              <a:t>tree </a:t>
            </a:r>
            <a:r>
              <a:rPr lang="en-US" sz="2400" dirty="0"/>
              <a:t>specifies the relationships among species and does not define the evolutionary path.</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590289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6832" y="2623736"/>
            <a:ext cx="7770300" cy="3403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9376" y="24204"/>
            <a:ext cx="10127624" cy="1969770"/>
          </a:xfrm>
          <a:prstGeom prst="rect">
            <a:avLst/>
          </a:prstGeom>
        </p:spPr>
        <p:txBody>
          <a:bodyPr wrap="square">
            <a:spAutoFit/>
          </a:bodyPr>
          <a:lstStyle/>
          <a:p>
            <a:r>
              <a:rPr lang="en-US" sz="3200" dirty="0"/>
              <a:t>Rooted tree vs. </a:t>
            </a:r>
            <a:r>
              <a:rPr lang="en-US" sz="3200" dirty="0" err="1"/>
              <a:t>Unrooted</a:t>
            </a:r>
            <a:r>
              <a:rPr lang="en-US" sz="3200" dirty="0"/>
              <a:t> tree</a:t>
            </a:r>
          </a:p>
          <a:p>
            <a:endParaRPr lang="en-US" dirty="0" smtClean="0"/>
          </a:p>
          <a:p>
            <a:r>
              <a:rPr lang="en-US" sz="2400" dirty="0" smtClean="0"/>
              <a:t>The </a:t>
            </a:r>
            <a:r>
              <a:rPr lang="en-US" sz="2400" dirty="0"/>
              <a:t>number of tree topologies of rooted tree is much higher than that of the </a:t>
            </a:r>
            <a:r>
              <a:rPr lang="en-US" sz="2400" dirty="0" err="1"/>
              <a:t>unrooted</a:t>
            </a:r>
            <a:r>
              <a:rPr lang="en-US" sz="2400" dirty="0"/>
              <a:t> tree for </a:t>
            </a:r>
            <a:r>
              <a:rPr lang="en-US" sz="2400" dirty="0" smtClean="0"/>
              <a:t>the same </a:t>
            </a:r>
            <a:r>
              <a:rPr lang="en-US" sz="2400" dirty="0"/>
              <a:t>number of OTUs. Therefore, the error of the </a:t>
            </a:r>
            <a:r>
              <a:rPr lang="en-US" sz="2400" dirty="0" err="1"/>
              <a:t>unrooted</a:t>
            </a:r>
            <a:r>
              <a:rPr lang="en-US" sz="2400" dirty="0"/>
              <a:t> tree topology is smaller than that </a:t>
            </a:r>
            <a:r>
              <a:rPr lang="en-US" sz="2400" dirty="0" smtClean="0"/>
              <a:t>of the </a:t>
            </a:r>
            <a:r>
              <a:rPr lang="en-US" sz="2400" dirty="0"/>
              <a:t>rooted tree</a:t>
            </a:r>
            <a:r>
              <a:rPr lang="en-US" sz="2400" dirty="0" smtClean="0"/>
              <a:t>.</a:t>
            </a:r>
            <a:endParaRPr lang="en-US" sz="2400"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20762" y="6027313"/>
            <a:ext cx="3908034" cy="4393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885943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7525265"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Methods of </a:t>
            </a:r>
            <a:r>
              <a:rPr lang="en-US" sz="4400" dirty="0" smtClean="0"/>
              <a:t>Phylogeny</a:t>
            </a:r>
            <a:r>
              <a:rPr lang="en-US" sz="4400" dirty="0" smtClean="0"/>
              <a:t> </a:t>
            </a:r>
            <a:endParaRPr lang="en-US" sz="4400" dirty="0" smtClean="0"/>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78806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3586"/>
            <a:ext cx="10287000" cy="5816977"/>
          </a:xfrm>
          <a:prstGeom prst="rect">
            <a:avLst/>
          </a:prstGeom>
        </p:spPr>
        <p:txBody>
          <a:bodyPr wrap="square">
            <a:spAutoFit/>
          </a:bodyPr>
          <a:lstStyle/>
          <a:p>
            <a:r>
              <a:rPr lang="en-US" sz="3600" dirty="0"/>
              <a:t>Methods of phylogenetic analysis:</a:t>
            </a:r>
          </a:p>
          <a:p>
            <a:endParaRPr lang="en-US" sz="2400" dirty="0" smtClean="0"/>
          </a:p>
          <a:p>
            <a:r>
              <a:rPr lang="en-US" sz="2400" dirty="0" smtClean="0"/>
              <a:t>There </a:t>
            </a:r>
            <a:r>
              <a:rPr lang="en-US" sz="2400" dirty="0"/>
              <a:t>are two major groups of analyses to examine phylogenetic relationships </a:t>
            </a:r>
            <a:r>
              <a:rPr lang="en-US" sz="2400" dirty="0" smtClean="0"/>
              <a:t>between n sequences</a:t>
            </a:r>
            <a:r>
              <a:rPr lang="en-US" sz="2400" dirty="0"/>
              <a:t>:</a:t>
            </a:r>
          </a:p>
          <a:p>
            <a:pPr marL="342900" indent="-342900">
              <a:buFont typeface="Wingdings" pitchFamily="2" charset="2"/>
              <a:buChar char="Ø"/>
            </a:pPr>
            <a:r>
              <a:rPr lang="en-US" sz="2400" dirty="0" err="1"/>
              <a:t>Phenetic</a:t>
            </a:r>
            <a:r>
              <a:rPr lang="en-US" sz="2400" dirty="0"/>
              <a:t> methods: </a:t>
            </a:r>
            <a:endParaRPr lang="en-US" sz="2400" dirty="0" smtClean="0"/>
          </a:p>
          <a:p>
            <a:r>
              <a:rPr lang="en-US" sz="2400" dirty="0" err="1" smtClean="0"/>
              <a:t>Ttrees</a:t>
            </a:r>
            <a:r>
              <a:rPr lang="en-US" sz="2400" dirty="0" smtClean="0"/>
              <a:t> </a:t>
            </a:r>
            <a:r>
              <a:rPr lang="en-US" sz="2400" dirty="0"/>
              <a:t>are calculated by similarities of sequences and are </a:t>
            </a:r>
            <a:r>
              <a:rPr lang="en-US" sz="2400" dirty="0" smtClean="0"/>
              <a:t>based on </a:t>
            </a:r>
            <a:r>
              <a:rPr lang="en-US" sz="2400" dirty="0"/>
              <a:t>distance methods. The resulting tree is called a </a:t>
            </a:r>
            <a:r>
              <a:rPr lang="en-US" sz="2400" dirty="0" err="1"/>
              <a:t>dendrogram</a:t>
            </a:r>
            <a:r>
              <a:rPr lang="en-US" sz="2400" dirty="0"/>
              <a:t> and does not necessarily </a:t>
            </a:r>
            <a:r>
              <a:rPr lang="en-US" sz="2400" dirty="0" smtClean="0"/>
              <a:t>reflect evolutionary </a:t>
            </a:r>
            <a:r>
              <a:rPr lang="en-US" sz="2400" dirty="0"/>
              <a:t>relationships. Distance methods compress all of the individual differences </a:t>
            </a:r>
            <a:r>
              <a:rPr lang="en-US" sz="2400" dirty="0" smtClean="0"/>
              <a:t>between pairs </a:t>
            </a:r>
            <a:r>
              <a:rPr lang="en-US" sz="2400" dirty="0"/>
              <a:t>of sequences into a single number. The resulting tree is </a:t>
            </a:r>
            <a:r>
              <a:rPr lang="en-US" sz="2400" dirty="0" err="1"/>
              <a:t>unrooted</a:t>
            </a:r>
            <a:r>
              <a:rPr lang="en-US" sz="2400" dirty="0"/>
              <a:t> and is called a </a:t>
            </a:r>
            <a:r>
              <a:rPr lang="en-US" sz="2400" dirty="0" err="1"/>
              <a:t>phenogram</a:t>
            </a:r>
            <a:r>
              <a:rPr lang="en-US" sz="2400" dirty="0"/>
              <a:t>.</a:t>
            </a:r>
          </a:p>
          <a:p>
            <a:pPr marL="342900" indent="-342900">
              <a:buFont typeface="Wingdings" pitchFamily="2" charset="2"/>
              <a:buChar char="Ø"/>
            </a:pPr>
            <a:r>
              <a:rPr lang="en-US" sz="2400" dirty="0" err="1"/>
              <a:t>Cladistic</a:t>
            </a:r>
            <a:r>
              <a:rPr lang="en-US" sz="2400" dirty="0"/>
              <a:t> methods: </a:t>
            </a:r>
            <a:endParaRPr lang="en-US" sz="2400" dirty="0" smtClean="0"/>
          </a:p>
          <a:p>
            <a:r>
              <a:rPr lang="en-US" sz="2400" dirty="0" smtClean="0"/>
              <a:t>This </a:t>
            </a:r>
            <a:r>
              <a:rPr lang="en-US" sz="2400" dirty="0"/>
              <a:t>methods use each alignment position as evolutionary information </a:t>
            </a:r>
            <a:r>
              <a:rPr lang="en-US" sz="2400" dirty="0" smtClean="0"/>
              <a:t>to build </a:t>
            </a:r>
            <a:r>
              <a:rPr lang="en-US" sz="2400" dirty="0"/>
              <a:t>a tree. Trees are calculated by considering the various possible pathways of evolution </a:t>
            </a:r>
            <a:r>
              <a:rPr lang="en-US" sz="2400" dirty="0" smtClean="0"/>
              <a:t>and </a:t>
            </a:r>
            <a:r>
              <a:rPr lang="en-US" sz="2400" dirty="0"/>
              <a:t>are based on parsimony or likelihood methods. The resulting tree is rooted and is </a:t>
            </a:r>
            <a:r>
              <a:rPr lang="en-US" sz="2400" dirty="0" smtClean="0"/>
              <a:t>called a </a:t>
            </a:r>
            <a:r>
              <a:rPr lang="en-US" sz="2400" dirty="0" err="1"/>
              <a:t>cladogram</a:t>
            </a:r>
            <a:r>
              <a:rPr lang="en-US" sz="2400" dirty="0"/>
              <a:t>.</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4830635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6186309"/>
          </a:xfrm>
          <a:prstGeom prst="rect">
            <a:avLst/>
          </a:prstGeom>
        </p:spPr>
        <p:txBody>
          <a:bodyPr wrap="square">
            <a:spAutoFit/>
          </a:bodyPr>
          <a:lstStyle/>
          <a:p>
            <a:pPr algn="ctr"/>
            <a:r>
              <a:rPr lang="en-US" sz="3600" b="1" dirty="0" err="1"/>
              <a:t>Phenetic</a:t>
            </a:r>
            <a:r>
              <a:rPr lang="en-US" sz="3600" b="1" dirty="0"/>
              <a:t> </a:t>
            </a:r>
            <a:r>
              <a:rPr lang="en-US" sz="3600" b="1" dirty="0" smtClean="0"/>
              <a:t>methods</a:t>
            </a:r>
            <a:endParaRPr lang="en-US" sz="3600" b="1" dirty="0"/>
          </a:p>
          <a:p>
            <a:endParaRPr lang="en-US" sz="2400" dirty="0" smtClean="0"/>
          </a:p>
          <a:p>
            <a:pPr marL="342900" indent="-342900">
              <a:buFont typeface="Arial" pitchFamily="34" charset="0"/>
              <a:buChar char="•"/>
            </a:pPr>
            <a:r>
              <a:rPr lang="en-US" sz="2400" dirty="0" err="1" smtClean="0"/>
              <a:t>Phenetic</a:t>
            </a:r>
            <a:r>
              <a:rPr lang="en-US" sz="2400" dirty="0" smtClean="0"/>
              <a:t> </a:t>
            </a:r>
            <a:r>
              <a:rPr lang="en-US" sz="2400" dirty="0"/>
              <a:t>methods are based on distances. </a:t>
            </a:r>
            <a:endParaRPr lang="en-US" sz="2400" dirty="0" smtClean="0"/>
          </a:p>
          <a:p>
            <a:pPr marL="342900" indent="-342900">
              <a:buFont typeface="Arial" pitchFamily="34" charset="0"/>
              <a:buChar char="•"/>
            </a:pPr>
            <a:r>
              <a:rPr lang="en-US" sz="2400" dirty="0" smtClean="0"/>
              <a:t>Starting </a:t>
            </a:r>
            <a:r>
              <a:rPr lang="en-US" sz="2400" dirty="0"/>
              <a:t>from an alignment, pairwise distances </a:t>
            </a:r>
            <a:r>
              <a:rPr lang="en-US" sz="2400" dirty="0" smtClean="0"/>
              <a:t>are calculated </a:t>
            </a:r>
            <a:r>
              <a:rPr lang="en-US" sz="2400" dirty="0"/>
              <a:t>between DNA sequences as the sum of all base pair differences between </a:t>
            </a:r>
            <a:r>
              <a:rPr lang="en-US" sz="2400" dirty="0" smtClean="0"/>
              <a:t>two sequences </a:t>
            </a:r>
            <a:r>
              <a:rPr lang="en-US" sz="2400" dirty="0"/>
              <a:t>(the most similar sequences are assumed to be closely related). </a:t>
            </a:r>
            <a:endParaRPr lang="en-US" sz="2400" dirty="0" smtClean="0"/>
          </a:p>
          <a:p>
            <a:pPr marL="342900" indent="-342900">
              <a:buFont typeface="Arial" pitchFamily="34" charset="0"/>
              <a:buChar char="•"/>
            </a:pPr>
            <a:r>
              <a:rPr lang="en-US" sz="2400" dirty="0" smtClean="0"/>
              <a:t>This </a:t>
            </a:r>
            <a:r>
              <a:rPr lang="en-US" sz="2400" dirty="0"/>
              <a:t>creates a </a:t>
            </a:r>
            <a:r>
              <a:rPr lang="en-US" sz="2400" dirty="0" smtClean="0"/>
              <a:t>distance matrix. All </a:t>
            </a:r>
            <a:r>
              <a:rPr lang="en-US" sz="2400" dirty="0"/>
              <a:t>base changes can be considered equally or a matrix of the possible replacements can be used.</a:t>
            </a:r>
          </a:p>
          <a:p>
            <a:pPr marL="342900" indent="-342900">
              <a:buFont typeface="Arial" pitchFamily="34" charset="0"/>
              <a:buChar char="•"/>
            </a:pPr>
            <a:r>
              <a:rPr lang="en-US" sz="2400" dirty="0"/>
              <a:t>Insertions and deletions are given a larger weight than replacements. Insertions or deletions </a:t>
            </a:r>
            <a:r>
              <a:rPr lang="en-US" sz="2400" dirty="0" smtClean="0"/>
              <a:t>of multiple </a:t>
            </a:r>
            <a:r>
              <a:rPr lang="en-US" sz="2400" dirty="0"/>
              <a:t>bases at one position are given less weight than multiple independent insertions </a:t>
            </a:r>
            <a:r>
              <a:rPr lang="en-US" sz="2400" dirty="0" smtClean="0"/>
              <a:t>or deletions</a:t>
            </a:r>
            <a:r>
              <a:rPr lang="en-US" sz="2400" dirty="0"/>
              <a:t>.</a:t>
            </a:r>
          </a:p>
          <a:p>
            <a:pPr marL="342900" indent="-342900">
              <a:buFont typeface="Arial" pitchFamily="34" charset="0"/>
              <a:buChar char="•"/>
            </a:pPr>
            <a:r>
              <a:rPr lang="en-US" sz="2400" dirty="0"/>
              <a:t>It is possible to correct for multiple substitutions at a single site.</a:t>
            </a:r>
          </a:p>
          <a:p>
            <a:pPr marL="342900" indent="-342900">
              <a:buFont typeface="Arial" pitchFamily="34" charset="0"/>
              <a:buChar char="•"/>
            </a:pPr>
            <a:r>
              <a:rPr lang="en-US" sz="2400" dirty="0"/>
              <a:t>From the obtained distance matrix, a phylogenetic tree is calculated with clustering algorithms.</a:t>
            </a:r>
          </a:p>
          <a:p>
            <a:pPr marL="342900" indent="-342900">
              <a:buFont typeface="Arial" pitchFamily="34" charset="0"/>
              <a:buChar char="•"/>
            </a:pPr>
            <a:r>
              <a:rPr lang="en-US" sz="2400" dirty="0"/>
              <a:t>These cluster methods construct a tree by linking the least distant pair of taxa, followed </a:t>
            </a:r>
            <a:r>
              <a:rPr lang="en-US" sz="2400" dirty="0" smtClean="0"/>
              <a:t>by successively </a:t>
            </a:r>
            <a:r>
              <a:rPr lang="en-US" sz="2400" dirty="0"/>
              <a:t>more distant taxa</a:t>
            </a:r>
            <a:r>
              <a:rPr lang="en-US" sz="2400" dirty="0" smtClean="0"/>
              <a:t>.</a:t>
            </a:r>
            <a:endParaRPr lang="en-US" sz="24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322479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87000" cy="2862322"/>
          </a:xfrm>
          <a:prstGeom prst="rect">
            <a:avLst/>
          </a:prstGeom>
        </p:spPr>
        <p:txBody>
          <a:bodyPr wrap="square">
            <a:spAutoFit/>
          </a:bodyPr>
          <a:lstStyle/>
          <a:p>
            <a:pPr algn="ctr"/>
            <a:r>
              <a:rPr lang="en-US" sz="3600" b="1" dirty="0" err="1"/>
              <a:t>Phenetic</a:t>
            </a:r>
            <a:r>
              <a:rPr lang="en-US" sz="3600" b="1" dirty="0"/>
              <a:t> </a:t>
            </a:r>
            <a:r>
              <a:rPr lang="en-US" sz="3600" b="1" dirty="0" smtClean="0"/>
              <a:t>methods</a:t>
            </a:r>
            <a:endParaRPr lang="en-US" sz="3600" b="1" dirty="0"/>
          </a:p>
          <a:p>
            <a:endParaRPr lang="en-US" sz="2400" dirty="0" smtClean="0"/>
          </a:p>
          <a:p>
            <a:pPr marL="342900" indent="-342900">
              <a:buFont typeface="Wingdings" pitchFamily="2" charset="2"/>
              <a:buChar char="Ø"/>
            </a:pPr>
            <a:r>
              <a:rPr lang="en-US" sz="2400" dirty="0" smtClean="0"/>
              <a:t>UPGMA </a:t>
            </a:r>
            <a:r>
              <a:rPr lang="en-US" sz="2400" dirty="0"/>
              <a:t>clustering (</a:t>
            </a:r>
            <a:r>
              <a:rPr lang="en-US" sz="2400" dirty="0" err="1"/>
              <a:t>Unweighted</a:t>
            </a:r>
            <a:r>
              <a:rPr lang="en-US" sz="2400" dirty="0"/>
              <a:t> Pair Group Method using Arithmetic averages</a:t>
            </a:r>
            <a:r>
              <a:rPr lang="en-US" sz="2400" dirty="0" smtClean="0"/>
              <a:t>):this </a:t>
            </a:r>
            <a:r>
              <a:rPr lang="en-US" sz="2400" dirty="0"/>
              <a:t>is the simplest </a:t>
            </a:r>
            <a:r>
              <a:rPr lang="en-US" sz="2400" dirty="0" smtClean="0"/>
              <a:t>method</a:t>
            </a:r>
          </a:p>
          <a:p>
            <a:pPr marL="342900" indent="-342900">
              <a:buFont typeface="Wingdings" pitchFamily="2" charset="2"/>
              <a:buChar char="Ø"/>
            </a:pPr>
            <a:endParaRPr lang="en-US" sz="2400" dirty="0"/>
          </a:p>
          <a:p>
            <a:pPr marL="342900" indent="-342900">
              <a:buFont typeface="Wingdings" pitchFamily="2" charset="2"/>
              <a:buChar char="Ø"/>
            </a:pPr>
            <a:r>
              <a:rPr lang="en-US" sz="2400" dirty="0" smtClean="0"/>
              <a:t>Neighbor </a:t>
            </a:r>
            <a:r>
              <a:rPr lang="en-US" sz="2400" dirty="0"/>
              <a:t>Joining: this method tries to correct the UPGMA method for its </a:t>
            </a:r>
            <a:r>
              <a:rPr lang="en-US" sz="2400" dirty="0" smtClean="0"/>
              <a:t>assumption that </a:t>
            </a:r>
            <a:r>
              <a:rPr lang="en-US" sz="2400" dirty="0"/>
              <a:t>the rate of evolution is the same in all taxa.</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35445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8848"/>
            <a:ext cx="10287000" cy="6186309"/>
          </a:xfrm>
          <a:prstGeom prst="rect">
            <a:avLst/>
          </a:prstGeom>
        </p:spPr>
        <p:txBody>
          <a:bodyPr wrap="square">
            <a:spAutoFit/>
          </a:bodyPr>
          <a:lstStyle/>
          <a:p>
            <a:pPr algn="ctr"/>
            <a:r>
              <a:rPr lang="en-US" sz="3600" b="1" dirty="0" err="1"/>
              <a:t>Cladistic</a:t>
            </a:r>
            <a:r>
              <a:rPr lang="en-US" sz="3600" b="1" dirty="0"/>
              <a:t> </a:t>
            </a:r>
            <a:r>
              <a:rPr lang="en-US" sz="3600" b="1" dirty="0" smtClean="0"/>
              <a:t>methods</a:t>
            </a:r>
            <a:endParaRPr lang="en-US" sz="3600" b="1" dirty="0"/>
          </a:p>
          <a:p>
            <a:pPr marL="342900" indent="-342900">
              <a:buFont typeface="Wingdings" pitchFamily="2" charset="2"/>
              <a:buChar char="Ø"/>
            </a:pPr>
            <a:endParaRPr lang="en-US" sz="2400" b="1" dirty="0" smtClean="0"/>
          </a:p>
          <a:p>
            <a:pPr marL="342900" indent="-342900">
              <a:buFont typeface="Wingdings" pitchFamily="2" charset="2"/>
              <a:buChar char="Ø"/>
            </a:pPr>
            <a:r>
              <a:rPr lang="en-US" sz="2400" b="1" dirty="0" smtClean="0"/>
              <a:t>Parsimony</a:t>
            </a:r>
            <a:r>
              <a:rPr lang="en-US" sz="2400" dirty="0"/>
              <a:t>: For each position in the alignment, all possible trees are evaluated and </a:t>
            </a:r>
            <a:r>
              <a:rPr lang="en-US" sz="2400" dirty="0" smtClean="0"/>
              <a:t>are given </a:t>
            </a:r>
            <a:r>
              <a:rPr lang="en-US" sz="2400" dirty="0"/>
              <a:t>a score based on the number of evolutionary changes needed to produce </a:t>
            </a:r>
            <a:r>
              <a:rPr lang="en-US" sz="2400" dirty="0" smtClean="0"/>
              <a:t>the observed </a:t>
            </a:r>
            <a:r>
              <a:rPr lang="en-US" sz="2400" dirty="0"/>
              <a:t>sequence changes. The most parsimonious tree is the one with the </a:t>
            </a:r>
            <a:r>
              <a:rPr lang="en-US" sz="2400" dirty="0" smtClean="0"/>
              <a:t>fewest evolutionary </a:t>
            </a:r>
            <a:r>
              <a:rPr lang="en-US" sz="2400" dirty="0"/>
              <a:t>changes for all sequences to derive from a common ancestor. This is a </a:t>
            </a:r>
            <a:r>
              <a:rPr lang="en-US" sz="2400" dirty="0" smtClean="0"/>
              <a:t>more time-consuming </a:t>
            </a:r>
            <a:r>
              <a:rPr lang="en-US" sz="2400" dirty="0"/>
              <a:t>method than the distance methods.</a:t>
            </a:r>
          </a:p>
          <a:p>
            <a:pPr marL="342900" indent="-342900">
              <a:buFont typeface="Wingdings" pitchFamily="2" charset="2"/>
              <a:buChar char="Ø"/>
            </a:pPr>
            <a:endParaRPr lang="en-US" sz="2400" dirty="0" smtClean="0"/>
          </a:p>
          <a:p>
            <a:pPr marL="342900" indent="-342900">
              <a:buFont typeface="Wingdings" pitchFamily="2" charset="2"/>
              <a:buChar char="Ø"/>
            </a:pPr>
            <a:r>
              <a:rPr lang="en-US" sz="2400" b="1" dirty="0" smtClean="0"/>
              <a:t>Maximum </a:t>
            </a:r>
            <a:r>
              <a:rPr lang="en-US" sz="2400" b="1" dirty="0"/>
              <a:t>Likelihood</a:t>
            </a:r>
            <a:r>
              <a:rPr lang="en-US" sz="2400" dirty="0"/>
              <a:t>: This method also uses each position in an alignment, </a:t>
            </a:r>
            <a:r>
              <a:rPr lang="en-US" sz="2400" dirty="0" smtClean="0"/>
              <a:t>evaluates all </a:t>
            </a:r>
            <a:r>
              <a:rPr lang="en-US" sz="2400" dirty="0"/>
              <a:t>possible trees, and calculates the likelihood for each tree using an explicit model </a:t>
            </a:r>
            <a:r>
              <a:rPr lang="en-US" sz="2400" dirty="0" smtClean="0"/>
              <a:t>of evolution </a:t>
            </a:r>
            <a:r>
              <a:rPr lang="en-US" sz="2400" dirty="0"/>
              <a:t>(&lt;-&gt; Parsimony just looks for the fewest evolutionary changes). </a:t>
            </a:r>
            <a:r>
              <a:rPr lang="en-US" sz="2400" dirty="0" smtClean="0"/>
              <a:t>The likelihood's </a:t>
            </a:r>
            <a:r>
              <a:rPr lang="en-US" sz="2400" dirty="0"/>
              <a:t>for each aligned position are then multiplied to provide a likelihood for </a:t>
            </a:r>
            <a:r>
              <a:rPr lang="en-US" sz="2400" dirty="0" smtClean="0"/>
              <a:t>each tree</a:t>
            </a:r>
            <a:r>
              <a:rPr lang="en-US" sz="2400" dirty="0"/>
              <a:t>. The tree with the maximum likelihood is the most probable tree. This is the </a:t>
            </a:r>
            <a:r>
              <a:rPr lang="en-US" sz="2400" dirty="0" smtClean="0"/>
              <a:t>slowest method </a:t>
            </a:r>
            <a:r>
              <a:rPr lang="en-US" sz="2400" dirty="0"/>
              <a:t>of all but seems to give the best result and the most information about the tree.</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93392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6308" y="27372"/>
            <a:ext cx="10040691" cy="6555641"/>
          </a:xfrm>
          <a:prstGeom prst="rect">
            <a:avLst/>
          </a:prstGeom>
        </p:spPr>
        <p:txBody>
          <a:bodyPr wrap="square">
            <a:spAutoFit/>
          </a:bodyPr>
          <a:lstStyle/>
          <a:p>
            <a:pPr algn="ctr"/>
            <a:r>
              <a:rPr lang="en-US" sz="3600" dirty="0"/>
              <a:t>Building phylogenetic trees</a:t>
            </a:r>
          </a:p>
          <a:p>
            <a:endParaRPr lang="en-US" sz="2400" dirty="0" smtClean="0"/>
          </a:p>
          <a:p>
            <a:r>
              <a:rPr lang="en-US" sz="3200" dirty="0" smtClean="0"/>
              <a:t>Main </a:t>
            </a:r>
            <a:r>
              <a:rPr lang="en-US" sz="3200" dirty="0"/>
              <a:t>methods:</a:t>
            </a:r>
          </a:p>
          <a:p>
            <a:endParaRPr lang="en-US" sz="2400" dirty="0" smtClean="0"/>
          </a:p>
          <a:p>
            <a:r>
              <a:rPr lang="en-US" sz="3200" b="1" dirty="0" smtClean="0"/>
              <a:t>Distances </a:t>
            </a:r>
            <a:r>
              <a:rPr lang="en-US" sz="3200" b="1" dirty="0"/>
              <a:t>matrix methods</a:t>
            </a:r>
          </a:p>
          <a:p>
            <a:r>
              <a:rPr lang="en-US" sz="2400" dirty="0" smtClean="0"/>
              <a:t>	◆ </a:t>
            </a:r>
            <a:r>
              <a:rPr lang="en-US" sz="2400" dirty="0"/>
              <a:t>UPGMA, </a:t>
            </a:r>
            <a:endParaRPr lang="en-US" sz="2400" dirty="0" smtClean="0"/>
          </a:p>
          <a:p>
            <a:r>
              <a:rPr lang="en-US" sz="2400" dirty="0"/>
              <a:t>	 ◆ </a:t>
            </a:r>
            <a:r>
              <a:rPr lang="en-US" sz="2400" dirty="0" err="1" smtClean="0"/>
              <a:t>Neighbour</a:t>
            </a:r>
            <a:r>
              <a:rPr lang="en-US" sz="2400" dirty="0" smtClean="0"/>
              <a:t> </a:t>
            </a:r>
            <a:r>
              <a:rPr lang="en-US" sz="2400" dirty="0"/>
              <a:t>Joining</a:t>
            </a:r>
          </a:p>
          <a:p>
            <a:endParaRPr lang="en-US" sz="3200" dirty="0"/>
          </a:p>
          <a:p>
            <a:r>
              <a:rPr lang="en-US" sz="3200" dirty="0" smtClean="0"/>
              <a:t>Character </a:t>
            </a:r>
            <a:r>
              <a:rPr lang="en-US" sz="3200" dirty="0"/>
              <a:t>based methods:</a:t>
            </a:r>
          </a:p>
          <a:p>
            <a:r>
              <a:rPr lang="en-US" sz="2400" dirty="0" smtClean="0"/>
              <a:t>	◆ </a:t>
            </a:r>
            <a:r>
              <a:rPr lang="en-US" sz="2400" dirty="0"/>
              <a:t>Parsimony methods</a:t>
            </a:r>
          </a:p>
          <a:p>
            <a:r>
              <a:rPr lang="en-US" sz="2400" dirty="0" smtClean="0"/>
              <a:t>	◆ </a:t>
            </a:r>
            <a:r>
              <a:rPr lang="en-US" sz="2400" dirty="0"/>
              <a:t>Maximum Likelihood method</a:t>
            </a:r>
          </a:p>
          <a:p>
            <a:endParaRPr lang="en-US" sz="3200" dirty="0" smtClean="0"/>
          </a:p>
          <a:p>
            <a:r>
              <a:rPr lang="en-US" sz="3200" dirty="0" smtClean="0"/>
              <a:t>Validation </a:t>
            </a:r>
            <a:r>
              <a:rPr lang="en-US" sz="3200" dirty="0"/>
              <a:t>method:</a:t>
            </a:r>
          </a:p>
          <a:p>
            <a:r>
              <a:rPr lang="en-US" sz="2400" dirty="0" smtClean="0"/>
              <a:t>	◆ </a:t>
            </a:r>
            <a:r>
              <a:rPr lang="en-US" sz="2400" dirty="0"/>
              <a:t>Bootstrapping</a:t>
            </a:r>
          </a:p>
          <a:p>
            <a:r>
              <a:rPr lang="en-US" sz="2400" dirty="0" smtClean="0"/>
              <a:t>	◆ </a:t>
            </a:r>
            <a:r>
              <a:rPr lang="en-US" sz="2400" dirty="0"/>
              <a:t>Jack Knife</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661923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0287000" cy="1754326"/>
          </a:xfrm>
          <a:prstGeom prst="rect">
            <a:avLst/>
          </a:prstGeom>
        </p:spPr>
        <p:txBody>
          <a:bodyPr wrap="square">
            <a:spAutoFit/>
          </a:bodyPr>
          <a:lstStyle/>
          <a:p>
            <a:pPr algn="ctr"/>
            <a:r>
              <a:rPr lang="en-US" sz="3600" dirty="0"/>
              <a:t>Distance based methods</a:t>
            </a:r>
          </a:p>
          <a:p>
            <a:endParaRPr lang="en-US" sz="2400" dirty="0" smtClean="0"/>
          </a:p>
          <a:p>
            <a:r>
              <a:rPr lang="en-US" sz="2400" dirty="0" smtClean="0"/>
              <a:t>Distance-based </a:t>
            </a:r>
            <a:r>
              <a:rPr lang="en-US" sz="2400" dirty="0"/>
              <a:t>methods must transform the sequence data into a pairwise similarity matrix </a:t>
            </a:r>
            <a:r>
              <a:rPr lang="en-US" sz="2400" dirty="0" smtClean="0"/>
              <a:t>for use </a:t>
            </a:r>
            <a:r>
              <a:rPr lang="en-US" sz="2400" dirty="0"/>
              <a:t>during tree inference</a:t>
            </a:r>
          </a:p>
        </p:txBody>
      </p:sp>
      <p:sp>
        <p:nvSpPr>
          <p:cNvPr id="3" name="Rectangle 2"/>
          <p:cNvSpPr/>
          <p:nvPr/>
        </p:nvSpPr>
        <p:spPr>
          <a:xfrm>
            <a:off x="0" y="4895011"/>
            <a:ext cx="10287000" cy="1200329"/>
          </a:xfrm>
          <a:prstGeom prst="rect">
            <a:avLst/>
          </a:prstGeom>
        </p:spPr>
        <p:txBody>
          <a:bodyPr wrap="square">
            <a:spAutoFit/>
          </a:bodyPr>
          <a:lstStyle/>
          <a:p>
            <a:r>
              <a:rPr lang="en-US" sz="2400" dirty="0"/>
              <a:t>Given such an input matrix we want to find an edge-weighted tree where the leafs of the </a:t>
            </a:r>
            <a:r>
              <a:rPr lang="en-US" sz="2400" dirty="0" smtClean="0"/>
              <a:t>tree correspond </a:t>
            </a:r>
            <a:r>
              <a:rPr lang="en-US" sz="2400" dirty="0"/>
              <a:t>to the species and the distances measured between two leaves corresponds to </a:t>
            </a:r>
            <a:r>
              <a:rPr lang="en-US" sz="2400" dirty="0" smtClean="0"/>
              <a:t>the corresponding </a:t>
            </a:r>
            <a:r>
              <a:rPr lang="en-US" sz="2400" dirty="0"/>
              <a:t>matrix value for the leaves</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9880" y="1968544"/>
            <a:ext cx="6474841" cy="2629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24882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5064" y="4203029"/>
            <a:ext cx="5132784" cy="260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5911" y="17866"/>
            <a:ext cx="10171089" cy="4031873"/>
          </a:xfrm>
          <a:prstGeom prst="rect">
            <a:avLst/>
          </a:prstGeom>
        </p:spPr>
        <p:txBody>
          <a:bodyPr wrap="square">
            <a:spAutoFit/>
          </a:bodyPr>
          <a:lstStyle/>
          <a:p>
            <a:pPr algn="ctr"/>
            <a:r>
              <a:rPr lang="en-US" sz="3600" dirty="0"/>
              <a:t>UPGMA </a:t>
            </a:r>
            <a:endParaRPr lang="en-US" sz="3600" dirty="0" smtClean="0"/>
          </a:p>
          <a:p>
            <a:pPr algn="ctr"/>
            <a:r>
              <a:rPr lang="en-US" sz="2800" dirty="0" smtClean="0"/>
              <a:t>(</a:t>
            </a:r>
            <a:r>
              <a:rPr lang="en-US" sz="2800" dirty="0" err="1"/>
              <a:t>Unweighted</a:t>
            </a:r>
            <a:r>
              <a:rPr lang="en-US" sz="2800" dirty="0"/>
              <a:t> Pair Group Method with Arithmetic </a:t>
            </a:r>
            <a:r>
              <a:rPr lang="en-US" sz="2800" dirty="0" smtClean="0"/>
              <a:t>mean)</a:t>
            </a:r>
          </a:p>
          <a:p>
            <a:pPr algn="just"/>
            <a:r>
              <a:rPr lang="en-US" sz="2400" dirty="0"/>
              <a:t>T</a:t>
            </a:r>
            <a:r>
              <a:rPr lang="en-US" sz="2400" dirty="0" smtClean="0"/>
              <a:t>he oldest distance </a:t>
            </a:r>
            <a:r>
              <a:rPr lang="en-US" sz="2400" dirty="0"/>
              <a:t>matrix method</a:t>
            </a:r>
          </a:p>
          <a:p>
            <a:pPr marL="342900" indent="-342900">
              <a:buFont typeface="Arial" pitchFamily="34" charset="0"/>
              <a:buChar char="•"/>
            </a:pPr>
            <a:r>
              <a:rPr lang="en-US" sz="2400" dirty="0" smtClean="0"/>
              <a:t>Uses </a:t>
            </a:r>
            <a:r>
              <a:rPr lang="en-US" sz="2400" dirty="0"/>
              <a:t>a distance matrix representing measure of genetic distance between pairs </a:t>
            </a:r>
            <a:r>
              <a:rPr lang="en-US" sz="2400" dirty="0" smtClean="0"/>
              <a:t>of species </a:t>
            </a:r>
            <a:r>
              <a:rPr lang="en-US" sz="2400" dirty="0"/>
              <a:t>being considered</a:t>
            </a:r>
          </a:p>
          <a:p>
            <a:pPr marL="342900" indent="-342900">
              <a:buFont typeface="Arial" pitchFamily="34" charset="0"/>
              <a:buChar char="•"/>
            </a:pPr>
            <a:r>
              <a:rPr lang="en-US" sz="2400" dirty="0" smtClean="0"/>
              <a:t>Clusters </a:t>
            </a:r>
            <a:r>
              <a:rPr lang="en-US" sz="2400" dirty="0"/>
              <a:t>the two closest </a:t>
            </a:r>
            <a:r>
              <a:rPr lang="en-US" sz="2400" dirty="0" smtClean="0"/>
              <a:t>species</a:t>
            </a:r>
            <a:r>
              <a:rPr lang="en-US" sz="2400" dirty="0"/>
              <a:t>  Compute new distance matrix using arithmetic mean to first cluster</a:t>
            </a:r>
          </a:p>
          <a:p>
            <a:pPr marL="342900" indent="-342900">
              <a:buFont typeface="Arial" pitchFamily="34" charset="0"/>
              <a:buChar char="•"/>
            </a:pPr>
            <a:r>
              <a:rPr lang="en-US" sz="2400" dirty="0" smtClean="0"/>
              <a:t>Repeat </a:t>
            </a:r>
            <a:r>
              <a:rPr lang="en-US" sz="2400" dirty="0"/>
              <a:t>until all species grouped</a:t>
            </a:r>
          </a:p>
          <a:p>
            <a:pPr marL="342900" indent="-342900">
              <a:buFont typeface="Arial" pitchFamily="34" charset="0"/>
              <a:buChar char="•"/>
            </a:pPr>
            <a:r>
              <a:rPr lang="en-US" sz="2400" dirty="0" smtClean="0"/>
              <a:t>Scaled </a:t>
            </a:r>
            <a:r>
              <a:rPr lang="en-US" sz="2400" dirty="0"/>
              <a:t>trees, where the length of the branches correspond to the degree to </a:t>
            </a:r>
            <a:r>
              <a:rPr lang="en-US" sz="2400" dirty="0" smtClean="0"/>
              <a:t>which sequences </a:t>
            </a:r>
            <a:r>
              <a:rPr lang="en-US" sz="2400" dirty="0"/>
              <a:t>have diverged are called </a:t>
            </a:r>
            <a:r>
              <a:rPr lang="en-US" sz="2400" dirty="0" err="1"/>
              <a:t>cladograms</a:t>
            </a:r>
            <a:endParaRPr lang="en-US" sz="2400" dirty="0"/>
          </a:p>
        </p:txBody>
      </p:sp>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220800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4553"/>
            <a:ext cx="10287000" cy="4708981"/>
          </a:xfrm>
          <a:prstGeom prst="rect">
            <a:avLst/>
          </a:prstGeom>
        </p:spPr>
        <p:txBody>
          <a:bodyPr wrap="square">
            <a:spAutoFit/>
          </a:bodyPr>
          <a:lstStyle/>
          <a:p>
            <a:pPr algn="ctr"/>
            <a:r>
              <a:rPr lang="en-US" sz="3600" dirty="0"/>
              <a:t>UPGMA </a:t>
            </a:r>
            <a:r>
              <a:rPr lang="en-US" sz="3600" dirty="0" smtClean="0"/>
              <a:t>(Cont.)</a:t>
            </a:r>
            <a:endParaRPr lang="en-US" sz="3600" dirty="0"/>
          </a:p>
          <a:p>
            <a:pPr marL="342900" indent="-342900">
              <a:buFont typeface="Arial" pitchFamily="34" charset="0"/>
              <a:buChar char="•"/>
            </a:pPr>
            <a:endParaRPr lang="en-US" sz="2400" dirty="0" smtClean="0"/>
          </a:p>
          <a:p>
            <a:pPr marL="342900" indent="-342900">
              <a:buFont typeface="Arial" pitchFamily="34" charset="0"/>
              <a:buChar char="•"/>
            </a:pPr>
            <a:r>
              <a:rPr lang="en-US" sz="2400" dirty="0" smtClean="0"/>
              <a:t>If </a:t>
            </a:r>
            <a:r>
              <a:rPr lang="en-US" sz="2400" dirty="0"/>
              <a:t>rates of evolution are assumed to be constant in all lineages then internal </a:t>
            </a:r>
            <a:r>
              <a:rPr lang="en-US" sz="2400" dirty="0" smtClean="0"/>
              <a:t>nodes are </a:t>
            </a:r>
            <a:r>
              <a:rPr lang="en-US" sz="2400" dirty="0"/>
              <a:t>placed at equal distances from each of the species they give rise to on </a:t>
            </a:r>
            <a:r>
              <a:rPr lang="en-US" sz="2400" dirty="0" smtClean="0"/>
              <a:t>a bifurcating </a:t>
            </a:r>
            <a:r>
              <a:rPr lang="en-US" sz="2400" dirty="0"/>
              <a:t>tree (UPGMA ex.)</a:t>
            </a:r>
          </a:p>
          <a:p>
            <a:pPr marL="342900" indent="-342900">
              <a:buFont typeface="Arial" pitchFamily="34" charset="0"/>
              <a:buChar char="•"/>
            </a:pPr>
            <a:r>
              <a:rPr lang="en-US" sz="2400" dirty="0" smtClean="0"/>
              <a:t>So </a:t>
            </a:r>
            <a:r>
              <a:rPr lang="en-US" sz="2400" dirty="0"/>
              <a:t>UPGMA is very simple and generates rooted trees, however</a:t>
            </a:r>
            <a:r>
              <a:rPr lang="en-US" sz="2400" dirty="0" smtClean="0"/>
              <a:t>…</a:t>
            </a:r>
          </a:p>
          <a:p>
            <a:pPr lvl="2"/>
            <a:r>
              <a:rPr lang="en-US" sz="2400" dirty="0" smtClean="0"/>
              <a:t>• </a:t>
            </a:r>
            <a:r>
              <a:rPr lang="en-US" sz="2400" dirty="0"/>
              <a:t>Major weakness is that the algorithm assumes that rates of </a:t>
            </a:r>
            <a:r>
              <a:rPr lang="en-US" sz="2400" dirty="0" smtClean="0"/>
              <a:t>	evolution are the </a:t>
            </a:r>
            <a:r>
              <a:rPr lang="en-US" sz="2400" dirty="0"/>
              <a:t>same among different lineages</a:t>
            </a:r>
          </a:p>
          <a:p>
            <a:r>
              <a:rPr lang="en-US" sz="2400" dirty="0" smtClean="0"/>
              <a:t>	• </a:t>
            </a:r>
            <a:r>
              <a:rPr lang="en-US" sz="2400" dirty="0"/>
              <a:t>This does not fit existing biological data, so probably shouldn’t </a:t>
            </a:r>
            <a:r>
              <a:rPr lang="en-US" sz="2400" dirty="0" smtClean="0"/>
              <a:t>		use UPGMA </a:t>
            </a:r>
            <a:r>
              <a:rPr lang="en-US" sz="2400" dirty="0"/>
              <a:t>to build phylogenetic trees</a:t>
            </a:r>
          </a:p>
          <a:p>
            <a:pPr marL="342900" indent="-342900">
              <a:buFont typeface="Arial" pitchFamily="34" charset="0"/>
              <a:buChar char="•"/>
            </a:pPr>
            <a:r>
              <a:rPr lang="en-US" sz="2400" dirty="0" smtClean="0"/>
              <a:t>Several </a:t>
            </a:r>
            <a:r>
              <a:rPr lang="en-US" sz="2400" dirty="0"/>
              <a:t>distance matrix-based alternatives to UPGMA allow different rates </a:t>
            </a:r>
            <a:r>
              <a:rPr lang="en-US" sz="2400" dirty="0" smtClean="0"/>
              <a:t>of evolution </a:t>
            </a:r>
            <a:r>
              <a:rPr lang="en-US" sz="2400" dirty="0"/>
              <a:t>within different lineages e.g. </a:t>
            </a:r>
            <a:r>
              <a:rPr lang="en-US" sz="2400" dirty="0" err="1"/>
              <a:t>Neighbour</a:t>
            </a:r>
            <a:r>
              <a:rPr lang="en-US" sz="2400" dirty="0"/>
              <a:t> Joining.</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92990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6575"/>
          <a:stretch/>
        </p:blipFill>
        <p:spPr bwMode="auto">
          <a:xfrm>
            <a:off x="2174333" y="3406014"/>
            <a:ext cx="7127435" cy="2299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0" y="0"/>
            <a:ext cx="10287000" cy="2862322"/>
          </a:xfrm>
          <a:prstGeom prst="rect">
            <a:avLst/>
          </a:prstGeom>
        </p:spPr>
        <p:txBody>
          <a:bodyPr wrap="square">
            <a:spAutoFit/>
          </a:bodyPr>
          <a:lstStyle/>
          <a:p>
            <a:pPr algn="ctr"/>
            <a:r>
              <a:rPr lang="en-US" sz="3600" b="1" dirty="0"/>
              <a:t>NJ (Neighbor </a:t>
            </a:r>
            <a:r>
              <a:rPr lang="en-US" sz="3600" b="1" dirty="0" smtClean="0"/>
              <a:t>Joining)</a:t>
            </a:r>
          </a:p>
          <a:p>
            <a:pPr algn="just"/>
            <a:endParaRPr lang="en-US" sz="2400" dirty="0" smtClean="0"/>
          </a:p>
          <a:p>
            <a:pPr algn="just"/>
            <a:r>
              <a:rPr lang="en-US" sz="2400" dirty="0" smtClean="0"/>
              <a:t>This </a:t>
            </a:r>
            <a:r>
              <a:rPr lang="en-US" sz="2400" dirty="0"/>
              <a:t>methods start with all species arranged in a star tree</a:t>
            </a:r>
            <a:r>
              <a:rPr lang="en-US" sz="2400" dirty="0" smtClean="0"/>
              <a:t>.</a:t>
            </a:r>
          </a:p>
          <a:p>
            <a:pPr marL="342900" indent="-342900">
              <a:buFont typeface="Arial" pitchFamily="34" charset="0"/>
              <a:buChar char="•"/>
            </a:pPr>
            <a:r>
              <a:rPr lang="en-US" sz="2400" dirty="0" smtClean="0"/>
              <a:t>The </a:t>
            </a:r>
            <a:r>
              <a:rPr lang="en-US" sz="2400" dirty="0"/>
              <a:t>pair of nodes pulled out (grouped) at each iteration are chosen so that the </a:t>
            </a:r>
            <a:r>
              <a:rPr lang="en-US" sz="2400" dirty="0" smtClean="0"/>
              <a:t>total length </a:t>
            </a:r>
            <a:r>
              <a:rPr lang="en-US" sz="2400" dirty="0"/>
              <a:t>of the branches on the tree is minimized</a:t>
            </a:r>
          </a:p>
          <a:p>
            <a:pPr marL="342900" indent="-342900">
              <a:buFont typeface="Arial" pitchFamily="34" charset="0"/>
              <a:buChar char="•"/>
            </a:pPr>
            <a:r>
              <a:rPr lang="en-US" sz="2400" dirty="0" smtClean="0"/>
              <a:t>After </a:t>
            </a:r>
            <a:r>
              <a:rPr lang="en-US" sz="2400" dirty="0"/>
              <a:t>a pair of nodes is pulled out, it forms a cluster in the tree and is included </a:t>
            </a:r>
            <a:r>
              <a:rPr lang="en-US" sz="2400" dirty="0" smtClean="0"/>
              <a:t>in further </a:t>
            </a:r>
            <a:r>
              <a:rPr lang="en-US" sz="2400" dirty="0"/>
              <a:t>rounds of iteration (and a new distance matrix is generated)</a:t>
            </a:r>
          </a:p>
        </p:txBody>
      </p:sp>
      <p:sp>
        <p:nvSpPr>
          <p:cNvPr id="4" name="Rectangle 3"/>
          <p:cNvSpPr/>
          <p:nvPr/>
        </p:nvSpPr>
        <p:spPr>
          <a:xfrm>
            <a:off x="7472925" y="64945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18160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9302"/>
            <a:ext cx="10287000" cy="5878532"/>
          </a:xfrm>
          <a:prstGeom prst="rect">
            <a:avLst/>
          </a:prstGeom>
        </p:spPr>
        <p:txBody>
          <a:bodyPr wrap="square">
            <a:spAutoFit/>
          </a:bodyPr>
          <a:lstStyle/>
          <a:p>
            <a:pPr algn="ctr"/>
            <a:r>
              <a:rPr lang="en-US" sz="3600" dirty="0"/>
              <a:t>Character based methods</a:t>
            </a:r>
          </a:p>
          <a:p>
            <a:r>
              <a:rPr lang="en-US" sz="2400" dirty="0"/>
              <a:t>All character based methods assume that each character substitution is independent of </a:t>
            </a:r>
            <a:r>
              <a:rPr lang="en-US" sz="2400" dirty="0" smtClean="0"/>
              <a:t>its neighbors.</a:t>
            </a:r>
            <a:endParaRPr lang="en-US" sz="2400" dirty="0"/>
          </a:p>
          <a:p>
            <a:pPr algn="ctr"/>
            <a:r>
              <a:rPr lang="en-US" sz="2800" b="1" dirty="0" smtClean="0"/>
              <a:t>Parsimony</a:t>
            </a:r>
            <a:endParaRPr lang="en-US" sz="2800" b="1" dirty="0"/>
          </a:p>
          <a:p>
            <a:pPr marL="342900" indent="-342900">
              <a:buFont typeface="Arial" pitchFamily="34" charset="0"/>
              <a:buChar char="•"/>
            </a:pPr>
            <a:r>
              <a:rPr lang="en-US" sz="2400" dirty="0"/>
              <a:t>The concept of parsimony (from the Latin word </a:t>
            </a:r>
            <a:r>
              <a:rPr lang="en-US" sz="2400" dirty="0" err="1"/>
              <a:t>parcere</a:t>
            </a:r>
            <a:r>
              <a:rPr lang="en-US" sz="2400" dirty="0"/>
              <a:t>, to save) is central for </a:t>
            </a:r>
            <a:r>
              <a:rPr lang="en-US" sz="2400" dirty="0" smtClean="0"/>
              <a:t>the character-based </a:t>
            </a:r>
            <a:r>
              <a:rPr lang="en-US" sz="2400" dirty="0"/>
              <a:t>methods for phylogenetic reconstruction</a:t>
            </a:r>
          </a:p>
          <a:p>
            <a:pPr marL="342900" indent="-342900">
              <a:buFont typeface="Arial" pitchFamily="34" charset="0"/>
              <a:buChar char="•"/>
            </a:pPr>
            <a:r>
              <a:rPr lang="en-US" sz="2400" dirty="0"/>
              <a:t>In the biological sense, the term is used to describe the process that leads to prefer </a:t>
            </a:r>
            <a:r>
              <a:rPr lang="en-US" sz="2400" dirty="0" smtClean="0"/>
              <a:t>a particular </a:t>
            </a:r>
            <a:r>
              <a:rPr lang="en-US" sz="2400" dirty="0"/>
              <a:t>evolution-</a:t>
            </a:r>
            <a:r>
              <a:rPr lang="en-US" sz="2400" dirty="0" err="1"/>
              <a:t>ary</a:t>
            </a:r>
            <a:r>
              <a:rPr lang="en-US" sz="2400" dirty="0"/>
              <a:t> path based on the lowest number of predicted </a:t>
            </a:r>
            <a:r>
              <a:rPr lang="en-US" sz="2400" dirty="0" smtClean="0"/>
              <a:t>mutational events</a:t>
            </a:r>
            <a:endParaRPr lang="en-US" sz="2400" dirty="0"/>
          </a:p>
          <a:p>
            <a:pPr marL="342900" indent="-342900">
              <a:buFont typeface="Arial" pitchFamily="34" charset="0"/>
              <a:buChar char="•"/>
            </a:pPr>
            <a:r>
              <a:rPr lang="en-US" sz="2400" dirty="0"/>
              <a:t>The two premises that underlie the concept of bio-logical parsimony can </a:t>
            </a:r>
            <a:r>
              <a:rPr lang="en-US" sz="2400" dirty="0" smtClean="0"/>
              <a:t>be summarized </a:t>
            </a:r>
            <a:r>
              <a:rPr lang="en-US" sz="2400" dirty="0"/>
              <a:t>as:</a:t>
            </a:r>
          </a:p>
          <a:p>
            <a:pPr marL="800100" lvl="1" indent="-342900">
              <a:buFont typeface="Arial" pitchFamily="34" charset="0"/>
              <a:buChar char="•"/>
            </a:pPr>
            <a:r>
              <a:rPr lang="en-US" sz="2400" dirty="0"/>
              <a:t>mutations are extremely rare events</a:t>
            </a:r>
          </a:p>
          <a:p>
            <a:pPr marL="800100" lvl="1" indent="-342900">
              <a:buFont typeface="Arial" pitchFamily="34" charset="0"/>
              <a:buChar char="•"/>
            </a:pPr>
            <a:r>
              <a:rPr lang="en-US" sz="2400" dirty="0"/>
              <a:t>a model that postulates unlikely events, is probably </a:t>
            </a:r>
            <a:r>
              <a:rPr lang="en-US" sz="2400" dirty="0" smtClean="0"/>
              <a:t>incorrect.</a:t>
            </a:r>
          </a:p>
          <a:p>
            <a:pPr marL="342900" indent="-342900">
              <a:buFont typeface="Arial" pitchFamily="34" charset="0"/>
              <a:buChar char="•"/>
            </a:pPr>
            <a:r>
              <a:rPr lang="en-US" sz="2400" dirty="0" smtClean="0"/>
              <a:t>Those relationships </a:t>
            </a:r>
            <a:r>
              <a:rPr lang="en-US" sz="2400" dirty="0"/>
              <a:t>that require the fewest number of mutations to explain </a:t>
            </a:r>
            <a:r>
              <a:rPr lang="en-US" sz="2400" dirty="0" smtClean="0"/>
              <a:t>the current </a:t>
            </a:r>
            <a:r>
              <a:rPr lang="en-US" sz="2400" dirty="0"/>
              <a:t>status of the considered sequences are the most likely </a:t>
            </a:r>
            <a:r>
              <a:rPr lang="en-US" sz="2400" dirty="0" smtClean="0"/>
              <a:t>correct</a:t>
            </a:r>
            <a:endParaRPr lang="en-US" sz="24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79577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6877"/>
            <a:ext cx="10287000" cy="5570756"/>
          </a:xfrm>
          <a:prstGeom prst="rect">
            <a:avLst/>
          </a:prstGeom>
        </p:spPr>
        <p:txBody>
          <a:bodyPr wrap="square">
            <a:spAutoFit/>
          </a:bodyPr>
          <a:lstStyle/>
          <a:p>
            <a:pPr marL="342900" indent="-342900">
              <a:buFont typeface="Arial" pitchFamily="34" charset="0"/>
              <a:buChar char="•"/>
            </a:pPr>
            <a:r>
              <a:rPr lang="en-US" sz="2400" dirty="0"/>
              <a:t>Philosophical principle enunciated in the fourteenth century by William of </a:t>
            </a:r>
            <a:r>
              <a:rPr lang="en-US" sz="2400" dirty="0" smtClean="0"/>
              <a:t>Ockham</a:t>
            </a:r>
            <a:endParaRPr lang="en-US" sz="2400" dirty="0"/>
          </a:p>
          <a:p>
            <a:pPr marL="342900" indent="-342900">
              <a:buFont typeface="Arial" pitchFamily="34" charset="0"/>
              <a:buChar char="•"/>
            </a:pPr>
            <a:r>
              <a:rPr lang="en-US" sz="2400" dirty="0" smtClean="0"/>
              <a:t>Among </a:t>
            </a:r>
            <a:r>
              <a:rPr lang="en-US" sz="2400" dirty="0"/>
              <a:t>different ex-</a:t>
            </a:r>
            <a:r>
              <a:rPr lang="en-US" sz="2400" dirty="0" err="1"/>
              <a:t>planations</a:t>
            </a:r>
            <a:r>
              <a:rPr lang="en-US" sz="2400" dirty="0"/>
              <a:t>, the simplest is preferable; it looks need-less to </a:t>
            </a:r>
            <a:r>
              <a:rPr lang="en-US" sz="2400" dirty="0" smtClean="0"/>
              <a:t>resort to </a:t>
            </a:r>
            <a:r>
              <a:rPr lang="en-US" sz="2400" dirty="0"/>
              <a:t>many assumptions if the same event can be explained by few hypotheses</a:t>
            </a:r>
          </a:p>
          <a:p>
            <a:pPr algn="ctr"/>
            <a:r>
              <a:rPr lang="en-US" sz="2000" i="1" dirty="0" err="1"/>
              <a:t>Entia</a:t>
            </a:r>
            <a:r>
              <a:rPr lang="en-US" sz="2000" i="1" dirty="0"/>
              <a:t> non </a:t>
            </a:r>
            <a:r>
              <a:rPr lang="en-US" sz="2000" i="1" dirty="0" err="1"/>
              <a:t>sunt</a:t>
            </a:r>
            <a:r>
              <a:rPr lang="en-US" sz="2000" i="1" dirty="0"/>
              <a:t> </a:t>
            </a:r>
            <a:r>
              <a:rPr lang="en-US" sz="2000" i="1" dirty="0" err="1"/>
              <a:t>multiplicanda</a:t>
            </a:r>
            <a:r>
              <a:rPr lang="en-US" sz="2000" i="1" dirty="0"/>
              <a:t> </a:t>
            </a:r>
            <a:r>
              <a:rPr lang="en-US" sz="2000" i="1" dirty="0" err="1"/>
              <a:t>praeter</a:t>
            </a:r>
            <a:r>
              <a:rPr lang="en-US" sz="2000" i="1" dirty="0"/>
              <a:t> </a:t>
            </a:r>
            <a:r>
              <a:rPr lang="en-US" sz="2000" i="1" dirty="0" err="1"/>
              <a:t>necessitatem</a:t>
            </a:r>
            <a:endParaRPr lang="en-US" sz="2000" i="1" dirty="0"/>
          </a:p>
          <a:p>
            <a:pPr marL="342900" indent="-342900">
              <a:buFont typeface="Arial" pitchFamily="34" charset="0"/>
              <a:buChar char="•"/>
            </a:pPr>
            <a:r>
              <a:rPr lang="en-US" sz="2400" dirty="0"/>
              <a:t>God created all things, and God would not have created anything complex </a:t>
            </a:r>
            <a:r>
              <a:rPr lang="en-US" sz="2400" dirty="0" smtClean="0"/>
              <a:t>if he </a:t>
            </a:r>
            <a:r>
              <a:rPr lang="en-US" sz="2400" dirty="0"/>
              <a:t>could reach the same task in a simpler </a:t>
            </a:r>
            <a:r>
              <a:rPr lang="en-US" sz="2400" dirty="0" smtClean="0"/>
              <a:t>way</a:t>
            </a:r>
          </a:p>
          <a:p>
            <a:pPr marL="342900" indent="-342900">
              <a:buFont typeface="Arial" pitchFamily="34" charset="0"/>
              <a:buChar char="•"/>
            </a:pPr>
            <a:r>
              <a:rPr lang="en-US" sz="2400" dirty="0"/>
              <a:t>Ockham’s razor: It represents the basic principle of the modern scientific thought; </a:t>
            </a:r>
            <a:r>
              <a:rPr lang="en-US" sz="2400" dirty="0" smtClean="0"/>
              <a:t>in its </a:t>
            </a:r>
            <a:r>
              <a:rPr lang="en-US" sz="2400" dirty="0"/>
              <a:t>most immediate form suggests the futility of formulating more theories of </a:t>
            </a:r>
            <a:r>
              <a:rPr lang="en-US" sz="2400" dirty="0" smtClean="0"/>
              <a:t>those that </a:t>
            </a:r>
            <a:r>
              <a:rPr lang="en-US" sz="2400" dirty="0"/>
              <a:t>are strictly necessary to explain a given </a:t>
            </a:r>
            <a:r>
              <a:rPr lang="en-US" sz="2400" dirty="0" smtClean="0"/>
              <a:t>phenomenon</a:t>
            </a:r>
          </a:p>
          <a:p>
            <a:pPr marL="342900" indent="-342900">
              <a:buFont typeface="Arial" pitchFamily="34" charset="0"/>
              <a:buChar char="•"/>
            </a:pPr>
            <a:r>
              <a:rPr lang="en-US" sz="2400" dirty="0"/>
              <a:t>Natural selection favors rapid adaptations, that is obtained through the least </a:t>
            </a:r>
            <a:r>
              <a:rPr lang="en-US" sz="2400" dirty="0" smtClean="0"/>
              <a:t>possible number </a:t>
            </a:r>
            <a:r>
              <a:rPr lang="en-US" sz="2400" dirty="0"/>
              <a:t>of evolutionary steps</a:t>
            </a:r>
          </a:p>
          <a:p>
            <a:pPr marL="342900" indent="-342900">
              <a:buFont typeface="Arial" pitchFamily="34" charset="0"/>
              <a:buChar char="•"/>
            </a:pPr>
            <a:r>
              <a:rPr lang="en-US" sz="2400" dirty="0"/>
              <a:t>Statistically speaking, evolutionary changes are rare, so it is unlikely that they </a:t>
            </a:r>
            <a:r>
              <a:rPr lang="en-US" sz="2400" dirty="0" smtClean="0"/>
              <a:t>occur many times</a:t>
            </a:r>
            <a:endParaRPr lang="en-US" sz="24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758013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220349"/>
            <a:ext cx="10287000" cy="4524315"/>
          </a:xfrm>
          <a:prstGeom prst="rect">
            <a:avLst/>
          </a:prstGeom>
        </p:spPr>
        <p:txBody>
          <a:bodyPr wrap="square">
            <a:spAutoFit/>
          </a:bodyPr>
          <a:lstStyle/>
          <a:p>
            <a:pPr marL="342900" indent="-342900">
              <a:buFont typeface="Arial" pitchFamily="34" charset="0"/>
              <a:buChar char="•"/>
            </a:pPr>
            <a:r>
              <a:rPr lang="en-US" sz="2400" dirty="0"/>
              <a:t>Maximum parsimony is an optimality criterion under which the phylogenetic tree that minimizes the total number of character-state changes must be preferred</a:t>
            </a:r>
          </a:p>
          <a:p>
            <a:pPr marL="342900" indent="-342900">
              <a:buFont typeface="Arial" pitchFamily="34" charset="0"/>
              <a:buChar char="•"/>
            </a:pPr>
            <a:r>
              <a:rPr lang="en-US" sz="2400" dirty="0" smtClean="0"/>
              <a:t>In </a:t>
            </a:r>
            <a:r>
              <a:rPr lang="en-US" sz="2400" dirty="0"/>
              <a:t>general, in order for a position to be informative, regardless of how </a:t>
            </a:r>
            <a:r>
              <a:rPr lang="en-US" sz="2400" dirty="0" smtClean="0"/>
              <a:t>many sequences </a:t>
            </a:r>
            <a:r>
              <a:rPr lang="en-US" sz="2400" dirty="0"/>
              <a:t>are aligned, it must contain at least two different nucleotides, each </a:t>
            </a:r>
            <a:r>
              <a:rPr lang="en-US" sz="2400" dirty="0" smtClean="0"/>
              <a:t>of which </a:t>
            </a:r>
            <a:r>
              <a:rPr lang="en-US" sz="2400" dirty="0"/>
              <a:t>must be present at least twice</a:t>
            </a:r>
          </a:p>
          <a:p>
            <a:pPr marL="342900" indent="-342900">
              <a:buFont typeface="Arial" pitchFamily="34" charset="0"/>
              <a:buChar char="•"/>
            </a:pPr>
            <a:r>
              <a:rPr lang="en-US" sz="2400" dirty="0"/>
              <a:t>The non-informative positions are simply discarded and not considered in </a:t>
            </a:r>
            <a:r>
              <a:rPr lang="en-US" sz="2400" dirty="0" smtClean="0"/>
              <a:t>the subsequent </a:t>
            </a:r>
            <a:r>
              <a:rPr lang="en-US" sz="2400" dirty="0"/>
              <a:t>parsimony analysis</a:t>
            </a:r>
          </a:p>
          <a:p>
            <a:pPr marL="342900" indent="-342900">
              <a:buFont typeface="Arial" pitchFamily="34" charset="0"/>
              <a:buChar char="•"/>
            </a:pPr>
            <a:r>
              <a:rPr lang="en-US" sz="2400" dirty="0"/>
              <a:t>Vice versa, non-informative positions do contribute to pairwise similarity scores </a:t>
            </a:r>
            <a:r>
              <a:rPr lang="en-US" sz="2400" dirty="0" smtClean="0"/>
              <a:t>used in </a:t>
            </a:r>
            <a:r>
              <a:rPr lang="en-US" sz="2400" dirty="0"/>
              <a:t>distance-based approaches</a:t>
            </a:r>
          </a:p>
          <a:p>
            <a:pPr marL="342900" indent="-342900">
              <a:buFont typeface="Arial" pitchFamily="34" charset="0"/>
              <a:buChar char="•"/>
            </a:pPr>
            <a:r>
              <a:rPr lang="en-US" sz="2400" dirty="0"/>
              <a:t>Very different conclusions can be drawn depending on the chosen method (</a:t>
            </a:r>
            <a:r>
              <a:rPr lang="en-US" sz="2400" dirty="0" smtClean="0"/>
              <a:t>distance or </a:t>
            </a:r>
            <a:r>
              <a:rPr lang="en-US" sz="2400" dirty="0"/>
              <a:t>character-based)</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064073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962" y="216952"/>
            <a:ext cx="10013204" cy="4702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962" y="4919731"/>
            <a:ext cx="10013204" cy="105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40299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17" y="251162"/>
            <a:ext cx="9971562" cy="4823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469380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228" y="384781"/>
            <a:ext cx="10031444" cy="561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8904088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797" y="278931"/>
            <a:ext cx="10025709" cy="5671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111280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098" y="436430"/>
            <a:ext cx="9995405" cy="578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23828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738" y="277768"/>
            <a:ext cx="10032551" cy="50927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644869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0905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Software for Phylogenetic </a:t>
            </a:r>
            <a:r>
              <a:rPr lang="en-US" sz="4400" dirty="0" smtClean="0"/>
              <a:t>Analyses</a:t>
            </a:r>
            <a:r>
              <a:rPr lang="en-US" sz="4400" dirty="0" smtClean="0"/>
              <a:t> </a:t>
            </a:r>
            <a:endParaRPr lang="en-US" sz="4400" dirty="0" smtClean="0"/>
          </a:p>
          <a:p>
            <a:pPr marL="0" indent="0">
              <a:buNone/>
            </a:pP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2055319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631"/>
            <a:ext cx="10287000" cy="6555641"/>
          </a:xfrm>
          <a:prstGeom prst="rect">
            <a:avLst/>
          </a:prstGeom>
        </p:spPr>
        <p:txBody>
          <a:bodyPr wrap="square">
            <a:spAutoFit/>
          </a:bodyPr>
          <a:lstStyle/>
          <a:p>
            <a:pPr algn="ctr"/>
            <a:r>
              <a:rPr lang="en-US" sz="3600" dirty="0"/>
              <a:t>Software for Phylogenetic Analysis</a:t>
            </a:r>
          </a:p>
          <a:p>
            <a:endParaRPr lang="en-US" sz="2400" dirty="0" smtClean="0"/>
          </a:p>
          <a:p>
            <a:pPr marL="342900" indent="-342900">
              <a:buFont typeface="Wingdings" pitchFamily="2" charset="2"/>
              <a:buChar char="v"/>
            </a:pPr>
            <a:r>
              <a:rPr lang="en-US" sz="2400" dirty="0" smtClean="0"/>
              <a:t>There </a:t>
            </a:r>
            <a:r>
              <a:rPr lang="en-US" sz="2400" dirty="0"/>
              <a:t>are software for phylogenetic analysis using different methods and there are software </a:t>
            </a:r>
            <a:r>
              <a:rPr lang="en-US" sz="2400" dirty="0" smtClean="0"/>
              <a:t>for drawing </a:t>
            </a:r>
            <a:r>
              <a:rPr lang="en-US" sz="2400" dirty="0"/>
              <a:t>phylogenetic tree and to view those trees. For example, phylogenetic analysis </a:t>
            </a:r>
            <a:r>
              <a:rPr lang="en-US" sz="2400" dirty="0" smtClean="0"/>
              <a:t>software that </a:t>
            </a:r>
            <a:r>
              <a:rPr lang="en-US" sz="2400" dirty="0"/>
              <a:t>uses distances matrix methods include:</a:t>
            </a:r>
          </a:p>
          <a:p>
            <a:r>
              <a:rPr lang="en-US" sz="2400" dirty="0" smtClean="0"/>
              <a:t>	</a:t>
            </a:r>
            <a:r>
              <a:rPr lang="en-US" sz="2400" dirty="0" err="1" smtClean="0"/>
              <a:t>Clustalw</a:t>
            </a:r>
            <a:r>
              <a:rPr lang="en-US" sz="2400" dirty="0"/>
              <a:t>, </a:t>
            </a:r>
            <a:r>
              <a:rPr lang="en-US" sz="2400" dirty="0" err="1"/>
              <a:t>Phylo_win</a:t>
            </a:r>
            <a:r>
              <a:rPr lang="en-US" sz="2400" dirty="0"/>
              <a:t>, </a:t>
            </a:r>
            <a:r>
              <a:rPr lang="en-US" sz="2400" dirty="0" err="1"/>
              <a:t>Paup</a:t>
            </a:r>
            <a:endParaRPr lang="en-US" sz="2400" dirty="0"/>
          </a:p>
          <a:p>
            <a:r>
              <a:rPr lang="en-US" sz="2400" dirty="0" smtClean="0"/>
              <a:t>	</a:t>
            </a:r>
            <a:r>
              <a:rPr lang="en-US" sz="2400" dirty="0" err="1" smtClean="0"/>
              <a:t>Paupsearch</a:t>
            </a:r>
            <a:r>
              <a:rPr lang="en-US" sz="2400" dirty="0"/>
              <a:t>, distances (In the GCG software package)</a:t>
            </a:r>
          </a:p>
          <a:p>
            <a:r>
              <a:rPr lang="en-US" sz="2400" dirty="0" smtClean="0"/>
              <a:t>	</a:t>
            </a:r>
            <a:r>
              <a:rPr lang="en-US" sz="2400" dirty="0" err="1" smtClean="0"/>
              <a:t>DNADist</a:t>
            </a:r>
            <a:r>
              <a:rPr lang="en-US" sz="2400" dirty="0"/>
              <a:t>, </a:t>
            </a:r>
            <a:r>
              <a:rPr lang="en-US" sz="2400" dirty="0" err="1"/>
              <a:t>PROTDist</a:t>
            </a:r>
            <a:r>
              <a:rPr lang="en-US" sz="2400" dirty="0"/>
              <a:t>, Fitch, </a:t>
            </a:r>
            <a:r>
              <a:rPr lang="en-US" sz="2400" dirty="0" err="1"/>
              <a:t>Kitch</a:t>
            </a:r>
            <a:r>
              <a:rPr lang="en-US" sz="2400" dirty="0"/>
              <a:t>, Neighbor (In the </a:t>
            </a:r>
            <a:r>
              <a:rPr lang="en-US" sz="2400" dirty="0" err="1"/>
              <a:t>Phylip</a:t>
            </a:r>
            <a:r>
              <a:rPr lang="en-US" sz="2400" dirty="0"/>
              <a:t> package</a:t>
            </a:r>
            <a:r>
              <a:rPr lang="en-US" sz="2400" dirty="0" smtClean="0"/>
              <a:t>)</a:t>
            </a:r>
          </a:p>
          <a:p>
            <a:endParaRPr lang="en-US" sz="2400" dirty="0"/>
          </a:p>
          <a:p>
            <a:pPr marL="342900" indent="-342900">
              <a:buFont typeface="Wingdings" pitchFamily="2" charset="2"/>
              <a:buChar char="v"/>
            </a:pPr>
            <a:r>
              <a:rPr lang="en-US" sz="2400" dirty="0"/>
              <a:t>Example of software for drawing phylogenetic trees include:</a:t>
            </a:r>
          </a:p>
          <a:p>
            <a:r>
              <a:rPr lang="en-US" sz="2400" dirty="0" smtClean="0"/>
              <a:t>	DRAWGRAM </a:t>
            </a:r>
            <a:r>
              <a:rPr lang="en-US" sz="2400" dirty="0"/>
              <a:t>(for drawing </a:t>
            </a:r>
            <a:r>
              <a:rPr lang="en-US" sz="2400" dirty="0" err="1"/>
              <a:t>unrooted</a:t>
            </a:r>
            <a:r>
              <a:rPr lang="en-US" sz="2400" dirty="0"/>
              <a:t> trees in the </a:t>
            </a:r>
            <a:r>
              <a:rPr lang="en-US" sz="2400" dirty="0" err="1"/>
              <a:t>Phylip</a:t>
            </a:r>
            <a:r>
              <a:rPr lang="en-US" sz="2400" dirty="0"/>
              <a:t> package)</a:t>
            </a:r>
          </a:p>
          <a:p>
            <a:r>
              <a:rPr lang="en-US" sz="2400" dirty="0" smtClean="0"/>
              <a:t>	</a:t>
            </a:r>
            <a:r>
              <a:rPr lang="en-US" sz="2400" dirty="0" err="1" smtClean="0"/>
              <a:t>FigTree</a:t>
            </a:r>
            <a:r>
              <a:rPr lang="en-US" sz="2400" dirty="0" smtClean="0"/>
              <a:t> </a:t>
            </a:r>
            <a:r>
              <a:rPr lang="en-US" sz="2400" dirty="0"/>
              <a:t>(A stand-alone </a:t>
            </a:r>
            <a:r>
              <a:rPr lang="en-US" sz="2400" dirty="0" err="1"/>
              <a:t>programme</a:t>
            </a:r>
            <a:r>
              <a:rPr lang="en-US" sz="2400" dirty="0" smtClean="0"/>
              <a:t>)</a:t>
            </a:r>
          </a:p>
          <a:p>
            <a:endParaRPr lang="en-US" sz="2400" dirty="0"/>
          </a:p>
          <a:p>
            <a:pPr marL="342900" indent="-342900">
              <a:buFont typeface="Wingdings" pitchFamily="2" charset="2"/>
              <a:buChar char="v"/>
            </a:pPr>
            <a:r>
              <a:rPr lang="en-US" sz="2400" dirty="0"/>
              <a:t>Example of software for viewing phylogenetic trees include:</a:t>
            </a:r>
          </a:p>
          <a:p>
            <a:r>
              <a:rPr lang="en-US" sz="2400" dirty="0" smtClean="0"/>
              <a:t>	</a:t>
            </a:r>
            <a:r>
              <a:rPr lang="en-US" sz="2400" dirty="0" err="1" smtClean="0"/>
              <a:t>TreeView</a:t>
            </a:r>
            <a:endParaRPr lang="en-US" sz="2400" dirty="0"/>
          </a:p>
          <a:p>
            <a:endParaRPr lang="en-US" sz="2400" dirty="0" smtClean="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1459881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0250"/>
            <a:ext cx="10287000" cy="4339650"/>
          </a:xfrm>
          <a:prstGeom prst="rect">
            <a:avLst/>
          </a:prstGeom>
        </p:spPr>
        <p:txBody>
          <a:bodyPr wrap="square">
            <a:spAutoFit/>
          </a:bodyPr>
          <a:lstStyle/>
          <a:p>
            <a:pPr algn="ctr"/>
            <a:r>
              <a:rPr lang="en-US" sz="3600" dirty="0"/>
              <a:t>Software for Phylogenetic </a:t>
            </a:r>
            <a:r>
              <a:rPr lang="en-US" sz="3600" dirty="0" smtClean="0"/>
              <a:t>Analysis (Cont.)</a:t>
            </a:r>
            <a:endParaRPr lang="en-US" sz="3600" dirty="0"/>
          </a:p>
          <a:p>
            <a:endParaRPr lang="en-US" sz="2400" dirty="0" smtClean="0"/>
          </a:p>
          <a:p>
            <a:pPr marL="342900" indent="-342900">
              <a:buFont typeface="Wingdings" pitchFamily="2" charset="2"/>
              <a:buChar char="v"/>
            </a:pPr>
            <a:r>
              <a:rPr lang="en-US" sz="2400" dirty="0" smtClean="0"/>
              <a:t>However </a:t>
            </a:r>
            <a:r>
              <a:rPr lang="en-US" sz="2400" dirty="0"/>
              <a:t>there are popular software packages which includes all the popular methods </a:t>
            </a:r>
            <a:r>
              <a:rPr lang="en-US" sz="2400" dirty="0" smtClean="0"/>
              <a:t>of phylogenetic </a:t>
            </a:r>
            <a:r>
              <a:rPr lang="en-US" sz="2400" dirty="0"/>
              <a:t>analysis along with software for drawing and viewing phylogenetic trees. </a:t>
            </a:r>
            <a:r>
              <a:rPr lang="en-US" sz="2400" dirty="0" smtClean="0"/>
              <a:t>Example includes</a:t>
            </a:r>
            <a:r>
              <a:rPr lang="en-US" sz="2400" dirty="0"/>
              <a:t>:</a:t>
            </a:r>
          </a:p>
          <a:p>
            <a:r>
              <a:rPr lang="en-US" sz="2400" dirty="0" smtClean="0"/>
              <a:t>	DAMBE</a:t>
            </a:r>
            <a:r>
              <a:rPr lang="en-US" sz="2400" dirty="0"/>
              <a:t>,</a:t>
            </a:r>
          </a:p>
          <a:p>
            <a:r>
              <a:rPr lang="en-US" sz="2400" dirty="0" smtClean="0"/>
              <a:t>	MEGA</a:t>
            </a:r>
            <a:r>
              <a:rPr lang="en-US" sz="2400" dirty="0"/>
              <a:t>,</a:t>
            </a:r>
          </a:p>
          <a:p>
            <a:r>
              <a:rPr lang="en-US" sz="2400" dirty="0" smtClean="0"/>
              <a:t>	PHYLIP</a:t>
            </a:r>
            <a:r>
              <a:rPr lang="en-US" sz="2400" dirty="0"/>
              <a:t>,</a:t>
            </a:r>
          </a:p>
          <a:p>
            <a:r>
              <a:rPr lang="en-US" sz="2400" dirty="0" smtClean="0"/>
              <a:t>	PAUP</a:t>
            </a:r>
            <a:endParaRPr lang="en-US" sz="2400" dirty="0"/>
          </a:p>
          <a:p>
            <a:r>
              <a:rPr lang="en-US" sz="2400" dirty="0"/>
              <a:t>I would recommend MEGA for a start to read in the alignment and have pull-down menus </a:t>
            </a:r>
            <a:r>
              <a:rPr lang="en-US" sz="2400" dirty="0" smtClean="0"/>
              <a:t>for various </a:t>
            </a:r>
            <a:r>
              <a:rPr lang="en-US" sz="2400" dirty="0"/>
              <a:t>types of phylogenetic reconstructions.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805645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287000" cy="6172200"/>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txBox="1">
            <a:spLocks noChangeArrowheads="1"/>
          </p:cNvSpPr>
          <p:nvPr/>
        </p:nvSpPr>
        <p:spPr>
          <a:xfrm>
            <a:off x="815430" y="730800"/>
            <a:ext cx="9293770" cy="1752600"/>
          </a:xfrm>
          <a:prstGeom prst="rect">
            <a:avLst/>
          </a:prstGeom>
        </p:spPr>
        <p:txBody>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r>
              <a:rPr lang="en-US" sz="4400" dirty="0"/>
              <a:t>Consistency of </a:t>
            </a:r>
            <a:r>
              <a:rPr lang="en-US" sz="4400" dirty="0" smtClean="0"/>
              <a:t>Molecular Phylogenetic </a:t>
            </a:r>
            <a:r>
              <a:rPr lang="en-US" sz="4400" dirty="0"/>
              <a:t>Prediction</a:t>
            </a:r>
            <a:r>
              <a:rPr lang="en-US" sz="4400" dirty="0"/>
              <a:t>	</a:t>
            </a:r>
          </a:p>
        </p:txBody>
      </p:sp>
      <p:sp>
        <p:nvSpPr>
          <p:cNvPr id="5" name="Rectangle 4"/>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0972387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4708981"/>
          </a:xfrm>
          <a:prstGeom prst="rect">
            <a:avLst/>
          </a:prstGeom>
        </p:spPr>
        <p:txBody>
          <a:bodyPr wrap="square">
            <a:spAutoFit/>
          </a:bodyPr>
          <a:lstStyle/>
          <a:p>
            <a:pPr algn="ctr"/>
            <a:r>
              <a:rPr lang="en-US" sz="3600" b="1" dirty="0"/>
              <a:t>Consistency of Molecular Phylogenetic Prediction</a:t>
            </a:r>
          </a:p>
          <a:p>
            <a:r>
              <a:rPr lang="en-US" sz="2400" dirty="0"/>
              <a:t>Known problems of phylogenetic analysis:</a:t>
            </a:r>
          </a:p>
          <a:p>
            <a:pPr marL="342900" indent="-342900">
              <a:buFont typeface="Arial" pitchFamily="34" charset="0"/>
              <a:buChar char="•"/>
            </a:pPr>
            <a:r>
              <a:rPr lang="en-US" sz="2400" dirty="0" smtClean="0"/>
              <a:t>Order </a:t>
            </a:r>
            <a:r>
              <a:rPr lang="en-US" sz="2400" dirty="0"/>
              <a:t>of the input data (sequences) - The order of the input sequences effects the </a:t>
            </a:r>
            <a:r>
              <a:rPr lang="en-US" sz="2400" dirty="0" smtClean="0"/>
              <a:t>tree construction</a:t>
            </a:r>
            <a:r>
              <a:rPr lang="en-US" sz="2400" dirty="0"/>
              <a:t>. You can "correct" this effect in some of the programs (like </a:t>
            </a:r>
            <a:r>
              <a:rPr lang="en-US" sz="2400" dirty="0" err="1"/>
              <a:t>phylip</a:t>
            </a:r>
            <a:r>
              <a:rPr lang="en-US" sz="2400" dirty="0"/>
              <a:t>), </a:t>
            </a:r>
            <a:r>
              <a:rPr lang="en-US" sz="2400" dirty="0" smtClean="0"/>
              <a:t>using the </a:t>
            </a:r>
            <a:r>
              <a:rPr lang="en-US" sz="2400" dirty="0"/>
              <a:t>Jumble option. (J in </a:t>
            </a:r>
            <a:r>
              <a:rPr lang="en-US" sz="2400" dirty="0" err="1"/>
              <a:t>phylip</a:t>
            </a:r>
            <a:r>
              <a:rPr lang="en-US" sz="2400" dirty="0"/>
              <a:t> set to 10).</a:t>
            </a:r>
          </a:p>
          <a:p>
            <a:pPr marL="342900" indent="-342900">
              <a:buFont typeface="Arial" pitchFamily="34" charset="0"/>
              <a:buChar char="•"/>
            </a:pPr>
            <a:r>
              <a:rPr lang="en-US" sz="2400" dirty="0" smtClean="0"/>
              <a:t>The </a:t>
            </a:r>
            <a:r>
              <a:rPr lang="en-US" sz="2400" dirty="0"/>
              <a:t>number of possible trees is huge for large datasets. Often it is not </a:t>
            </a:r>
            <a:r>
              <a:rPr lang="en-US" sz="2400" dirty="0" smtClean="0"/>
              <a:t>possible to </a:t>
            </a:r>
            <a:r>
              <a:rPr lang="en-US" sz="2400" dirty="0"/>
              <a:t>construct all trees, but can guarantee only "a good" tree not the "best tree".</a:t>
            </a:r>
          </a:p>
          <a:p>
            <a:pPr marL="342900" indent="-342900">
              <a:buFont typeface="Arial" pitchFamily="34" charset="0"/>
              <a:buChar char="•"/>
            </a:pPr>
            <a:r>
              <a:rPr lang="en-US" sz="2400" dirty="0" smtClean="0"/>
              <a:t>The </a:t>
            </a:r>
            <a:r>
              <a:rPr lang="en-US" sz="2400" dirty="0"/>
              <a:t>definition of "best tree" is ambiguous. It might mean the most likely </a:t>
            </a:r>
            <a:r>
              <a:rPr lang="en-US" sz="2400" dirty="0" smtClean="0"/>
              <a:t>tree, or </a:t>
            </a:r>
            <a:r>
              <a:rPr lang="en-US" sz="2400" dirty="0"/>
              <a:t>a tree with the fewest changes, or a tree best fit to a known model, etc.</a:t>
            </a:r>
          </a:p>
          <a:p>
            <a:pPr marL="342900" indent="-342900">
              <a:buFont typeface="Arial" pitchFamily="34" charset="0"/>
              <a:buChar char="•"/>
            </a:pPr>
            <a:r>
              <a:rPr lang="en-US" sz="2400" dirty="0" smtClean="0"/>
              <a:t>The </a:t>
            </a:r>
            <a:r>
              <a:rPr lang="en-US" sz="2400" dirty="0"/>
              <a:t>trees that result from various methods differ from each other.</a:t>
            </a:r>
          </a:p>
          <a:p>
            <a:pPr marL="342900" indent="-342900">
              <a:buFont typeface="Arial" pitchFamily="34" charset="0"/>
              <a:buChar char="•"/>
            </a:pPr>
            <a:r>
              <a:rPr lang="en-US" sz="2400" dirty="0" smtClean="0"/>
              <a:t>Never </a:t>
            </a:r>
            <a:r>
              <a:rPr lang="en-US" sz="2400" dirty="0"/>
              <a:t>the less, in order to compare trees, one needs to assume </a:t>
            </a:r>
            <a:r>
              <a:rPr lang="en-US" sz="2400" dirty="0" smtClean="0"/>
              <a:t>some evolutionary </a:t>
            </a:r>
            <a:r>
              <a:rPr lang="en-US" sz="2400" dirty="0"/>
              <a:t>model so that the trees may be tested</a:t>
            </a:r>
            <a:r>
              <a:rPr lang="en-US" sz="2400" dirty="0" smtClean="0"/>
              <a:t>.</a:t>
            </a:r>
            <a:endParaRPr lang="en-US" sz="24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2078011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84674"/>
            <a:ext cx="10287000" cy="5632311"/>
          </a:xfrm>
          <a:prstGeom prst="rect">
            <a:avLst/>
          </a:prstGeom>
        </p:spPr>
        <p:txBody>
          <a:bodyPr wrap="square">
            <a:spAutoFit/>
          </a:bodyPr>
          <a:lstStyle/>
          <a:p>
            <a:pPr algn="ctr"/>
            <a:r>
              <a:rPr lang="en-US" sz="3600" b="1" dirty="0"/>
              <a:t>Consistency of Molecular Phylogenetic </a:t>
            </a:r>
            <a:r>
              <a:rPr lang="en-US" sz="3600" b="1" dirty="0" smtClean="0"/>
              <a:t>Prediction </a:t>
            </a:r>
            <a:r>
              <a:rPr lang="en-US" sz="3600" b="1" smtClean="0"/>
              <a:t>(Cont.) </a:t>
            </a:r>
            <a:endParaRPr lang="en-US" sz="3600" b="1" dirty="0" smtClean="0"/>
          </a:p>
          <a:p>
            <a:pPr marL="342900" indent="-342900">
              <a:buFont typeface="Arial" pitchFamily="34" charset="0"/>
              <a:buChar char="•"/>
            </a:pPr>
            <a:endParaRPr lang="en-US" sz="2400" dirty="0" smtClean="0"/>
          </a:p>
          <a:p>
            <a:pPr marL="342900" indent="-342900">
              <a:buFont typeface="Arial" pitchFamily="34" charset="0"/>
              <a:buChar char="•"/>
            </a:pPr>
            <a:r>
              <a:rPr lang="en-US" sz="2400" dirty="0" smtClean="0"/>
              <a:t>The </a:t>
            </a:r>
            <a:r>
              <a:rPr lang="en-US" sz="2400" dirty="0"/>
              <a:t>amount of data used for the tree construction is not always "informative".</a:t>
            </a:r>
          </a:p>
          <a:p>
            <a:r>
              <a:rPr lang="en-US" sz="2400" dirty="0" smtClean="0"/>
              <a:t>	For </a:t>
            </a:r>
            <a:r>
              <a:rPr lang="en-US" sz="2400" dirty="0"/>
              <a:t>example, if we compare proteins that are 100% similar in a </a:t>
            </a:r>
            <a:r>
              <a:rPr lang="en-US" sz="2400" dirty="0" smtClean="0"/>
              <a:t>	site</a:t>
            </a:r>
            <a:r>
              <a:rPr lang="en-US" sz="2400" dirty="0"/>
              <a:t>, we do not </a:t>
            </a:r>
            <a:r>
              <a:rPr lang="en-US" sz="2400" dirty="0" smtClean="0"/>
              <a:t>have information </a:t>
            </a:r>
            <a:r>
              <a:rPr lang="en-US" sz="2400" dirty="0"/>
              <a:t>to infer to phylogenetic </a:t>
            </a:r>
            <a:r>
              <a:rPr lang="en-US" sz="2400" dirty="0" smtClean="0"/>
              <a:t>	relationships </a:t>
            </a:r>
            <a:r>
              <a:rPr lang="en-US" sz="2400" dirty="0"/>
              <a:t>between these proteins.</a:t>
            </a:r>
          </a:p>
          <a:p>
            <a:pPr marL="342900" indent="-342900">
              <a:buFont typeface="Arial" pitchFamily="34" charset="0"/>
              <a:buChar char="•"/>
            </a:pPr>
            <a:r>
              <a:rPr lang="en-US" sz="2400" dirty="0" smtClean="0"/>
              <a:t>Population </a:t>
            </a:r>
            <a:r>
              <a:rPr lang="en-US" sz="2400" dirty="0"/>
              <a:t>effects are often to be considered, especially if we have a lot </a:t>
            </a:r>
            <a:r>
              <a:rPr lang="en-US" sz="2400" dirty="0" smtClean="0"/>
              <a:t>of variety </a:t>
            </a:r>
            <a:r>
              <a:rPr lang="en-US" sz="2400" dirty="0"/>
              <a:t>(e.g. large number of alleles for one protein).</a:t>
            </a:r>
          </a:p>
          <a:p>
            <a:pPr marL="342900" indent="-342900">
              <a:buFont typeface="Arial" pitchFamily="34" charset="0"/>
              <a:buChar char="•"/>
            </a:pPr>
            <a:r>
              <a:rPr lang="en-US" sz="2400" dirty="0" smtClean="0"/>
              <a:t>For </a:t>
            </a:r>
            <a:r>
              <a:rPr lang="en-US" sz="2400" dirty="0"/>
              <a:t>each dataset it is recommended to build more than one tree. Build a </a:t>
            </a:r>
            <a:r>
              <a:rPr lang="en-US" sz="2400" dirty="0" smtClean="0"/>
              <a:t>tree using </a:t>
            </a:r>
            <a:r>
              <a:rPr lang="en-US" sz="2400" dirty="0"/>
              <a:t>a distance method and if possible also use a character-based method, like </a:t>
            </a:r>
            <a:r>
              <a:rPr lang="en-US" sz="2400" dirty="0" smtClean="0"/>
              <a:t>maximum parsimony</a:t>
            </a:r>
            <a:r>
              <a:rPr lang="en-US" sz="2400" dirty="0"/>
              <a:t>.</a:t>
            </a:r>
          </a:p>
          <a:p>
            <a:pPr marL="342900" indent="-342900">
              <a:buFont typeface="Arial" pitchFamily="34" charset="0"/>
              <a:buChar char="•"/>
            </a:pPr>
            <a:r>
              <a:rPr lang="en-US" sz="2400" dirty="0" smtClean="0"/>
              <a:t>The </a:t>
            </a:r>
            <a:r>
              <a:rPr lang="en-US" sz="2400" dirty="0"/>
              <a:t>core of the tree should be similar in both methods; otherwise you </a:t>
            </a:r>
            <a:r>
              <a:rPr lang="en-US" sz="2400" dirty="0" smtClean="0"/>
              <a:t>may suspect </a:t>
            </a:r>
            <a:r>
              <a:rPr lang="en-US" sz="2400" dirty="0"/>
              <a:t>that your tree is incorrect.</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9002669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5447645"/>
          </a:xfrm>
          <a:prstGeom prst="rect">
            <a:avLst/>
          </a:prstGeom>
        </p:spPr>
        <p:txBody>
          <a:bodyPr wrap="square">
            <a:spAutoFit/>
          </a:bodyPr>
          <a:lstStyle/>
          <a:p>
            <a:pPr algn="ctr"/>
            <a:r>
              <a:rPr lang="en-US" sz="3600" dirty="0"/>
              <a:t>Consensus </a:t>
            </a:r>
            <a:r>
              <a:rPr lang="en-US" sz="3600" dirty="0" smtClean="0"/>
              <a:t>tree</a:t>
            </a:r>
            <a:endParaRPr lang="en-US" sz="3600" dirty="0"/>
          </a:p>
          <a:p>
            <a:endParaRPr lang="en-US" sz="2400" dirty="0" smtClean="0"/>
          </a:p>
          <a:p>
            <a:pPr marL="342900" indent="-342900">
              <a:buFont typeface="Wingdings" pitchFamily="2" charset="2"/>
              <a:buChar char="v"/>
            </a:pPr>
            <a:r>
              <a:rPr lang="en-US" sz="2400" dirty="0" smtClean="0"/>
              <a:t>A </a:t>
            </a:r>
            <a:r>
              <a:rPr lang="en-US" sz="2400" dirty="0"/>
              <a:t>consensus tree provides an estimate for the level of support for each clade in the final tree. </a:t>
            </a:r>
            <a:endParaRPr lang="en-US" sz="2400" dirty="0" smtClean="0"/>
          </a:p>
          <a:p>
            <a:pPr marL="342900" indent="-342900">
              <a:buFont typeface="Wingdings" pitchFamily="2" charset="2"/>
              <a:buChar char="v"/>
            </a:pPr>
            <a:r>
              <a:rPr lang="en-US" sz="2400" dirty="0" smtClean="0"/>
              <a:t>It is built </a:t>
            </a:r>
            <a:r>
              <a:rPr lang="en-US" sz="2400" dirty="0"/>
              <a:t>by combining clades which occurred in at least a certain percentage of the resampled </a:t>
            </a:r>
            <a:r>
              <a:rPr lang="en-US" sz="2400" dirty="0" smtClean="0"/>
              <a:t>trees. </a:t>
            </a:r>
          </a:p>
          <a:p>
            <a:pPr marL="342900" indent="-342900">
              <a:buFont typeface="Wingdings" pitchFamily="2" charset="2"/>
              <a:buChar char="v"/>
            </a:pPr>
            <a:r>
              <a:rPr lang="en-US" sz="2400" dirty="0" smtClean="0"/>
              <a:t>This </a:t>
            </a:r>
            <a:r>
              <a:rPr lang="en-US" sz="2400" dirty="0"/>
              <a:t>percentage is called the consensus support threshold. </a:t>
            </a:r>
            <a:endParaRPr lang="en-US" sz="2400" dirty="0" smtClean="0"/>
          </a:p>
          <a:p>
            <a:pPr marL="800100" lvl="1" indent="-342900">
              <a:buFont typeface="Arial" pitchFamily="34" charset="0"/>
              <a:buChar char="•"/>
            </a:pPr>
            <a:r>
              <a:rPr lang="en-US" sz="2400" dirty="0"/>
              <a:t>	</a:t>
            </a:r>
            <a:r>
              <a:rPr lang="en-US" sz="2400" dirty="0" smtClean="0"/>
              <a:t>A </a:t>
            </a:r>
            <a:r>
              <a:rPr lang="en-US" sz="2400" dirty="0"/>
              <a:t>100% support threshold results </a:t>
            </a:r>
            <a:r>
              <a:rPr lang="en-US" sz="2400" dirty="0" smtClean="0"/>
              <a:t>in a </a:t>
            </a:r>
            <a:r>
              <a:rPr lang="en-US" sz="2400" dirty="0"/>
              <a:t>strict consensus tree which </a:t>
            </a:r>
            <a:r>
              <a:rPr lang="en-US" sz="2400" dirty="0" smtClean="0"/>
              <a:t>	is </a:t>
            </a:r>
            <a:r>
              <a:rPr lang="en-US" sz="2400" dirty="0"/>
              <a:t>a tree where the included clades are those that are present in </a:t>
            </a:r>
            <a:r>
              <a:rPr lang="en-US" sz="2400" dirty="0" smtClean="0"/>
              <a:t>	all the </a:t>
            </a:r>
            <a:r>
              <a:rPr lang="en-US" sz="2400" dirty="0"/>
              <a:t>trees of the original set. </a:t>
            </a:r>
            <a:endParaRPr lang="en-US" sz="2400" dirty="0" smtClean="0"/>
          </a:p>
          <a:p>
            <a:pPr marL="800100" lvl="1" indent="-342900">
              <a:buFont typeface="Arial" pitchFamily="34" charset="0"/>
              <a:buChar char="•"/>
            </a:pPr>
            <a:r>
              <a:rPr lang="en-US" sz="2400" dirty="0"/>
              <a:t>	</a:t>
            </a:r>
            <a:r>
              <a:rPr lang="en-US" sz="2400" dirty="0" smtClean="0"/>
              <a:t>A </a:t>
            </a:r>
            <a:r>
              <a:rPr lang="en-US" sz="2400" dirty="0"/>
              <a:t>50% threshold results in a majority rule consensus tree that</a:t>
            </a:r>
          </a:p>
          <a:p>
            <a:pPr marL="800100" lvl="1" indent="-342900">
              <a:buFont typeface="Arial" pitchFamily="34" charset="0"/>
              <a:buChar char="•"/>
            </a:pPr>
            <a:r>
              <a:rPr lang="en-US" sz="2400" dirty="0" smtClean="0"/>
              <a:t>	includes </a:t>
            </a:r>
            <a:r>
              <a:rPr lang="en-US" sz="2400" dirty="0"/>
              <a:t>only those clades that are present in the majority of the </a:t>
            </a:r>
            <a:r>
              <a:rPr lang="en-US" sz="2400" dirty="0" smtClean="0"/>
              <a:t>	trees </a:t>
            </a:r>
            <a:r>
              <a:rPr lang="en-US" sz="2400" dirty="0"/>
              <a:t>in the original set. </a:t>
            </a:r>
            <a:endParaRPr lang="en-US" sz="2400" dirty="0" smtClean="0"/>
          </a:p>
          <a:p>
            <a:pPr marL="800100" lvl="1" indent="-342900">
              <a:buFont typeface="Arial" pitchFamily="34" charset="0"/>
              <a:buChar char="•"/>
            </a:pPr>
            <a:r>
              <a:rPr lang="en-US" sz="2400" dirty="0"/>
              <a:t>	</a:t>
            </a:r>
            <a:r>
              <a:rPr lang="en-US" sz="2400" dirty="0" smtClean="0"/>
              <a:t>A threshold </a:t>
            </a:r>
            <a:r>
              <a:rPr lang="en-US" sz="2400" dirty="0"/>
              <a:t>less that 50% gives rise to a Greedy consensus tree. </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109006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5816977"/>
          </a:xfrm>
          <a:prstGeom prst="rect">
            <a:avLst/>
          </a:prstGeom>
        </p:spPr>
        <p:txBody>
          <a:bodyPr wrap="square">
            <a:spAutoFit/>
          </a:bodyPr>
          <a:lstStyle/>
          <a:p>
            <a:pPr algn="ctr"/>
            <a:r>
              <a:rPr lang="en-US" sz="3600" dirty="0"/>
              <a:t>Consensus </a:t>
            </a:r>
            <a:r>
              <a:rPr lang="en-US" sz="3600" dirty="0" smtClean="0"/>
              <a:t>trees (Cont.)</a:t>
            </a:r>
            <a:endParaRPr lang="en-US" sz="3600" dirty="0"/>
          </a:p>
          <a:p>
            <a:endParaRPr lang="en-US" sz="2400" dirty="0" smtClean="0"/>
          </a:p>
          <a:p>
            <a:pPr marL="342900" indent="-342900">
              <a:buFont typeface="Wingdings" pitchFamily="2" charset="2"/>
              <a:buChar char="v"/>
            </a:pPr>
            <a:r>
              <a:rPr lang="en-US" sz="2400" dirty="0" smtClean="0"/>
              <a:t>In </a:t>
            </a:r>
            <a:r>
              <a:rPr lang="en-US" sz="2400" dirty="0"/>
              <a:t>constructing a Greedy consensus tree clades are first ordered according to the number of times they appear (i.e. the amount of support they have), then the consensus tree is constructed progressively to include all those clades whose support is above the threshold and that are compatible with the tree constructed so far.</a:t>
            </a:r>
          </a:p>
          <a:p>
            <a:pPr marL="342900" indent="-342900">
              <a:buFont typeface="Wingdings" pitchFamily="2" charset="2"/>
              <a:buChar char="v"/>
            </a:pPr>
            <a:r>
              <a:rPr lang="en-US" sz="2400" dirty="0"/>
              <a:t>The length of the consensus tree branches is computed from the average over all trees </a:t>
            </a:r>
            <a:r>
              <a:rPr lang="en-US" sz="2400" dirty="0" smtClean="0"/>
              <a:t>containing the </a:t>
            </a:r>
            <a:r>
              <a:rPr lang="en-US" sz="2400" dirty="0"/>
              <a:t>clade. </a:t>
            </a:r>
            <a:endParaRPr lang="en-US" sz="2400" dirty="0" smtClean="0"/>
          </a:p>
          <a:p>
            <a:pPr marL="342900" indent="-342900">
              <a:buFont typeface="Wingdings" pitchFamily="2" charset="2"/>
              <a:buChar char="v"/>
            </a:pPr>
            <a:r>
              <a:rPr lang="en-US" sz="2400" dirty="0" smtClean="0"/>
              <a:t>The </a:t>
            </a:r>
            <a:r>
              <a:rPr lang="en-US" sz="2400" dirty="0"/>
              <a:t>lengths of tip branches are computed by averaging over all trees. The </a:t>
            </a:r>
            <a:r>
              <a:rPr lang="en-US" sz="2400" dirty="0" smtClean="0"/>
              <a:t>above definitions </a:t>
            </a:r>
            <a:r>
              <a:rPr lang="en-US" sz="2400" dirty="0"/>
              <a:t>apply to rooted trees. </a:t>
            </a:r>
            <a:endParaRPr lang="en-US" sz="2400" dirty="0" smtClean="0"/>
          </a:p>
          <a:p>
            <a:pPr marL="342900" indent="-342900">
              <a:buFont typeface="Wingdings" pitchFamily="2" charset="2"/>
              <a:buChar char="v"/>
            </a:pPr>
            <a:r>
              <a:rPr lang="en-US" sz="2400" dirty="0" smtClean="0"/>
              <a:t>The </a:t>
            </a:r>
            <a:r>
              <a:rPr lang="en-US" sz="2400" dirty="0"/>
              <a:t>same principles can be applied to </a:t>
            </a:r>
            <a:r>
              <a:rPr lang="en-US" sz="2400" dirty="0" err="1"/>
              <a:t>unrooted</a:t>
            </a:r>
            <a:r>
              <a:rPr lang="en-US" sz="2400" dirty="0"/>
              <a:t> trees </a:t>
            </a:r>
            <a:r>
              <a:rPr lang="en-US" sz="2400" dirty="0" smtClean="0"/>
              <a:t>by replacing </a:t>
            </a:r>
            <a:r>
              <a:rPr lang="en-US" sz="2400" dirty="0"/>
              <a:t>“clades” with “splits”. </a:t>
            </a:r>
            <a:endParaRPr lang="en-US" sz="2400" dirty="0" smtClean="0"/>
          </a:p>
          <a:p>
            <a:pPr marL="342900" indent="-342900">
              <a:buFont typeface="Wingdings" pitchFamily="2" charset="2"/>
              <a:buChar char="v"/>
            </a:pPr>
            <a:r>
              <a:rPr lang="en-US" sz="2400" dirty="0" smtClean="0"/>
              <a:t>Each </a:t>
            </a:r>
            <a:r>
              <a:rPr lang="en-US" sz="2400" dirty="0"/>
              <a:t>branch (edge) in an </a:t>
            </a:r>
            <a:r>
              <a:rPr lang="en-US" sz="2400" dirty="0" err="1"/>
              <a:t>unrooted</a:t>
            </a:r>
            <a:r>
              <a:rPr lang="en-US" sz="2400" dirty="0"/>
              <a:t> tree corresponds to </a:t>
            </a:r>
            <a:r>
              <a:rPr lang="en-US" sz="2400" dirty="0" smtClean="0"/>
              <a:t>a different </a:t>
            </a:r>
            <a:r>
              <a:rPr lang="en-US" sz="2400" dirty="0"/>
              <a:t>split of the taxa that label the leaves of this tree.</a:t>
            </a:r>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4181396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6186309"/>
          </a:xfrm>
          <a:prstGeom prst="rect">
            <a:avLst/>
          </a:prstGeom>
        </p:spPr>
        <p:txBody>
          <a:bodyPr wrap="square">
            <a:spAutoFit/>
          </a:bodyPr>
          <a:lstStyle/>
          <a:p>
            <a:pPr algn="ctr"/>
            <a:r>
              <a:rPr lang="en-US" sz="3600" b="1" dirty="0"/>
              <a:t>Bootstrap analysis</a:t>
            </a:r>
          </a:p>
          <a:p>
            <a:endParaRPr lang="en-US" sz="2400" dirty="0" smtClean="0"/>
          </a:p>
          <a:p>
            <a:r>
              <a:rPr lang="en-US" sz="2400" dirty="0" smtClean="0"/>
              <a:t>The </a:t>
            </a:r>
            <a:r>
              <a:rPr lang="en-US" sz="2400" dirty="0"/>
              <a:t>most popular validation method to check consistency of molecular phylogenetic analysis </a:t>
            </a:r>
            <a:r>
              <a:rPr lang="en-US" sz="2400" dirty="0" smtClean="0"/>
              <a:t>is bootstrapping </a:t>
            </a:r>
            <a:r>
              <a:rPr lang="en-US" sz="2400" dirty="0"/>
              <a:t>analysis</a:t>
            </a:r>
            <a:r>
              <a:rPr lang="en-US" sz="2400" dirty="0" smtClean="0"/>
              <a:t>.</a:t>
            </a:r>
          </a:p>
          <a:p>
            <a:pPr marL="342900" indent="-342900">
              <a:buFont typeface="Wingdings" pitchFamily="2" charset="2"/>
              <a:buChar char="v"/>
            </a:pPr>
            <a:r>
              <a:rPr lang="en-US" sz="2400" dirty="0" smtClean="0"/>
              <a:t>Bootstrapping </a:t>
            </a:r>
            <a:r>
              <a:rPr lang="en-US" sz="2400" dirty="0"/>
              <a:t>is a method for testing how good a dataset fits an </a:t>
            </a:r>
            <a:r>
              <a:rPr lang="en-US" sz="2400" dirty="0" smtClean="0"/>
              <a:t>evolutionary model</a:t>
            </a:r>
            <a:r>
              <a:rPr lang="en-US" sz="2400" dirty="0"/>
              <a:t>.</a:t>
            </a:r>
          </a:p>
          <a:p>
            <a:pPr marL="342900" indent="-342900">
              <a:buFont typeface="Wingdings" pitchFamily="2" charset="2"/>
              <a:buChar char="v"/>
            </a:pPr>
            <a:r>
              <a:rPr lang="en-US" sz="2400" dirty="0" smtClean="0"/>
              <a:t>This </a:t>
            </a:r>
            <a:r>
              <a:rPr lang="en-US" sz="2400" dirty="0"/>
              <a:t>method can check the branch arrangement (topology) of a </a:t>
            </a:r>
            <a:r>
              <a:rPr lang="en-US" sz="2400" dirty="0" smtClean="0"/>
              <a:t>phylogenetic tree</a:t>
            </a:r>
            <a:r>
              <a:rPr lang="en-US" sz="2400" dirty="0"/>
              <a:t>.</a:t>
            </a:r>
          </a:p>
          <a:p>
            <a:pPr marL="342900" indent="-342900">
              <a:buFont typeface="Wingdings" pitchFamily="2" charset="2"/>
              <a:buChar char="v"/>
            </a:pPr>
            <a:r>
              <a:rPr lang="en-US" sz="2400" dirty="0" smtClean="0"/>
              <a:t>In </a:t>
            </a:r>
            <a:r>
              <a:rPr lang="en-US" sz="2400" dirty="0"/>
              <a:t>Bootstrapping, the program re-samples columns in a multiple aligned </a:t>
            </a:r>
            <a:r>
              <a:rPr lang="en-US" sz="2400" dirty="0" smtClean="0"/>
              <a:t>group of </a:t>
            </a:r>
            <a:r>
              <a:rPr lang="en-US" sz="2400" dirty="0"/>
              <a:t>sequences, and creates many new alignments, (with replacement the original dataset</a:t>
            </a:r>
            <a:r>
              <a:rPr lang="en-US" sz="2400" dirty="0" smtClean="0"/>
              <a:t>). These </a:t>
            </a:r>
            <a:r>
              <a:rPr lang="en-US" sz="2400" dirty="0"/>
              <a:t>new sets represent the population.</a:t>
            </a:r>
          </a:p>
          <a:p>
            <a:r>
              <a:rPr lang="en-US" sz="2400" dirty="0" smtClean="0"/>
              <a:t>	The </a:t>
            </a:r>
            <a:r>
              <a:rPr lang="en-US" sz="2400" dirty="0"/>
              <a:t>process is done at least 100 times.</a:t>
            </a:r>
          </a:p>
          <a:p>
            <a:r>
              <a:rPr lang="en-US" sz="2400" dirty="0" smtClean="0"/>
              <a:t>	I </a:t>
            </a:r>
            <a:r>
              <a:rPr lang="en-US" sz="2400" dirty="0"/>
              <a:t>Phylogenetic trees are generated from all the sets.</a:t>
            </a:r>
          </a:p>
          <a:p>
            <a:r>
              <a:rPr lang="en-US" sz="2400" dirty="0" smtClean="0"/>
              <a:t>	I </a:t>
            </a:r>
            <a:r>
              <a:rPr lang="en-US" sz="2400" dirty="0"/>
              <a:t>Part of the results will show the # of times a particular branch </a:t>
            </a:r>
            <a:r>
              <a:rPr lang="en-US" sz="2400" dirty="0" smtClean="0"/>
              <a:t>	point occurred out </a:t>
            </a:r>
            <a:r>
              <a:rPr lang="en-US" sz="2400" dirty="0"/>
              <a:t>of all the trees that were built.</a:t>
            </a:r>
          </a:p>
          <a:p>
            <a:r>
              <a:rPr lang="en-US" sz="2400" dirty="0"/>
              <a:t>	</a:t>
            </a:r>
            <a:r>
              <a:rPr lang="en-US" sz="2400" dirty="0" smtClean="0"/>
              <a:t>The </a:t>
            </a:r>
            <a:r>
              <a:rPr lang="en-US" sz="2400" dirty="0"/>
              <a:t>higher the number - the more valid the branching point</a:t>
            </a:r>
            <a:r>
              <a:rPr lang="en-US" sz="2400" dirty="0" smtClean="0"/>
              <a:t>.</a:t>
            </a:r>
            <a:endParaRPr lang="en-US" sz="2400" dirty="0"/>
          </a:p>
        </p:txBody>
      </p:sp>
      <p:sp>
        <p:nvSpPr>
          <p:cNvPr id="3" name="Rectangle 2"/>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28551111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
            <a:ext cx="10287000" cy="830997"/>
          </a:xfrm>
          <a:prstGeom prst="rect">
            <a:avLst/>
          </a:prstGeom>
        </p:spPr>
        <p:txBody>
          <a:bodyPr wrap="square">
            <a:spAutoFit/>
          </a:bodyPr>
          <a:lstStyle/>
          <a:p>
            <a:r>
              <a:rPr lang="en-US" sz="2400" dirty="0" smtClean="0"/>
              <a:t>Example</a:t>
            </a:r>
            <a:r>
              <a:rPr lang="en-US" sz="2400" dirty="0"/>
              <a:t>:</a:t>
            </a:r>
          </a:p>
          <a:p>
            <a:r>
              <a:rPr lang="en-US" sz="2400" dirty="0"/>
              <a:t>Given the following tree, estimate the confidence of the two internal branches</a:t>
            </a:r>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6727" y="895528"/>
            <a:ext cx="9253546" cy="5602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7472925" y="6481802"/>
            <a:ext cx="2814361" cy="369332"/>
          </a:xfrm>
          <a:prstGeom prst="rect">
            <a:avLst/>
          </a:prstGeom>
        </p:spPr>
        <p:txBody>
          <a:bodyPr wrap="none">
            <a:spAutoFit/>
          </a:bodyPr>
          <a:lstStyle/>
          <a:p>
            <a:pPr algn="ctr"/>
            <a:r>
              <a:rPr lang="en-US" dirty="0" smtClean="0"/>
              <a:t>© Dr</a:t>
            </a:r>
            <a:r>
              <a:rPr lang="en-US" dirty="0"/>
              <a:t>. </a:t>
            </a:r>
            <a:r>
              <a:rPr lang="en-US" dirty="0" err="1"/>
              <a:t>Pritam</a:t>
            </a:r>
            <a:r>
              <a:rPr lang="en-US" dirty="0"/>
              <a:t> </a:t>
            </a:r>
            <a:r>
              <a:rPr lang="en-US" dirty="0" err="1"/>
              <a:t>Chattopadhyay</a:t>
            </a:r>
            <a:endParaRPr lang="en-US" dirty="0"/>
          </a:p>
        </p:txBody>
      </p:sp>
    </p:spTree>
    <p:extLst>
      <p:ext uri="{BB962C8B-B14F-4D97-AF65-F5344CB8AC3E}">
        <p14:creationId xmlns:p14="http://schemas.microsoft.com/office/powerpoint/2010/main" val="33756214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0287000" cy="6858000"/>
          </a:xfrm>
          <a:prstGeom prst="rect">
            <a:avLst/>
          </a:prstGeom>
        </p:spPr>
      </p:pic>
    </p:spTree>
    <p:extLst>
      <p:ext uri="{BB962C8B-B14F-4D97-AF65-F5344CB8AC3E}">
        <p14:creationId xmlns:p14="http://schemas.microsoft.com/office/powerpoint/2010/main" val="117628317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xmlns="" name="Celestial" id="{C4BB2A3D-0E93-4C5F-B0D2-9D3FCE089CC5}" vid="{42E5908D-19A2-46FD-89FA-638B126129E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TM03457452[[fn=Celestial]]</Template>
  <TotalTime>3679</TotalTime>
  <Words>3036</Words>
  <Application>Microsoft Office PowerPoint</Application>
  <PresentationFormat>35mm Slides</PresentationFormat>
  <Paragraphs>264</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Celestial</vt:lpstr>
      <vt:lpstr>PowerPoint Presentation</vt:lpstr>
      <vt:lpstr>PowerPoint Presentation</vt:lpstr>
      <vt:lpstr>PowerPoint Presentation</vt:lpstr>
      <vt:lpstr>Phylogenetic Analysis</vt:lpstr>
      <vt:lpstr>PowerPoint Presentation</vt:lpstr>
      <vt:lpstr>Phylogenetic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Pritam</dc:creator>
  <cp:lastModifiedBy>Pritam</cp:lastModifiedBy>
  <cp:revision>141</cp:revision>
  <dcterms:created xsi:type="dcterms:W3CDTF">2020-08-29T16:56:40Z</dcterms:created>
  <dcterms:modified xsi:type="dcterms:W3CDTF">2021-10-23T10:50:02Z</dcterms:modified>
</cp:coreProperties>
</file>