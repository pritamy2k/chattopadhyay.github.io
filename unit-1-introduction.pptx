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53"/>
  </p:notesMasterIdLst>
  <p:sldIdLst>
    <p:sldId id="256" r:id="rId2"/>
    <p:sldId id="273" r:id="rId3"/>
    <p:sldId id="413" r:id="rId4"/>
    <p:sldId id="259" r:id="rId5"/>
    <p:sldId id="414" r:id="rId6"/>
    <p:sldId id="419" r:id="rId7"/>
    <p:sldId id="267" r:id="rId8"/>
    <p:sldId id="420" r:id="rId9"/>
    <p:sldId id="265" r:id="rId10"/>
    <p:sldId id="269" r:id="rId11"/>
    <p:sldId id="417" r:id="rId12"/>
    <p:sldId id="266" r:id="rId13"/>
    <p:sldId id="424" r:id="rId14"/>
    <p:sldId id="421" r:id="rId15"/>
    <p:sldId id="422" r:id="rId16"/>
    <p:sldId id="443" r:id="rId17"/>
    <p:sldId id="423" r:id="rId18"/>
    <p:sldId id="415" r:id="rId19"/>
    <p:sldId id="416" r:id="rId20"/>
    <p:sldId id="425" r:id="rId21"/>
    <p:sldId id="258" r:id="rId22"/>
    <p:sldId id="426" r:id="rId23"/>
    <p:sldId id="428" r:id="rId24"/>
    <p:sldId id="442" r:id="rId25"/>
    <p:sldId id="430" r:id="rId26"/>
    <p:sldId id="427" r:id="rId27"/>
    <p:sldId id="431" r:id="rId28"/>
    <p:sldId id="432" r:id="rId29"/>
    <p:sldId id="433" r:id="rId30"/>
    <p:sldId id="435" r:id="rId31"/>
    <p:sldId id="434" r:id="rId32"/>
    <p:sldId id="436" r:id="rId33"/>
    <p:sldId id="437" r:id="rId34"/>
    <p:sldId id="438" r:id="rId35"/>
    <p:sldId id="440" r:id="rId36"/>
    <p:sldId id="439" r:id="rId37"/>
    <p:sldId id="441" r:id="rId38"/>
    <p:sldId id="444" r:id="rId39"/>
    <p:sldId id="445" r:id="rId40"/>
    <p:sldId id="446" r:id="rId41"/>
    <p:sldId id="448" r:id="rId42"/>
    <p:sldId id="449" r:id="rId43"/>
    <p:sldId id="447" r:id="rId44"/>
    <p:sldId id="450" r:id="rId45"/>
    <p:sldId id="451" r:id="rId46"/>
    <p:sldId id="452" r:id="rId47"/>
    <p:sldId id="453" r:id="rId48"/>
    <p:sldId id="454" r:id="rId49"/>
    <p:sldId id="455" r:id="rId50"/>
    <p:sldId id="456" r:id="rId51"/>
    <p:sldId id="458" r:id="rId52"/>
  </p:sldIdLst>
  <p:sldSz cx="10287000" cy="6858000" type="35mm"/>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0" d="100"/>
          <a:sy n="60" d="100"/>
        </p:scale>
        <p:origin x="-1228" y="-268"/>
      </p:cViewPr>
      <p:guideLst>
        <p:guide orient="horz" pos="2160"/>
        <p:guide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 Id="rId4"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9BF85-77C1-41AE-9F39-6050061EDF6A}" type="datetimeFigureOut">
              <a:rPr lang="en-US" smtClean="0"/>
              <a:t>8/26/2021</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76B26-3396-4668-8E95-206BD960031C}" type="slidenum">
              <a:rPr lang="en-US" smtClean="0"/>
              <a:t>‹#›</a:t>
            </a:fld>
            <a:endParaRPr lang="en-US"/>
          </a:p>
        </p:txBody>
      </p:sp>
    </p:spTree>
    <p:extLst>
      <p:ext uri="{BB962C8B-B14F-4D97-AF65-F5344CB8AC3E}">
        <p14:creationId xmlns:p14="http://schemas.microsoft.com/office/powerpoint/2010/main" val="22028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Grp="1" noChangeArrowheads="1"/>
          </p:cNvSpPr>
          <p:nvPr>
            <p:ph type="ftr" sz="quarter" idx="4"/>
          </p:nvPr>
        </p:nvSpPr>
        <p:spPr>
          <a:ln/>
        </p:spPr>
        <p:txBody>
          <a:bodyPr/>
          <a:lstStyle/>
          <a:p>
            <a:r>
              <a:rPr lang="en-US"/>
              <a:t>BIC JAIPUR</a:t>
            </a:r>
          </a:p>
        </p:txBody>
      </p:sp>
      <p:sp>
        <p:nvSpPr>
          <p:cNvPr id="7" name="Rectangle 7"/>
          <p:cNvSpPr>
            <a:spLocks noGrp="1" noChangeArrowheads="1"/>
          </p:cNvSpPr>
          <p:nvPr>
            <p:ph type="sldNum" sz="quarter" idx="5"/>
          </p:nvPr>
        </p:nvSpPr>
        <p:spPr>
          <a:ln/>
        </p:spPr>
        <p:txBody>
          <a:bodyPr/>
          <a:lstStyle/>
          <a:p>
            <a:fld id="{ADA09D77-6F43-474B-B809-92C2C3538EF1}" type="slidenum">
              <a:rPr lang="en-US"/>
              <a:pPr/>
              <a:t>11</a:t>
            </a:fld>
            <a:endParaRPr lang="en-US"/>
          </a:p>
        </p:txBody>
      </p:sp>
      <p:sp>
        <p:nvSpPr>
          <p:cNvPr id="113666" name="Rectangle 2"/>
          <p:cNvSpPr>
            <a:spLocks noGrp="1" noRot="1" noChangeAspect="1" noChangeArrowheads="1" noTextEdit="1"/>
          </p:cNvSpPr>
          <p:nvPr>
            <p:ph type="sldImg"/>
          </p:nvPr>
        </p:nvSpPr>
        <p:spPr bwMode="auto">
          <a:xfrm>
            <a:off x="865188" y="703263"/>
            <a:ext cx="5167312" cy="3446462"/>
          </a:xfrm>
          <a:prstGeom prst="rect">
            <a:avLst/>
          </a:prstGeom>
          <a:no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3667" name="Rectangle 3"/>
          <p:cNvSpPr>
            <a:spLocks noGrp="1" noChangeArrowheads="1"/>
          </p:cNvSpPr>
          <p:nvPr>
            <p:ph type="body" idx="1"/>
          </p:nvPr>
        </p:nvSpPr>
        <p:spPr bwMode="auto">
          <a:xfrm>
            <a:off x="930275" y="4360863"/>
            <a:ext cx="5037138" cy="4079875"/>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Tree>
    <p:extLst>
      <p:ext uri="{BB962C8B-B14F-4D97-AF65-F5344CB8AC3E}">
        <p14:creationId xmlns:p14="http://schemas.microsoft.com/office/powerpoint/2010/main" val="42681674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22469" cy="6858000"/>
          </a:xfrm>
          <a:prstGeom prst="rect">
            <a:avLst/>
          </a:prstGeom>
        </p:spPr>
      </p:pic>
      <p:sp>
        <p:nvSpPr>
          <p:cNvPr id="2" name="Title 1"/>
          <p:cNvSpPr>
            <a:spLocks noGrp="1"/>
          </p:cNvSpPr>
          <p:nvPr>
            <p:ph type="ctrTitle"/>
          </p:nvPr>
        </p:nvSpPr>
        <p:spPr>
          <a:xfrm>
            <a:off x="3086969" y="1964267"/>
            <a:ext cx="6428507" cy="2421464"/>
          </a:xfrm>
        </p:spPr>
        <p:txBody>
          <a:bodyPr anchor="b">
            <a:normAutofit/>
          </a:bodyPr>
          <a:lstStyle>
            <a:lvl1pPr algn="r">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86969" y="4385734"/>
            <a:ext cx="6428507"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96350" y="5870577"/>
            <a:ext cx="1363695" cy="377825"/>
          </a:xfrm>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a:xfrm>
            <a:off x="3086970" y="5870577"/>
            <a:ext cx="4423654" cy="377825"/>
          </a:xfrm>
        </p:spPr>
        <p:txBody>
          <a:bodyPr/>
          <a:lstStyle/>
          <a:p>
            <a:endParaRPr lang="en-US"/>
          </a:p>
        </p:txBody>
      </p:sp>
      <p:sp>
        <p:nvSpPr>
          <p:cNvPr id="6" name="Slide Number Placeholder 5"/>
          <p:cNvSpPr>
            <a:spLocks noGrp="1"/>
          </p:cNvSpPr>
          <p:nvPr>
            <p:ph type="sldNum" sz="quarter" idx="12"/>
          </p:nvPr>
        </p:nvSpPr>
        <p:spPr>
          <a:xfrm>
            <a:off x="9045770" y="5870577"/>
            <a:ext cx="469706" cy="377825"/>
          </a:xfrm>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570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322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308581"/>
            <a:ext cx="874395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51" y="4777381"/>
            <a:ext cx="874395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7026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2142068"/>
            <a:ext cx="4289679"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8622" y="2142069"/>
            <a:ext cx="4289679"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136626-2AE9-4567-8D5E-94F038CBDAA7}"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865625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36416" y="2218267"/>
            <a:ext cx="398317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14350"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300010" y="2218267"/>
            <a:ext cx="395829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68621"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136626-2AE9-4567-8D5E-94F038CBDAA7}" type="datetimeFigureOut">
              <a:rPr lang="en-US" smtClean="0"/>
              <a:t>8/26/2021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7214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609602"/>
            <a:ext cx="8743950" cy="1456267"/>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136626-2AE9-4567-8D5E-94F038CBDAA7}" type="datetimeFigureOut">
              <a:rPr lang="en-US" smtClean="0"/>
              <a:t>8/26/2021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60477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Date Placeholder 1"/>
          <p:cNvSpPr>
            <a:spLocks noGrp="1"/>
          </p:cNvSpPr>
          <p:nvPr>
            <p:ph type="dt" sz="half" idx="10"/>
          </p:nvPr>
        </p:nvSpPr>
        <p:spPr/>
        <p:txBody>
          <a:bodyPr/>
          <a:lstStyle/>
          <a:p>
            <a:fld id="{E4136626-2AE9-4567-8D5E-94F038CBDAA7}" type="datetimeFigureOut">
              <a:rPr lang="en-US" smtClean="0"/>
              <a:t>8/26/2021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63377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433" y="1557868"/>
            <a:ext cx="3220774" cy="1439332"/>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056913" y="609601"/>
            <a:ext cx="5206472"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9433" y="2997201"/>
            <a:ext cx="3220774"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26036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894" y="1735672"/>
            <a:ext cx="4609355" cy="1371600"/>
          </a:xfrm>
        </p:spPr>
        <p:txBody>
          <a:bodyPr anchor="b">
            <a:normAutofit/>
          </a:bodyPr>
          <a:lstStyle>
            <a:lvl1pPr algn="l">
              <a:defRPr sz="24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7850" y="914400"/>
            <a:ext cx="360045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9894" y="3107272"/>
            <a:ext cx="460935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45526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4732865"/>
            <a:ext cx="8743950" cy="566738"/>
          </a:xfrm>
        </p:spPr>
        <p:txBody>
          <a:bodyPr anchor="b">
            <a:normAutofit/>
          </a:bodyPr>
          <a:lstStyle>
            <a:lvl1pPr algn="l">
              <a:defRPr sz="2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932112"/>
            <a:ext cx="771525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4351" y="5299603"/>
            <a:ext cx="874395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8/26/2021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03430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4" y="609603"/>
            <a:ext cx="8743949"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3" y="4343400"/>
            <a:ext cx="874394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370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4" name="TextBox 13"/>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2255" y="3352800"/>
            <a:ext cx="7735650"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20049" y="4343400"/>
            <a:ext cx="874395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66956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291648"/>
            <a:ext cx="8743951" cy="1468800"/>
          </a:xfrm>
        </p:spPr>
        <p:txBody>
          <a:bodyPr anchor="b">
            <a:normAutofit/>
          </a:bodyPr>
          <a:lstStyle>
            <a:lvl1pPr algn="l">
              <a:defRPr sz="2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4760448"/>
            <a:ext cx="874395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00513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1" name="TextBox 10"/>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1" y="3886200"/>
            <a:ext cx="874395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4351" y="4775200"/>
            <a:ext cx="874395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131742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22496" y="609603"/>
            <a:ext cx="8743951" cy="2743199"/>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22496" y="3505200"/>
            <a:ext cx="874395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22495" y="4343400"/>
            <a:ext cx="874395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5075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8" name="Title 1"/>
          <p:cNvSpPr>
            <a:spLocks noGrp="1"/>
          </p:cNvSpPr>
          <p:nvPr>
            <p:ph type="title"/>
          </p:nvPr>
        </p:nvSpPr>
        <p:spPr>
          <a:xfrm>
            <a:off x="514350" y="609602"/>
            <a:ext cx="8743950" cy="1456267"/>
          </a:xfrm>
        </p:spPr>
        <p:txBody>
          <a:bodyPr>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378535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Vertical Title 1"/>
          <p:cNvSpPr>
            <a:spLocks noGrp="1"/>
          </p:cNvSpPr>
          <p:nvPr>
            <p:ph type="title" orient="vert"/>
          </p:nvPr>
        </p:nvSpPr>
        <p:spPr>
          <a:xfrm>
            <a:off x="7372101" y="609601"/>
            <a:ext cx="1886199" cy="5181601"/>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609600"/>
            <a:ext cx="6738957"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8/26/2021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96390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609602"/>
            <a:ext cx="8743950"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0" y="2142069"/>
            <a:ext cx="8743950"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39176" y="5870577"/>
            <a:ext cx="136369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36626-2AE9-4567-8D5E-94F038CBDAA7}" type="datetimeFigureOut">
              <a:rPr lang="en-US" smtClean="0"/>
              <a:t>8/26/2021</a:t>
            </a:fld>
            <a:endParaRPr lang="en-US"/>
          </a:p>
        </p:txBody>
      </p:sp>
      <p:sp>
        <p:nvSpPr>
          <p:cNvPr id="5" name="Footer Placeholder 4"/>
          <p:cNvSpPr>
            <a:spLocks noGrp="1"/>
          </p:cNvSpPr>
          <p:nvPr>
            <p:ph type="ftr" sz="quarter" idx="3"/>
          </p:nvPr>
        </p:nvSpPr>
        <p:spPr>
          <a:xfrm>
            <a:off x="514351" y="5870577"/>
            <a:ext cx="6739100"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788595" y="5870577"/>
            <a:ext cx="46970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2276F9-8EC0-4ED6-B069-0CC0FD5EB513}" type="slidenum">
              <a:rPr lang="en-US" smtClean="0"/>
              <a:t>‹#›</a:t>
            </a:fld>
            <a:endParaRPr lang="en-US"/>
          </a:p>
        </p:txBody>
      </p:sp>
    </p:spTree>
    <p:extLst>
      <p:ext uri="{BB962C8B-B14F-4D97-AF65-F5344CB8AC3E}">
        <p14:creationId xmlns:p14="http://schemas.microsoft.com/office/powerpoint/2010/main" val="246596487"/>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oleObject" Target="../embeddings/oleObject2.bin"/><Relationship Id="rId10" Type="http://schemas.openxmlformats.org/officeDocument/2006/relationships/image" Target="../media/image10.png"/><Relationship Id="rId4" Type="http://schemas.openxmlformats.org/officeDocument/2006/relationships/image" Target="../media/image7.png"/><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hyperlink" Target="http://en.wikipedia.org/wiki/Biological_target" TargetMode="External"/><Relationship Id="rId13" Type="http://schemas.openxmlformats.org/officeDocument/2006/relationships/hyperlink" Target="http://en.wikipedia.org/wiki/Infectivity" TargetMode="External"/><Relationship Id="rId3" Type="http://schemas.openxmlformats.org/officeDocument/2006/relationships/hyperlink" Target="http://en.wikipedia.org/wiki/Homology_modeling" TargetMode="External"/><Relationship Id="rId7" Type="http://schemas.openxmlformats.org/officeDocument/2006/relationships/hyperlink" Target="http://en.wikipedia.org/wiki/Medication" TargetMode="External"/><Relationship Id="rId12" Type="http://schemas.openxmlformats.org/officeDocument/2006/relationships/hyperlink" Target="http://en.wikipedia.org/wiki/Pathology" TargetMode="External"/><Relationship Id="rId17" Type="http://schemas.openxmlformats.org/officeDocument/2006/relationships/hyperlink" Target="http://en.wikipedia.org/wiki/Drugs" TargetMode="External"/><Relationship Id="rId2" Type="http://schemas.openxmlformats.org/officeDocument/2006/relationships/hyperlink" Target="http://en.wikipedia.org/wiki/Structural_bioinformatics" TargetMode="External"/><Relationship Id="rId16" Type="http://schemas.openxmlformats.org/officeDocument/2006/relationships/hyperlink" Target="http://en.wikipedia.org/wiki/Computational_chemistry" TargetMode="External"/><Relationship Id="rId1" Type="http://schemas.openxmlformats.org/officeDocument/2006/relationships/slideLayout" Target="../slideLayouts/slideLayout7.xml"/><Relationship Id="rId6" Type="http://schemas.openxmlformats.org/officeDocument/2006/relationships/hyperlink" Target="http://en.wikipedia.org/wiki/Drug_design" TargetMode="External"/><Relationship Id="rId11" Type="http://schemas.openxmlformats.org/officeDocument/2006/relationships/hyperlink" Target="http://en.wikipedia.org/wiki/Metabolic_pathway" TargetMode="External"/><Relationship Id="rId5" Type="http://schemas.openxmlformats.org/officeDocument/2006/relationships/hyperlink" Target="http://www.rcsb.org/pdb/home/home.do" TargetMode="External"/><Relationship Id="rId15" Type="http://schemas.openxmlformats.org/officeDocument/2006/relationships/hyperlink" Target="http://en.wikipedia.org/wiki/Pathogen" TargetMode="External"/><Relationship Id="rId10" Type="http://schemas.openxmlformats.org/officeDocument/2006/relationships/hyperlink" Target="http://en.wikipedia.org/wiki/Metabolic" TargetMode="External"/><Relationship Id="rId4" Type="http://schemas.openxmlformats.org/officeDocument/2006/relationships/hyperlink" Target="http://salilab.org/modeller/" TargetMode="External"/><Relationship Id="rId9" Type="http://schemas.openxmlformats.org/officeDocument/2006/relationships/hyperlink" Target="http://en.wikipedia.org/wiki/Molecule" TargetMode="External"/><Relationship Id="rId14" Type="http://schemas.openxmlformats.org/officeDocument/2006/relationships/hyperlink" Target="http://en.wikipedia.org/wiki/Microorganism"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en.wikipedia.org/wiki/Computer_science" TargetMode="External"/><Relationship Id="rId13" Type="http://schemas.openxmlformats.org/officeDocument/2006/relationships/hyperlink" Target="http://en.wikipedia.org/wiki/Natural_selection" TargetMode="External"/><Relationship Id="rId3" Type="http://schemas.openxmlformats.org/officeDocument/2006/relationships/hyperlink" Target="http://www.megasoftware.net/" TargetMode="External"/><Relationship Id="rId7" Type="http://schemas.openxmlformats.org/officeDocument/2006/relationships/hyperlink" Target="http://en.wikipedia.org/wiki/Computational_biology" TargetMode="External"/><Relationship Id="rId12" Type="http://schemas.openxmlformats.org/officeDocument/2006/relationships/hyperlink" Target="http://en.wikipedia.org/wiki/Population_genetics" TargetMode="External"/><Relationship Id="rId17" Type="http://schemas.openxmlformats.org/officeDocument/2006/relationships/hyperlink" Target="http://en.wikipedia.org/wiki/Coalescent_theory" TargetMode="External"/><Relationship Id="rId2" Type="http://schemas.openxmlformats.org/officeDocument/2006/relationships/hyperlink" Target="http://en.wikipedia.org/wiki/Phylogenetics" TargetMode="External"/><Relationship Id="rId16" Type="http://schemas.openxmlformats.org/officeDocument/2006/relationships/hyperlink" Target="http://en.wikipedia.org/wiki/Gene_flow" TargetMode="External"/><Relationship Id="rId1" Type="http://schemas.openxmlformats.org/officeDocument/2006/relationships/slideLayout" Target="../slideLayouts/slideLayout7.xml"/><Relationship Id="rId6" Type="http://schemas.openxmlformats.org/officeDocument/2006/relationships/hyperlink" Target="http://en.wikipedia.org/wiki/Maximum_likelihood" TargetMode="External"/><Relationship Id="rId11" Type="http://schemas.openxmlformats.org/officeDocument/2006/relationships/hyperlink" Target="http://en.wikipedia.org/wiki/Biology" TargetMode="External"/><Relationship Id="rId5" Type="http://schemas.openxmlformats.org/officeDocument/2006/relationships/hyperlink" Target="http://en.wikipedia.org/wiki/Parsimony" TargetMode="External"/><Relationship Id="rId15" Type="http://schemas.openxmlformats.org/officeDocument/2006/relationships/hyperlink" Target="http://en.wikipedia.org/wiki/Mutation" TargetMode="External"/><Relationship Id="rId10" Type="http://schemas.openxmlformats.org/officeDocument/2006/relationships/hyperlink" Target="http://en.wikipedia.org/wiki/Statistics" TargetMode="External"/><Relationship Id="rId4" Type="http://schemas.openxmlformats.org/officeDocument/2006/relationships/hyperlink" Target="http://paup.csit.fsu.edu/" TargetMode="External"/><Relationship Id="rId9" Type="http://schemas.openxmlformats.org/officeDocument/2006/relationships/hyperlink" Target="http://en.wikipedia.org/wiki/Applied_mathematics" TargetMode="External"/><Relationship Id="rId14" Type="http://schemas.openxmlformats.org/officeDocument/2006/relationships/hyperlink" Target="http://en.wikipedia.org/wiki/Genetic_drift"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en.wikipedia.org/wiki/RNA_splicing" TargetMode="External"/><Relationship Id="rId2" Type="http://schemas.openxmlformats.org/officeDocument/2006/relationships/hyperlink" Target="http://en.wikipedia.org/wiki/Genotyping" TargetMode="External"/><Relationship Id="rId1" Type="http://schemas.openxmlformats.org/officeDocument/2006/relationships/slideLayout" Target="../slideLayouts/slideLayout7.xml"/><Relationship Id="rId4" Type="http://schemas.openxmlformats.org/officeDocument/2006/relationships/hyperlink" Target="http://es.embnet.org/~mwang/assp.html"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en.wikipedia.org/wiki/RNA_structure" TargetMode="External"/><Relationship Id="rId7" Type="http://schemas.openxmlformats.org/officeDocument/2006/relationships/hyperlink" Target="http://en.wikipedia.org/wiki/Bioinformatics" TargetMode="External"/><Relationship Id="rId2" Type="http://schemas.openxmlformats.org/officeDocument/2006/relationships/hyperlink" Target="http://en.wikipedia.org/wiki/MicroRNA" TargetMode="External"/><Relationship Id="rId1" Type="http://schemas.openxmlformats.org/officeDocument/2006/relationships/slideLayout" Target="../slideLayouts/slideLayout7.xml"/><Relationship Id="rId6" Type="http://schemas.openxmlformats.org/officeDocument/2006/relationships/hyperlink" Target="http://en.wikipedia.org/wiki/Hairpin_loop" TargetMode="External"/><Relationship Id="rId5" Type="http://schemas.openxmlformats.org/officeDocument/2006/relationships/hyperlink" Target="http://en.wikipedia.org/wiki/Hydrogen_bond" TargetMode="External"/><Relationship Id="rId4" Type="http://schemas.openxmlformats.org/officeDocument/2006/relationships/hyperlink" Target="http://en.wikipedia.org/wiki/RNA"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en.wikipedia.org/wiki/Transcription_factor" TargetMode="External"/><Relationship Id="rId2" Type="http://schemas.openxmlformats.org/officeDocument/2006/relationships/hyperlink" Target="http://en.wikipedia.org/wiki/Gene_prediction" TargetMode="External"/><Relationship Id="rId1" Type="http://schemas.openxmlformats.org/officeDocument/2006/relationships/slideLayout" Target="../slideLayouts/slideLayout7.xml"/><Relationship Id="rId4" Type="http://schemas.openxmlformats.org/officeDocument/2006/relationships/hyperlink" Target="http://en.wikipedia.org/wiki/Genome_project" TargetMode="External"/></Relationships>
</file>

<file path=ppt/slides/_rels/slide48.xml.rels><?xml version="1.0" encoding="UTF-8" standalone="yes"?>
<Relationships xmlns="http://schemas.openxmlformats.org/package/2006/relationships"><Relationship Id="rId3" Type="http://schemas.openxmlformats.org/officeDocument/2006/relationships/hyperlink" Target="http://en.wikipedia.org/wiki/Human_Y-chromosome_DNA_haplogroups" TargetMode="External"/><Relationship Id="rId2" Type="http://schemas.openxmlformats.org/officeDocument/2006/relationships/hyperlink" Target="http://en.wikipedia.org/wiki/Human_mitochondrial_DNA_haplogroups" TargetMode="External"/><Relationship Id="rId1" Type="http://schemas.openxmlformats.org/officeDocument/2006/relationships/slideLayout" Target="../slideLayouts/slideLayout7.xml"/><Relationship Id="rId6" Type="http://schemas.openxmlformats.org/officeDocument/2006/relationships/hyperlink" Target="http://en.wikipedia.org/wiki/List_of_ethnic_groups" TargetMode="External"/><Relationship Id="rId5" Type="http://schemas.openxmlformats.org/officeDocument/2006/relationships/hyperlink" Target="http://en.wikipedia.org/wiki/Mathematical_model" TargetMode="External"/><Relationship Id="rId4" Type="http://schemas.openxmlformats.org/officeDocument/2006/relationships/hyperlink" Target="http://www.nationalgeographic.com/genographic" TargetMode="External"/></Relationships>
</file>

<file path=ppt/slides/_rels/slide49.xml.rels><?xml version="1.0" encoding="UTF-8" standalone="yes"?>
<Relationships xmlns="http://schemas.openxmlformats.org/package/2006/relationships"><Relationship Id="rId3" Type="http://schemas.openxmlformats.org/officeDocument/2006/relationships/hyperlink" Target="http://en.wikipedia.org/wiki/Sequence_motif" TargetMode="External"/><Relationship Id="rId2" Type="http://schemas.openxmlformats.org/officeDocument/2006/relationships/hyperlink" Target="http://en.wikipedia.org/wiki/Protein_domains" TargetMode="External"/><Relationship Id="rId1" Type="http://schemas.openxmlformats.org/officeDocument/2006/relationships/slideLayout" Target="../slideLayouts/slideLayout7.xml"/><Relationship Id="rId5" Type="http://schemas.openxmlformats.org/officeDocument/2006/relationships/hyperlink" Target="http://en.wikipedia.org/wiki/Protein_folding" TargetMode="External"/><Relationship Id="rId4" Type="http://schemas.openxmlformats.org/officeDocument/2006/relationships/hyperlink" Target="http://en.wikipedia.org/wiki/Protein-protein_interactions"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bioweb2.pasteur.fr/soft-pasteur.html" TargetMode="External"/><Relationship Id="rId2" Type="http://schemas.openxmlformats.org/officeDocument/2006/relationships/hyperlink" Target="http://en.wikipedia.org/wiki/Genome_browser" TargetMode="Externa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7168866" y="5903188"/>
            <a:ext cx="31184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Helvetica" charset="0"/>
              </a:defRPr>
            </a:lvl1pPr>
            <a:lvl2pPr marL="742950" indent="-285750">
              <a:defRPr sz="2400">
                <a:solidFill>
                  <a:schemeClr val="tx1"/>
                </a:solidFill>
                <a:latin typeface="Helvetica" charset="0"/>
              </a:defRPr>
            </a:lvl2pPr>
            <a:lvl3pPr marL="1143000" indent="-228600">
              <a:defRPr sz="2400">
                <a:solidFill>
                  <a:schemeClr val="tx1"/>
                </a:solidFill>
                <a:latin typeface="Helvetica" charset="0"/>
              </a:defRPr>
            </a:lvl3pPr>
            <a:lvl4pPr marL="1600200" indent="-228600">
              <a:defRPr sz="2400">
                <a:solidFill>
                  <a:schemeClr val="tx1"/>
                </a:solidFill>
                <a:latin typeface="Helvetica" charset="0"/>
              </a:defRPr>
            </a:lvl4pPr>
            <a:lvl5pPr marL="2057400" indent="-228600">
              <a:defRPr sz="2400">
                <a:solidFill>
                  <a:schemeClr val="tx1"/>
                </a:solidFill>
                <a:latin typeface="Helvetica" charset="0"/>
              </a:defRPr>
            </a:lvl5pPr>
            <a:lvl6pPr marL="2514600" indent="-228600" eaLnBrk="0" fontAlgn="base" hangingPunct="0">
              <a:spcBef>
                <a:spcPct val="0"/>
              </a:spcBef>
              <a:spcAft>
                <a:spcPct val="0"/>
              </a:spcAft>
              <a:defRPr sz="2400">
                <a:solidFill>
                  <a:schemeClr val="tx1"/>
                </a:solidFill>
                <a:latin typeface="Helvetica" charset="0"/>
              </a:defRPr>
            </a:lvl6pPr>
            <a:lvl7pPr marL="2971800" indent="-228600" eaLnBrk="0" fontAlgn="base" hangingPunct="0">
              <a:spcBef>
                <a:spcPct val="0"/>
              </a:spcBef>
              <a:spcAft>
                <a:spcPct val="0"/>
              </a:spcAft>
              <a:defRPr sz="2400">
                <a:solidFill>
                  <a:schemeClr val="tx1"/>
                </a:solidFill>
                <a:latin typeface="Helvetica" charset="0"/>
              </a:defRPr>
            </a:lvl7pPr>
            <a:lvl8pPr marL="3429000" indent="-228600" eaLnBrk="0" fontAlgn="base" hangingPunct="0">
              <a:spcBef>
                <a:spcPct val="0"/>
              </a:spcBef>
              <a:spcAft>
                <a:spcPct val="0"/>
              </a:spcAft>
              <a:defRPr sz="2400">
                <a:solidFill>
                  <a:schemeClr val="tx1"/>
                </a:solidFill>
                <a:latin typeface="Helvetica" charset="0"/>
              </a:defRPr>
            </a:lvl8pPr>
            <a:lvl9pPr marL="3886200" indent="-228600" eaLnBrk="0" fontAlgn="base" hangingPunct="0">
              <a:spcBef>
                <a:spcPct val="0"/>
              </a:spcBef>
              <a:spcAft>
                <a:spcPct val="0"/>
              </a:spcAft>
              <a:defRPr sz="2400">
                <a:solidFill>
                  <a:schemeClr val="tx1"/>
                </a:solidFill>
                <a:latin typeface="Helvetica" charset="0"/>
              </a:defRPr>
            </a:lvl9pPr>
          </a:lstStyle>
          <a:p>
            <a:pPr algn="ctr"/>
            <a:r>
              <a:rPr lang="en-US" sz="2000" dirty="0"/>
              <a:t>Dr. </a:t>
            </a:r>
            <a:r>
              <a:rPr lang="en-US" sz="2000" dirty="0" err="1"/>
              <a:t>Pritam</a:t>
            </a:r>
            <a:r>
              <a:rPr lang="en-US" sz="2000" dirty="0"/>
              <a:t> </a:t>
            </a:r>
            <a:r>
              <a:rPr lang="en-US" sz="2000" dirty="0" err="1"/>
              <a:t>Chattopadhyay</a:t>
            </a:r>
            <a:endParaRPr lang="en-US" sz="2000" dirty="0"/>
          </a:p>
          <a:p>
            <a:pPr algn="ctr"/>
            <a:r>
              <a:rPr lang="en-US" sz="1800" dirty="0"/>
              <a:t>Department of Botany</a:t>
            </a:r>
          </a:p>
          <a:p>
            <a:pPr algn="ctr"/>
            <a:r>
              <a:rPr lang="en-US" sz="1800" dirty="0"/>
              <a:t>MUC Women’s College </a:t>
            </a:r>
          </a:p>
        </p:txBody>
      </p:sp>
      <p:sp>
        <p:nvSpPr>
          <p:cNvPr id="4" name="AutoShape 2" descr="Emerging Computing Technologies: Bioinformatics Certificate | NYU Tandon  School of Enginee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42699" cy="614561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txBox="1">
            <a:spLocks noChangeArrowheads="1"/>
          </p:cNvSpPr>
          <p:nvPr/>
        </p:nvSpPr>
        <p:spPr>
          <a:xfrm>
            <a:off x="1821078" y="365847"/>
            <a:ext cx="8465923"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4400" dirty="0" smtClean="0">
                <a:solidFill>
                  <a:schemeClr val="tx1">
                    <a:lumMod val="95000"/>
                  </a:schemeClr>
                </a:solidFill>
              </a:rPr>
              <a:t>Introduction to </a:t>
            </a:r>
            <a:r>
              <a:rPr lang="en-US" sz="4400" dirty="0" err="1" smtClean="0">
                <a:solidFill>
                  <a:schemeClr val="tx1">
                    <a:lumMod val="95000"/>
                  </a:schemeClr>
                </a:solidFill>
              </a:rPr>
              <a:t>Bioinformtics</a:t>
            </a:r>
            <a:endParaRPr lang="en-US" sz="4400" dirty="0">
              <a:solidFill>
                <a:schemeClr val="tx1">
                  <a:lumMod val="95000"/>
                </a:schemeClr>
              </a:solidFill>
            </a:endParaRPr>
          </a:p>
        </p:txBody>
      </p:sp>
    </p:spTree>
    <p:extLst>
      <p:ext uri="{BB962C8B-B14F-4D97-AF65-F5344CB8AC3E}">
        <p14:creationId xmlns:p14="http://schemas.microsoft.com/office/powerpoint/2010/main" val="2317018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Introduction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582018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81" y="975733"/>
            <a:ext cx="10088419" cy="2043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7269" y="3040223"/>
            <a:ext cx="5614378" cy="381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37025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p:cNvGrpSpPr>
          <p:nvPr/>
        </p:nvGrpSpPr>
        <p:grpSpPr bwMode="auto">
          <a:xfrm>
            <a:off x="5277304" y="2885041"/>
            <a:ext cx="2201877" cy="3306020"/>
            <a:chOff x="1824" y="1200"/>
            <a:chExt cx="1680" cy="2289"/>
          </a:xfrm>
        </p:grpSpPr>
        <p:graphicFrame>
          <p:nvGraphicFramePr>
            <p:cNvPr id="5" name="Object 4"/>
            <p:cNvGraphicFramePr>
              <a:graphicFrameLocks noChangeAspect="1"/>
            </p:cNvGraphicFramePr>
            <p:nvPr/>
          </p:nvGraphicFramePr>
          <p:xfrm>
            <a:off x="1824" y="1200"/>
            <a:ext cx="1680" cy="1613"/>
          </p:xfrm>
          <a:graphic>
            <a:graphicData uri="http://schemas.openxmlformats.org/presentationml/2006/ole">
              <mc:AlternateContent xmlns:mc="http://schemas.openxmlformats.org/markup-compatibility/2006">
                <mc:Choice xmlns:v="urn:schemas-microsoft-com:vml" Requires="v">
                  <p:oleObj spid="_x0000_s6438" name="Photo Editor Photo" r:id="rId3" imgW="7209524" imgH="6923810" progId="MSPhotoEd.3">
                    <p:embed/>
                  </p:oleObj>
                </mc:Choice>
                <mc:Fallback>
                  <p:oleObj name="Photo Editor Photo" r:id="rId3" imgW="7209524" imgH="6923810"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4" y="1200"/>
                          <a:ext cx="1680" cy="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ext Box 5"/>
            <p:cNvSpPr txBox="1">
              <a:spLocks noChangeArrowheads="1"/>
            </p:cNvSpPr>
            <p:nvPr/>
          </p:nvSpPr>
          <p:spPr bwMode="auto">
            <a:xfrm>
              <a:off x="2342" y="3162"/>
              <a:ext cx="76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sz="2800"/>
                <a:t>Protein</a:t>
              </a:r>
            </a:p>
          </p:txBody>
        </p:sp>
      </p:grpSp>
      <p:sp>
        <p:nvSpPr>
          <p:cNvPr id="7" name="Text Box 6"/>
          <p:cNvSpPr txBox="1">
            <a:spLocks noChangeArrowheads="1"/>
          </p:cNvSpPr>
          <p:nvPr/>
        </p:nvSpPr>
        <p:spPr bwMode="auto">
          <a:xfrm>
            <a:off x="8193303" y="5741628"/>
            <a:ext cx="201352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sz="2800" dirty="0"/>
              <a:t>Phenotype</a:t>
            </a:r>
          </a:p>
        </p:txBody>
      </p:sp>
      <p:sp>
        <p:nvSpPr>
          <p:cNvPr id="8" name="AutoShape 7"/>
          <p:cNvSpPr>
            <a:spLocks noChangeArrowheads="1"/>
          </p:cNvSpPr>
          <p:nvPr/>
        </p:nvSpPr>
        <p:spPr bwMode="auto">
          <a:xfrm>
            <a:off x="3258181" y="3976645"/>
            <a:ext cx="554401" cy="441958"/>
          </a:xfrm>
          <a:prstGeom prst="rightArrow">
            <a:avLst>
              <a:gd name="adj1" fmla="val 50000"/>
              <a:gd name="adj2" fmla="val 34559"/>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9" name="Group 8"/>
          <p:cNvGrpSpPr>
            <a:grpSpLocks/>
          </p:cNvGrpSpPr>
          <p:nvPr/>
        </p:nvGrpSpPr>
        <p:grpSpPr bwMode="auto">
          <a:xfrm>
            <a:off x="7545549" y="2509367"/>
            <a:ext cx="2453520" cy="1454418"/>
            <a:chOff x="3648" y="816"/>
            <a:chExt cx="1872" cy="1007"/>
          </a:xfrm>
        </p:grpSpPr>
        <p:graphicFrame>
          <p:nvGraphicFramePr>
            <p:cNvPr id="10" name="Object 9"/>
            <p:cNvGraphicFramePr>
              <a:graphicFrameLocks noChangeAspect="1"/>
            </p:cNvGraphicFramePr>
            <p:nvPr/>
          </p:nvGraphicFramePr>
          <p:xfrm>
            <a:off x="4320" y="816"/>
            <a:ext cx="1200" cy="1007"/>
          </p:xfrm>
          <a:graphic>
            <a:graphicData uri="http://schemas.openxmlformats.org/presentationml/2006/ole">
              <mc:AlternateContent xmlns:mc="http://schemas.openxmlformats.org/markup-compatibility/2006">
                <mc:Choice xmlns:v="urn:schemas-microsoft-com:vml" Requires="v">
                  <p:oleObj spid="_x0000_s6439" name="Photo Editor Photo" r:id="rId5" imgW="952633" imgH="800212" progId="MSPhotoEd.3">
                    <p:embed/>
                  </p:oleObj>
                </mc:Choice>
                <mc:Fallback>
                  <p:oleObj name="Photo Editor Photo" r:id="rId5" imgW="952633" imgH="800212" progId="MSPhotoEd.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 y="816"/>
                          <a:ext cx="1200" cy="1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AutoShape 10"/>
            <p:cNvSpPr>
              <a:spLocks noChangeArrowheads="1"/>
            </p:cNvSpPr>
            <p:nvPr/>
          </p:nvSpPr>
          <p:spPr bwMode="auto">
            <a:xfrm>
              <a:off x="3648" y="1248"/>
              <a:ext cx="423" cy="306"/>
            </a:xfrm>
            <a:prstGeom prst="rightArrow">
              <a:avLst>
                <a:gd name="adj1" fmla="val 50000"/>
                <a:gd name="adj2" fmla="val 34559"/>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2" name="Group 11"/>
          <p:cNvGrpSpPr>
            <a:grpSpLocks/>
          </p:cNvGrpSpPr>
          <p:nvPr/>
        </p:nvGrpSpPr>
        <p:grpSpPr bwMode="auto">
          <a:xfrm>
            <a:off x="7580157" y="4357645"/>
            <a:ext cx="2617350" cy="1366315"/>
            <a:chOff x="3648" y="2208"/>
            <a:chExt cx="1997" cy="946"/>
          </a:xfrm>
        </p:grpSpPr>
        <p:graphicFrame>
          <p:nvGraphicFramePr>
            <p:cNvPr id="13" name="Object 12"/>
            <p:cNvGraphicFramePr>
              <a:graphicFrameLocks noChangeAspect="1"/>
            </p:cNvGraphicFramePr>
            <p:nvPr/>
          </p:nvGraphicFramePr>
          <p:xfrm>
            <a:off x="4157" y="2208"/>
            <a:ext cx="1488" cy="946"/>
          </p:xfrm>
          <a:graphic>
            <a:graphicData uri="http://schemas.openxmlformats.org/presentationml/2006/ole">
              <mc:AlternateContent xmlns:mc="http://schemas.openxmlformats.org/markup-compatibility/2006">
                <mc:Choice xmlns:v="urn:schemas-microsoft-com:vml" Requires="v">
                  <p:oleObj spid="_x0000_s6440" name="Photo Editor Photo" r:id="rId7" imgW="1514686" imgH="961905" progId="MSPhotoEd.3">
                    <p:embed/>
                  </p:oleObj>
                </mc:Choice>
                <mc:Fallback>
                  <p:oleObj name="Photo Editor Photo" r:id="rId7" imgW="1514686" imgH="961905" progId="MSPhotoEd.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7" y="2208"/>
                          <a:ext cx="1488" cy="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AutoShape 13"/>
            <p:cNvSpPr>
              <a:spLocks noChangeArrowheads="1"/>
            </p:cNvSpPr>
            <p:nvPr/>
          </p:nvSpPr>
          <p:spPr bwMode="auto">
            <a:xfrm>
              <a:off x="3648" y="2448"/>
              <a:ext cx="423" cy="306"/>
            </a:xfrm>
            <a:prstGeom prst="rightArrow">
              <a:avLst>
                <a:gd name="adj1" fmla="val 50000"/>
                <a:gd name="adj2" fmla="val 34559"/>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 name="Group 14"/>
          <p:cNvGrpSpPr>
            <a:grpSpLocks/>
          </p:cNvGrpSpPr>
          <p:nvPr/>
        </p:nvGrpSpPr>
        <p:grpSpPr bwMode="auto">
          <a:xfrm>
            <a:off x="1988284" y="2520000"/>
            <a:ext cx="1488888" cy="4119164"/>
            <a:chOff x="336" y="912"/>
            <a:chExt cx="1136" cy="2852"/>
          </a:xfrm>
        </p:grpSpPr>
        <p:graphicFrame>
          <p:nvGraphicFramePr>
            <p:cNvPr id="16" name="Object 15"/>
            <p:cNvGraphicFramePr>
              <a:graphicFrameLocks noChangeAspect="1"/>
            </p:cNvGraphicFramePr>
            <p:nvPr/>
          </p:nvGraphicFramePr>
          <p:xfrm>
            <a:off x="624" y="912"/>
            <a:ext cx="450" cy="2130"/>
          </p:xfrm>
          <a:graphic>
            <a:graphicData uri="http://schemas.openxmlformats.org/presentationml/2006/ole">
              <mc:AlternateContent xmlns:mc="http://schemas.openxmlformats.org/markup-compatibility/2006">
                <mc:Choice xmlns:v="urn:schemas-microsoft-com:vml" Requires="v">
                  <p:oleObj spid="_x0000_s6441" name="Photo Editor Photo" r:id="rId9" imgW="714286" imgH="3381847" progId="MSPhotoEd.3">
                    <p:embed/>
                  </p:oleObj>
                </mc:Choice>
                <mc:Fallback>
                  <p:oleObj name="Photo Editor Photo" r:id="rId9" imgW="714286" imgH="3381847" progId="MSPhotoEd.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 y="912"/>
                          <a:ext cx="450" cy="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7" name="Text Box 16"/>
            <p:cNvSpPr txBox="1">
              <a:spLocks noChangeArrowheads="1"/>
            </p:cNvSpPr>
            <p:nvPr/>
          </p:nvSpPr>
          <p:spPr bwMode="auto">
            <a:xfrm>
              <a:off x="336" y="3168"/>
              <a:ext cx="113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sz="2800"/>
                <a:t>DNA</a:t>
              </a:r>
            </a:p>
            <a:p>
              <a:pPr algn="ctr" eaLnBrk="0" hangingPunct="0"/>
              <a:r>
                <a:rPr lang="en-US" sz="2800"/>
                <a:t>(Genotype)</a:t>
              </a:r>
            </a:p>
          </p:txBody>
        </p:sp>
      </p:grpSp>
      <p:sp>
        <p:nvSpPr>
          <p:cNvPr id="18" name="Rectangle 17"/>
          <p:cNvSpPr/>
          <p:nvPr/>
        </p:nvSpPr>
        <p:spPr>
          <a:xfrm>
            <a:off x="0" y="0"/>
            <a:ext cx="1883849" cy="584775"/>
          </a:xfrm>
          <a:prstGeom prst="rect">
            <a:avLst/>
          </a:prstGeom>
        </p:spPr>
        <p:txBody>
          <a:bodyPr wrap="none">
            <a:spAutoFit/>
          </a:bodyPr>
          <a:lstStyle/>
          <a:p>
            <a:r>
              <a:rPr lang="en-US" sz="3200" b="1" dirty="0" smtClean="0"/>
              <a:t>Concept 1</a:t>
            </a:r>
            <a:endParaRPr lang="en-US" sz="2800" dirty="0"/>
          </a:p>
        </p:txBody>
      </p:sp>
      <p:pic>
        <p:nvPicPr>
          <p:cNvPr id="20"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5080" y="723014"/>
            <a:ext cx="10041920" cy="1698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a:spLocks noChangeArrowheads="1"/>
          </p:cNvSpPr>
          <p:nvPr/>
        </p:nvSpPr>
        <p:spPr bwMode="auto">
          <a:xfrm>
            <a:off x="7378995" y="2642"/>
            <a:ext cx="2916304" cy="720372"/>
          </a:xfrm>
          <a:prstGeom prst="rect">
            <a:avLst/>
          </a:prstGeom>
          <a:solidFill>
            <a:schemeClr val="tx1"/>
          </a:solidFill>
          <a:ln>
            <a:noFill/>
          </a:ln>
          <a:effectLst/>
          <a:extLst/>
        </p:spPr>
        <p:txBody>
          <a:bodyPr lIns="92075" tIns="46038" rIns="92075" bIns="46038"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pPr algn="r"/>
            <a:r>
              <a:rPr lang="en-US" sz="3200" b="1" dirty="0">
                <a:solidFill>
                  <a:srgbClr val="FF0000"/>
                </a:solidFill>
                <a:latin typeface="Times New Roman" panose="02020603050405020304" pitchFamily="18" charset="0"/>
              </a:rPr>
              <a:t>Central dogma</a:t>
            </a:r>
            <a:endParaRPr lang="en-US" sz="3200" dirty="0">
              <a:solidFill>
                <a:srgbClr val="FF0000"/>
              </a:solidFill>
              <a:latin typeface="Times New Roman" panose="02020603050405020304" pitchFamily="18" charset="0"/>
            </a:endParaRPr>
          </a:p>
        </p:txBody>
      </p:sp>
      <p:sp>
        <p:nvSpPr>
          <p:cNvPr id="21" name="Rectangle 20"/>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1971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p:cTn id="12" dur="500" fill="hold"/>
                                        <p:tgtEl>
                                          <p:spTgt spid="15"/>
                                        </p:tgtEl>
                                        <p:attrNameLst>
                                          <p:attrName>ppt_x</p:attrName>
                                        </p:attrNameLst>
                                      </p:cBhvr>
                                      <p:tavLst>
                                        <p:tav tm="0">
                                          <p:val>
                                            <p:strVal val="#ppt_x-#ppt_w/2"/>
                                          </p:val>
                                        </p:tav>
                                        <p:tav tm="100000">
                                          <p:val>
                                            <p:strVal val="#ppt_x"/>
                                          </p:val>
                                        </p:tav>
                                      </p:tavLst>
                                    </p:anim>
                                    <p:anim calcmode="lin" valueType="num">
                                      <p:cBhvr>
                                        <p:cTn id="13" dur="500" fill="hold"/>
                                        <p:tgtEl>
                                          <p:spTgt spid="15"/>
                                        </p:tgtEl>
                                        <p:attrNameLst>
                                          <p:attrName>ppt_y</p:attrName>
                                        </p:attrNameLst>
                                      </p:cBhvr>
                                      <p:tavLst>
                                        <p:tav tm="0">
                                          <p:val>
                                            <p:strVal val="#ppt_y"/>
                                          </p:val>
                                        </p:tav>
                                        <p:tav tm="100000">
                                          <p:val>
                                            <p:strVal val="#ppt_y"/>
                                          </p:val>
                                        </p:tav>
                                      </p:tavLst>
                                    </p:anim>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500" fill="hold"/>
                                        <p:tgtEl>
                                          <p:spTgt spid="8"/>
                                        </p:tgtEl>
                                        <p:attrNameLst>
                                          <p:attrName>ppt_x</p:attrName>
                                        </p:attrNameLst>
                                      </p:cBhvr>
                                      <p:tavLst>
                                        <p:tav tm="0">
                                          <p:val>
                                            <p:strVal val="#ppt_x-#ppt_w/2"/>
                                          </p:val>
                                        </p:tav>
                                        <p:tav tm="100000">
                                          <p:val>
                                            <p:strVal val="#ppt_x"/>
                                          </p:val>
                                        </p:tav>
                                      </p:tavLst>
                                    </p:anim>
                                    <p:anim calcmode="lin" valueType="num">
                                      <p:cBhvr>
                                        <p:cTn id="21" dur="500" fill="hold"/>
                                        <p:tgtEl>
                                          <p:spTgt spid="8"/>
                                        </p:tgtEl>
                                        <p:attrNameLst>
                                          <p:attrName>ppt_y</p:attrName>
                                        </p:attrNameLst>
                                      </p:cBhvr>
                                      <p:tavLst>
                                        <p:tav tm="0">
                                          <p:val>
                                            <p:strVal val="#ppt_y"/>
                                          </p:val>
                                        </p:tav>
                                        <p:tav tm="100000">
                                          <p:val>
                                            <p:strVal val="#ppt_y"/>
                                          </p:val>
                                        </p:tav>
                                      </p:tavLst>
                                    </p:anim>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ppt_x</p:attrName>
                                        </p:attrNameLst>
                                      </p:cBhvr>
                                      <p:tavLst>
                                        <p:tav tm="0">
                                          <p:val>
                                            <p:strVal val="#ppt_x-#ppt_w/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anim calcmode="lin" valueType="num">
                                      <p:cBhvr>
                                        <p:cTn id="30" dur="500" fill="hold"/>
                                        <p:tgtEl>
                                          <p:spTgt spid="4"/>
                                        </p:tgtEl>
                                        <p:attrNameLst>
                                          <p:attrName>ppt_w</p:attrName>
                                        </p:attrNameLst>
                                      </p:cBhvr>
                                      <p:tavLst>
                                        <p:tav tm="0">
                                          <p:val>
                                            <p:fltVal val="0"/>
                                          </p:val>
                                        </p:tav>
                                        <p:tav tm="100000">
                                          <p:val>
                                            <p:strVal val="#ppt_w"/>
                                          </p:val>
                                        </p:tav>
                                      </p:tavLst>
                                    </p:anim>
                                    <p:anim calcmode="lin" valueType="num">
                                      <p:cBhvr>
                                        <p:cTn id="31"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linds(horizontal)">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ppt_x</p:attrName>
                                        </p:attrNameLst>
                                      </p:cBhvr>
                                      <p:tavLst>
                                        <p:tav tm="0">
                                          <p:val>
                                            <p:strVal val="#ppt_x-#ppt_w/2"/>
                                          </p:val>
                                        </p:tav>
                                        <p:tav tm="100000">
                                          <p:val>
                                            <p:strVal val="#ppt_x"/>
                                          </p:val>
                                        </p:tav>
                                      </p:tavLst>
                                    </p:anim>
                                    <p:anim calcmode="lin" valueType="num">
                                      <p:cBhvr>
                                        <p:cTn id="42" dur="500" fill="hold"/>
                                        <p:tgtEl>
                                          <p:spTgt spid="9"/>
                                        </p:tgtEl>
                                        <p:attrNameLst>
                                          <p:attrName>ppt_y</p:attrName>
                                        </p:attrNameLst>
                                      </p:cBhvr>
                                      <p:tavLst>
                                        <p:tav tm="0">
                                          <p:val>
                                            <p:strVal val="#ppt_y"/>
                                          </p:val>
                                        </p:tav>
                                        <p:tav tm="100000">
                                          <p:val>
                                            <p:strVal val="#ppt_y"/>
                                          </p:val>
                                        </p:tav>
                                      </p:tavLst>
                                    </p:anim>
                                    <p:anim calcmode="lin" valueType="num">
                                      <p:cBhvr>
                                        <p:cTn id="43" dur="500" fill="hold"/>
                                        <p:tgtEl>
                                          <p:spTgt spid="9"/>
                                        </p:tgtEl>
                                        <p:attrNameLst>
                                          <p:attrName>ppt_w</p:attrName>
                                        </p:attrNameLst>
                                      </p:cBhvr>
                                      <p:tavLst>
                                        <p:tav tm="0">
                                          <p:val>
                                            <p:fltVal val="0"/>
                                          </p:val>
                                        </p:tav>
                                        <p:tav tm="100000">
                                          <p:val>
                                            <p:strVal val="#ppt_w"/>
                                          </p:val>
                                        </p:tav>
                                      </p:tavLst>
                                    </p:anim>
                                    <p:anim calcmode="lin" valueType="num">
                                      <p:cBhvr>
                                        <p:cTn id="44" dur="50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p:cTn id="49" dur="500" fill="hold"/>
                                        <p:tgtEl>
                                          <p:spTgt spid="12"/>
                                        </p:tgtEl>
                                        <p:attrNameLst>
                                          <p:attrName>ppt_x</p:attrName>
                                        </p:attrNameLst>
                                      </p:cBhvr>
                                      <p:tavLst>
                                        <p:tav tm="0">
                                          <p:val>
                                            <p:strVal val="#ppt_x-#ppt_w/2"/>
                                          </p:val>
                                        </p:tav>
                                        <p:tav tm="100000">
                                          <p:val>
                                            <p:strVal val="#ppt_x"/>
                                          </p:val>
                                        </p:tav>
                                      </p:tavLst>
                                    </p:anim>
                                    <p:anim calcmode="lin" valueType="num">
                                      <p:cBhvr>
                                        <p:cTn id="50" dur="500" fill="hold"/>
                                        <p:tgtEl>
                                          <p:spTgt spid="12"/>
                                        </p:tgtEl>
                                        <p:attrNameLst>
                                          <p:attrName>ppt_y</p:attrName>
                                        </p:attrNameLst>
                                      </p:cBhvr>
                                      <p:tavLst>
                                        <p:tav tm="0">
                                          <p:val>
                                            <p:strVal val="#ppt_y"/>
                                          </p:val>
                                        </p:tav>
                                        <p:tav tm="100000">
                                          <p:val>
                                            <p:strVal val="#ppt_y"/>
                                          </p:val>
                                        </p:tav>
                                      </p:tavLst>
                                    </p:anim>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nimBg="1"/>
      <p:bldP spid="3"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278" y="1455035"/>
            <a:ext cx="10087766" cy="3244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183"/>
            <a:ext cx="1883849" cy="584775"/>
          </a:xfrm>
          <a:prstGeom prst="rect">
            <a:avLst/>
          </a:prstGeom>
        </p:spPr>
        <p:txBody>
          <a:bodyPr wrap="none">
            <a:spAutoFit/>
          </a:bodyPr>
          <a:lstStyle/>
          <a:p>
            <a:r>
              <a:rPr lang="en-US" sz="3200" b="1" dirty="0" smtClean="0"/>
              <a:t>Concept 1</a:t>
            </a:r>
            <a:endParaRPr lang="en-US" sz="2800" dirty="0"/>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004981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AutoShape 2"/>
          <p:cNvSpPr>
            <a:spLocks noChangeArrowheads="1"/>
          </p:cNvSpPr>
          <p:nvPr/>
        </p:nvSpPr>
        <p:spPr bwMode="auto">
          <a:xfrm>
            <a:off x="4286250" y="1330856"/>
            <a:ext cx="1285875" cy="6096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a:t>DNA</a:t>
            </a:r>
          </a:p>
        </p:txBody>
      </p:sp>
      <p:sp>
        <p:nvSpPr>
          <p:cNvPr id="270339" name="AutoShape 3"/>
          <p:cNvSpPr>
            <a:spLocks noChangeArrowheads="1"/>
          </p:cNvSpPr>
          <p:nvPr/>
        </p:nvSpPr>
        <p:spPr bwMode="auto">
          <a:xfrm>
            <a:off x="4286250" y="2778656"/>
            <a:ext cx="1285875" cy="6096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a:t>mRNA</a:t>
            </a:r>
          </a:p>
        </p:txBody>
      </p:sp>
      <p:sp>
        <p:nvSpPr>
          <p:cNvPr id="270340" name="AutoShape 4"/>
          <p:cNvSpPr>
            <a:spLocks noChangeArrowheads="1"/>
          </p:cNvSpPr>
          <p:nvPr/>
        </p:nvSpPr>
        <p:spPr bwMode="auto">
          <a:xfrm>
            <a:off x="1457325" y="3997856"/>
            <a:ext cx="154305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transcription</a:t>
            </a:r>
          </a:p>
          <a:p>
            <a:pPr algn="ctr" eaLnBrk="0" hangingPunct="0">
              <a:spcBef>
                <a:spcPct val="20000"/>
              </a:spcBef>
            </a:pPr>
            <a:r>
              <a:rPr lang="en-US" sz="1800"/>
              <a:t>factors</a:t>
            </a:r>
            <a:endParaRPr lang="en-US"/>
          </a:p>
        </p:txBody>
      </p:sp>
      <p:sp>
        <p:nvSpPr>
          <p:cNvPr id="270341" name="AutoShape 5"/>
          <p:cNvSpPr>
            <a:spLocks noChangeArrowheads="1"/>
          </p:cNvSpPr>
          <p:nvPr/>
        </p:nvSpPr>
        <p:spPr bwMode="auto">
          <a:xfrm>
            <a:off x="3257550" y="3997856"/>
            <a:ext cx="102870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splicing</a:t>
            </a:r>
          </a:p>
          <a:p>
            <a:pPr algn="ctr" eaLnBrk="0" hangingPunct="0">
              <a:spcBef>
                <a:spcPct val="20000"/>
              </a:spcBef>
            </a:pPr>
            <a:r>
              <a:rPr lang="en-US" sz="1800"/>
              <a:t>factors</a:t>
            </a:r>
            <a:endParaRPr lang="en-US"/>
          </a:p>
        </p:txBody>
      </p:sp>
      <p:sp>
        <p:nvSpPr>
          <p:cNvPr id="270342" name="AutoShape 6"/>
          <p:cNvSpPr>
            <a:spLocks noChangeArrowheads="1"/>
          </p:cNvSpPr>
          <p:nvPr/>
        </p:nvSpPr>
        <p:spPr bwMode="auto">
          <a:xfrm>
            <a:off x="7886700" y="3997856"/>
            <a:ext cx="102870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structural</a:t>
            </a:r>
          </a:p>
          <a:p>
            <a:pPr algn="ctr" eaLnBrk="0" hangingPunct="0">
              <a:spcBef>
                <a:spcPct val="20000"/>
              </a:spcBef>
            </a:pPr>
            <a:r>
              <a:rPr lang="en-US" sz="1800"/>
              <a:t>proteins</a:t>
            </a:r>
            <a:endParaRPr lang="en-US"/>
          </a:p>
        </p:txBody>
      </p:sp>
      <p:sp>
        <p:nvSpPr>
          <p:cNvPr id="270343" name="AutoShape 7"/>
          <p:cNvSpPr>
            <a:spLocks noChangeArrowheads="1"/>
          </p:cNvSpPr>
          <p:nvPr/>
        </p:nvSpPr>
        <p:spPr bwMode="auto">
          <a:xfrm>
            <a:off x="6429375" y="3997856"/>
            <a:ext cx="1285875"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a:t>Enzymes</a:t>
            </a:r>
          </a:p>
        </p:txBody>
      </p:sp>
      <p:sp>
        <p:nvSpPr>
          <p:cNvPr id="270344" name="AutoShape 8"/>
          <p:cNvSpPr>
            <a:spLocks noChangeArrowheads="1"/>
          </p:cNvSpPr>
          <p:nvPr/>
        </p:nvSpPr>
        <p:spPr bwMode="auto">
          <a:xfrm>
            <a:off x="6600825" y="5217056"/>
            <a:ext cx="102870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structural</a:t>
            </a:r>
          </a:p>
          <a:p>
            <a:pPr algn="ctr" eaLnBrk="0" hangingPunct="0">
              <a:spcBef>
                <a:spcPct val="20000"/>
              </a:spcBef>
            </a:pPr>
            <a:r>
              <a:rPr lang="en-US" sz="1800"/>
              <a:t>sugars</a:t>
            </a:r>
            <a:endParaRPr lang="en-US"/>
          </a:p>
        </p:txBody>
      </p:sp>
      <p:sp>
        <p:nvSpPr>
          <p:cNvPr id="270345" name="AutoShape 9"/>
          <p:cNvSpPr>
            <a:spLocks noChangeArrowheads="1"/>
          </p:cNvSpPr>
          <p:nvPr/>
        </p:nvSpPr>
        <p:spPr bwMode="auto">
          <a:xfrm>
            <a:off x="7886700" y="5217056"/>
            <a:ext cx="102870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structural</a:t>
            </a:r>
          </a:p>
          <a:p>
            <a:pPr algn="ctr" eaLnBrk="0" hangingPunct="0">
              <a:spcBef>
                <a:spcPct val="20000"/>
              </a:spcBef>
            </a:pPr>
            <a:r>
              <a:rPr lang="en-US" sz="1800"/>
              <a:t>lipids</a:t>
            </a:r>
            <a:endParaRPr lang="en-US"/>
          </a:p>
        </p:txBody>
      </p:sp>
      <p:sp>
        <p:nvSpPr>
          <p:cNvPr id="270346" name="AutoShape 10"/>
          <p:cNvSpPr>
            <a:spLocks noChangeArrowheads="1"/>
          </p:cNvSpPr>
          <p:nvPr/>
        </p:nvSpPr>
        <p:spPr bwMode="auto">
          <a:xfrm>
            <a:off x="4629150" y="3997856"/>
            <a:ext cx="1457325"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a:t>Receptors</a:t>
            </a:r>
          </a:p>
        </p:txBody>
      </p:sp>
      <p:sp>
        <p:nvSpPr>
          <p:cNvPr id="270347" name="AutoShape 11"/>
          <p:cNvSpPr>
            <a:spLocks noChangeArrowheads="1"/>
          </p:cNvSpPr>
          <p:nvPr/>
        </p:nvSpPr>
        <p:spPr bwMode="auto">
          <a:xfrm>
            <a:off x="4800600" y="5217056"/>
            <a:ext cx="1543050" cy="685800"/>
          </a:xfrm>
          <a:prstGeom prst="roundRect">
            <a:avLst>
              <a:gd name="adj" fmla="val 16667"/>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sz="1800"/>
              <a:t>signaling</a:t>
            </a:r>
          </a:p>
          <a:p>
            <a:pPr algn="ctr" eaLnBrk="0" hangingPunct="0">
              <a:spcBef>
                <a:spcPct val="20000"/>
              </a:spcBef>
            </a:pPr>
            <a:r>
              <a:rPr lang="en-US" sz="1800"/>
              <a:t>molecules</a:t>
            </a:r>
            <a:endParaRPr lang="en-US"/>
          </a:p>
        </p:txBody>
      </p:sp>
      <p:sp>
        <p:nvSpPr>
          <p:cNvPr id="270348" name="Line 12"/>
          <p:cNvSpPr>
            <a:spLocks noChangeShapeType="1"/>
          </p:cNvSpPr>
          <p:nvPr/>
        </p:nvSpPr>
        <p:spPr bwMode="auto">
          <a:xfrm>
            <a:off x="4972050" y="1940456"/>
            <a:ext cx="0" cy="838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49" name="Line 13"/>
          <p:cNvSpPr>
            <a:spLocks noChangeShapeType="1"/>
          </p:cNvSpPr>
          <p:nvPr/>
        </p:nvSpPr>
        <p:spPr bwMode="auto">
          <a:xfrm flipH="1">
            <a:off x="2571750" y="3388256"/>
            <a:ext cx="20574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0" name="Line 14"/>
          <p:cNvSpPr>
            <a:spLocks noChangeShapeType="1"/>
          </p:cNvSpPr>
          <p:nvPr/>
        </p:nvSpPr>
        <p:spPr bwMode="auto">
          <a:xfrm flipH="1">
            <a:off x="3771900" y="3388256"/>
            <a:ext cx="102870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1" name="Line 15"/>
          <p:cNvSpPr>
            <a:spLocks noChangeShapeType="1"/>
          </p:cNvSpPr>
          <p:nvPr/>
        </p:nvSpPr>
        <p:spPr bwMode="auto">
          <a:xfrm>
            <a:off x="4972050" y="3388256"/>
            <a:ext cx="257175"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2" name="Line 16"/>
          <p:cNvSpPr>
            <a:spLocks noChangeShapeType="1"/>
          </p:cNvSpPr>
          <p:nvPr/>
        </p:nvSpPr>
        <p:spPr bwMode="auto">
          <a:xfrm>
            <a:off x="5143500" y="3388256"/>
            <a:ext cx="1885950"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3" name="Line 17"/>
          <p:cNvSpPr>
            <a:spLocks noChangeShapeType="1"/>
          </p:cNvSpPr>
          <p:nvPr/>
        </p:nvSpPr>
        <p:spPr bwMode="auto">
          <a:xfrm>
            <a:off x="5400675" y="3388256"/>
            <a:ext cx="3000375" cy="609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4" name="Line 18"/>
          <p:cNvSpPr>
            <a:spLocks noChangeShapeType="1"/>
          </p:cNvSpPr>
          <p:nvPr/>
        </p:nvSpPr>
        <p:spPr bwMode="auto">
          <a:xfrm flipH="1">
            <a:off x="6086475" y="4683656"/>
            <a:ext cx="685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5" name="Line 19"/>
          <p:cNvSpPr>
            <a:spLocks noChangeShapeType="1"/>
          </p:cNvSpPr>
          <p:nvPr/>
        </p:nvSpPr>
        <p:spPr bwMode="auto">
          <a:xfrm>
            <a:off x="7029450" y="4683656"/>
            <a:ext cx="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6" name="Line 20"/>
          <p:cNvSpPr>
            <a:spLocks noChangeShapeType="1"/>
          </p:cNvSpPr>
          <p:nvPr/>
        </p:nvSpPr>
        <p:spPr bwMode="auto">
          <a:xfrm>
            <a:off x="7372350" y="4683656"/>
            <a:ext cx="1114425"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7" name="Freeform 21"/>
          <p:cNvSpPr>
            <a:spLocks/>
          </p:cNvSpPr>
          <p:nvPr/>
        </p:nvSpPr>
        <p:spPr bwMode="auto">
          <a:xfrm>
            <a:off x="2000250" y="2016656"/>
            <a:ext cx="2971800" cy="1981200"/>
          </a:xfrm>
          <a:custGeom>
            <a:avLst/>
            <a:gdLst>
              <a:gd name="T0" fmla="*/ 80 w 1736"/>
              <a:gd name="T1" fmla="*/ 1112 h 1112"/>
              <a:gd name="T2" fmla="*/ 80 w 1736"/>
              <a:gd name="T3" fmla="*/ 680 h 1112"/>
              <a:gd name="T4" fmla="*/ 560 w 1736"/>
              <a:gd name="T5" fmla="*/ 200 h 1112"/>
              <a:gd name="T6" fmla="*/ 1280 w 1736"/>
              <a:gd name="T7" fmla="*/ 8 h 1112"/>
              <a:gd name="T8" fmla="*/ 1664 w 1736"/>
              <a:gd name="T9" fmla="*/ 152 h 1112"/>
              <a:gd name="T10" fmla="*/ 1712 w 1736"/>
              <a:gd name="T11" fmla="*/ 200 h 1112"/>
            </a:gdLst>
            <a:ahLst/>
            <a:cxnLst>
              <a:cxn ang="0">
                <a:pos x="T0" y="T1"/>
              </a:cxn>
              <a:cxn ang="0">
                <a:pos x="T2" y="T3"/>
              </a:cxn>
              <a:cxn ang="0">
                <a:pos x="T4" y="T5"/>
              </a:cxn>
              <a:cxn ang="0">
                <a:pos x="T6" y="T7"/>
              </a:cxn>
              <a:cxn ang="0">
                <a:pos x="T8" y="T9"/>
              </a:cxn>
              <a:cxn ang="0">
                <a:pos x="T10" y="T11"/>
              </a:cxn>
            </a:cxnLst>
            <a:rect l="0" t="0" r="r" b="b"/>
            <a:pathLst>
              <a:path w="1736" h="1112">
                <a:moveTo>
                  <a:pt x="80" y="1112"/>
                </a:moveTo>
                <a:cubicBezTo>
                  <a:pt x="40" y="972"/>
                  <a:pt x="0" y="832"/>
                  <a:pt x="80" y="680"/>
                </a:cubicBezTo>
                <a:cubicBezTo>
                  <a:pt x="160" y="528"/>
                  <a:pt x="360" y="312"/>
                  <a:pt x="560" y="200"/>
                </a:cubicBezTo>
                <a:cubicBezTo>
                  <a:pt x="760" y="88"/>
                  <a:pt x="1096" y="16"/>
                  <a:pt x="1280" y="8"/>
                </a:cubicBezTo>
                <a:cubicBezTo>
                  <a:pt x="1464" y="0"/>
                  <a:pt x="1592" y="120"/>
                  <a:pt x="1664" y="152"/>
                </a:cubicBezTo>
                <a:cubicBezTo>
                  <a:pt x="1736" y="184"/>
                  <a:pt x="1724" y="192"/>
                  <a:pt x="1712" y="200"/>
                </a:cubicBezTo>
              </a:path>
            </a:pathLst>
          </a:custGeom>
          <a:noFill/>
          <a:ln w="9525" cap="flat" cmpd="sng">
            <a:solidFill>
              <a:schemeClr val="tx1"/>
            </a:solidFill>
            <a:prstDash val="dash"/>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8" name="Freeform 22"/>
          <p:cNvSpPr>
            <a:spLocks/>
          </p:cNvSpPr>
          <p:nvPr/>
        </p:nvSpPr>
        <p:spPr bwMode="auto">
          <a:xfrm>
            <a:off x="3128962" y="2283356"/>
            <a:ext cx="1843088" cy="1714500"/>
          </a:xfrm>
          <a:custGeom>
            <a:avLst/>
            <a:gdLst>
              <a:gd name="T0" fmla="*/ 264 w 1032"/>
              <a:gd name="T1" fmla="*/ 1080 h 1080"/>
              <a:gd name="T2" fmla="*/ 24 w 1032"/>
              <a:gd name="T3" fmla="*/ 504 h 1080"/>
              <a:gd name="T4" fmla="*/ 408 w 1032"/>
              <a:gd name="T5" fmla="*/ 72 h 1080"/>
              <a:gd name="T6" fmla="*/ 840 w 1032"/>
              <a:gd name="T7" fmla="*/ 72 h 1080"/>
              <a:gd name="T8" fmla="*/ 1032 w 1032"/>
              <a:gd name="T9" fmla="*/ 168 h 1080"/>
            </a:gdLst>
            <a:ahLst/>
            <a:cxnLst>
              <a:cxn ang="0">
                <a:pos x="T0" y="T1"/>
              </a:cxn>
              <a:cxn ang="0">
                <a:pos x="T2" y="T3"/>
              </a:cxn>
              <a:cxn ang="0">
                <a:pos x="T4" y="T5"/>
              </a:cxn>
              <a:cxn ang="0">
                <a:pos x="T6" y="T7"/>
              </a:cxn>
              <a:cxn ang="0">
                <a:pos x="T8" y="T9"/>
              </a:cxn>
            </a:cxnLst>
            <a:rect l="0" t="0" r="r" b="b"/>
            <a:pathLst>
              <a:path w="1032" h="1080">
                <a:moveTo>
                  <a:pt x="264" y="1080"/>
                </a:moveTo>
                <a:cubicBezTo>
                  <a:pt x="132" y="876"/>
                  <a:pt x="0" y="672"/>
                  <a:pt x="24" y="504"/>
                </a:cubicBezTo>
                <a:cubicBezTo>
                  <a:pt x="48" y="336"/>
                  <a:pt x="272" y="144"/>
                  <a:pt x="408" y="72"/>
                </a:cubicBezTo>
                <a:cubicBezTo>
                  <a:pt x="544" y="0"/>
                  <a:pt x="736" y="56"/>
                  <a:pt x="840" y="72"/>
                </a:cubicBezTo>
                <a:cubicBezTo>
                  <a:pt x="944" y="88"/>
                  <a:pt x="988" y="128"/>
                  <a:pt x="1032" y="168"/>
                </a:cubicBezTo>
              </a:path>
            </a:pathLst>
          </a:custGeom>
          <a:noFill/>
          <a:ln w="9525" cap="flat" cmpd="sng">
            <a:solidFill>
              <a:schemeClr val="tx1"/>
            </a:solidFill>
            <a:prstDash val="dash"/>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59" name="Freeform 23"/>
          <p:cNvSpPr>
            <a:spLocks/>
          </p:cNvSpPr>
          <p:nvPr/>
        </p:nvSpPr>
        <p:spPr bwMode="auto">
          <a:xfrm>
            <a:off x="2057400" y="4683656"/>
            <a:ext cx="2743200" cy="622300"/>
          </a:xfrm>
          <a:custGeom>
            <a:avLst/>
            <a:gdLst>
              <a:gd name="T0" fmla="*/ 1536 w 1536"/>
              <a:gd name="T1" fmla="*/ 0 h 392"/>
              <a:gd name="T2" fmla="*/ 768 w 1536"/>
              <a:gd name="T3" fmla="*/ 336 h 392"/>
              <a:gd name="T4" fmla="*/ 144 w 1536"/>
              <a:gd name="T5" fmla="*/ 336 h 392"/>
              <a:gd name="T6" fmla="*/ 0 w 1536"/>
              <a:gd name="T7" fmla="*/ 0 h 392"/>
            </a:gdLst>
            <a:ahLst/>
            <a:cxnLst>
              <a:cxn ang="0">
                <a:pos x="T0" y="T1"/>
              </a:cxn>
              <a:cxn ang="0">
                <a:pos x="T2" y="T3"/>
              </a:cxn>
              <a:cxn ang="0">
                <a:pos x="T4" y="T5"/>
              </a:cxn>
              <a:cxn ang="0">
                <a:pos x="T6" y="T7"/>
              </a:cxn>
            </a:cxnLst>
            <a:rect l="0" t="0" r="r" b="b"/>
            <a:pathLst>
              <a:path w="1536" h="392">
                <a:moveTo>
                  <a:pt x="1536" y="0"/>
                </a:moveTo>
                <a:cubicBezTo>
                  <a:pt x="1268" y="140"/>
                  <a:pt x="1000" y="280"/>
                  <a:pt x="768" y="336"/>
                </a:cubicBezTo>
                <a:cubicBezTo>
                  <a:pt x="536" y="392"/>
                  <a:pt x="272" y="392"/>
                  <a:pt x="144" y="336"/>
                </a:cubicBezTo>
                <a:cubicBezTo>
                  <a:pt x="16" y="280"/>
                  <a:pt x="8" y="140"/>
                  <a:pt x="0" y="0"/>
                </a:cubicBezTo>
              </a:path>
            </a:pathLst>
          </a:custGeom>
          <a:noFill/>
          <a:ln w="9525" cap="flat" cmpd="sng">
            <a:solidFill>
              <a:schemeClr val="tx1"/>
            </a:solidFill>
            <a:prstDash val="dash"/>
            <a:round/>
            <a:headEnd/>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60" name="Line 24"/>
          <p:cNvSpPr>
            <a:spLocks noChangeShapeType="1"/>
          </p:cNvSpPr>
          <p:nvPr/>
        </p:nvSpPr>
        <p:spPr bwMode="auto">
          <a:xfrm flipV="1">
            <a:off x="5229225" y="4683656"/>
            <a:ext cx="0" cy="53340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61" name="AutoShape 25"/>
          <p:cNvSpPr>
            <a:spLocks noChangeArrowheads="1"/>
          </p:cNvSpPr>
          <p:nvPr/>
        </p:nvSpPr>
        <p:spPr bwMode="auto">
          <a:xfrm>
            <a:off x="1971675" y="5445656"/>
            <a:ext cx="2486025" cy="1371600"/>
          </a:xfrm>
          <a:prstGeom prst="hexagon">
            <a:avLst>
              <a:gd name="adj" fmla="val 40278"/>
              <a:gd name="vf" fmla="val 11547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r>
              <a:rPr lang="en-US"/>
              <a:t>Environment</a:t>
            </a:r>
          </a:p>
          <a:p>
            <a:pPr algn="ctr" eaLnBrk="0" hangingPunct="0">
              <a:spcBef>
                <a:spcPct val="20000"/>
              </a:spcBef>
            </a:pPr>
            <a:r>
              <a:rPr lang="en-US"/>
              <a:t>&amp; other cells</a:t>
            </a:r>
          </a:p>
        </p:txBody>
      </p:sp>
      <p:sp>
        <p:nvSpPr>
          <p:cNvPr id="270362" name="Line 26"/>
          <p:cNvSpPr>
            <a:spLocks noChangeShapeType="1"/>
          </p:cNvSpPr>
          <p:nvPr/>
        </p:nvSpPr>
        <p:spPr bwMode="auto">
          <a:xfrm flipV="1">
            <a:off x="4029075" y="4683656"/>
            <a:ext cx="942975" cy="91440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63" name="Line 27"/>
          <p:cNvSpPr>
            <a:spLocks noChangeShapeType="1"/>
          </p:cNvSpPr>
          <p:nvPr/>
        </p:nvSpPr>
        <p:spPr bwMode="auto">
          <a:xfrm flipH="1">
            <a:off x="4200525" y="5445656"/>
            <a:ext cx="600075" cy="38100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64" name="Rectangle 28"/>
          <p:cNvSpPr>
            <a:spLocks noChangeArrowheads="1"/>
          </p:cNvSpPr>
          <p:nvPr/>
        </p:nvSpPr>
        <p:spPr bwMode="auto">
          <a:xfrm>
            <a:off x="6600825" y="1711856"/>
            <a:ext cx="2828925" cy="1066800"/>
          </a:xfrm>
          <a:prstGeom prst="rect">
            <a:avLst/>
          </a:prstGeom>
          <a:solidFill>
            <a:srgbClr val="C5E2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20000"/>
              </a:spcBef>
            </a:pPr>
            <a:endParaRPr lang="en-US">
              <a:solidFill>
                <a:srgbClr val="FF0000"/>
              </a:solidFill>
            </a:endParaRPr>
          </a:p>
        </p:txBody>
      </p:sp>
      <p:sp>
        <p:nvSpPr>
          <p:cNvPr id="270365" name="Line 29"/>
          <p:cNvSpPr>
            <a:spLocks noChangeShapeType="1"/>
          </p:cNvSpPr>
          <p:nvPr/>
        </p:nvSpPr>
        <p:spPr bwMode="auto">
          <a:xfrm>
            <a:off x="7029450" y="1940456"/>
            <a:ext cx="1885950" cy="0"/>
          </a:xfrm>
          <a:prstGeom prst="line">
            <a:avLst/>
          </a:prstGeom>
          <a:ln>
            <a:headEnd/>
            <a:tailEnd type="triangle" w="med" len="med"/>
          </a:ln>
          <a:extLst/>
        </p:spPr>
        <p:style>
          <a:lnRef idx="1">
            <a:schemeClr val="accent6"/>
          </a:lnRef>
          <a:fillRef idx="0">
            <a:schemeClr val="accent6"/>
          </a:fillRef>
          <a:effectRef idx="0">
            <a:schemeClr val="accent6"/>
          </a:effectRef>
          <a:fontRef idx="minor">
            <a:schemeClr val="tx1"/>
          </a:fontRef>
        </p:style>
        <p:txBody>
          <a:bodyPr wrap="none" anchor="ctr"/>
          <a:lstStyle/>
          <a:p>
            <a:endParaRPr lang="en-US">
              <a:solidFill>
                <a:srgbClr val="FF0000"/>
              </a:solidFill>
            </a:endParaRPr>
          </a:p>
        </p:txBody>
      </p:sp>
      <p:sp>
        <p:nvSpPr>
          <p:cNvPr id="270366" name="Line 30"/>
          <p:cNvSpPr>
            <a:spLocks noChangeShapeType="1"/>
          </p:cNvSpPr>
          <p:nvPr/>
        </p:nvSpPr>
        <p:spPr bwMode="auto">
          <a:xfrm>
            <a:off x="7029450" y="2321456"/>
            <a:ext cx="1885950" cy="0"/>
          </a:xfrm>
          <a:prstGeom prst="line">
            <a:avLst/>
          </a:prstGeom>
          <a:ln>
            <a:prstDash val="dash"/>
            <a:headEnd/>
            <a:tailEnd type="triangle" w="med" len="med"/>
          </a:ln>
          <a:extLst/>
        </p:spPr>
        <p:style>
          <a:lnRef idx="1">
            <a:schemeClr val="accent6"/>
          </a:lnRef>
          <a:fillRef idx="0">
            <a:schemeClr val="accent6"/>
          </a:fillRef>
          <a:effectRef idx="0">
            <a:schemeClr val="accent6"/>
          </a:effectRef>
          <a:fontRef idx="minor">
            <a:schemeClr val="tx1"/>
          </a:fontRef>
        </p:style>
        <p:txBody>
          <a:bodyPr wrap="none" anchor="ctr"/>
          <a:lstStyle/>
          <a:p>
            <a:endParaRPr lang="en-US">
              <a:solidFill>
                <a:srgbClr val="FF0000"/>
              </a:solidFill>
            </a:endParaRPr>
          </a:p>
        </p:txBody>
      </p:sp>
      <p:sp>
        <p:nvSpPr>
          <p:cNvPr id="270367" name="Text Box 31"/>
          <p:cNvSpPr txBox="1">
            <a:spLocks noChangeArrowheads="1"/>
          </p:cNvSpPr>
          <p:nvPr/>
        </p:nvSpPr>
        <p:spPr bwMode="auto">
          <a:xfrm>
            <a:off x="7372351" y="1864256"/>
            <a:ext cx="95699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20000"/>
              </a:spcBef>
            </a:pPr>
            <a:r>
              <a:rPr lang="en-US" sz="1800" dirty="0">
                <a:solidFill>
                  <a:srgbClr val="FF0000"/>
                </a:solidFill>
              </a:rPr>
              <a:t>creation</a:t>
            </a:r>
            <a:endParaRPr lang="en-US" sz="1400" dirty="0">
              <a:solidFill>
                <a:srgbClr val="FF0000"/>
              </a:solidFill>
            </a:endParaRPr>
          </a:p>
        </p:txBody>
      </p:sp>
      <p:sp>
        <p:nvSpPr>
          <p:cNvPr id="270368" name="Text Box 32"/>
          <p:cNvSpPr txBox="1">
            <a:spLocks noChangeArrowheads="1"/>
          </p:cNvSpPr>
          <p:nvPr/>
        </p:nvSpPr>
        <p:spPr bwMode="auto">
          <a:xfrm>
            <a:off x="7286625" y="2321456"/>
            <a:ext cx="114294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20000"/>
              </a:spcBef>
            </a:pPr>
            <a:r>
              <a:rPr lang="en-US" sz="1800">
                <a:solidFill>
                  <a:srgbClr val="FF0000"/>
                </a:solidFill>
              </a:rPr>
              <a:t>regulation</a:t>
            </a:r>
            <a:endParaRPr lang="en-US" sz="1400">
              <a:solidFill>
                <a:srgbClr val="FF0000"/>
              </a:solidFill>
            </a:endParaRPr>
          </a:p>
        </p:txBody>
      </p:sp>
      <p:sp>
        <p:nvSpPr>
          <p:cNvPr id="270369" name="Text Box 33"/>
          <p:cNvSpPr txBox="1">
            <a:spLocks noChangeArrowheads="1"/>
          </p:cNvSpPr>
          <p:nvPr/>
        </p:nvSpPr>
        <p:spPr bwMode="auto">
          <a:xfrm>
            <a:off x="1028701" y="797457"/>
            <a:ext cx="75902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20000"/>
              </a:spcBef>
            </a:pPr>
            <a:r>
              <a:rPr lang="en-US" sz="2800"/>
              <a:t>Primary Flows of Information and Substance in Cell</a:t>
            </a:r>
            <a:endParaRPr lang="en-US"/>
          </a:p>
        </p:txBody>
      </p:sp>
      <p:sp>
        <p:nvSpPr>
          <p:cNvPr id="270370" name="Line 34"/>
          <p:cNvSpPr>
            <a:spLocks noChangeShapeType="1"/>
          </p:cNvSpPr>
          <p:nvPr/>
        </p:nvSpPr>
        <p:spPr bwMode="auto">
          <a:xfrm flipV="1">
            <a:off x="5657850" y="4683656"/>
            <a:ext cx="771525" cy="533400"/>
          </a:xfrm>
          <a:prstGeom prst="line">
            <a:avLst/>
          </a:prstGeom>
          <a:no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0371" name="Line 35"/>
          <p:cNvSpPr>
            <a:spLocks noChangeShapeType="1"/>
          </p:cNvSpPr>
          <p:nvPr/>
        </p:nvSpPr>
        <p:spPr bwMode="auto">
          <a:xfrm flipV="1">
            <a:off x="4457700" y="5826656"/>
            <a:ext cx="428625"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Rectangle 35"/>
          <p:cNvSpPr/>
          <p:nvPr/>
        </p:nvSpPr>
        <p:spPr>
          <a:xfrm>
            <a:off x="0" y="183"/>
            <a:ext cx="1883849" cy="584775"/>
          </a:xfrm>
          <a:prstGeom prst="rect">
            <a:avLst/>
          </a:prstGeom>
        </p:spPr>
        <p:txBody>
          <a:bodyPr wrap="none">
            <a:spAutoFit/>
          </a:bodyPr>
          <a:lstStyle/>
          <a:p>
            <a:r>
              <a:rPr lang="en-US" sz="3200" b="1" dirty="0" smtClean="0"/>
              <a:t>Concept 1</a:t>
            </a:r>
            <a:endParaRPr lang="en-US" sz="2800" dirty="0"/>
          </a:p>
        </p:txBody>
      </p:sp>
      <p:sp>
        <p:nvSpPr>
          <p:cNvPr id="37" name="Rectangle 3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78446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40312" y="4997551"/>
            <a:ext cx="2349233" cy="523220"/>
          </a:xfrm>
          <a:prstGeom prst="rect">
            <a:avLst/>
          </a:prstGeom>
        </p:spPr>
        <p:style>
          <a:lnRef idx="0">
            <a:schemeClr val="accent3"/>
          </a:lnRef>
          <a:fillRef idx="3">
            <a:schemeClr val="accent3"/>
          </a:fillRef>
          <a:effectRef idx="3">
            <a:schemeClr val="accent3"/>
          </a:effectRef>
          <a:fontRef idx="minor">
            <a:schemeClr val="lt1"/>
          </a:fontRef>
        </p:style>
        <p:txBody>
          <a:bodyPr wrap="none" rtlCol="0">
            <a:spAutoFit/>
          </a:bodyPr>
          <a:lstStyle/>
          <a:p>
            <a:r>
              <a:rPr lang="en-US" sz="2800" dirty="0" smtClean="0"/>
              <a:t>Central Dogma</a:t>
            </a:r>
            <a:endParaRPr lang="en-US" sz="2800" dirty="0"/>
          </a:p>
        </p:txBody>
      </p:sp>
      <p:sp>
        <p:nvSpPr>
          <p:cNvPr id="4" name="TextBox 3"/>
          <p:cNvSpPr txBox="1"/>
          <p:nvPr/>
        </p:nvSpPr>
        <p:spPr>
          <a:xfrm>
            <a:off x="7797346" y="1180751"/>
            <a:ext cx="1083951" cy="523220"/>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US" sz="2800" dirty="0" err="1" smtClean="0"/>
              <a:t>Omics</a:t>
            </a:r>
            <a:endParaRPr lang="en-US" sz="2800" dirty="0"/>
          </a:p>
        </p:txBody>
      </p:sp>
      <p:pic>
        <p:nvPicPr>
          <p:cNvPr id="14338" name="Picture 2" descr="Human genome proj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3584" y="2361724"/>
            <a:ext cx="3567066" cy="1968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3" name="Line 12"/>
          <p:cNvSpPr>
            <a:spLocks noChangeShapeType="1"/>
          </p:cNvSpPr>
          <p:nvPr/>
        </p:nvSpPr>
        <p:spPr bwMode="auto">
          <a:xfrm flipV="1">
            <a:off x="2383595" y="1702090"/>
            <a:ext cx="6027044" cy="3304513"/>
          </a:xfrm>
          <a:prstGeom prst="line">
            <a:avLst/>
          </a:prstGeom>
          <a:noFill/>
          <a:ln w="63500">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7" name="Rectangle 6"/>
          <p:cNvSpPr/>
          <p:nvPr/>
        </p:nvSpPr>
        <p:spPr>
          <a:xfrm>
            <a:off x="0" y="5992919"/>
            <a:ext cx="1883849" cy="584775"/>
          </a:xfrm>
          <a:prstGeom prst="rect">
            <a:avLst/>
          </a:prstGeom>
        </p:spPr>
        <p:txBody>
          <a:bodyPr wrap="none">
            <a:spAutoFit/>
          </a:bodyPr>
          <a:lstStyle/>
          <a:p>
            <a:r>
              <a:rPr lang="en-US" sz="3200" b="1" dirty="0" smtClean="0"/>
              <a:t>Concept 1</a:t>
            </a:r>
            <a:endParaRPr lang="en-US" sz="2800" dirty="0"/>
          </a:p>
        </p:txBody>
      </p:sp>
      <p:sp>
        <p:nvSpPr>
          <p:cNvPr id="8" name="Rectangle 7"/>
          <p:cNvSpPr/>
          <p:nvPr/>
        </p:nvSpPr>
        <p:spPr>
          <a:xfrm>
            <a:off x="8410639" y="0"/>
            <a:ext cx="1883849" cy="584775"/>
          </a:xfrm>
          <a:prstGeom prst="rect">
            <a:avLst/>
          </a:prstGeom>
        </p:spPr>
        <p:txBody>
          <a:bodyPr wrap="none">
            <a:spAutoFit/>
          </a:bodyPr>
          <a:lstStyle/>
          <a:p>
            <a:r>
              <a:rPr lang="en-US" sz="3200" b="1" dirty="0" smtClean="0"/>
              <a:t>Concept 2</a:t>
            </a:r>
            <a:endParaRPr lang="en-US" sz="2800" dirty="0"/>
          </a:p>
        </p:txBody>
      </p:sp>
      <p:sp>
        <p:nvSpPr>
          <p:cNvPr id="5" name="Oval 4"/>
          <p:cNvSpPr/>
          <p:nvPr/>
        </p:nvSpPr>
        <p:spPr>
          <a:xfrm>
            <a:off x="3589545" y="2361724"/>
            <a:ext cx="3591105" cy="1968025"/>
          </a:xfrm>
          <a:prstGeom prst="ellips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326084" y="3169680"/>
            <a:ext cx="2660215" cy="369332"/>
          </a:xfrm>
          <a:prstGeom prst="rect">
            <a:avLst/>
          </a:prstGeom>
          <a:noFill/>
        </p:spPr>
        <p:txBody>
          <a:bodyPr wrap="none" rtlCol="0">
            <a:spAutoFit/>
          </a:bodyPr>
          <a:lstStyle/>
          <a:p>
            <a:r>
              <a:rPr lang="en-US" dirty="0" smtClean="0">
                <a:solidFill>
                  <a:srgbClr val="FF0000"/>
                </a:solidFill>
              </a:rPr>
              <a:t>Most Important Milestone</a:t>
            </a:r>
            <a:endParaRPr lang="en-US" dirty="0">
              <a:solidFill>
                <a:srgbClr val="FF0000"/>
              </a:solidFill>
            </a:endParaRPr>
          </a:p>
        </p:txBody>
      </p:sp>
      <p:sp>
        <p:nvSpPr>
          <p:cNvPr id="11" name="Rectangle 10"/>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03267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7746" name="Object 2"/>
          <p:cNvGraphicFramePr>
            <a:graphicFrameLocks noChangeAspect="1"/>
          </p:cNvGraphicFramePr>
          <p:nvPr>
            <p:extLst>
              <p:ext uri="{D42A27DB-BD31-4B8C-83A1-F6EECF244321}">
                <p14:modId xmlns:p14="http://schemas.microsoft.com/office/powerpoint/2010/main" val="3486766860"/>
              </p:ext>
            </p:extLst>
          </p:nvPr>
        </p:nvGraphicFramePr>
        <p:xfrm>
          <a:off x="171450" y="581258"/>
          <a:ext cx="9903024" cy="5981700"/>
        </p:xfrm>
        <a:graphic>
          <a:graphicData uri="http://schemas.openxmlformats.org/presentationml/2006/ole">
            <mc:AlternateContent xmlns:mc="http://schemas.openxmlformats.org/markup-compatibility/2006">
              <mc:Choice xmlns:v="urn:schemas-microsoft-com:vml" Requires="v">
                <p:oleObj spid="_x0000_s10268" name="Photo Editor Photo" r:id="rId3" imgW="11717386" imgH="7961905" progId="MSPhotoEd.3">
                  <p:embed/>
                </p:oleObj>
              </mc:Choice>
              <mc:Fallback>
                <p:oleObj name="Photo Editor Photo" r:id="rId3" imgW="11717386" imgH="7961905"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 y="581258"/>
                        <a:ext cx="9903024" cy="598170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87747" name="Group 3"/>
          <p:cNvGrpSpPr>
            <a:grpSpLocks/>
          </p:cNvGrpSpPr>
          <p:nvPr/>
        </p:nvGrpSpPr>
        <p:grpSpPr bwMode="auto">
          <a:xfrm>
            <a:off x="428625" y="3324227"/>
            <a:ext cx="5314950" cy="1509713"/>
            <a:chOff x="240" y="2094"/>
            <a:chExt cx="2976" cy="951"/>
          </a:xfrm>
          <a:solidFill>
            <a:srgbClr val="FFC000"/>
          </a:solidFill>
        </p:grpSpPr>
        <p:sp>
          <p:nvSpPr>
            <p:cNvPr id="287748" name="Text Box 4"/>
            <p:cNvSpPr txBox="1">
              <a:spLocks noChangeArrowheads="1"/>
            </p:cNvSpPr>
            <p:nvPr/>
          </p:nvSpPr>
          <p:spPr bwMode="auto">
            <a:xfrm>
              <a:off x="670" y="2094"/>
              <a:ext cx="2162" cy="354"/>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lang="en-US" sz="3000" b="1">
                  <a:solidFill>
                    <a:schemeClr val="bg2"/>
                  </a:solidFill>
                  <a:latin typeface="Arial" panose="020B0604020202020204" pitchFamily="34" charset="0"/>
                </a:rPr>
                <a:t>Complex systems</a:t>
              </a:r>
              <a:endParaRPr lang="en-US">
                <a:solidFill>
                  <a:schemeClr val="bg2"/>
                </a:solidFill>
              </a:endParaRPr>
            </a:p>
          </p:txBody>
        </p:sp>
        <p:sp>
          <p:nvSpPr>
            <p:cNvPr id="287749" name="Text Box 5"/>
            <p:cNvSpPr txBox="1">
              <a:spLocks noChangeArrowheads="1"/>
            </p:cNvSpPr>
            <p:nvPr/>
          </p:nvSpPr>
          <p:spPr bwMode="auto">
            <a:xfrm>
              <a:off x="240" y="2638"/>
              <a:ext cx="2976" cy="40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spcBef>
                  <a:spcPct val="50000"/>
                </a:spcBef>
              </a:pPr>
              <a:r>
                <a:rPr lang="en-US" dirty="0">
                  <a:solidFill>
                    <a:schemeClr val="bg2"/>
                  </a:solidFill>
                </a:rPr>
                <a:t>Made of </a:t>
              </a:r>
              <a:r>
                <a:rPr lang="en-US" dirty="0" smtClean="0">
                  <a:solidFill>
                    <a:schemeClr val="bg2"/>
                  </a:solidFill>
                </a:rPr>
                <a:t>many </a:t>
              </a:r>
              <a:r>
                <a:rPr lang="en-US" dirty="0">
                  <a:solidFill>
                    <a:schemeClr val="bg2"/>
                  </a:solidFill>
                </a:rPr>
                <a:t>non-identical </a:t>
              </a:r>
              <a:r>
                <a:rPr lang="en-US" b="1" dirty="0">
                  <a:solidFill>
                    <a:schemeClr val="bg2"/>
                  </a:solidFill>
                </a:rPr>
                <a:t>elements</a:t>
              </a:r>
              <a:r>
                <a:rPr lang="en-US" dirty="0">
                  <a:solidFill>
                    <a:schemeClr val="bg2"/>
                  </a:solidFill>
                </a:rPr>
                <a:t> connected by diverse </a:t>
              </a:r>
              <a:r>
                <a:rPr lang="en-US" b="1" dirty="0">
                  <a:solidFill>
                    <a:schemeClr val="bg2"/>
                  </a:solidFill>
                </a:rPr>
                <a:t>interactions</a:t>
              </a:r>
              <a:r>
                <a:rPr lang="en-US" dirty="0">
                  <a:solidFill>
                    <a:schemeClr val="bg2"/>
                  </a:solidFill>
                </a:rPr>
                <a:t>.</a:t>
              </a:r>
            </a:p>
          </p:txBody>
        </p:sp>
      </p:grpSp>
      <p:grpSp>
        <p:nvGrpSpPr>
          <p:cNvPr id="287750" name="Group 6"/>
          <p:cNvGrpSpPr>
            <a:grpSpLocks/>
          </p:cNvGrpSpPr>
          <p:nvPr/>
        </p:nvGrpSpPr>
        <p:grpSpPr bwMode="auto">
          <a:xfrm>
            <a:off x="1714500" y="5087938"/>
            <a:ext cx="2868216" cy="1566862"/>
            <a:chOff x="960" y="3205"/>
            <a:chExt cx="1606" cy="987"/>
          </a:xfrm>
          <a:solidFill>
            <a:srgbClr val="FFC000"/>
          </a:solidFill>
        </p:grpSpPr>
        <p:sp>
          <p:nvSpPr>
            <p:cNvPr id="287751" name="Oval 7"/>
            <p:cNvSpPr>
              <a:spLocks noChangeArrowheads="1"/>
            </p:cNvSpPr>
            <p:nvPr/>
          </p:nvSpPr>
          <p:spPr bwMode="auto">
            <a:xfrm>
              <a:off x="960" y="3600"/>
              <a:ext cx="1606" cy="592"/>
            </a:xfrm>
            <a:prstGeom prst="ellipse">
              <a:avLst/>
            </a:prstGeom>
            <a:grp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50000"/>
                </a:spcBef>
              </a:pPr>
              <a:r>
                <a:rPr lang="en-US" sz="2800" b="1" dirty="0">
                  <a:solidFill>
                    <a:srgbClr val="FF0000"/>
                  </a:solidFill>
                  <a:latin typeface="Comic Sans MS" panose="030F0702030302020204" pitchFamily="66" charset="0"/>
                </a:rPr>
                <a:t>NETWORK</a:t>
              </a:r>
            </a:p>
          </p:txBody>
        </p:sp>
        <p:sp>
          <p:nvSpPr>
            <p:cNvPr id="287752" name="AutoShape 8"/>
            <p:cNvSpPr>
              <a:spLocks noChangeArrowheads="1"/>
            </p:cNvSpPr>
            <p:nvPr/>
          </p:nvSpPr>
          <p:spPr bwMode="auto">
            <a:xfrm rot="5400000">
              <a:off x="1588" y="3201"/>
              <a:ext cx="347" cy="35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schemeClr val="bg2"/>
                </a:solidFill>
              </a:endParaRPr>
            </a:p>
          </p:txBody>
        </p:sp>
      </p:grpSp>
      <p:sp>
        <p:nvSpPr>
          <p:cNvPr id="287753" name="Rectangle 9"/>
          <p:cNvSpPr>
            <a:spLocks noGrp="1" noChangeArrowheads="1"/>
          </p:cNvSpPr>
          <p:nvPr>
            <p:ph type="title" idx="4294967295"/>
          </p:nvPr>
        </p:nvSpPr>
        <p:spPr>
          <a:xfrm>
            <a:off x="771525" y="-1295400"/>
            <a:ext cx="8743950" cy="1143000"/>
          </a:xfrm>
        </p:spPr>
        <p:txBody>
          <a:bodyPr/>
          <a:lstStyle/>
          <a:p>
            <a:r>
              <a:rPr lang="en-US"/>
              <a:t>New York Times</a:t>
            </a:r>
          </a:p>
        </p:txBody>
      </p:sp>
      <p:sp>
        <p:nvSpPr>
          <p:cNvPr id="10" name="Rectangle 9"/>
          <p:cNvSpPr/>
          <p:nvPr/>
        </p:nvSpPr>
        <p:spPr>
          <a:xfrm>
            <a:off x="0" y="0"/>
            <a:ext cx="1883849" cy="584775"/>
          </a:xfrm>
          <a:prstGeom prst="rect">
            <a:avLst/>
          </a:prstGeom>
        </p:spPr>
        <p:txBody>
          <a:bodyPr wrap="none">
            <a:spAutoFit/>
          </a:bodyPr>
          <a:lstStyle/>
          <a:p>
            <a:r>
              <a:rPr lang="en-US" sz="3200" b="1" dirty="0" smtClean="0"/>
              <a:t>Concept 2</a:t>
            </a:r>
            <a:endParaRPr lang="en-US" sz="2800" dirty="0"/>
          </a:p>
        </p:txBody>
      </p:sp>
      <p:sp>
        <p:nvSpPr>
          <p:cNvPr id="11" name="Rectangle 10"/>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541252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7747"/>
                                        </p:tgtEl>
                                        <p:attrNameLst>
                                          <p:attrName>style.visibility</p:attrName>
                                        </p:attrNameLst>
                                      </p:cBhvr>
                                      <p:to>
                                        <p:strVal val="visible"/>
                                      </p:to>
                                    </p:set>
                                    <p:anim calcmode="lin" valueType="num">
                                      <p:cBhvr additive="base">
                                        <p:cTn id="7" dur="500" fill="hold"/>
                                        <p:tgtEl>
                                          <p:spTgt spid="287747"/>
                                        </p:tgtEl>
                                        <p:attrNameLst>
                                          <p:attrName>ppt_x</p:attrName>
                                        </p:attrNameLst>
                                      </p:cBhvr>
                                      <p:tavLst>
                                        <p:tav tm="0">
                                          <p:val>
                                            <p:strVal val="0-#ppt_w/2"/>
                                          </p:val>
                                        </p:tav>
                                        <p:tav tm="100000">
                                          <p:val>
                                            <p:strVal val="#ppt_x"/>
                                          </p:val>
                                        </p:tav>
                                      </p:tavLst>
                                    </p:anim>
                                    <p:anim calcmode="lin" valueType="num">
                                      <p:cBhvr additive="base">
                                        <p:cTn id="8" dur="500" fill="hold"/>
                                        <p:tgtEl>
                                          <p:spTgt spid="2877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287750"/>
                                        </p:tgtEl>
                                        <p:attrNameLst>
                                          <p:attrName>style.visibility</p:attrName>
                                        </p:attrNameLst>
                                      </p:cBhvr>
                                      <p:to>
                                        <p:strVal val="visible"/>
                                      </p:to>
                                    </p:set>
                                    <p:animEffect transition="in" filter="wipe(up)">
                                      <p:cBhvr>
                                        <p:cTn id="13" dur="500"/>
                                        <p:tgtEl>
                                          <p:spTgt spid="2877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C:\Users\Pritam\Desktop\Pictur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78" y="1060811"/>
            <a:ext cx="8039487" cy="58004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0"/>
            <a:ext cx="1883849" cy="584775"/>
          </a:xfrm>
          <a:prstGeom prst="rect">
            <a:avLst/>
          </a:prstGeom>
        </p:spPr>
        <p:txBody>
          <a:bodyPr wrap="none">
            <a:spAutoFit/>
          </a:bodyPr>
          <a:lstStyle/>
          <a:p>
            <a:r>
              <a:rPr lang="en-US" sz="3200" b="1" dirty="0" smtClean="0"/>
              <a:t>Concept 2</a:t>
            </a:r>
            <a:endParaRPr lang="en-US" sz="2800" dirty="0"/>
          </a:p>
        </p:txBody>
      </p:sp>
      <p:sp>
        <p:nvSpPr>
          <p:cNvPr id="4" name="Rectangle 3"/>
          <p:cNvSpPr>
            <a:spLocks noChangeArrowheads="1"/>
          </p:cNvSpPr>
          <p:nvPr/>
        </p:nvSpPr>
        <p:spPr bwMode="auto">
          <a:xfrm>
            <a:off x="1754876" y="228697"/>
            <a:ext cx="6705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defRPr sz="2400">
                <a:solidFill>
                  <a:schemeClr val="tx1"/>
                </a:solidFill>
                <a:latin typeface="Tahoma" panose="020B0604030504040204" pitchFamily="34" charset="0"/>
              </a:defRPr>
            </a:lvl1pPr>
            <a:lvl2pPr>
              <a:defRPr sz="2400">
                <a:solidFill>
                  <a:schemeClr val="tx1"/>
                </a:solidFill>
                <a:latin typeface="Tahoma" panose="020B0604030504040204" pitchFamily="34" charset="0"/>
              </a:defRPr>
            </a:lvl2pPr>
            <a:lvl3pPr>
              <a:defRPr sz="2400">
                <a:solidFill>
                  <a:schemeClr val="tx1"/>
                </a:solidFill>
                <a:latin typeface="Tahoma" panose="020B0604030504040204" pitchFamily="34" charset="0"/>
              </a:defRPr>
            </a:lvl3pPr>
            <a:lvl4pPr>
              <a:defRPr sz="2400">
                <a:solidFill>
                  <a:schemeClr val="tx1"/>
                </a:solidFill>
                <a:latin typeface="Tahoma" panose="020B0604030504040204" pitchFamily="34" charset="0"/>
              </a:defRPr>
            </a:lvl4pPr>
            <a:lvl5pPr>
              <a:defRPr sz="2400">
                <a:solidFill>
                  <a:schemeClr val="tx1"/>
                </a:solidFill>
                <a:latin typeface="Tahoma" panose="020B0604030504040204" pitchFamily="34" charset="0"/>
              </a:defRPr>
            </a:lvl5pPr>
            <a:lvl6pPr marL="457200" fontAlgn="base">
              <a:spcBef>
                <a:spcPct val="0"/>
              </a:spcBef>
              <a:spcAft>
                <a:spcPct val="0"/>
              </a:spcAft>
              <a:defRPr sz="2400">
                <a:solidFill>
                  <a:schemeClr val="tx1"/>
                </a:solidFill>
                <a:latin typeface="Tahoma" panose="020B0604030504040204" pitchFamily="34" charset="0"/>
              </a:defRPr>
            </a:lvl6pPr>
            <a:lvl7pPr marL="914400" fontAlgn="base">
              <a:spcBef>
                <a:spcPct val="0"/>
              </a:spcBef>
              <a:spcAft>
                <a:spcPct val="0"/>
              </a:spcAft>
              <a:defRPr sz="2400">
                <a:solidFill>
                  <a:schemeClr val="tx1"/>
                </a:solidFill>
                <a:latin typeface="Tahoma" panose="020B0604030504040204" pitchFamily="34" charset="0"/>
              </a:defRPr>
            </a:lvl7pPr>
            <a:lvl8pPr marL="1371600" fontAlgn="base">
              <a:spcBef>
                <a:spcPct val="0"/>
              </a:spcBef>
              <a:spcAft>
                <a:spcPct val="0"/>
              </a:spcAft>
              <a:defRPr sz="2400">
                <a:solidFill>
                  <a:schemeClr val="tx1"/>
                </a:solidFill>
                <a:latin typeface="Tahoma" panose="020B0604030504040204" pitchFamily="34" charset="0"/>
              </a:defRPr>
            </a:lvl8pPr>
            <a:lvl9pPr marL="1828800" fontAlgn="base">
              <a:spcBef>
                <a:spcPct val="0"/>
              </a:spcBef>
              <a:spcAft>
                <a:spcPct val="0"/>
              </a:spcAft>
              <a:defRPr sz="2400">
                <a:solidFill>
                  <a:schemeClr val="tx1"/>
                </a:solidFill>
                <a:latin typeface="Tahoma" panose="020B0604030504040204" pitchFamily="34" charset="0"/>
              </a:defRPr>
            </a:lvl9pPr>
          </a:lstStyle>
          <a:p>
            <a:pPr algn="ctr"/>
            <a:r>
              <a:rPr lang="en-US" sz="3200" b="1" dirty="0" err="1" smtClean="0">
                <a:solidFill>
                  <a:schemeClr val="tx2"/>
                </a:solidFill>
                <a:latin typeface="Times New Roman" panose="02020603050405020304" pitchFamily="18" charset="0"/>
              </a:rPr>
              <a:t>Omics</a:t>
            </a:r>
            <a:endParaRPr lang="en-US" sz="3200" dirty="0">
              <a:solidFill>
                <a:schemeClr val="tx2"/>
              </a:solidFill>
              <a:latin typeface="Times New Roman" panose="02020603050405020304" pitchFamily="18" charset="0"/>
            </a:endParaRPr>
          </a:p>
        </p:txBody>
      </p:sp>
      <p:sp>
        <p:nvSpPr>
          <p:cNvPr id="2" name="TextBox 1"/>
          <p:cNvSpPr txBox="1"/>
          <p:nvPr/>
        </p:nvSpPr>
        <p:spPr>
          <a:xfrm>
            <a:off x="7799607" y="1086437"/>
            <a:ext cx="2471061" cy="4678204"/>
          </a:xfrm>
          <a:prstGeom prst="rect">
            <a:avLst/>
          </a:prstGeom>
          <a:noFill/>
        </p:spPr>
        <p:txBody>
          <a:bodyPr wrap="none" rtlCol="0">
            <a:spAutoFit/>
          </a:bodyPr>
          <a:lstStyle/>
          <a:p>
            <a:r>
              <a:rPr lang="en-US" sz="2800" dirty="0" smtClean="0"/>
              <a:t>Genomics</a:t>
            </a:r>
          </a:p>
          <a:p>
            <a:endParaRPr lang="en-US" sz="2800" dirty="0"/>
          </a:p>
          <a:p>
            <a:r>
              <a:rPr lang="en-US" sz="2800" dirty="0" err="1" smtClean="0"/>
              <a:t>Transcriptomics</a:t>
            </a:r>
            <a:endParaRPr lang="en-US" sz="2800" dirty="0" smtClean="0"/>
          </a:p>
          <a:p>
            <a:endParaRPr lang="en-US" sz="2800" dirty="0"/>
          </a:p>
          <a:p>
            <a:endParaRPr lang="en-US" sz="2800" dirty="0" smtClean="0"/>
          </a:p>
          <a:p>
            <a:endParaRPr lang="en-US" dirty="0" smtClean="0"/>
          </a:p>
          <a:p>
            <a:r>
              <a:rPr lang="en-US" sz="2800" dirty="0" smtClean="0"/>
              <a:t>Proteomics</a:t>
            </a:r>
          </a:p>
          <a:p>
            <a:endParaRPr lang="en-US" sz="2800" dirty="0"/>
          </a:p>
          <a:p>
            <a:endParaRPr lang="en-US" sz="2800" dirty="0" smtClean="0"/>
          </a:p>
          <a:p>
            <a:endParaRPr lang="en-US" sz="2800" dirty="0" smtClean="0"/>
          </a:p>
          <a:p>
            <a:r>
              <a:rPr lang="en-US" sz="2800" dirty="0" smtClean="0"/>
              <a:t>Metabolomics</a:t>
            </a:r>
            <a:endParaRPr lang="en-US" sz="2800" dirty="0"/>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21193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Pritam\Desktop\Picture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5014" y="1270744"/>
            <a:ext cx="6509441" cy="54424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 y="114379"/>
            <a:ext cx="10287286" cy="1077218"/>
          </a:xfrm>
          <a:prstGeom prst="rect">
            <a:avLst/>
          </a:prstGeom>
        </p:spPr>
        <p:txBody>
          <a:bodyPr wrap="square">
            <a:spAutoFit/>
          </a:bodyPr>
          <a:lstStyle/>
          <a:p>
            <a:pPr algn="ctr"/>
            <a:r>
              <a:rPr lang="en-US" sz="3200" b="1" dirty="0" smtClean="0"/>
              <a:t>Bioinformatics is a tool that bridges cross </a:t>
            </a:r>
            <a:r>
              <a:rPr lang="en-US" sz="3200" b="1" dirty="0" err="1" smtClean="0"/>
              <a:t>omic</a:t>
            </a:r>
            <a:r>
              <a:rPr lang="en-US" sz="3200" b="1" dirty="0"/>
              <a:t> (inter- &amp; intra-) </a:t>
            </a:r>
            <a:r>
              <a:rPr lang="en-US" sz="3200" b="1" dirty="0" smtClean="0"/>
              <a:t>domains</a:t>
            </a:r>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33831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Rectangle 3"/>
          <p:cNvSpPr>
            <a:spLocks noChangeArrowheads="1"/>
          </p:cNvSpPr>
          <p:nvPr/>
        </p:nvSpPr>
        <p:spPr bwMode="auto">
          <a:xfrm>
            <a:off x="857250" y="1587500"/>
            <a:ext cx="862965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r>
              <a:rPr lang="en-GB">
                <a:solidFill>
                  <a:schemeClr val="tx2"/>
                </a:solidFill>
                <a:latin typeface="Arial" panose="020B0604020202020204" pitchFamily="34" charset="0"/>
              </a:rPr>
              <a:t>Bioinformatics = </a:t>
            </a:r>
          </a:p>
          <a:p>
            <a:pPr eaLnBrk="0" hangingPunct="0"/>
            <a:r>
              <a:rPr lang="en-GB">
                <a:solidFill>
                  <a:schemeClr val="tx2"/>
                </a:solidFill>
                <a:latin typeface="Arial" panose="020B0604020202020204" pitchFamily="34" charset="0"/>
              </a:rPr>
              <a:t>	</a:t>
            </a:r>
            <a:r>
              <a:rPr lang="en-GB" sz="2800">
                <a:solidFill>
                  <a:schemeClr val="tx2"/>
                </a:solidFill>
                <a:latin typeface="Arial" panose="020B0604020202020204" pitchFamily="34" charset="0"/>
              </a:rPr>
              <a:t>Data Mgmt + </a:t>
            </a:r>
          </a:p>
          <a:p>
            <a:pPr eaLnBrk="0" hangingPunct="0"/>
            <a:r>
              <a:rPr lang="en-GB" sz="2800">
                <a:solidFill>
                  <a:schemeClr val="tx2"/>
                </a:solidFill>
                <a:latin typeface="Arial" panose="020B0604020202020204" pitchFamily="34" charset="0"/>
              </a:rPr>
              <a:t>         </a:t>
            </a:r>
            <a:r>
              <a:rPr lang="en-GB" sz="2800">
                <a:solidFill>
                  <a:srgbClr val="FF0000"/>
                </a:solidFill>
                <a:latin typeface="Arial" panose="020B0604020202020204" pitchFamily="34" charset="0"/>
              </a:rPr>
              <a:t>Knowledge Discovery</a:t>
            </a:r>
            <a:r>
              <a:rPr lang="en-GB" sz="2800">
                <a:solidFill>
                  <a:schemeClr val="tx2"/>
                </a:solidFill>
                <a:latin typeface="Arial" panose="020B0604020202020204" pitchFamily="34" charset="0"/>
              </a:rPr>
              <a:t> +</a:t>
            </a:r>
          </a:p>
          <a:p>
            <a:pPr eaLnBrk="0" hangingPunct="0"/>
            <a:r>
              <a:rPr lang="en-GB" sz="2800">
                <a:solidFill>
                  <a:schemeClr val="tx2"/>
                </a:solidFill>
                <a:latin typeface="Arial" panose="020B0604020202020204" pitchFamily="34" charset="0"/>
              </a:rPr>
              <a:t>         </a:t>
            </a:r>
            <a:r>
              <a:rPr lang="en-GB" sz="2800">
                <a:solidFill>
                  <a:srgbClr val="FF0000"/>
                </a:solidFill>
                <a:latin typeface="Arial" panose="020B0604020202020204" pitchFamily="34" charset="0"/>
              </a:rPr>
              <a:t>Sequence Analysis</a:t>
            </a:r>
            <a:r>
              <a:rPr lang="en-GB" sz="2800">
                <a:solidFill>
                  <a:schemeClr val="tx2"/>
                </a:solidFill>
                <a:latin typeface="Arial" panose="020B0604020202020204" pitchFamily="34" charset="0"/>
              </a:rPr>
              <a:t> + </a:t>
            </a:r>
          </a:p>
          <a:p>
            <a:pPr eaLnBrk="0" hangingPunct="0"/>
            <a:r>
              <a:rPr lang="en-GB" sz="2800">
                <a:solidFill>
                  <a:schemeClr val="tx2"/>
                </a:solidFill>
                <a:latin typeface="Arial" panose="020B0604020202020204" pitchFamily="34" charset="0"/>
              </a:rPr>
              <a:t>         Physical Modelling + ….</a:t>
            </a:r>
          </a:p>
          <a:p>
            <a:pPr eaLnBrk="0" hangingPunct="0">
              <a:lnSpc>
                <a:spcPct val="35000"/>
              </a:lnSpc>
            </a:pPr>
            <a:endParaRPr lang="en-GB">
              <a:solidFill>
                <a:schemeClr val="tx2"/>
              </a:solidFill>
              <a:latin typeface="Arial" panose="020B0604020202020204" pitchFamily="34" charset="0"/>
            </a:endParaRPr>
          </a:p>
          <a:p>
            <a:pPr eaLnBrk="0" hangingPunct="0">
              <a:lnSpc>
                <a:spcPct val="35000"/>
              </a:lnSpc>
            </a:pPr>
            <a:endParaRPr lang="en-GB">
              <a:solidFill>
                <a:schemeClr val="tx2"/>
              </a:solidFill>
              <a:latin typeface="Arial" panose="020B0604020202020204" pitchFamily="34" charset="0"/>
            </a:endParaRPr>
          </a:p>
          <a:p>
            <a:pPr eaLnBrk="0" hangingPunct="0"/>
            <a:r>
              <a:rPr lang="en-GB">
                <a:solidFill>
                  <a:schemeClr val="tx2"/>
                </a:solidFill>
                <a:latin typeface="Arial" panose="020B0604020202020204" pitchFamily="34" charset="0"/>
              </a:rPr>
              <a:t>Knowledge Discovery = </a:t>
            </a:r>
          </a:p>
          <a:p>
            <a:pPr eaLnBrk="0" hangingPunct="0"/>
            <a:r>
              <a:rPr lang="en-GB">
                <a:solidFill>
                  <a:schemeClr val="tx2"/>
                </a:solidFill>
                <a:latin typeface="Arial" panose="020B0604020202020204" pitchFamily="34" charset="0"/>
              </a:rPr>
              <a:t>	</a:t>
            </a:r>
            <a:r>
              <a:rPr lang="en-GB" sz="2800">
                <a:solidFill>
                  <a:schemeClr val="tx2"/>
                </a:solidFill>
                <a:latin typeface="Arial" panose="020B0604020202020204" pitchFamily="34" charset="0"/>
              </a:rPr>
              <a:t>Statistics + Algorithms + Databases</a:t>
            </a:r>
            <a:endParaRPr lang="en-GB">
              <a:solidFill>
                <a:schemeClr val="tx2"/>
              </a:solidFill>
              <a:latin typeface="Arial" panose="020B0604020202020204" pitchFamily="34" charset="0"/>
            </a:endParaRPr>
          </a:p>
        </p:txBody>
      </p:sp>
      <p:sp>
        <p:nvSpPr>
          <p:cNvPr id="5" name="Rectangle 4"/>
          <p:cNvSpPr/>
          <p:nvPr/>
        </p:nvSpPr>
        <p:spPr>
          <a:xfrm>
            <a:off x="0" y="24019"/>
            <a:ext cx="5356018" cy="584775"/>
          </a:xfrm>
          <a:prstGeom prst="rect">
            <a:avLst/>
          </a:prstGeom>
        </p:spPr>
        <p:txBody>
          <a:bodyPr wrap="none">
            <a:spAutoFit/>
          </a:bodyPr>
          <a:lstStyle/>
          <a:p>
            <a:r>
              <a:rPr lang="en-US" sz="3200" b="1" dirty="0" smtClean="0"/>
              <a:t>Components of Bioinformatics</a:t>
            </a:r>
            <a:endParaRPr lang="en-US" sz="2800" dirty="0"/>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67676330"/>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Bioinformatics- Introduction and Applications"/>
          <p:cNvPicPr>
            <a:picLocks noChangeAspect="1" noChangeArrowheads="1"/>
          </p:cNvPicPr>
          <p:nvPr/>
        </p:nvPicPr>
        <p:blipFill rotWithShape="1">
          <a:blip r:embed="rId2">
            <a:extLst>
              <a:ext uri="{28A0092B-C50C-407E-A947-70E740481C1C}">
                <a14:useLocalDpi xmlns:a14="http://schemas.microsoft.com/office/drawing/2010/main" val="0"/>
              </a:ext>
            </a:extLst>
          </a:blip>
          <a:srcRect r="38236"/>
          <a:stretch/>
        </p:blipFill>
        <p:spPr bwMode="auto">
          <a:xfrm>
            <a:off x="1819743" y="887245"/>
            <a:ext cx="6648058" cy="565091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0" y="24019"/>
            <a:ext cx="5356018" cy="584775"/>
          </a:xfrm>
          <a:prstGeom prst="rect">
            <a:avLst/>
          </a:prstGeom>
        </p:spPr>
        <p:txBody>
          <a:bodyPr wrap="none">
            <a:spAutoFit/>
          </a:bodyPr>
          <a:lstStyle/>
          <a:p>
            <a:r>
              <a:rPr lang="en-US" sz="3200" b="1" dirty="0" smtClean="0"/>
              <a:t>Components of Bioinformatics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64359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19" y="704491"/>
            <a:ext cx="9971913" cy="4654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5356018" cy="584775"/>
          </a:xfrm>
          <a:prstGeom prst="rect">
            <a:avLst/>
          </a:prstGeom>
        </p:spPr>
        <p:txBody>
          <a:bodyPr wrap="none">
            <a:spAutoFit/>
          </a:bodyPr>
          <a:lstStyle/>
          <a:p>
            <a:r>
              <a:rPr lang="en-US" sz="3200" b="1" dirty="0" smtClean="0"/>
              <a:t>Components of Bioinformatics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80506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6343" y="247872"/>
            <a:ext cx="6874203" cy="661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2753"/>
            <a:ext cx="4415183" cy="584775"/>
          </a:xfrm>
          <a:prstGeom prst="rect">
            <a:avLst/>
          </a:prstGeom>
          <a:solidFill>
            <a:srgbClr val="FFC000"/>
          </a:solidFill>
        </p:spPr>
        <p:txBody>
          <a:bodyPr wrap="none">
            <a:spAutoFit/>
          </a:bodyPr>
          <a:lstStyle/>
          <a:p>
            <a:r>
              <a:rPr lang="en-US" sz="3200" b="1" dirty="0" smtClean="0"/>
              <a:t>History of Bioinformatics</a:t>
            </a:r>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3979650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64309" y="535849"/>
            <a:ext cx="9919035" cy="5554012"/>
            <a:chOff x="264309" y="238125"/>
            <a:chExt cx="9919035" cy="5554012"/>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475" y="238125"/>
              <a:ext cx="9915869" cy="3940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09" y="3917865"/>
              <a:ext cx="9919035" cy="187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97779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a:xfrm>
            <a:off x="3242193" y="28575"/>
            <a:ext cx="4148137" cy="446088"/>
          </a:xfrm>
        </p:spPr>
        <p:txBody>
          <a:bodyPr>
            <a:normAutofit fontScale="90000"/>
          </a:bodyPr>
          <a:lstStyle/>
          <a:p>
            <a:pPr algn="ctr"/>
            <a:r>
              <a:rPr lang="en-US" sz="2800"/>
              <a:t>Bioinformatics history</a:t>
            </a:r>
          </a:p>
        </p:txBody>
      </p:sp>
      <p:pic>
        <p:nvPicPr>
          <p:cNvPr id="4" name="Picture 4" descr="Mainframe"/>
          <p:cNvPicPr>
            <a:picLocks noChangeAspect="1" noChangeArrowheads="1"/>
          </p:cNvPicPr>
          <p:nvPr/>
        </p:nvPicPr>
        <p:blipFill>
          <a:blip r:embed="rId2" cstate="print">
            <a:lum bright="6000" contrast="18000"/>
          </a:blip>
          <a:srcRect/>
          <a:stretch>
            <a:fillRect/>
          </a:stretch>
        </p:blipFill>
        <p:spPr>
          <a:xfrm>
            <a:off x="4603257" y="1049338"/>
            <a:ext cx="4924425" cy="3319462"/>
          </a:xfrm>
          <a:prstGeom prst="rect">
            <a:avLst/>
          </a:prstGeom>
          <a:ln/>
        </p:spPr>
      </p:pic>
      <p:sp>
        <p:nvSpPr>
          <p:cNvPr id="5" name="Text Box 5"/>
          <p:cNvSpPr txBox="1">
            <a:spLocks noChangeArrowheads="1"/>
          </p:cNvSpPr>
          <p:nvPr/>
        </p:nvSpPr>
        <p:spPr bwMode="auto">
          <a:xfrm>
            <a:off x="5857436" y="3895725"/>
            <a:ext cx="2260491" cy="400110"/>
          </a:xfrm>
          <a:prstGeom prst="rect">
            <a:avLst/>
          </a:prstGeom>
          <a:noFill/>
          <a:ln w="9525">
            <a:noFill/>
            <a:miter lim="800000"/>
            <a:headEnd/>
            <a:tailEnd/>
          </a:ln>
          <a:effectLst/>
        </p:spPr>
        <p:txBody>
          <a:bodyPr wrap="none">
            <a:spAutoFit/>
          </a:bodyPr>
          <a:lstStyle/>
          <a:p>
            <a:pPr algn="ctr"/>
            <a:r>
              <a:rPr lang="en-US" sz="2000"/>
              <a:t>IBM 7090 computer</a:t>
            </a:r>
          </a:p>
        </p:txBody>
      </p:sp>
      <p:sp>
        <p:nvSpPr>
          <p:cNvPr id="6" name="Line 6"/>
          <p:cNvSpPr>
            <a:spLocks noChangeShapeType="1"/>
          </p:cNvSpPr>
          <p:nvPr/>
        </p:nvSpPr>
        <p:spPr bwMode="auto">
          <a:xfrm>
            <a:off x="574182" y="565150"/>
            <a:ext cx="9144000" cy="0"/>
          </a:xfrm>
          <a:prstGeom prst="line">
            <a:avLst/>
          </a:prstGeom>
          <a:noFill/>
          <a:ln w="57150" cmpd="thickThin">
            <a:solidFill>
              <a:schemeClr val="tx1"/>
            </a:solidFill>
            <a:round/>
            <a:headEnd/>
            <a:tailEnd/>
          </a:ln>
        </p:spPr>
        <p:txBody>
          <a:bodyPr wrap="none" anchor="ctr"/>
          <a:lstStyle/>
          <a:p>
            <a:endParaRPr lang="en-US"/>
          </a:p>
        </p:txBody>
      </p:sp>
      <p:sp>
        <p:nvSpPr>
          <p:cNvPr id="7" name="Rectangle 7"/>
          <p:cNvSpPr>
            <a:spLocks noChangeArrowheads="1"/>
          </p:cNvSpPr>
          <p:nvPr/>
        </p:nvSpPr>
        <p:spPr bwMode="auto">
          <a:xfrm>
            <a:off x="666257" y="665163"/>
            <a:ext cx="5260975" cy="420687"/>
          </a:xfrm>
          <a:prstGeom prst="rect">
            <a:avLst/>
          </a:prstGeom>
          <a:noFill/>
          <a:ln w="9525">
            <a:noFill/>
            <a:miter lim="800000"/>
            <a:headEnd/>
            <a:tailEnd/>
          </a:ln>
        </p:spPr>
        <p:txBody>
          <a:bodyPr>
            <a:spAutoFit/>
          </a:bodyPr>
          <a:lstStyle/>
          <a:p>
            <a:pPr eaLnBrk="1" hangingPunct="1">
              <a:lnSpc>
                <a:spcPct val="90000"/>
              </a:lnSpc>
              <a:spcBef>
                <a:spcPct val="20000"/>
              </a:spcBef>
            </a:pPr>
            <a:r>
              <a:rPr lang="en-CA" sz="1600" b="1">
                <a:solidFill>
                  <a:srgbClr val="FA1113"/>
                </a:solidFill>
                <a:sym typeface="Webdings" pitchFamily="1" charset="2"/>
              </a:rPr>
              <a:t></a:t>
            </a:r>
            <a:r>
              <a:rPr lang="en-US"/>
              <a:t>In1960s: the birth of bioinformatics</a:t>
            </a:r>
            <a:endParaRPr lang="en-US" sz="2000"/>
          </a:p>
        </p:txBody>
      </p:sp>
      <p:sp>
        <p:nvSpPr>
          <p:cNvPr id="8" name="Rectangle 9"/>
          <p:cNvSpPr>
            <a:spLocks noChangeArrowheads="1"/>
          </p:cNvSpPr>
          <p:nvPr/>
        </p:nvSpPr>
        <p:spPr bwMode="auto">
          <a:xfrm>
            <a:off x="707532" y="4533900"/>
            <a:ext cx="7404100" cy="1111250"/>
          </a:xfrm>
          <a:prstGeom prst="rect">
            <a:avLst/>
          </a:prstGeom>
          <a:noFill/>
          <a:ln w="9525">
            <a:noFill/>
            <a:miter lim="800000"/>
            <a:headEnd/>
            <a:tailEnd/>
          </a:ln>
        </p:spPr>
        <p:txBody>
          <a:bodyPr>
            <a:spAutoFit/>
          </a:bodyPr>
          <a:lstStyle/>
          <a:p>
            <a:pPr eaLnBrk="1" hangingPunct="1">
              <a:spcBef>
                <a:spcPct val="20000"/>
              </a:spcBef>
            </a:pPr>
            <a:r>
              <a:rPr lang="en-CA" sz="1600" b="1">
                <a:solidFill>
                  <a:srgbClr val="FA1113"/>
                </a:solidFill>
                <a:sym typeface="Webdings" pitchFamily="1" charset="2"/>
              </a:rPr>
              <a:t></a:t>
            </a:r>
            <a:r>
              <a:rPr lang="en-US"/>
              <a:t>Margaret Oakley Dayhoff created:</a:t>
            </a:r>
          </a:p>
          <a:p>
            <a:pPr lvl="1" eaLnBrk="1" hangingPunct="1">
              <a:spcBef>
                <a:spcPct val="20000"/>
              </a:spcBef>
            </a:pPr>
            <a:r>
              <a:rPr lang="en-CA" sz="1200" b="1">
                <a:solidFill>
                  <a:schemeClr val="accent2"/>
                </a:solidFill>
                <a:sym typeface="Webdings" pitchFamily="1" charset="2"/>
              </a:rPr>
              <a:t>	</a:t>
            </a:r>
            <a:r>
              <a:rPr lang="en-US" sz="2000"/>
              <a:t>The first protein database</a:t>
            </a:r>
          </a:p>
          <a:p>
            <a:pPr lvl="1" eaLnBrk="1" hangingPunct="1">
              <a:lnSpc>
                <a:spcPct val="75000"/>
              </a:lnSpc>
              <a:spcBef>
                <a:spcPct val="20000"/>
              </a:spcBef>
            </a:pPr>
            <a:r>
              <a:rPr lang="en-CA" sz="1200" b="1">
                <a:solidFill>
                  <a:schemeClr val="accent2"/>
                </a:solidFill>
                <a:sym typeface="Webdings" pitchFamily="1" charset="2"/>
              </a:rPr>
              <a:t>	</a:t>
            </a:r>
            <a:r>
              <a:rPr lang="en-US" sz="2000"/>
              <a:t>The first program for sequence assembly</a:t>
            </a:r>
          </a:p>
        </p:txBody>
      </p:sp>
      <p:sp>
        <p:nvSpPr>
          <p:cNvPr id="9" name="Rectangle 10"/>
          <p:cNvSpPr>
            <a:spLocks noChangeArrowheads="1"/>
          </p:cNvSpPr>
          <p:nvPr/>
        </p:nvSpPr>
        <p:spPr bwMode="auto">
          <a:xfrm>
            <a:off x="690070" y="5797550"/>
            <a:ext cx="8970962" cy="762000"/>
          </a:xfrm>
          <a:prstGeom prst="rect">
            <a:avLst/>
          </a:prstGeom>
          <a:noFill/>
          <a:ln w="9525">
            <a:noFill/>
            <a:miter lim="800000"/>
            <a:headEnd/>
            <a:tailEnd/>
          </a:ln>
        </p:spPr>
        <p:txBody>
          <a:bodyPr>
            <a:spAutoFit/>
          </a:bodyPr>
          <a:lstStyle/>
          <a:p>
            <a:r>
              <a:rPr lang="en-CA" sz="1600" b="1">
                <a:solidFill>
                  <a:srgbClr val="FA1113"/>
                </a:solidFill>
                <a:sym typeface="Webdings" pitchFamily="1" charset="2"/>
              </a:rPr>
              <a:t></a:t>
            </a:r>
            <a:r>
              <a:rPr lang="en-US" sz="2200"/>
              <a:t>There is a need for </a:t>
            </a:r>
            <a:r>
              <a:rPr lang="en-US" sz="2200" u="sng"/>
              <a:t>computers</a:t>
            </a:r>
            <a:r>
              <a:rPr lang="en-US" sz="2200"/>
              <a:t> and </a:t>
            </a:r>
            <a:r>
              <a:rPr lang="en-US" sz="2200" u="sng"/>
              <a:t>algorithms</a:t>
            </a:r>
            <a:r>
              <a:rPr lang="en-US" sz="2200"/>
              <a:t> that allow:</a:t>
            </a:r>
          </a:p>
          <a:p>
            <a:r>
              <a:rPr lang="en-US" sz="2200"/>
              <a:t> </a:t>
            </a:r>
            <a:r>
              <a:rPr lang="en-US" sz="2000"/>
              <a:t>  </a:t>
            </a:r>
            <a:r>
              <a:rPr lang="en-US" sz="2000" i="1">
                <a:solidFill>
                  <a:schemeClr val="accent2"/>
                </a:solidFill>
              </a:rPr>
              <a:t>Access, processing, storing, sharing, retrieving, visualizing, annotating…</a:t>
            </a:r>
          </a:p>
        </p:txBody>
      </p:sp>
      <p:sp>
        <p:nvSpPr>
          <p:cNvPr id="10" name="Rectangle 9"/>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90927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8" y="3737012"/>
            <a:ext cx="10056463" cy="2536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3992" y="374687"/>
            <a:ext cx="7496175" cy="336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20555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Branches of Bioinformatics</a:t>
            </a: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68064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341" y="280285"/>
            <a:ext cx="9913456" cy="590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46659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Routine pipe-line for structural bioinformatics analysis of protein...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36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6148" y="598158"/>
            <a:ext cx="7252463" cy="6249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0" y="24019"/>
            <a:ext cx="4555671" cy="584775"/>
          </a:xfrm>
          <a:prstGeom prst="rect">
            <a:avLst/>
          </a:prstGeom>
        </p:spPr>
        <p:txBody>
          <a:bodyPr wrap="none">
            <a:spAutoFit/>
          </a:bodyPr>
          <a:lstStyle/>
          <a:p>
            <a:r>
              <a:rPr lang="en-US" sz="3200" b="1" dirty="0" smtClean="0"/>
              <a:t>Structural Bioinformatics</a:t>
            </a:r>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799338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2081" y="1752824"/>
            <a:ext cx="4635374" cy="3785652"/>
          </a:xfrm>
          <a:prstGeom prst="rect">
            <a:avLst/>
          </a:prstGeom>
        </p:spPr>
        <p:txBody>
          <a:bodyPr wrap="square">
            <a:spAutoFit/>
          </a:bodyPr>
          <a:lstStyle/>
          <a:p>
            <a:pPr algn="just"/>
            <a:r>
              <a:rPr lang="en-US" sz="2000" dirty="0" smtClean="0"/>
              <a:t>“</a:t>
            </a:r>
            <a:r>
              <a:rPr lang="en-US" sz="2000" b="1" dirty="0" smtClean="0"/>
              <a:t>Bioinformatics</a:t>
            </a:r>
            <a:r>
              <a:rPr lang="en-US" sz="2000" dirty="0" smtClean="0"/>
              <a:t> is the </a:t>
            </a:r>
            <a:r>
              <a:rPr lang="en-US" sz="2000" dirty="0"/>
              <a:t>collection, classification, storage, and analysis of biochemical and biological information using computers especially as applied to molecular genetics and genomics.” (Merriam-Webster)</a:t>
            </a:r>
          </a:p>
          <a:p>
            <a:pPr algn="just"/>
            <a:endParaRPr lang="en-US" sz="2000" dirty="0" smtClean="0"/>
          </a:p>
          <a:p>
            <a:pPr algn="just"/>
            <a:r>
              <a:rPr lang="en-US" sz="2000" dirty="0" smtClean="0"/>
              <a:t>"</a:t>
            </a:r>
            <a:r>
              <a:rPr lang="en-US" sz="2000" b="1" dirty="0"/>
              <a:t>Bioinformatics</a:t>
            </a:r>
            <a:r>
              <a:rPr lang="en-US" sz="2000" dirty="0"/>
              <a:t> is the field of science in which biology, computer science, and information technology merge into a single </a:t>
            </a:r>
            <a:r>
              <a:rPr lang="en-US" sz="2000" dirty="0" smtClean="0"/>
              <a:t>discipline.” (</a:t>
            </a:r>
            <a:r>
              <a:rPr lang="en-US" sz="2000" b="1" dirty="0" smtClean="0"/>
              <a:t>NCBI</a:t>
            </a:r>
            <a:r>
              <a:rPr lang="en-US" sz="2000" dirty="0" smtClean="0"/>
              <a:t>)</a:t>
            </a:r>
          </a:p>
          <a:p>
            <a:pPr algn="just"/>
            <a:endParaRPr lang="en-US" sz="2000" dirty="0"/>
          </a:p>
        </p:txBody>
      </p:sp>
      <p:sp>
        <p:nvSpPr>
          <p:cNvPr id="3" name="Rectangle 2"/>
          <p:cNvSpPr/>
          <p:nvPr/>
        </p:nvSpPr>
        <p:spPr>
          <a:xfrm>
            <a:off x="420295" y="1752824"/>
            <a:ext cx="4287507" cy="4093428"/>
          </a:xfrm>
          <a:prstGeom prst="rect">
            <a:avLst/>
          </a:prstGeom>
        </p:spPr>
        <p:txBody>
          <a:bodyPr wrap="square">
            <a:spAutoFit/>
          </a:bodyPr>
          <a:lstStyle/>
          <a:p>
            <a:pPr algn="just"/>
            <a:r>
              <a:rPr lang="en-US" sz="2000" dirty="0"/>
              <a:t>“</a:t>
            </a:r>
            <a:r>
              <a:rPr lang="en-US" sz="2000" b="1" dirty="0"/>
              <a:t>Computational biology</a:t>
            </a:r>
            <a:r>
              <a:rPr lang="en-US" sz="2000" dirty="0"/>
              <a:t> is a discipline of biology concerned with the processes and patterns of biological evolution especially in relation to the diversity of organisms and how they change over time</a:t>
            </a:r>
            <a:r>
              <a:rPr lang="en-US" sz="2000" dirty="0" smtClean="0"/>
              <a:t>.” </a:t>
            </a:r>
            <a:r>
              <a:rPr lang="en-US" sz="2000" dirty="0"/>
              <a:t>(Merriam-Webster)</a:t>
            </a:r>
          </a:p>
          <a:p>
            <a:pPr algn="just"/>
            <a:endParaRPr lang="en-US" sz="2000" dirty="0"/>
          </a:p>
          <a:p>
            <a:pPr algn="just"/>
            <a:r>
              <a:rPr lang="en-US" sz="2000" dirty="0"/>
              <a:t>“</a:t>
            </a:r>
            <a:r>
              <a:rPr lang="en-US" sz="2000" b="1" dirty="0"/>
              <a:t>Computational biology</a:t>
            </a:r>
            <a:r>
              <a:rPr lang="en-US" sz="2000" dirty="0"/>
              <a:t> is theoretical, analytical, and applied computational approaches to a broad range of fundamental problems in molecular biology and medicine.” (</a:t>
            </a:r>
            <a:r>
              <a:rPr lang="en-US" sz="2000" b="1" dirty="0" smtClean="0"/>
              <a:t>NCBI</a:t>
            </a:r>
            <a:r>
              <a:rPr lang="en-US" sz="2000" dirty="0" smtClean="0"/>
              <a:t>)</a:t>
            </a:r>
            <a:endParaRPr lang="en-US" sz="2000" dirty="0"/>
          </a:p>
          <a:p>
            <a:pPr algn="just"/>
            <a:endParaRPr lang="en-US" sz="2000" dirty="0" smtClean="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
        <p:nvSpPr>
          <p:cNvPr id="6" name="Rectangle 5"/>
          <p:cNvSpPr/>
          <p:nvPr/>
        </p:nvSpPr>
        <p:spPr>
          <a:xfrm>
            <a:off x="6575953" y="1096439"/>
            <a:ext cx="2347630" cy="523220"/>
          </a:xfrm>
          <a:prstGeom prst="rect">
            <a:avLst/>
          </a:prstGeom>
        </p:spPr>
        <p:txBody>
          <a:bodyPr wrap="none">
            <a:spAutoFit/>
          </a:bodyPr>
          <a:lstStyle/>
          <a:p>
            <a:r>
              <a:rPr lang="en-US" sz="2800" b="1" dirty="0"/>
              <a:t>Bioinformatics</a:t>
            </a:r>
            <a:endParaRPr lang="en-US" sz="2800" dirty="0"/>
          </a:p>
        </p:txBody>
      </p:sp>
      <p:sp>
        <p:nvSpPr>
          <p:cNvPr id="7" name="Rectangle 6"/>
          <p:cNvSpPr/>
          <p:nvPr/>
        </p:nvSpPr>
        <p:spPr>
          <a:xfrm>
            <a:off x="769550" y="1096439"/>
            <a:ext cx="3588996" cy="523220"/>
          </a:xfrm>
          <a:prstGeom prst="rect">
            <a:avLst/>
          </a:prstGeom>
        </p:spPr>
        <p:txBody>
          <a:bodyPr wrap="none">
            <a:spAutoFit/>
          </a:bodyPr>
          <a:lstStyle/>
          <a:p>
            <a:r>
              <a:rPr lang="en-US" sz="2800" b="1" dirty="0" smtClean="0"/>
              <a:t>Computational Biology</a:t>
            </a:r>
            <a:endParaRPr lang="en-US" sz="2800" dirty="0"/>
          </a:p>
        </p:txBody>
      </p:sp>
      <p:sp>
        <p:nvSpPr>
          <p:cNvPr id="8" name="Rectangle 7"/>
          <p:cNvSpPr/>
          <p:nvPr/>
        </p:nvSpPr>
        <p:spPr>
          <a:xfrm>
            <a:off x="5441659" y="5719510"/>
            <a:ext cx="3023841" cy="461665"/>
          </a:xfrm>
          <a:prstGeom prst="rect">
            <a:avLst/>
          </a:prstGeom>
        </p:spPr>
        <p:txBody>
          <a:bodyPr wrap="none">
            <a:spAutoFit/>
          </a:bodyPr>
          <a:lstStyle/>
          <a:p>
            <a:r>
              <a:rPr lang="en-US" sz="2400" dirty="0">
                <a:solidFill>
                  <a:schemeClr val="hlink"/>
                </a:solidFill>
              </a:rPr>
              <a:t>Bioinformatics is a tool</a:t>
            </a:r>
          </a:p>
        </p:txBody>
      </p:sp>
      <p:sp>
        <p:nvSpPr>
          <p:cNvPr id="9" name="Rectangle 8"/>
          <p:cNvSpPr/>
          <p:nvPr/>
        </p:nvSpPr>
        <p:spPr>
          <a:xfrm>
            <a:off x="420295" y="5725377"/>
            <a:ext cx="4287507" cy="830997"/>
          </a:xfrm>
          <a:prstGeom prst="rect">
            <a:avLst/>
          </a:prstGeom>
        </p:spPr>
        <p:txBody>
          <a:bodyPr wrap="square">
            <a:spAutoFit/>
          </a:bodyPr>
          <a:lstStyle/>
          <a:p>
            <a:pPr algn="just"/>
            <a:r>
              <a:rPr lang="en-US" sz="2400" dirty="0" smtClean="0">
                <a:solidFill>
                  <a:schemeClr val="hlink"/>
                </a:solidFill>
              </a:rPr>
              <a:t>Computational biology </a:t>
            </a:r>
            <a:r>
              <a:rPr lang="en-US" sz="2400" dirty="0">
                <a:solidFill>
                  <a:schemeClr val="hlink"/>
                </a:solidFill>
              </a:rPr>
              <a:t>is a discipline</a:t>
            </a:r>
          </a:p>
        </p:txBody>
      </p:sp>
      <p:sp>
        <p:nvSpPr>
          <p:cNvPr id="10" name="Rectangle 9"/>
          <p:cNvSpPr/>
          <p:nvPr/>
        </p:nvSpPr>
        <p:spPr>
          <a:xfrm>
            <a:off x="0" y="24019"/>
            <a:ext cx="4237827" cy="584775"/>
          </a:xfrm>
          <a:prstGeom prst="rect">
            <a:avLst/>
          </a:prstGeom>
        </p:spPr>
        <p:txBody>
          <a:bodyPr wrap="none">
            <a:spAutoFit/>
          </a:bodyPr>
          <a:lstStyle/>
          <a:p>
            <a:r>
              <a:rPr lang="en-US" sz="3200" b="1" dirty="0" smtClean="0"/>
              <a:t>Computational Biology</a:t>
            </a:r>
            <a:endParaRPr lang="en-US" sz="2800" dirty="0"/>
          </a:p>
        </p:txBody>
      </p:sp>
    </p:spTree>
    <p:extLst>
      <p:ext uri="{BB962C8B-B14F-4D97-AF65-F5344CB8AC3E}">
        <p14:creationId xmlns:p14="http://schemas.microsoft.com/office/powerpoint/2010/main" val="8527685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3587" y="709448"/>
            <a:ext cx="8198068" cy="6148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4877874" cy="584775"/>
          </a:xfrm>
          <a:prstGeom prst="rect">
            <a:avLst/>
          </a:prstGeom>
        </p:spPr>
        <p:txBody>
          <a:bodyPr wrap="none">
            <a:spAutoFit/>
          </a:bodyPr>
          <a:lstStyle/>
          <a:p>
            <a:r>
              <a:rPr lang="en-US" sz="3200" b="1" dirty="0" smtClean="0"/>
              <a:t>Drug Designing &amp; Discovery</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3538259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891946"/>
            <a:ext cx="10287000" cy="5956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44509" y="901182"/>
            <a:ext cx="2752436" cy="5919874"/>
          </a:xfrm>
          <a:prstGeom prst="rect">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8600792" y="444447"/>
            <a:ext cx="718466" cy="461665"/>
          </a:xfrm>
          <a:prstGeom prst="rect">
            <a:avLst/>
          </a:prstGeom>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US" sz="2400" dirty="0" smtClean="0"/>
              <a:t>NGS</a:t>
            </a:r>
            <a:endParaRPr lang="en-US" sz="2400" dirty="0"/>
          </a:p>
        </p:txBody>
      </p:sp>
      <p:sp>
        <p:nvSpPr>
          <p:cNvPr id="7" name="Rectangle 6"/>
          <p:cNvSpPr/>
          <p:nvPr/>
        </p:nvSpPr>
        <p:spPr>
          <a:xfrm>
            <a:off x="0" y="24019"/>
            <a:ext cx="6484276" cy="584775"/>
          </a:xfrm>
          <a:prstGeom prst="rect">
            <a:avLst/>
          </a:prstGeom>
        </p:spPr>
        <p:txBody>
          <a:bodyPr wrap="none">
            <a:spAutoFit/>
          </a:bodyPr>
          <a:lstStyle/>
          <a:p>
            <a:r>
              <a:rPr lang="en-US" sz="3200" b="1" dirty="0" smtClean="0"/>
              <a:t>Evolution of Sequencing Technology</a:t>
            </a:r>
            <a:endParaRPr lang="en-US" sz="2800" dirty="0"/>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22025981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3"/>
          <p:cNvSpPr>
            <a:spLocks noChangeShapeType="1"/>
          </p:cNvSpPr>
          <p:nvPr/>
        </p:nvSpPr>
        <p:spPr bwMode="auto">
          <a:xfrm>
            <a:off x="478485" y="546100"/>
            <a:ext cx="9144000" cy="0"/>
          </a:xfrm>
          <a:prstGeom prst="line">
            <a:avLst/>
          </a:prstGeom>
          <a:noFill/>
          <a:ln w="57150" cmpd="thickThin">
            <a:solidFill>
              <a:schemeClr val="tx1"/>
            </a:solidFill>
            <a:round/>
            <a:headEnd/>
            <a:tailEnd/>
          </a:ln>
        </p:spPr>
        <p:txBody>
          <a:bodyPr wrap="none" anchor="ctr"/>
          <a:lstStyle/>
          <a:p>
            <a:endParaRPr lang="en-US"/>
          </a:p>
        </p:txBody>
      </p:sp>
      <p:sp>
        <p:nvSpPr>
          <p:cNvPr id="3" name="Rectangle 2"/>
          <p:cNvSpPr>
            <a:spLocks noChangeArrowheads="1"/>
          </p:cNvSpPr>
          <p:nvPr/>
        </p:nvSpPr>
        <p:spPr bwMode="auto">
          <a:xfrm>
            <a:off x="3087831" y="10274"/>
            <a:ext cx="4048288" cy="492443"/>
          </a:xfrm>
          <a:prstGeom prst="rect">
            <a:avLst/>
          </a:prstGeom>
          <a:noFill/>
          <a:ln w="9525">
            <a:noFill/>
            <a:miter lim="800000"/>
            <a:headEnd/>
            <a:tailEnd/>
          </a:ln>
        </p:spPr>
        <p:txBody>
          <a:bodyPr wrap="none">
            <a:spAutoFit/>
          </a:bodyPr>
          <a:lstStyle/>
          <a:p>
            <a:r>
              <a:rPr lang="en-US" sz="2600" dirty="0" smtClean="0"/>
              <a:t>Next Generation Sequencing</a:t>
            </a:r>
            <a:endParaRPr lang="en-US" sz="3000" dirty="0">
              <a:latin typeface="Tahoma" pitchFamily="1" charset="0"/>
            </a:endParaRP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35967" y="687638"/>
            <a:ext cx="6413643" cy="6098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4167854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Welcome to immense discovery p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9460"/>
            <a:ext cx="4661535" cy="585853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717438" y="1373926"/>
            <a:ext cx="5143500" cy="1569660"/>
          </a:xfrm>
          <a:prstGeom prst="rect">
            <a:avLst/>
          </a:prstGeom>
        </p:spPr>
        <p:txBody>
          <a:bodyPr>
            <a:spAutoFit/>
          </a:bodyPr>
          <a:lstStyle/>
          <a:p>
            <a:pPr marL="342900" indent="-342900">
              <a:buFont typeface="Wingdings" pitchFamily="2" charset="2"/>
              <a:buChar char="Ø"/>
            </a:pPr>
            <a:r>
              <a:rPr lang="en-US" sz="2400" dirty="0" smtClean="0"/>
              <a:t>Output </a:t>
            </a:r>
            <a:r>
              <a:rPr lang="en-US" sz="2400" dirty="0"/>
              <a:t>of up to 6 Tb and 20 </a:t>
            </a:r>
            <a:r>
              <a:rPr lang="en-US" sz="2400" dirty="0" smtClean="0"/>
              <a:t>B </a:t>
            </a:r>
            <a:r>
              <a:rPr lang="en-US" sz="2400" dirty="0"/>
              <a:t>reads in &lt; 2 days </a:t>
            </a:r>
            <a:endParaRPr lang="en-US" sz="2400" dirty="0" smtClean="0"/>
          </a:p>
          <a:p>
            <a:pPr marL="342900" indent="-342900">
              <a:buFont typeface="Wingdings" pitchFamily="2" charset="2"/>
              <a:buChar char="Ø"/>
            </a:pPr>
            <a:r>
              <a:rPr lang="en-US" sz="2400" dirty="0" smtClean="0"/>
              <a:t>Suitable for </a:t>
            </a:r>
            <a:r>
              <a:rPr lang="en-US" sz="2400" dirty="0"/>
              <a:t>Large Whole-Genome Sequencing (human, plant, animal</a:t>
            </a:r>
            <a:r>
              <a:rPr lang="en-US" sz="2400" dirty="0" smtClean="0"/>
              <a:t>)</a:t>
            </a:r>
            <a:endParaRPr lang="en-US" sz="2400" dirty="0"/>
          </a:p>
        </p:txBody>
      </p:sp>
      <p:sp>
        <p:nvSpPr>
          <p:cNvPr id="6" name="Rectangle 5"/>
          <p:cNvSpPr/>
          <p:nvPr/>
        </p:nvSpPr>
        <p:spPr>
          <a:xfrm>
            <a:off x="315241" y="316407"/>
            <a:ext cx="3883564" cy="584775"/>
          </a:xfrm>
          <a:prstGeom prst="rect">
            <a:avLst/>
          </a:prstGeom>
        </p:spPr>
        <p:txBody>
          <a:bodyPr wrap="none">
            <a:spAutoFit/>
          </a:bodyPr>
          <a:lstStyle/>
          <a:p>
            <a:r>
              <a:rPr lang="en-US" sz="3200" b="1" dirty="0" err="1" smtClean="0"/>
              <a:t>Illumina</a:t>
            </a:r>
            <a:r>
              <a:rPr lang="en-US" sz="3200" b="1" dirty="0" smtClean="0"/>
              <a:t> </a:t>
            </a:r>
            <a:r>
              <a:rPr lang="en-US" sz="3200" b="1" dirty="0" err="1" smtClean="0"/>
              <a:t>NovaSeq</a:t>
            </a:r>
            <a:r>
              <a:rPr lang="en-US" sz="3200" b="1" dirty="0" smtClean="0"/>
              <a:t> 600</a:t>
            </a:r>
            <a:endParaRPr lang="en-US" sz="2800" dirty="0"/>
          </a:p>
        </p:txBody>
      </p:sp>
      <p:sp>
        <p:nvSpPr>
          <p:cNvPr id="4" name="TextBox 3"/>
          <p:cNvSpPr txBox="1"/>
          <p:nvPr/>
        </p:nvSpPr>
        <p:spPr>
          <a:xfrm>
            <a:off x="4544840" y="3358852"/>
            <a:ext cx="5632953" cy="2862322"/>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2000" dirty="0" smtClean="0"/>
              <a:t>Human Genome Project (HGP)</a:t>
            </a:r>
          </a:p>
          <a:p>
            <a:pPr algn="ctr"/>
            <a:r>
              <a:rPr lang="en-US" sz="2000" dirty="0" smtClean="0"/>
              <a:t>Human Genome (Genetic Makeup): </a:t>
            </a:r>
          </a:p>
          <a:p>
            <a:pPr algn="ctr"/>
            <a:r>
              <a:rPr lang="en-US" sz="2000" dirty="0" smtClean="0"/>
              <a:t>0.00625 Tb that includes 6.4 B reads</a:t>
            </a:r>
          </a:p>
          <a:p>
            <a:pPr algn="ctr"/>
            <a:endParaRPr lang="en-US" sz="2000" dirty="0"/>
          </a:p>
          <a:p>
            <a:pPr algn="ctr"/>
            <a:r>
              <a:rPr lang="en-US" sz="2000" dirty="0" smtClean="0"/>
              <a:t>HGP uses Automated Sanger Method (2</a:t>
            </a:r>
            <a:r>
              <a:rPr lang="en-US" sz="2000" baseline="30000" dirty="0" smtClean="0"/>
              <a:t>nd</a:t>
            </a:r>
            <a:r>
              <a:rPr lang="en-US" sz="2000" dirty="0" smtClean="0"/>
              <a:t> Generation)</a:t>
            </a:r>
          </a:p>
          <a:p>
            <a:pPr algn="ctr"/>
            <a:r>
              <a:rPr lang="en-US" sz="2000" dirty="0" smtClean="0"/>
              <a:t>No of individual: 1 (RP11) 70% + </a:t>
            </a:r>
            <a:r>
              <a:rPr lang="en-US" sz="2000" dirty="0" err="1" smtClean="0"/>
              <a:t>HapMap</a:t>
            </a:r>
            <a:r>
              <a:rPr lang="en-US" sz="2000" dirty="0" smtClean="0"/>
              <a:t> from 270 individual</a:t>
            </a:r>
          </a:p>
          <a:p>
            <a:pPr algn="ctr"/>
            <a:r>
              <a:rPr lang="en-US" sz="2000" dirty="0" smtClean="0"/>
              <a:t>Time taken: 13 years</a:t>
            </a:r>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05039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633" y="593028"/>
            <a:ext cx="9126847" cy="6249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2838213" cy="584775"/>
          </a:xfrm>
          <a:prstGeom prst="rect">
            <a:avLst/>
          </a:prstGeom>
        </p:spPr>
        <p:txBody>
          <a:bodyPr wrap="none">
            <a:spAutoFit/>
          </a:bodyPr>
          <a:lstStyle/>
          <a:p>
            <a:r>
              <a:rPr lang="en-US" sz="3200" b="1" dirty="0" smtClean="0"/>
              <a:t>Analysis of NGS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916021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7650" y="380999"/>
            <a:ext cx="4995383" cy="6458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2529603" cy="584775"/>
          </a:xfrm>
          <a:prstGeom prst="rect">
            <a:avLst/>
          </a:prstGeom>
        </p:spPr>
        <p:txBody>
          <a:bodyPr wrap="none">
            <a:spAutoFit/>
          </a:bodyPr>
          <a:lstStyle/>
          <a:p>
            <a:r>
              <a:rPr lang="en-US" sz="3200" b="1" dirty="0" err="1" smtClean="0"/>
              <a:t>Phylogenetics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91816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5368" y="713895"/>
            <a:ext cx="6144105" cy="6144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0" y="24019"/>
            <a:ext cx="2529603" cy="584775"/>
          </a:xfrm>
          <a:prstGeom prst="rect">
            <a:avLst/>
          </a:prstGeom>
        </p:spPr>
        <p:txBody>
          <a:bodyPr wrap="none">
            <a:spAutoFit/>
          </a:bodyPr>
          <a:lstStyle/>
          <a:p>
            <a:r>
              <a:rPr lang="en-US" sz="3200" b="1" dirty="0" err="1" smtClean="0"/>
              <a:t>Phylogenetics</a:t>
            </a:r>
            <a:endParaRPr lang="en-US" sz="2800" dirty="0"/>
          </a:p>
        </p:txBody>
      </p:sp>
      <p:sp>
        <p:nvSpPr>
          <p:cNvPr id="6" name="Rectangle 5"/>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6362643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405" y="554479"/>
            <a:ext cx="6303521" cy="6303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6344237" cy="584775"/>
          </a:xfrm>
          <a:prstGeom prst="rect">
            <a:avLst/>
          </a:prstGeom>
        </p:spPr>
        <p:txBody>
          <a:bodyPr wrap="none">
            <a:spAutoFit/>
          </a:bodyPr>
          <a:lstStyle/>
          <a:p>
            <a:r>
              <a:rPr lang="en-US" sz="3200" b="1" dirty="0" smtClean="0"/>
              <a:t>Software &amp; Database Development</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solidFill>
                  <a:schemeClr val="accent6"/>
                </a:solidFill>
              </a:rPr>
              <a:t>© Dr</a:t>
            </a:r>
            <a:r>
              <a:rPr lang="en-US" dirty="0">
                <a:solidFill>
                  <a:schemeClr val="accent6"/>
                </a:solidFill>
              </a:rPr>
              <a:t>. </a:t>
            </a:r>
            <a:r>
              <a:rPr lang="en-US" dirty="0" err="1">
                <a:solidFill>
                  <a:schemeClr val="accent6"/>
                </a:solidFill>
              </a:rPr>
              <a:t>Pritam</a:t>
            </a:r>
            <a:r>
              <a:rPr lang="en-US" dirty="0">
                <a:solidFill>
                  <a:schemeClr val="accent6"/>
                </a:solidFill>
              </a:rPr>
              <a:t> </a:t>
            </a:r>
            <a:r>
              <a:rPr lang="en-US" dirty="0" err="1">
                <a:solidFill>
                  <a:schemeClr val="accent6"/>
                </a:solidFill>
              </a:rPr>
              <a:t>Chattopadhyay</a:t>
            </a:r>
            <a:endParaRPr lang="en-US" dirty="0">
              <a:solidFill>
                <a:schemeClr val="accent6"/>
              </a:solidFill>
            </a:endParaRPr>
          </a:p>
        </p:txBody>
      </p:sp>
    </p:spTree>
    <p:extLst>
      <p:ext uri="{BB962C8B-B14F-4D97-AF65-F5344CB8AC3E}">
        <p14:creationId xmlns:p14="http://schemas.microsoft.com/office/powerpoint/2010/main" val="32372978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253603"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Aim, Scope &amp; Research areas of Bioinformatics</a:t>
            </a: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969081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1128713"/>
            <a:ext cx="10210800"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0" y="24019"/>
            <a:ext cx="4015073" cy="584775"/>
          </a:xfrm>
          <a:prstGeom prst="rect">
            <a:avLst/>
          </a:prstGeom>
        </p:spPr>
        <p:txBody>
          <a:bodyPr wrap="none">
            <a:spAutoFit/>
          </a:bodyPr>
          <a:lstStyle/>
          <a:p>
            <a:r>
              <a:rPr lang="en-US" sz="3200" b="1" dirty="0" smtClean="0"/>
              <a:t>Aim of Bioinformatics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143260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5144" y="1041461"/>
            <a:ext cx="4939582" cy="4524315"/>
          </a:xfrm>
          <a:prstGeom prst="rect">
            <a:avLst/>
          </a:prstGeom>
        </p:spPr>
        <p:txBody>
          <a:bodyPr wrap="square">
            <a:spAutoFit/>
          </a:bodyPr>
          <a:lstStyle/>
          <a:p>
            <a:pPr algn="just"/>
            <a:r>
              <a:rPr lang="en-US" sz="2400" dirty="0"/>
              <a:t>First, at its simplest bioinformatics organizes data in a way that allows researchers to access existing information and to submit new entries as they are produced, </a:t>
            </a:r>
            <a:r>
              <a:rPr lang="en-US" sz="2400" dirty="0" err="1"/>
              <a:t>eg</a:t>
            </a:r>
            <a:r>
              <a:rPr lang="en-US" sz="2400" dirty="0"/>
              <a:t> the Protein Data Bank for 3D macromolecular structures. While data- </a:t>
            </a:r>
            <a:r>
              <a:rPr lang="en-US" sz="2400" dirty="0" err="1"/>
              <a:t>curation</a:t>
            </a:r>
            <a:r>
              <a:rPr lang="en-US" sz="2400" dirty="0"/>
              <a:t> is an essential task, the information stored in these databases is essentially useless until analyzed. Thus the purpose of bioinformatics extends much further.</a:t>
            </a:r>
          </a:p>
        </p:txBody>
      </p:sp>
      <p:pic>
        <p:nvPicPr>
          <p:cNvPr id="23554" name="Picture 2" descr="Bioinformatics Data Management - Profacge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38556"/>
          <a:stretch/>
        </p:blipFill>
        <p:spPr bwMode="auto">
          <a:xfrm>
            <a:off x="0" y="1041461"/>
            <a:ext cx="5225144" cy="514138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0" y="24019"/>
            <a:ext cx="5225277" cy="584775"/>
          </a:xfrm>
          <a:prstGeom prst="rect">
            <a:avLst/>
          </a:prstGeom>
        </p:spPr>
        <p:txBody>
          <a:bodyPr wrap="none">
            <a:spAutoFit/>
          </a:bodyPr>
          <a:lstStyle/>
          <a:p>
            <a:r>
              <a:rPr lang="en-US" sz="3200" b="1" dirty="0" smtClean="0"/>
              <a:t>Biological Data Management</a:t>
            </a:r>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59277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019"/>
            <a:ext cx="4338175" cy="584775"/>
          </a:xfrm>
          <a:prstGeom prst="rect">
            <a:avLst/>
          </a:prstGeom>
        </p:spPr>
        <p:txBody>
          <a:bodyPr wrap="none">
            <a:spAutoFit/>
          </a:bodyPr>
          <a:lstStyle/>
          <a:p>
            <a:r>
              <a:rPr lang="en-US" sz="3200" b="1" dirty="0" smtClean="0"/>
              <a:t>Biological Data Analysis</a:t>
            </a:r>
            <a:endParaRPr lang="en-US" sz="2800" dirty="0"/>
          </a:p>
        </p:txBody>
      </p:sp>
      <p:sp>
        <p:nvSpPr>
          <p:cNvPr id="3" name="Rectangle 2"/>
          <p:cNvSpPr/>
          <p:nvPr/>
        </p:nvSpPr>
        <p:spPr>
          <a:xfrm>
            <a:off x="5236402" y="945220"/>
            <a:ext cx="5050598" cy="5262979"/>
          </a:xfrm>
          <a:prstGeom prst="rect">
            <a:avLst/>
          </a:prstGeom>
        </p:spPr>
        <p:txBody>
          <a:bodyPr wrap="square">
            <a:spAutoFit/>
          </a:bodyPr>
          <a:lstStyle/>
          <a:p>
            <a:pPr algn="just"/>
            <a:r>
              <a:rPr lang="en-US" sz="2400" dirty="0"/>
              <a:t>The second aim is to develop tools and resources that aid in the analysis of data. For example, having sequenced a particular protein, it is of interest to compare it with previously characterized sequences. This needs more than just a simple text-based search and programs such as FASTA and PSI-BLAST must consider what comprises a biologically significant match. Development of such resources dictates expertise in computational theory as well as a thorough understanding of biology.</a:t>
            </a:r>
          </a:p>
        </p:txBody>
      </p:sp>
      <p:pic>
        <p:nvPicPr>
          <p:cNvPr id="266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675"/>
          <a:stretch/>
        </p:blipFill>
        <p:spPr bwMode="auto">
          <a:xfrm>
            <a:off x="0" y="956929"/>
            <a:ext cx="5236402" cy="441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499611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3968"/>
            <a:ext cx="10287000" cy="2308324"/>
          </a:xfrm>
          <a:prstGeom prst="rect">
            <a:avLst/>
          </a:prstGeom>
        </p:spPr>
        <p:txBody>
          <a:bodyPr wrap="square">
            <a:spAutoFit/>
          </a:bodyPr>
          <a:lstStyle/>
          <a:p>
            <a:pPr algn="just"/>
            <a:r>
              <a:rPr lang="en-US" sz="2400" dirty="0"/>
              <a:t>The third aim is to use these tools to analyze the data and interpret the results in a biologically meaningful manner. Traditionally, biological studies examined individual systems in detail, and frequently compared them with a few that are related. In bioinformatics, we can now conduct global analyses of all the available data with the aim of uncovering common principles that apply across many systems and highlight novel features.</a:t>
            </a:r>
          </a:p>
        </p:txBody>
      </p:sp>
      <p:sp>
        <p:nvSpPr>
          <p:cNvPr id="3" name="AutoShape 2" descr="Data interpretation pipeline. Example of DNA-seq Bioinformatics... |  Download Scientific Diagram"/>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76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00" y="2892292"/>
            <a:ext cx="809625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0" y="24019"/>
            <a:ext cx="5312032" cy="584775"/>
          </a:xfrm>
          <a:prstGeom prst="rect">
            <a:avLst/>
          </a:prstGeom>
        </p:spPr>
        <p:txBody>
          <a:bodyPr wrap="none">
            <a:spAutoFit/>
          </a:bodyPr>
          <a:lstStyle/>
          <a:p>
            <a:r>
              <a:rPr lang="en-US" sz="3200" b="1" dirty="0" smtClean="0"/>
              <a:t>Biological Data Interpretation</a:t>
            </a:r>
            <a:endParaRPr lang="en-US" sz="2800" dirty="0"/>
          </a:p>
        </p:txBody>
      </p:sp>
      <p:sp>
        <p:nvSpPr>
          <p:cNvPr id="4" name="Rectangle 3"/>
          <p:cNvSpPr/>
          <p:nvPr/>
        </p:nvSpPr>
        <p:spPr>
          <a:xfrm>
            <a:off x="8159750" y="2878599"/>
            <a:ext cx="2127250" cy="1477328"/>
          </a:xfrm>
          <a:prstGeom prst="rect">
            <a:avLst/>
          </a:prstGeom>
        </p:spPr>
        <p:txBody>
          <a:bodyPr wrap="square">
            <a:spAutoFit/>
          </a:bodyPr>
          <a:lstStyle/>
          <a:p>
            <a:r>
              <a:rPr lang="en-US" dirty="0"/>
              <a:t>Data interpretation pipeline. Example of DNA-</a:t>
            </a:r>
            <a:r>
              <a:rPr lang="en-US" dirty="0" err="1"/>
              <a:t>seq</a:t>
            </a:r>
            <a:r>
              <a:rPr lang="en-US" dirty="0"/>
              <a:t> Bioinformatics Pipeline for </a:t>
            </a:r>
            <a:r>
              <a:rPr lang="en-US" dirty="0" err="1"/>
              <a:t>Illumina</a:t>
            </a:r>
            <a:endParaRPr lang="en-US" dirty="0"/>
          </a:p>
        </p:txBody>
      </p:sp>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87705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4"/>
          <p:cNvSpPr>
            <a:spLocks noChangeArrowheads="1"/>
          </p:cNvSpPr>
          <p:nvPr/>
        </p:nvSpPr>
        <p:spPr bwMode="auto">
          <a:xfrm>
            <a:off x="4234296" y="3289766"/>
            <a:ext cx="1905000" cy="747713"/>
          </a:xfrm>
          <a:prstGeom prst="roundRect">
            <a:avLst>
              <a:gd name="adj" fmla="val 16667"/>
            </a:avLst>
          </a:prstGeom>
          <a:solidFill>
            <a:srgbClr val="FAECD2"/>
          </a:solidFill>
          <a:ln w="9525">
            <a:solidFill>
              <a:schemeClr val="tx1"/>
            </a:solidFill>
            <a:round/>
            <a:headEnd/>
            <a:tailEnd/>
          </a:ln>
        </p:spPr>
        <p:txBody>
          <a:bodyPr wrap="none" anchor="ctr"/>
          <a:lstStyle/>
          <a:p>
            <a:endParaRPr lang="en-US">
              <a:solidFill>
                <a:srgbClr val="C00000"/>
              </a:solidFill>
            </a:endParaRPr>
          </a:p>
        </p:txBody>
      </p:sp>
      <p:sp>
        <p:nvSpPr>
          <p:cNvPr id="3" name="Line 3"/>
          <p:cNvSpPr>
            <a:spLocks noChangeShapeType="1"/>
          </p:cNvSpPr>
          <p:nvPr/>
        </p:nvSpPr>
        <p:spPr bwMode="auto">
          <a:xfrm>
            <a:off x="659246" y="1081554"/>
            <a:ext cx="9144000" cy="0"/>
          </a:xfrm>
          <a:prstGeom prst="line">
            <a:avLst/>
          </a:prstGeom>
          <a:noFill/>
          <a:ln w="57150" cmpd="thickThin">
            <a:solidFill>
              <a:schemeClr val="tx1"/>
            </a:solidFill>
            <a:round/>
            <a:headEnd/>
            <a:tailEnd/>
          </a:ln>
        </p:spPr>
        <p:txBody>
          <a:bodyPr wrap="none" anchor="ctr"/>
          <a:lstStyle/>
          <a:p>
            <a:endParaRPr lang="en-US"/>
          </a:p>
        </p:txBody>
      </p:sp>
      <p:sp>
        <p:nvSpPr>
          <p:cNvPr id="4" name="Rectangle 4"/>
          <p:cNvSpPr>
            <a:spLocks noChangeArrowheads="1"/>
          </p:cNvSpPr>
          <p:nvPr/>
        </p:nvSpPr>
        <p:spPr bwMode="auto">
          <a:xfrm>
            <a:off x="3988234" y="3294529"/>
            <a:ext cx="2389187" cy="762000"/>
          </a:xfrm>
          <a:prstGeom prst="rect">
            <a:avLst/>
          </a:prstGeom>
          <a:noFill/>
          <a:ln w="9525">
            <a:noFill/>
            <a:miter lim="800000"/>
            <a:headEnd/>
            <a:tailEnd/>
          </a:ln>
        </p:spPr>
        <p:txBody>
          <a:bodyPr>
            <a:spAutoFit/>
          </a:bodyPr>
          <a:lstStyle/>
          <a:p>
            <a:pPr algn="ctr"/>
            <a:r>
              <a:rPr lang="en-US" sz="2200" dirty="0">
                <a:solidFill>
                  <a:srgbClr val="C00000"/>
                </a:solidFill>
              </a:rPr>
              <a:t>You have just cloned a gene</a:t>
            </a:r>
          </a:p>
        </p:txBody>
      </p:sp>
      <p:grpSp>
        <p:nvGrpSpPr>
          <p:cNvPr id="5" name="Group 38"/>
          <p:cNvGrpSpPr>
            <a:grpSpLocks/>
          </p:cNvGrpSpPr>
          <p:nvPr/>
        </p:nvGrpSpPr>
        <p:grpSpPr bwMode="auto">
          <a:xfrm>
            <a:off x="6390121" y="4859804"/>
            <a:ext cx="2878138" cy="1333500"/>
            <a:chOff x="3610" y="2983"/>
            <a:chExt cx="1813" cy="840"/>
          </a:xfrm>
        </p:grpSpPr>
        <p:sp>
          <p:nvSpPr>
            <p:cNvPr id="6" name="AutoShape 17"/>
            <p:cNvSpPr>
              <a:spLocks noChangeArrowheads="1"/>
            </p:cNvSpPr>
            <p:nvPr/>
          </p:nvSpPr>
          <p:spPr bwMode="auto">
            <a:xfrm rot="21582199" flipH="1">
              <a:off x="3610" y="3077"/>
              <a:ext cx="548" cy="207"/>
            </a:xfrm>
            <a:prstGeom prst="leftArrow">
              <a:avLst>
                <a:gd name="adj1" fmla="val 49759"/>
                <a:gd name="adj2" fmla="val 112561"/>
              </a:avLst>
            </a:prstGeom>
            <a:solidFill>
              <a:srgbClr val="FABF14"/>
            </a:solidFill>
            <a:ln w="9525">
              <a:solidFill>
                <a:schemeClr val="tx1"/>
              </a:solidFill>
              <a:miter lim="800000"/>
              <a:headEnd/>
              <a:tailEnd/>
            </a:ln>
          </p:spPr>
          <p:txBody>
            <a:bodyPr wrap="none" anchor="ctr"/>
            <a:lstStyle/>
            <a:p>
              <a:endParaRPr lang="en-US"/>
            </a:p>
          </p:txBody>
        </p:sp>
        <p:grpSp>
          <p:nvGrpSpPr>
            <p:cNvPr id="7" name="Group 36"/>
            <p:cNvGrpSpPr>
              <a:grpSpLocks/>
            </p:cNvGrpSpPr>
            <p:nvPr/>
          </p:nvGrpSpPr>
          <p:grpSpPr bwMode="auto">
            <a:xfrm>
              <a:off x="4180" y="2983"/>
              <a:ext cx="1243" cy="840"/>
              <a:chOff x="4180" y="2929"/>
              <a:chExt cx="1243" cy="840"/>
            </a:xfrm>
          </p:grpSpPr>
          <p:sp>
            <p:nvSpPr>
              <p:cNvPr id="8" name="Rectangle 18"/>
              <p:cNvSpPr>
                <a:spLocks noChangeArrowheads="1"/>
              </p:cNvSpPr>
              <p:nvPr/>
            </p:nvSpPr>
            <p:spPr bwMode="auto">
              <a:xfrm>
                <a:off x="4259" y="2950"/>
                <a:ext cx="906" cy="394"/>
              </a:xfrm>
              <a:prstGeom prst="rect">
                <a:avLst/>
              </a:prstGeom>
              <a:solidFill>
                <a:srgbClr val="F7B5FA"/>
              </a:solidFill>
              <a:ln w="9525">
                <a:solidFill>
                  <a:schemeClr val="tx1"/>
                </a:solidFill>
                <a:miter lim="800000"/>
                <a:headEnd/>
                <a:tailEnd/>
              </a:ln>
            </p:spPr>
            <p:txBody>
              <a:bodyPr wrap="none" anchor="ctr"/>
              <a:lstStyle/>
              <a:p>
                <a:endParaRPr lang="en-US"/>
              </a:p>
            </p:txBody>
          </p:sp>
          <p:sp>
            <p:nvSpPr>
              <p:cNvPr id="9" name="Rectangle 19"/>
              <p:cNvSpPr>
                <a:spLocks noChangeArrowheads="1"/>
              </p:cNvSpPr>
              <p:nvPr/>
            </p:nvSpPr>
            <p:spPr bwMode="auto">
              <a:xfrm>
                <a:off x="4206" y="2929"/>
                <a:ext cx="1034" cy="404"/>
              </a:xfrm>
              <a:prstGeom prst="rect">
                <a:avLst/>
              </a:prstGeom>
              <a:noFill/>
              <a:ln w="9525">
                <a:noFill/>
                <a:miter lim="800000"/>
                <a:headEnd/>
                <a:tailEnd/>
              </a:ln>
            </p:spPr>
            <p:txBody>
              <a:bodyPr>
                <a:spAutoFit/>
              </a:bodyPr>
              <a:lstStyle/>
              <a:p>
                <a:pPr algn="ctr"/>
                <a:r>
                  <a:rPr lang="en-US" sz="1800"/>
                  <a:t>Evolutionary relationship?</a:t>
                </a:r>
              </a:p>
            </p:txBody>
          </p:sp>
          <p:sp>
            <p:nvSpPr>
              <p:cNvPr id="10" name="Rectangle 20"/>
              <p:cNvSpPr>
                <a:spLocks noChangeArrowheads="1"/>
              </p:cNvSpPr>
              <p:nvPr/>
            </p:nvSpPr>
            <p:spPr bwMode="auto">
              <a:xfrm>
                <a:off x="4180" y="3365"/>
                <a:ext cx="1243" cy="404"/>
              </a:xfrm>
              <a:prstGeom prst="rect">
                <a:avLst/>
              </a:prstGeom>
              <a:noFill/>
              <a:ln w="9525">
                <a:noFill/>
                <a:miter lim="800000"/>
                <a:headEnd/>
                <a:tailEnd/>
              </a:ln>
            </p:spPr>
            <p:txBody>
              <a:bodyPr>
                <a:spAutoFit/>
              </a:bodyPr>
              <a:lstStyle/>
              <a:p>
                <a:r>
                  <a:rPr lang="en-US" sz="1800" i="1">
                    <a:solidFill>
                      <a:srgbClr val="F91402"/>
                    </a:solidFill>
                  </a:rPr>
                  <a:t>-Phylogenetic tree</a:t>
                </a:r>
              </a:p>
            </p:txBody>
          </p:sp>
        </p:grpSp>
      </p:grpSp>
      <p:grpSp>
        <p:nvGrpSpPr>
          <p:cNvPr id="11" name="Group 32"/>
          <p:cNvGrpSpPr>
            <a:grpSpLocks/>
          </p:cNvGrpSpPr>
          <p:nvPr/>
        </p:nvGrpSpPr>
        <p:grpSpPr bwMode="auto">
          <a:xfrm>
            <a:off x="4067609" y="1122829"/>
            <a:ext cx="2160587" cy="2111375"/>
            <a:chOff x="2147" y="629"/>
            <a:chExt cx="1361" cy="1330"/>
          </a:xfrm>
        </p:grpSpPr>
        <p:sp>
          <p:nvSpPr>
            <p:cNvPr id="12" name="AutoShape 13"/>
            <p:cNvSpPr>
              <a:spLocks noChangeArrowheads="1"/>
            </p:cNvSpPr>
            <p:nvPr/>
          </p:nvSpPr>
          <p:spPr bwMode="auto">
            <a:xfrm rot="5421506">
              <a:off x="2606" y="1620"/>
              <a:ext cx="471" cy="207"/>
            </a:xfrm>
            <a:prstGeom prst="leftArrow">
              <a:avLst>
                <a:gd name="adj1" fmla="val 49759"/>
                <a:gd name="adj2" fmla="val 96745"/>
              </a:avLst>
            </a:prstGeom>
            <a:solidFill>
              <a:srgbClr val="FABF14"/>
            </a:solidFill>
            <a:ln w="9525">
              <a:solidFill>
                <a:schemeClr val="tx1"/>
              </a:solidFill>
              <a:miter lim="800000"/>
              <a:headEnd/>
              <a:tailEnd/>
            </a:ln>
          </p:spPr>
          <p:txBody>
            <a:bodyPr wrap="none" anchor="ctr"/>
            <a:lstStyle/>
            <a:p>
              <a:endParaRPr lang="en-US"/>
            </a:p>
          </p:txBody>
        </p:sp>
        <p:grpSp>
          <p:nvGrpSpPr>
            <p:cNvPr id="13" name="Group 31"/>
            <p:cNvGrpSpPr>
              <a:grpSpLocks/>
            </p:cNvGrpSpPr>
            <p:nvPr/>
          </p:nvGrpSpPr>
          <p:grpSpPr bwMode="auto">
            <a:xfrm>
              <a:off x="2147" y="629"/>
              <a:ext cx="1361" cy="794"/>
              <a:chOff x="2147" y="629"/>
              <a:chExt cx="1361" cy="794"/>
            </a:xfrm>
          </p:grpSpPr>
          <p:sp>
            <p:nvSpPr>
              <p:cNvPr id="14" name="Rectangle 5"/>
              <p:cNvSpPr>
                <a:spLocks noChangeArrowheads="1"/>
              </p:cNvSpPr>
              <p:nvPr/>
            </p:nvSpPr>
            <p:spPr bwMode="auto">
              <a:xfrm>
                <a:off x="2256" y="1022"/>
                <a:ext cx="1144" cy="387"/>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15" name="Rectangle 6"/>
              <p:cNvSpPr>
                <a:spLocks noChangeArrowheads="1"/>
              </p:cNvSpPr>
              <p:nvPr/>
            </p:nvSpPr>
            <p:spPr bwMode="auto">
              <a:xfrm>
                <a:off x="2266" y="629"/>
                <a:ext cx="1116" cy="366"/>
              </a:xfrm>
              <a:prstGeom prst="rect">
                <a:avLst/>
              </a:prstGeom>
              <a:noFill/>
              <a:ln w="9525">
                <a:noFill/>
                <a:miter lim="800000"/>
                <a:headEnd/>
                <a:tailEnd/>
              </a:ln>
            </p:spPr>
            <p:txBody>
              <a:bodyPr>
                <a:spAutoFit/>
              </a:bodyPr>
              <a:lstStyle/>
              <a:p>
                <a:r>
                  <a:rPr lang="en-US" sz="1600" i="1">
                    <a:solidFill>
                      <a:srgbClr val="F91402"/>
                    </a:solidFill>
                  </a:rPr>
                  <a:t>-Accession #?</a:t>
                </a:r>
              </a:p>
              <a:p>
                <a:r>
                  <a:rPr lang="en-US" sz="1600" i="1">
                    <a:solidFill>
                      <a:srgbClr val="F91402"/>
                    </a:solidFill>
                  </a:rPr>
                  <a:t>-Annotation?</a:t>
                </a:r>
              </a:p>
            </p:txBody>
          </p:sp>
          <p:sp>
            <p:nvSpPr>
              <p:cNvPr id="16" name="Rectangle 25"/>
              <p:cNvSpPr>
                <a:spLocks noChangeArrowheads="1"/>
              </p:cNvSpPr>
              <p:nvPr/>
            </p:nvSpPr>
            <p:spPr bwMode="auto">
              <a:xfrm>
                <a:off x="2147" y="1019"/>
                <a:ext cx="1361" cy="404"/>
              </a:xfrm>
              <a:prstGeom prst="rect">
                <a:avLst/>
              </a:prstGeom>
              <a:noFill/>
              <a:ln w="9525">
                <a:noFill/>
                <a:miter lim="800000"/>
                <a:headEnd/>
                <a:tailEnd/>
              </a:ln>
            </p:spPr>
            <p:txBody>
              <a:bodyPr>
                <a:spAutoFit/>
              </a:bodyPr>
              <a:lstStyle/>
              <a:p>
                <a:pPr algn="ctr"/>
                <a:r>
                  <a:rPr lang="en-US" sz="1800"/>
                  <a:t>Is it already in databases? </a:t>
                </a:r>
              </a:p>
            </p:txBody>
          </p:sp>
        </p:grpSp>
      </p:grpSp>
      <p:grpSp>
        <p:nvGrpSpPr>
          <p:cNvPr id="17" name="Group 39"/>
          <p:cNvGrpSpPr>
            <a:grpSpLocks/>
          </p:cNvGrpSpPr>
          <p:nvPr/>
        </p:nvGrpSpPr>
        <p:grpSpPr bwMode="auto">
          <a:xfrm>
            <a:off x="1051359" y="2311866"/>
            <a:ext cx="3168650" cy="1562100"/>
            <a:chOff x="247" y="1378"/>
            <a:chExt cx="1996" cy="984"/>
          </a:xfrm>
        </p:grpSpPr>
        <p:sp>
          <p:nvSpPr>
            <p:cNvPr id="18" name="Rectangle 10"/>
            <p:cNvSpPr>
              <a:spLocks noChangeArrowheads="1"/>
            </p:cNvSpPr>
            <p:nvPr/>
          </p:nvSpPr>
          <p:spPr bwMode="auto">
            <a:xfrm>
              <a:off x="405" y="1387"/>
              <a:ext cx="1123" cy="381"/>
            </a:xfrm>
            <a:prstGeom prst="rect">
              <a:avLst/>
            </a:prstGeom>
            <a:solidFill>
              <a:srgbClr val="FAECD2"/>
            </a:solidFill>
            <a:ln w="9525">
              <a:solidFill>
                <a:schemeClr val="tx1"/>
              </a:solidFill>
              <a:miter lim="800000"/>
              <a:headEnd/>
              <a:tailEnd/>
            </a:ln>
          </p:spPr>
          <p:txBody>
            <a:bodyPr wrap="none" anchor="ctr"/>
            <a:lstStyle/>
            <a:p>
              <a:endParaRPr lang="en-US"/>
            </a:p>
          </p:txBody>
        </p:sp>
        <p:sp>
          <p:nvSpPr>
            <p:cNvPr id="19" name="Rectangle 11"/>
            <p:cNvSpPr>
              <a:spLocks noChangeArrowheads="1"/>
            </p:cNvSpPr>
            <p:nvPr/>
          </p:nvSpPr>
          <p:spPr bwMode="auto">
            <a:xfrm>
              <a:off x="445" y="1785"/>
              <a:ext cx="1218" cy="577"/>
            </a:xfrm>
            <a:prstGeom prst="rect">
              <a:avLst/>
            </a:prstGeom>
            <a:noFill/>
            <a:ln w="9525">
              <a:noFill/>
              <a:miter lim="800000"/>
              <a:headEnd/>
              <a:tailEnd/>
            </a:ln>
          </p:spPr>
          <p:txBody>
            <a:bodyPr>
              <a:spAutoFit/>
            </a:bodyPr>
            <a:lstStyle/>
            <a:p>
              <a:r>
                <a:rPr lang="en-US" sz="1800" i="1">
                  <a:solidFill>
                    <a:srgbClr val="F91402"/>
                  </a:solidFill>
                </a:rPr>
                <a:t>-Sub-localization</a:t>
              </a:r>
            </a:p>
            <a:p>
              <a:r>
                <a:rPr lang="en-US" sz="1800" i="1">
                  <a:solidFill>
                    <a:srgbClr val="F91402"/>
                  </a:solidFill>
                </a:rPr>
                <a:t>-Soluble?</a:t>
              </a:r>
            </a:p>
            <a:p>
              <a:r>
                <a:rPr lang="en-US" sz="1800" i="1">
                  <a:solidFill>
                    <a:srgbClr val="F91402"/>
                  </a:solidFill>
                </a:rPr>
                <a:t>-3D fold</a:t>
              </a:r>
            </a:p>
          </p:txBody>
        </p:sp>
        <p:sp>
          <p:nvSpPr>
            <p:cNvPr id="20" name="Rectangle 12"/>
            <p:cNvSpPr>
              <a:spLocks noChangeArrowheads="1"/>
            </p:cNvSpPr>
            <p:nvPr/>
          </p:nvSpPr>
          <p:spPr bwMode="auto">
            <a:xfrm>
              <a:off x="247" y="1378"/>
              <a:ext cx="1426" cy="404"/>
            </a:xfrm>
            <a:prstGeom prst="rect">
              <a:avLst/>
            </a:prstGeom>
            <a:noFill/>
            <a:ln w="9525">
              <a:noFill/>
              <a:miter lim="800000"/>
              <a:headEnd/>
              <a:tailEnd/>
            </a:ln>
          </p:spPr>
          <p:txBody>
            <a:bodyPr>
              <a:spAutoFit/>
            </a:bodyPr>
            <a:lstStyle/>
            <a:p>
              <a:pPr algn="ctr"/>
              <a:r>
                <a:rPr lang="en-US" sz="1800" dirty="0">
                  <a:solidFill>
                    <a:schemeClr val="accent4">
                      <a:lumMod val="75000"/>
                    </a:schemeClr>
                  </a:solidFill>
                </a:rPr>
                <a:t>Protein characteristics?</a:t>
              </a:r>
            </a:p>
          </p:txBody>
        </p:sp>
        <p:sp>
          <p:nvSpPr>
            <p:cNvPr id="21" name="AutoShape 26"/>
            <p:cNvSpPr>
              <a:spLocks noChangeArrowheads="1"/>
            </p:cNvSpPr>
            <p:nvPr/>
          </p:nvSpPr>
          <p:spPr bwMode="auto">
            <a:xfrm rot="1276424">
              <a:off x="1695" y="1830"/>
              <a:ext cx="548" cy="207"/>
            </a:xfrm>
            <a:prstGeom prst="leftArrow">
              <a:avLst>
                <a:gd name="adj1" fmla="val 49759"/>
                <a:gd name="adj2" fmla="val 112561"/>
              </a:avLst>
            </a:prstGeom>
            <a:solidFill>
              <a:srgbClr val="FABF14"/>
            </a:solidFill>
            <a:ln w="9525">
              <a:solidFill>
                <a:schemeClr val="tx1"/>
              </a:solidFill>
              <a:miter lim="800000"/>
              <a:headEnd/>
              <a:tailEnd/>
            </a:ln>
          </p:spPr>
          <p:txBody>
            <a:bodyPr wrap="none" anchor="ctr"/>
            <a:lstStyle/>
            <a:p>
              <a:endParaRPr lang="en-US"/>
            </a:p>
          </p:txBody>
        </p:sp>
      </p:grpSp>
      <p:grpSp>
        <p:nvGrpSpPr>
          <p:cNvPr id="22" name="Group 34"/>
          <p:cNvGrpSpPr>
            <a:grpSpLocks/>
          </p:cNvGrpSpPr>
          <p:nvPr/>
        </p:nvGrpSpPr>
        <p:grpSpPr bwMode="auto">
          <a:xfrm>
            <a:off x="4394634" y="4083516"/>
            <a:ext cx="2428875" cy="2320925"/>
            <a:chOff x="2335" y="2494"/>
            <a:chExt cx="1530" cy="1462"/>
          </a:xfrm>
        </p:grpSpPr>
        <p:sp>
          <p:nvSpPr>
            <p:cNvPr id="23" name="AutoShape 22"/>
            <p:cNvSpPr>
              <a:spLocks noChangeArrowheads="1"/>
            </p:cNvSpPr>
            <p:nvPr/>
          </p:nvSpPr>
          <p:spPr bwMode="auto">
            <a:xfrm rot="16178494" flipV="1">
              <a:off x="2607" y="2626"/>
              <a:ext cx="471" cy="207"/>
            </a:xfrm>
            <a:prstGeom prst="leftArrow">
              <a:avLst>
                <a:gd name="adj1" fmla="val 49759"/>
                <a:gd name="adj2" fmla="val 96745"/>
              </a:avLst>
            </a:prstGeom>
            <a:solidFill>
              <a:srgbClr val="FABF14"/>
            </a:solidFill>
            <a:ln w="9525">
              <a:solidFill>
                <a:schemeClr val="tx1"/>
              </a:solidFill>
              <a:miter lim="800000"/>
              <a:headEnd/>
              <a:tailEnd/>
            </a:ln>
          </p:spPr>
          <p:txBody>
            <a:bodyPr wrap="none" anchor="ctr"/>
            <a:lstStyle/>
            <a:p>
              <a:endParaRPr lang="en-US"/>
            </a:p>
          </p:txBody>
        </p:sp>
        <p:grpSp>
          <p:nvGrpSpPr>
            <p:cNvPr id="24" name="Group 33"/>
            <p:cNvGrpSpPr>
              <a:grpSpLocks/>
            </p:cNvGrpSpPr>
            <p:nvPr/>
          </p:nvGrpSpPr>
          <p:grpSpPr bwMode="auto">
            <a:xfrm>
              <a:off x="2335" y="3002"/>
              <a:ext cx="1530" cy="954"/>
              <a:chOff x="2335" y="2900"/>
              <a:chExt cx="1530" cy="954"/>
            </a:xfrm>
          </p:grpSpPr>
          <p:sp>
            <p:nvSpPr>
              <p:cNvPr id="25" name="Rectangle 16"/>
              <p:cNvSpPr>
                <a:spLocks noChangeArrowheads="1"/>
              </p:cNvSpPr>
              <p:nvPr/>
            </p:nvSpPr>
            <p:spPr bwMode="auto">
              <a:xfrm>
                <a:off x="2495" y="3334"/>
                <a:ext cx="1370" cy="520"/>
              </a:xfrm>
              <a:prstGeom prst="rect">
                <a:avLst/>
              </a:prstGeom>
              <a:noFill/>
              <a:ln w="9525">
                <a:noFill/>
                <a:miter lim="800000"/>
                <a:headEnd/>
                <a:tailEnd/>
              </a:ln>
            </p:spPr>
            <p:txBody>
              <a:bodyPr>
                <a:spAutoFit/>
              </a:bodyPr>
              <a:lstStyle/>
              <a:p>
                <a:r>
                  <a:rPr lang="en-US" sz="1600" i="1">
                    <a:solidFill>
                      <a:srgbClr val="F91402"/>
                    </a:solidFill>
                  </a:rPr>
                  <a:t>-% identity?</a:t>
                </a:r>
              </a:p>
              <a:p>
                <a:r>
                  <a:rPr lang="en-US" sz="1600" i="1">
                    <a:solidFill>
                      <a:srgbClr val="F91402"/>
                    </a:solidFill>
                  </a:rPr>
                  <a:t>-Family member?</a:t>
                </a:r>
              </a:p>
              <a:p>
                <a:endParaRPr lang="en-US" sz="1600" i="1">
                  <a:solidFill>
                    <a:srgbClr val="F91402"/>
                  </a:solidFill>
                </a:endParaRPr>
              </a:p>
            </p:txBody>
          </p:sp>
          <p:sp>
            <p:nvSpPr>
              <p:cNvPr id="26" name="Rectangle 27"/>
              <p:cNvSpPr>
                <a:spLocks noChangeArrowheads="1"/>
              </p:cNvSpPr>
              <p:nvPr/>
            </p:nvSpPr>
            <p:spPr bwMode="auto">
              <a:xfrm>
                <a:off x="2345" y="2901"/>
                <a:ext cx="1144" cy="387"/>
              </a:xfrm>
              <a:prstGeom prst="rect">
                <a:avLst/>
              </a:prstGeom>
              <a:solidFill>
                <a:srgbClr val="B5F300"/>
              </a:solidFill>
              <a:ln w="9525">
                <a:solidFill>
                  <a:schemeClr val="tx1"/>
                </a:solidFill>
                <a:miter lim="800000"/>
                <a:headEnd/>
                <a:tailEnd/>
              </a:ln>
            </p:spPr>
            <p:txBody>
              <a:bodyPr wrap="none" anchor="ctr"/>
              <a:lstStyle/>
              <a:p>
                <a:endParaRPr lang="en-US"/>
              </a:p>
            </p:txBody>
          </p:sp>
          <p:sp>
            <p:nvSpPr>
              <p:cNvPr id="27" name="Rectangle 15"/>
              <p:cNvSpPr>
                <a:spLocks noChangeArrowheads="1"/>
              </p:cNvSpPr>
              <p:nvPr/>
            </p:nvSpPr>
            <p:spPr bwMode="auto">
              <a:xfrm>
                <a:off x="2335" y="2900"/>
                <a:ext cx="1173" cy="404"/>
              </a:xfrm>
              <a:prstGeom prst="rect">
                <a:avLst/>
              </a:prstGeom>
              <a:noFill/>
              <a:ln w="9525">
                <a:noFill/>
                <a:miter lim="800000"/>
                <a:headEnd/>
                <a:tailEnd/>
              </a:ln>
            </p:spPr>
            <p:txBody>
              <a:bodyPr>
                <a:spAutoFit/>
              </a:bodyPr>
              <a:lstStyle/>
              <a:p>
                <a:pPr algn="ctr"/>
                <a:r>
                  <a:rPr lang="en-US" sz="1800"/>
                  <a:t>Is there similar sequences?</a:t>
                </a:r>
              </a:p>
            </p:txBody>
          </p:sp>
        </p:grpSp>
      </p:grpSp>
      <p:grpSp>
        <p:nvGrpSpPr>
          <p:cNvPr id="28" name="Group 37"/>
          <p:cNvGrpSpPr>
            <a:grpSpLocks/>
          </p:cNvGrpSpPr>
          <p:nvPr/>
        </p:nvGrpSpPr>
        <p:grpSpPr bwMode="auto">
          <a:xfrm>
            <a:off x="1186296" y="4929654"/>
            <a:ext cx="3032125" cy="1250950"/>
            <a:chOff x="332" y="3027"/>
            <a:chExt cx="1910" cy="788"/>
          </a:xfrm>
        </p:grpSpPr>
        <p:sp>
          <p:nvSpPr>
            <p:cNvPr id="29" name="AutoShape 21"/>
            <p:cNvSpPr>
              <a:spLocks noChangeArrowheads="1"/>
            </p:cNvSpPr>
            <p:nvPr/>
          </p:nvSpPr>
          <p:spPr bwMode="auto">
            <a:xfrm rot="17801">
              <a:off x="1694" y="3096"/>
              <a:ext cx="548" cy="207"/>
            </a:xfrm>
            <a:prstGeom prst="leftArrow">
              <a:avLst>
                <a:gd name="adj1" fmla="val 49759"/>
                <a:gd name="adj2" fmla="val 112561"/>
              </a:avLst>
            </a:prstGeom>
            <a:solidFill>
              <a:srgbClr val="FABF14"/>
            </a:solidFill>
            <a:ln w="9525">
              <a:solidFill>
                <a:schemeClr val="tx1"/>
              </a:solidFill>
              <a:miter lim="800000"/>
              <a:headEnd/>
              <a:tailEnd/>
            </a:ln>
          </p:spPr>
          <p:txBody>
            <a:bodyPr wrap="none" anchor="ctr"/>
            <a:lstStyle/>
            <a:p>
              <a:endParaRPr lang="en-US"/>
            </a:p>
          </p:txBody>
        </p:sp>
        <p:grpSp>
          <p:nvGrpSpPr>
            <p:cNvPr id="30" name="Group 35"/>
            <p:cNvGrpSpPr>
              <a:grpSpLocks/>
            </p:cNvGrpSpPr>
            <p:nvPr/>
          </p:nvGrpSpPr>
          <p:grpSpPr bwMode="auto">
            <a:xfrm>
              <a:off x="332" y="3027"/>
              <a:ext cx="1367" cy="788"/>
              <a:chOff x="332" y="3027"/>
              <a:chExt cx="1367" cy="788"/>
            </a:xfrm>
          </p:grpSpPr>
          <p:sp>
            <p:nvSpPr>
              <p:cNvPr id="31" name="Rectangle 28"/>
              <p:cNvSpPr>
                <a:spLocks noChangeArrowheads="1"/>
              </p:cNvSpPr>
              <p:nvPr/>
            </p:nvSpPr>
            <p:spPr bwMode="auto">
              <a:xfrm>
                <a:off x="556" y="3411"/>
                <a:ext cx="956" cy="404"/>
              </a:xfrm>
              <a:prstGeom prst="rect">
                <a:avLst/>
              </a:prstGeom>
              <a:noFill/>
              <a:ln w="9525">
                <a:noFill/>
                <a:miter lim="800000"/>
                <a:headEnd/>
                <a:tailEnd/>
              </a:ln>
            </p:spPr>
            <p:txBody>
              <a:bodyPr wrap="none">
                <a:spAutoFit/>
              </a:bodyPr>
              <a:lstStyle/>
              <a:p>
                <a:r>
                  <a:rPr lang="en-US" sz="1800" i="1">
                    <a:solidFill>
                      <a:srgbClr val="F91402"/>
                    </a:solidFill>
                  </a:rPr>
                  <a:t>-Alignments?</a:t>
                </a:r>
              </a:p>
              <a:p>
                <a:r>
                  <a:rPr lang="en-US" sz="1800" i="1">
                    <a:solidFill>
                      <a:srgbClr val="F91402"/>
                    </a:solidFill>
                  </a:rPr>
                  <a:t>-Domains?</a:t>
                </a:r>
              </a:p>
            </p:txBody>
          </p:sp>
          <p:sp>
            <p:nvSpPr>
              <p:cNvPr id="32" name="Rectangle 29"/>
              <p:cNvSpPr>
                <a:spLocks noChangeArrowheads="1"/>
              </p:cNvSpPr>
              <p:nvPr/>
            </p:nvSpPr>
            <p:spPr bwMode="auto">
              <a:xfrm>
                <a:off x="403" y="3042"/>
                <a:ext cx="1208" cy="387"/>
              </a:xfrm>
              <a:prstGeom prst="rect">
                <a:avLst/>
              </a:prstGeom>
              <a:solidFill>
                <a:srgbClr val="C2C2C2"/>
              </a:solidFill>
              <a:ln w="9525">
                <a:solidFill>
                  <a:schemeClr val="tx1"/>
                </a:solidFill>
                <a:miter lim="800000"/>
                <a:headEnd/>
                <a:tailEnd/>
              </a:ln>
            </p:spPr>
            <p:txBody>
              <a:bodyPr wrap="none" anchor="ctr"/>
              <a:lstStyle/>
              <a:p>
                <a:endParaRPr lang="en-US"/>
              </a:p>
            </p:txBody>
          </p:sp>
          <p:sp>
            <p:nvSpPr>
              <p:cNvPr id="33" name="Rectangle 30"/>
              <p:cNvSpPr>
                <a:spLocks noChangeArrowheads="1"/>
              </p:cNvSpPr>
              <p:nvPr/>
            </p:nvSpPr>
            <p:spPr bwMode="auto">
              <a:xfrm>
                <a:off x="332" y="3027"/>
                <a:ext cx="1367" cy="404"/>
              </a:xfrm>
              <a:prstGeom prst="rect">
                <a:avLst/>
              </a:prstGeom>
              <a:noFill/>
              <a:ln w="9525">
                <a:noFill/>
                <a:miter lim="800000"/>
                <a:headEnd/>
                <a:tailEnd/>
              </a:ln>
            </p:spPr>
            <p:txBody>
              <a:bodyPr>
                <a:spAutoFit/>
              </a:bodyPr>
              <a:lstStyle/>
              <a:p>
                <a:pPr algn="ctr"/>
                <a:r>
                  <a:rPr lang="en-US" sz="1800"/>
                  <a:t>Is there conserved regions? </a:t>
                </a:r>
              </a:p>
            </p:txBody>
          </p:sp>
        </p:grpSp>
      </p:grpSp>
      <p:grpSp>
        <p:nvGrpSpPr>
          <p:cNvPr id="34" name="Group 44"/>
          <p:cNvGrpSpPr>
            <a:grpSpLocks/>
          </p:cNvGrpSpPr>
          <p:nvPr/>
        </p:nvGrpSpPr>
        <p:grpSpPr bwMode="auto">
          <a:xfrm>
            <a:off x="6158346" y="2311866"/>
            <a:ext cx="2990850" cy="1233488"/>
            <a:chOff x="3464" y="1378"/>
            <a:chExt cx="1884" cy="777"/>
          </a:xfrm>
        </p:grpSpPr>
        <p:sp>
          <p:nvSpPr>
            <p:cNvPr id="35" name="Rectangle 40"/>
            <p:cNvSpPr>
              <a:spLocks noChangeArrowheads="1"/>
            </p:cNvSpPr>
            <p:nvPr/>
          </p:nvSpPr>
          <p:spPr bwMode="auto">
            <a:xfrm>
              <a:off x="4118" y="1378"/>
              <a:ext cx="1136" cy="393"/>
            </a:xfrm>
            <a:prstGeom prst="rect">
              <a:avLst/>
            </a:prstGeom>
            <a:solidFill>
              <a:srgbClr val="8AF4BD"/>
            </a:solidFill>
            <a:ln w="9525">
              <a:solidFill>
                <a:schemeClr val="tx1"/>
              </a:solidFill>
              <a:miter lim="800000"/>
              <a:headEnd/>
              <a:tailEnd/>
            </a:ln>
          </p:spPr>
          <p:txBody>
            <a:bodyPr wrap="none" anchor="ctr"/>
            <a:lstStyle/>
            <a:p>
              <a:endParaRPr lang="en-US"/>
            </a:p>
          </p:txBody>
        </p:sp>
        <p:sp>
          <p:nvSpPr>
            <p:cNvPr id="36" name="Rectangle 7"/>
            <p:cNvSpPr>
              <a:spLocks noChangeArrowheads="1"/>
            </p:cNvSpPr>
            <p:nvPr/>
          </p:nvSpPr>
          <p:spPr bwMode="auto">
            <a:xfrm>
              <a:off x="4198" y="1387"/>
              <a:ext cx="979" cy="404"/>
            </a:xfrm>
            <a:prstGeom prst="rect">
              <a:avLst/>
            </a:prstGeom>
            <a:noFill/>
            <a:ln w="9525">
              <a:noFill/>
              <a:miter lim="800000"/>
              <a:headEnd/>
              <a:tailEnd/>
            </a:ln>
          </p:spPr>
          <p:txBody>
            <a:bodyPr>
              <a:spAutoFit/>
            </a:bodyPr>
            <a:lstStyle/>
            <a:p>
              <a:pPr algn="ctr"/>
              <a:r>
                <a:rPr lang="en-US" sz="1800"/>
                <a:t>Other information? </a:t>
              </a:r>
            </a:p>
          </p:txBody>
        </p:sp>
        <p:sp>
          <p:nvSpPr>
            <p:cNvPr id="37" name="Rectangle 42"/>
            <p:cNvSpPr>
              <a:spLocks noChangeArrowheads="1"/>
            </p:cNvSpPr>
            <p:nvPr/>
          </p:nvSpPr>
          <p:spPr bwMode="auto">
            <a:xfrm>
              <a:off x="4101" y="1789"/>
              <a:ext cx="1247" cy="366"/>
            </a:xfrm>
            <a:prstGeom prst="rect">
              <a:avLst/>
            </a:prstGeom>
            <a:noFill/>
            <a:ln w="9525">
              <a:noFill/>
              <a:miter lim="800000"/>
              <a:headEnd/>
              <a:tailEnd/>
            </a:ln>
          </p:spPr>
          <p:txBody>
            <a:bodyPr wrap="none">
              <a:spAutoFit/>
            </a:bodyPr>
            <a:lstStyle/>
            <a:p>
              <a:r>
                <a:rPr lang="en-US" sz="1600" i="1">
                  <a:solidFill>
                    <a:srgbClr val="F91402"/>
                  </a:solidFill>
                </a:rPr>
                <a:t>-Expression profile?</a:t>
              </a:r>
            </a:p>
            <a:p>
              <a:r>
                <a:rPr lang="en-US" sz="1600" i="1">
                  <a:solidFill>
                    <a:srgbClr val="F91402"/>
                  </a:solidFill>
                </a:rPr>
                <a:t>-Mutants?</a:t>
              </a:r>
            </a:p>
          </p:txBody>
        </p:sp>
        <p:sp>
          <p:nvSpPr>
            <p:cNvPr id="38" name="AutoShape 43"/>
            <p:cNvSpPr>
              <a:spLocks noChangeArrowheads="1"/>
            </p:cNvSpPr>
            <p:nvPr/>
          </p:nvSpPr>
          <p:spPr bwMode="auto">
            <a:xfrm rot="-1103556">
              <a:off x="3464" y="1837"/>
              <a:ext cx="529" cy="226"/>
            </a:xfrm>
            <a:prstGeom prst="rightArrow">
              <a:avLst>
                <a:gd name="adj1" fmla="val 49556"/>
                <a:gd name="adj2" fmla="val 89825"/>
              </a:avLst>
            </a:prstGeom>
            <a:solidFill>
              <a:srgbClr val="FABF14"/>
            </a:solidFill>
            <a:ln w="9525">
              <a:solidFill>
                <a:schemeClr val="tx1"/>
              </a:solidFill>
              <a:miter lim="800000"/>
              <a:headEnd/>
              <a:tailEnd/>
            </a:ln>
          </p:spPr>
          <p:txBody>
            <a:bodyPr wrap="none" anchor="ctr"/>
            <a:lstStyle/>
            <a:p>
              <a:endParaRPr lang="en-US"/>
            </a:p>
          </p:txBody>
        </p:sp>
      </p:grpSp>
      <p:sp>
        <p:nvSpPr>
          <p:cNvPr id="39" name="Rectangle 45"/>
          <p:cNvSpPr>
            <a:spLocks noChangeArrowheads="1"/>
          </p:cNvSpPr>
          <p:nvPr/>
        </p:nvSpPr>
        <p:spPr bwMode="auto">
          <a:xfrm>
            <a:off x="954521" y="6182140"/>
            <a:ext cx="8689975" cy="701675"/>
          </a:xfrm>
          <a:prstGeom prst="rect">
            <a:avLst/>
          </a:prstGeom>
          <a:noFill/>
          <a:ln w="9525">
            <a:noFill/>
            <a:miter lim="800000"/>
            <a:headEnd/>
            <a:tailEnd/>
          </a:ln>
        </p:spPr>
        <p:txBody>
          <a:bodyPr>
            <a:spAutoFit/>
          </a:bodyPr>
          <a:lstStyle/>
          <a:p>
            <a:r>
              <a:rPr lang="en-CA" sz="1800" b="1" dirty="0">
                <a:solidFill>
                  <a:srgbClr val="FA1113"/>
                </a:solidFill>
                <a:sym typeface="Webdings" pitchFamily="1" charset="2"/>
              </a:rPr>
              <a:t></a:t>
            </a:r>
            <a:r>
              <a:rPr lang="en-US" sz="2000" dirty="0"/>
              <a:t>A critical failure of current bioinformatics is the lack of a </a:t>
            </a:r>
            <a:r>
              <a:rPr lang="en-US" sz="2000" u="sng" dirty="0"/>
              <a:t>single software</a:t>
            </a:r>
            <a:r>
              <a:rPr lang="en-US" sz="2000" dirty="0"/>
              <a:t> package that can perform all of these functions.</a:t>
            </a:r>
          </a:p>
        </p:txBody>
      </p:sp>
      <p:sp>
        <p:nvSpPr>
          <p:cNvPr id="40" name="Rectangle 46"/>
          <p:cNvSpPr>
            <a:spLocks noChangeArrowheads="1"/>
          </p:cNvSpPr>
          <p:nvPr/>
        </p:nvSpPr>
        <p:spPr bwMode="auto">
          <a:xfrm>
            <a:off x="1448234" y="556091"/>
            <a:ext cx="7629525" cy="503238"/>
          </a:xfrm>
          <a:prstGeom prst="rect">
            <a:avLst/>
          </a:prstGeom>
          <a:noFill/>
          <a:ln w="9525">
            <a:noFill/>
            <a:miter lim="800000"/>
            <a:headEnd/>
            <a:tailEnd/>
          </a:ln>
          <a:effectLst/>
        </p:spPr>
        <p:txBody>
          <a:bodyPr/>
          <a:lstStyle/>
          <a:p>
            <a:pPr marL="342900" indent="-342900" algn="ctr" eaLnBrk="1" hangingPunct="1">
              <a:spcBef>
                <a:spcPct val="20000"/>
              </a:spcBef>
            </a:pPr>
            <a:r>
              <a:rPr lang="en-US" sz="2600">
                <a:solidFill>
                  <a:schemeClr val="accent2"/>
                </a:solidFill>
              </a:rPr>
              <a:t>Applying algorithms to analyze genomics data</a:t>
            </a:r>
          </a:p>
        </p:txBody>
      </p:sp>
      <p:sp>
        <p:nvSpPr>
          <p:cNvPr id="41" name="Rectangle 40"/>
          <p:cNvSpPr/>
          <p:nvPr/>
        </p:nvSpPr>
        <p:spPr>
          <a:xfrm>
            <a:off x="0" y="24019"/>
            <a:ext cx="5312032" cy="584775"/>
          </a:xfrm>
          <a:prstGeom prst="rect">
            <a:avLst/>
          </a:prstGeom>
        </p:spPr>
        <p:txBody>
          <a:bodyPr wrap="none">
            <a:spAutoFit/>
          </a:bodyPr>
          <a:lstStyle/>
          <a:p>
            <a:r>
              <a:rPr lang="en-US" sz="3200" b="1" dirty="0" smtClean="0"/>
              <a:t>Biological Data Interpretation</a:t>
            </a:r>
            <a:endParaRPr lang="en-US" sz="2800" dirty="0"/>
          </a:p>
        </p:txBody>
      </p:sp>
      <p:sp>
        <p:nvSpPr>
          <p:cNvPr id="42" name="Rectangle 41"/>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93935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931" y="298827"/>
            <a:ext cx="5143500" cy="646331"/>
          </a:xfrm>
          <a:prstGeom prst="rect">
            <a:avLst/>
          </a:prstGeom>
        </p:spPr>
        <p:txBody>
          <a:bodyPr>
            <a:spAutoFit/>
          </a:bodyPr>
          <a:lstStyle/>
          <a:p>
            <a:endParaRPr lang="en-US" dirty="0"/>
          </a:p>
          <a:p>
            <a:r>
              <a:rPr lang="en-US" b="1" dirty="0"/>
              <a:t>Biological data integration </a:t>
            </a:r>
            <a:endParaRPr lang="en-US" dirty="0"/>
          </a:p>
        </p:txBody>
      </p:sp>
      <p:sp>
        <p:nvSpPr>
          <p:cNvPr id="3" name="Rectangle 2"/>
          <p:cNvSpPr/>
          <p:nvPr/>
        </p:nvSpPr>
        <p:spPr>
          <a:xfrm>
            <a:off x="4974719" y="3127103"/>
            <a:ext cx="5143500" cy="646331"/>
          </a:xfrm>
          <a:prstGeom prst="rect">
            <a:avLst/>
          </a:prstGeom>
        </p:spPr>
        <p:txBody>
          <a:bodyPr>
            <a:spAutoFit/>
          </a:bodyPr>
          <a:lstStyle/>
          <a:p>
            <a:endParaRPr lang="en-US" dirty="0"/>
          </a:p>
          <a:p>
            <a:r>
              <a:rPr lang="en-US" b="1" dirty="0"/>
              <a:t>Classification and supervised machine learning </a:t>
            </a:r>
            <a:endParaRPr lang="en-US" dirty="0"/>
          </a:p>
        </p:txBody>
      </p:sp>
      <p:sp>
        <p:nvSpPr>
          <p:cNvPr id="4" name="Rectangle 3"/>
          <p:cNvSpPr/>
          <p:nvPr/>
        </p:nvSpPr>
        <p:spPr>
          <a:xfrm>
            <a:off x="0" y="24019"/>
            <a:ext cx="5312032" cy="584775"/>
          </a:xfrm>
          <a:prstGeom prst="rect">
            <a:avLst/>
          </a:prstGeom>
        </p:spPr>
        <p:txBody>
          <a:bodyPr wrap="none">
            <a:spAutoFit/>
          </a:bodyPr>
          <a:lstStyle/>
          <a:p>
            <a:r>
              <a:rPr lang="en-US" sz="3200" b="1" dirty="0" smtClean="0"/>
              <a:t>Biological Data Interpretation</a:t>
            </a:r>
            <a:endParaRPr lang="en-US" sz="2800" dirty="0"/>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895" y="891993"/>
            <a:ext cx="4817878" cy="3058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3023" y="3802958"/>
            <a:ext cx="6033977" cy="30550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758310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3" name="Rectangle 2"/>
          <p:cNvSpPr txBox="1">
            <a:spLocks noChangeArrowheads="1"/>
          </p:cNvSpPr>
          <p:nvPr/>
        </p:nvSpPr>
        <p:spPr>
          <a:xfrm>
            <a:off x="1291881" y="909378"/>
            <a:ext cx="7772400" cy="403225"/>
          </a:xfrm>
          <a:prstGeom prst="rect">
            <a:avLst/>
          </a:prstGeom>
        </p:spPr>
        <p:txBody>
          <a:bodyPr/>
          <a:lst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2800" dirty="0" smtClean="0"/>
              <a:t>The Commercial Market</a:t>
            </a:r>
            <a:endParaRPr lang="en-US" sz="2800" dirty="0"/>
          </a:p>
        </p:txBody>
      </p:sp>
      <p:sp>
        <p:nvSpPr>
          <p:cNvPr id="4" name="Line 4"/>
          <p:cNvSpPr>
            <a:spLocks noChangeShapeType="1"/>
          </p:cNvSpPr>
          <p:nvPr/>
        </p:nvSpPr>
        <p:spPr bwMode="auto">
          <a:xfrm>
            <a:off x="606081" y="1426903"/>
            <a:ext cx="9144000" cy="0"/>
          </a:xfrm>
          <a:prstGeom prst="line">
            <a:avLst/>
          </a:prstGeom>
          <a:noFill/>
          <a:ln w="57150" cmpd="thickThin">
            <a:solidFill>
              <a:schemeClr val="tx1"/>
            </a:solidFill>
            <a:round/>
            <a:headEnd/>
            <a:tailEnd/>
          </a:ln>
        </p:spPr>
        <p:txBody>
          <a:bodyPr wrap="none" anchor="ctr"/>
          <a:lstStyle/>
          <a:p>
            <a:endParaRPr lang="en-US"/>
          </a:p>
        </p:txBody>
      </p:sp>
      <p:sp>
        <p:nvSpPr>
          <p:cNvPr id="5" name="Rectangle 5"/>
          <p:cNvSpPr>
            <a:spLocks noChangeArrowheads="1"/>
          </p:cNvSpPr>
          <p:nvPr/>
        </p:nvSpPr>
        <p:spPr bwMode="auto">
          <a:xfrm>
            <a:off x="895006" y="1518978"/>
            <a:ext cx="8156575" cy="369332"/>
          </a:xfrm>
          <a:prstGeom prst="rect">
            <a:avLst/>
          </a:prstGeom>
          <a:noFill/>
          <a:ln w="9525">
            <a:noFill/>
            <a:miter lim="800000"/>
            <a:headEnd/>
            <a:tailEnd/>
          </a:ln>
        </p:spPr>
        <p:txBody>
          <a:bodyPr>
            <a:spAutoFit/>
          </a:bodyPr>
          <a:lstStyle/>
          <a:p>
            <a:r>
              <a:rPr lang="en-CA" sz="1800" b="1" dirty="0">
                <a:solidFill>
                  <a:srgbClr val="FA1113"/>
                </a:solidFill>
                <a:sym typeface="Webdings" pitchFamily="1" charset="2"/>
              </a:rPr>
              <a:t></a:t>
            </a:r>
            <a:r>
              <a:rPr lang="en-US" dirty="0"/>
              <a:t>Current bioinformatics market is worth 300 million / </a:t>
            </a:r>
            <a:r>
              <a:rPr lang="en-US" dirty="0" smtClean="0"/>
              <a:t>year   </a:t>
            </a:r>
            <a:r>
              <a:rPr lang="en-US" dirty="0"/>
              <a:t>(Half software)</a:t>
            </a:r>
          </a:p>
        </p:txBody>
      </p:sp>
      <p:sp>
        <p:nvSpPr>
          <p:cNvPr id="6" name="Rectangle 6"/>
          <p:cNvSpPr>
            <a:spLocks noChangeArrowheads="1"/>
          </p:cNvSpPr>
          <p:nvPr/>
        </p:nvSpPr>
        <p:spPr bwMode="auto">
          <a:xfrm>
            <a:off x="893419" y="2638165"/>
            <a:ext cx="8591550" cy="457200"/>
          </a:xfrm>
          <a:prstGeom prst="rect">
            <a:avLst/>
          </a:prstGeom>
          <a:noFill/>
          <a:ln w="9525">
            <a:noFill/>
            <a:miter lim="800000"/>
            <a:headEnd/>
            <a:tailEnd/>
          </a:ln>
        </p:spPr>
        <p:txBody>
          <a:bodyPr>
            <a:spAutoFit/>
          </a:bodyPr>
          <a:lstStyle/>
          <a:p>
            <a:r>
              <a:rPr lang="en-CA" sz="1800" b="1">
                <a:solidFill>
                  <a:srgbClr val="FA1113"/>
                </a:solidFill>
                <a:sym typeface="Webdings" pitchFamily="1" charset="2"/>
              </a:rPr>
              <a:t></a:t>
            </a:r>
            <a:r>
              <a:rPr lang="en-US"/>
              <a:t>Prediction:</a:t>
            </a:r>
            <a:r>
              <a:rPr lang="en-CA" sz="1800" b="1">
                <a:solidFill>
                  <a:srgbClr val="FA1113"/>
                </a:solidFill>
                <a:sym typeface="Webdings" pitchFamily="1" charset="2"/>
              </a:rPr>
              <a:t> </a:t>
            </a:r>
            <a:r>
              <a:rPr lang="en-US"/>
              <a:t>$2 billion / year in 5-6 years</a:t>
            </a:r>
          </a:p>
        </p:txBody>
      </p:sp>
      <p:sp>
        <p:nvSpPr>
          <p:cNvPr id="7" name="Rectangle 9"/>
          <p:cNvSpPr>
            <a:spLocks noChangeArrowheads="1"/>
          </p:cNvSpPr>
          <p:nvPr/>
        </p:nvSpPr>
        <p:spPr bwMode="auto">
          <a:xfrm>
            <a:off x="893419" y="3512878"/>
            <a:ext cx="8856662" cy="2031325"/>
          </a:xfrm>
          <a:prstGeom prst="rect">
            <a:avLst/>
          </a:prstGeom>
          <a:noFill/>
          <a:ln w="9525">
            <a:noFill/>
            <a:miter lim="800000"/>
            <a:headEnd/>
            <a:tailEnd/>
          </a:ln>
        </p:spPr>
        <p:txBody>
          <a:bodyPr wrap="square">
            <a:spAutoFit/>
          </a:bodyPr>
          <a:lstStyle/>
          <a:p>
            <a:r>
              <a:rPr lang="en-CA" b="1" dirty="0">
                <a:solidFill>
                  <a:srgbClr val="FA1113"/>
                </a:solidFill>
                <a:sym typeface="Webdings" pitchFamily="1" charset="2"/>
              </a:rPr>
              <a:t></a:t>
            </a:r>
            <a:r>
              <a:rPr lang="en-US" dirty="0"/>
              <a:t>~50 Bioinformatics companies:</a:t>
            </a:r>
            <a:r>
              <a:rPr lang="en-US" i="1" dirty="0">
                <a:solidFill>
                  <a:schemeClr val="accent2"/>
                </a:solidFill>
              </a:rPr>
              <a:t> </a:t>
            </a:r>
          </a:p>
          <a:p>
            <a:r>
              <a:rPr lang="en-US" i="1" dirty="0">
                <a:solidFill>
                  <a:schemeClr val="accent2"/>
                </a:solidFill>
              </a:rPr>
              <a:t>   </a:t>
            </a:r>
            <a:r>
              <a:rPr lang="en-US" i="1" dirty="0" err="1">
                <a:solidFill>
                  <a:schemeClr val="accent2"/>
                </a:solidFill>
              </a:rPr>
              <a:t>Genomatrix</a:t>
            </a:r>
            <a:r>
              <a:rPr lang="en-US" i="1" dirty="0">
                <a:solidFill>
                  <a:schemeClr val="accent2"/>
                </a:solidFill>
              </a:rPr>
              <a:t> Software, </a:t>
            </a:r>
            <a:r>
              <a:rPr lang="en-US" i="1" dirty="0" err="1">
                <a:solidFill>
                  <a:schemeClr val="accent2"/>
                </a:solidFill>
              </a:rPr>
              <a:t>Genaissance</a:t>
            </a:r>
            <a:r>
              <a:rPr lang="en-US" i="1" dirty="0">
                <a:solidFill>
                  <a:schemeClr val="accent2"/>
                </a:solidFill>
              </a:rPr>
              <a:t> Pharmaceuticals, Lynx, Lexicon Genetics, </a:t>
            </a:r>
            <a:r>
              <a:rPr lang="en-US" i="1" dirty="0" err="1">
                <a:solidFill>
                  <a:schemeClr val="accent2"/>
                </a:solidFill>
              </a:rPr>
              <a:t>DeCode</a:t>
            </a:r>
            <a:r>
              <a:rPr lang="en-US" i="1" dirty="0">
                <a:solidFill>
                  <a:schemeClr val="accent2"/>
                </a:solidFill>
              </a:rPr>
              <a:t> </a:t>
            </a:r>
          </a:p>
          <a:p>
            <a:r>
              <a:rPr lang="en-US" i="1" dirty="0">
                <a:solidFill>
                  <a:schemeClr val="accent2"/>
                </a:solidFill>
              </a:rPr>
              <a:t>   Genetics, </a:t>
            </a:r>
            <a:r>
              <a:rPr lang="en-US" i="1" dirty="0" err="1">
                <a:solidFill>
                  <a:schemeClr val="accent2"/>
                </a:solidFill>
              </a:rPr>
              <a:t>CuraGen</a:t>
            </a:r>
            <a:r>
              <a:rPr lang="en-US" i="1" dirty="0">
                <a:solidFill>
                  <a:schemeClr val="accent2"/>
                </a:solidFill>
              </a:rPr>
              <a:t>, </a:t>
            </a:r>
            <a:r>
              <a:rPr lang="en-US" i="1" dirty="0" err="1">
                <a:solidFill>
                  <a:schemeClr val="accent2"/>
                </a:solidFill>
              </a:rPr>
              <a:t>AlphaGene</a:t>
            </a:r>
            <a:r>
              <a:rPr lang="en-US" i="1" dirty="0">
                <a:solidFill>
                  <a:schemeClr val="accent2"/>
                </a:solidFill>
              </a:rPr>
              <a:t>, </a:t>
            </a:r>
            <a:r>
              <a:rPr lang="en-US" i="1" dirty="0" err="1">
                <a:solidFill>
                  <a:schemeClr val="accent2"/>
                </a:solidFill>
              </a:rPr>
              <a:t>Bionavigation</a:t>
            </a:r>
            <a:r>
              <a:rPr lang="en-US" i="1" dirty="0">
                <a:solidFill>
                  <a:schemeClr val="accent2"/>
                </a:solidFill>
              </a:rPr>
              <a:t>, </a:t>
            </a:r>
            <a:r>
              <a:rPr lang="en-US" i="1" dirty="0" err="1">
                <a:solidFill>
                  <a:schemeClr val="accent2"/>
                </a:solidFill>
              </a:rPr>
              <a:t>Pangene</a:t>
            </a:r>
            <a:r>
              <a:rPr lang="en-US" i="1" dirty="0">
                <a:solidFill>
                  <a:schemeClr val="accent2"/>
                </a:solidFill>
              </a:rPr>
              <a:t>, </a:t>
            </a:r>
            <a:r>
              <a:rPr lang="en-US" i="1" dirty="0" err="1">
                <a:solidFill>
                  <a:schemeClr val="accent2"/>
                </a:solidFill>
              </a:rPr>
              <a:t>InforMax</a:t>
            </a:r>
            <a:r>
              <a:rPr lang="en-US" i="1" dirty="0">
                <a:solidFill>
                  <a:schemeClr val="accent2"/>
                </a:solidFill>
              </a:rPr>
              <a:t>, </a:t>
            </a:r>
            <a:r>
              <a:rPr lang="en-US" i="1" dirty="0" err="1">
                <a:solidFill>
                  <a:schemeClr val="accent2"/>
                </a:solidFill>
              </a:rPr>
              <a:t>TimeLogic</a:t>
            </a:r>
            <a:r>
              <a:rPr lang="en-US" i="1" dirty="0">
                <a:solidFill>
                  <a:schemeClr val="accent2"/>
                </a:solidFill>
              </a:rPr>
              <a:t>, </a:t>
            </a:r>
          </a:p>
          <a:p>
            <a:r>
              <a:rPr lang="en-US" i="1" dirty="0">
                <a:solidFill>
                  <a:schemeClr val="accent2"/>
                </a:solidFill>
              </a:rPr>
              <a:t>   </a:t>
            </a:r>
            <a:r>
              <a:rPr lang="en-US" i="1" dirty="0" err="1">
                <a:solidFill>
                  <a:schemeClr val="accent2"/>
                </a:solidFill>
              </a:rPr>
              <a:t>GeneCodes</a:t>
            </a:r>
            <a:r>
              <a:rPr lang="en-US" i="1" dirty="0">
                <a:solidFill>
                  <a:schemeClr val="accent2"/>
                </a:solidFill>
              </a:rPr>
              <a:t>, LabOnWeb.com, Darwin, Celera, </a:t>
            </a:r>
            <a:r>
              <a:rPr lang="en-US" i="1" dirty="0" err="1">
                <a:solidFill>
                  <a:schemeClr val="accent2"/>
                </a:solidFill>
              </a:rPr>
              <a:t>Incyte</a:t>
            </a:r>
            <a:r>
              <a:rPr lang="en-US" i="1" dirty="0">
                <a:solidFill>
                  <a:schemeClr val="accent2"/>
                </a:solidFill>
              </a:rPr>
              <a:t>, </a:t>
            </a:r>
            <a:r>
              <a:rPr lang="en-US" i="1" dirty="0" err="1">
                <a:solidFill>
                  <a:schemeClr val="accent2"/>
                </a:solidFill>
              </a:rPr>
              <a:t>BioResearch</a:t>
            </a:r>
            <a:r>
              <a:rPr lang="en-US" i="1" dirty="0">
                <a:solidFill>
                  <a:schemeClr val="accent2"/>
                </a:solidFill>
              </a:rPr>
              <a:t> Online, </a:t>
            </a:r>
            <a:r>
              <a:rPr lang="en-US" i="1" dirty="0" err="1">
                <a:solidFill>
                  <a:schemeClr val="accent2"/>
                </a:solidFill>
              </a:rPr>
              <a:t>BioTools</a:t>
            </a:r>
            <a:r>
              <a:rPr lang="en-US" i="1" dirty="0">
                <a:solidFill>
                  <a:schemeClr val="accent2"/>
                </a:solidFill>
              </a:rPr>
              <a:t>, </a:t>
            </a:r>
          </a:p>
          <a:p>
            <a:r>
              <a:rPr lang="en-US" i="1" dirty="0">
                <a:solidFill>
                  <a:schemeClr val="accent2"/>
                </a:solidFill>
              </a:rPr>
              <a:t>   Oxford Molecular, </a:t>
            </a:r>
            <a:r>
              <a:rPr lang="en-US" i="1" dirty="0" err="1">
                <a:solidFill>
                  <a:schemeClr val="accent2"/>
                </a:solidFill>
              </a:rPr>
              <a:t>Genomica</a:t>
            </a:r>
            <a:r>
              <a:rPr lang="en-US" i="1" dirty="0">
                <a:solidFill>
                  <a:schemeClr val="accent2"/>
                </a:solidFill>
              </a:rPr>
              <a:t>, </a:t>
            </a:r>
            <a:r>
              <a:rPr lang="en-US" i="1" dirty="0" err="1">
                <a:solidFill>
                  <a:schemeClr val="accent2"/>
                </a:solidFill>
              </a:rPr>
              <a:t>NetGenics</a:t>
            </a:r>
            <a:r>
              <a:rPr lang="en-US" i="1" dirty="0">
                <a:solidFill>
                  <a:schemeClr val="accent2"/>
                </a:solidFill>
              </a:rPr>
              <a:t>, Rosetta, Lion </a:t>
            </a:r>
            <a:r>
              <a:rPr lang="en-US" i="1" dirty="0" err="1">
                <a:solidFill>
                  <a:schemeClr val="accent2"/>
                </a:solidFill>
              </a:rPr>
              <a:t>BioScience</a:t>
            </a:r>
            <a:r>
              <a:rPr lang="en-US" i="1" dirty="0">
                <a:solidFill>
                  <a:schemeClr val="accent2"/>
                </a:solidFill>
              </a:rPr>
              <a:t>, </a:t>
            </a:r>
            <a:r>
              <a:rPr lang="en-US" i="1" dirty="0" err="1">
                <a:solidFill>
                  <a:schemeClr val="accent2"/>
                </a:solidFill>
              </a:rPr>
              <a:t>DoubleTwist</a:t>
            </a:r>
            <a:r>
              <a:rPr lang="en-US" i="1" dirty="0">
                <a:solidFill>
                  <a:schemeClr val="accent2"/>
                </a:solidFill>
              </a:rPr>
              <a:t>,</a:t>
            </a:r>
          </a:p>
          <a:p>
            <a:r>
              <a:rPr lang="en-US" i="1" dirty="0">
                <a:solidFill>
                  <a:schemeClr val="accent2"/>
                </a:solidFill>
              </a:rPr>
              <a:t>   </a:t>
            </a:r>
            <a:r>
              <a:rPr lang="en-US" i="1" dirty="0" err="1">
                <a:solidFill>
                  <a:schemeClr val="accent2"/>
                </a:solidFill>
              </a:rPr>
              <a:t>eBioinformatics</a:t>
            </a:r>
            <a:r>
              <a:rPr lang="en-US" i="1" dirty="0">
                <a:solidFill>
                  <a:schemeClr val="accent2"/>
                </a:solidFill>
              </a:rPr>
              <a:t>, Prospect Genomics, </a:t>
            </a:r>
            <a:r>
              <a:rPr lang="en-US" i="1" dirty="0" err="1">
                <a:solidFill>
                  <a:schemeClr val="accent2"/>
                </a:solidFill>
              </a:rPr>
              <a:t>Neomorphic</a:t>
            </a:r>
            <a:r>
              <a:rPr lang="en-US" i="1" dirty="0">
                <a:solidFill>
                  <a:schemeClr val="accent2"/>
                </a:solidFill>
              </a:rPr>
              <a:t>, Molecular Mining, </a:t>
            </a:r>
            <a:r>
              <a:rPr lang="en-US" i="1" dirty="0" err="1">
                <a:solidFill>
                  <a:schemeClr val="accent2"/>
                </a:solidFill>
              </a:rPr>
              <a:t>GeneLogic</a:t>
            </a:r>
            <a:r>
              <a:rPr lang="en-US" i="1" dirty="0">
                <a:solidFill>
                  <a:schemeClr val="accent2"/>
                </a:solidFill>
              </a:rPr>
              <a:t>,</a:t>
            </a:r>
          </a:p>
          <a:p>
            <a:r>
              <a:rPr lang="en-US" i="1" dirty="0">
                <a:solidFill>
                  <a:schemeClr val="accent2"/>
                </a:solidFill>
              </a:rPr>
              <a:t>   </a:t>
            </a:r>
            <a:r>
              <a:rPr lang="en-US" i="1" dirty="0" err="1">
                <a:solidFill>
                  <a:schemeClr val="accent2"/>
                </a:solidFill>
              </a:rPr>
              <a:t>GeneFormatics</a:t>
            </a:r>
            <a:r>
              <a:rPr lang="en-US" i="1" dirty="0">
                <a:solidFill>
                  <a:schemeClr val="accent2"/>
                </a:solidFill>
              </a:rPr>
              <a:t>, Molecular Simulations, Bioinformatics Solutions….</a:t>
            </a:r>
          </a:p>
        </p:txBody>
      </p:sp>
      <p:sp>
        <p:nvSpPr>
          <p:cNvPr id="8" name="Rectangle 7"/>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812038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4252" y="1418248"/>
            <a:ext cx="8724014" cy="5324535"/>
          </a:xfrm>
          <a:prstGeom prst="rect">
            <a:avLst/>
          </a:prstGeom>
        </p:spPr>
        <p:txBody>
          <a:bodyPr wrap="square">
            <a:spAutoFit/>
          </a:bodyPr>
          <a:lstStyle/>
          <a:p>
            <a:r>
              <a:rPr lang="en-US" sz="2000" dirty="0" smtClean="0"/>
              <a:t>*</a:t>
            </a:r>
            <a:r>
              <a:rPr lang="en-US" sz="2000" dirty="0"/>
              <a:t>Medical </a:t>
            </a:r>
            <a:r>
              <a:rPr lang="en-US" sz="2000" dirty="0" smtClean="0"/>
              <a:t>Sector:</a:t>
            </a:r>
            <a:endParaRPr lang="en-US" sz="2000" dirty="0"/>
          </a:p>
          <a:p>
            <a:pPr marL="457200" indent="-457200">
              <a:buAutoNum type="arabicPeriod"/>
            </a:pPr>
            <a:r>
              <a:rPr lang="en-US" sz="2000" dirty="0" smtClean="0"/>
              <a:t>Understand </a:t>
            </a:r>
            <a:r>
              <a:rPr lang="en-US" sz="2000" dirty="0"/>
              <a:t>life processes in healthy and disease </a:t>
            </a:r>
            <a:r>
              <a:rPr lang="en-US" sz="2000" dirty="0" smtClean="0"/>
              <a:t>state</a:t>
            </a:r>
          </a:p>
          <a:p>
            <a:pPr marL="457200" indent="-457200">
              <a:buAutoNum type="arabicPeriod"/>
            </a:pPr>
            <a:r>
              <a:rPr lang="en-US" sz="2000" dirty="0" smtClean="0"/>
              <a:t>Gene therapy</a:t>
            </a:r>
          </a:p>
          <a:p>
            <a:pPr marL="457200" indent="-457200">
              <a:buAutoNum type="arabicPeriod"/>
            </a:pPr>
            <a:r>
              <a:rPr lang="en-US" sz="2000" dirty="0" smtClean="0"/>
              <a:t>Forensic</a:t>
            </a:r>
          </a:p>
          <a:p>
            <a:endParaRPr lang="en-US" sz="2000" dirty="0" smtClean="0"/>
          </a:p>
          <a:p>
            <a:r>
              <a:rPr lang="en-US" sz="2000" dirty="0" smtClean="0"/>
              <a:t>*</a:t>
            </a:r>
            <a:r>
              <a:rPr lang="en-US" sz="2000" dirty="0"/>
              <a:t>Pharmaceutical and biotech </a:t>
            </a:r>
            <a:r>
              <a:rPr lang="en-US" sz="2000" dirty="0" smtClean="0"/>
              <a:t>Industry:</a:t>
            </a:r>
            <a:endParaRPr lang="en-US" sz="2000" dirty="0"/>
          </a:p>
          <a:p>
            <a:r>
              <a:rPr lang="en-US" sz="2000" dirty="0" smtClean="0"/>
              <a:t>1</a:t>
            </a:r>
            <a:r>
              <a:rPr lang="en-US" sz="2000" dirty="0"/>
              <a:t>. To find (develop) new and better drugs</a:t>
            </a:r>
            <a:br>
              <a:rPr lang="en-US" sz="2000" dirty="0"/>
            </a:br>
            <a:r>
              <a:rPr lang="en-US" sz="2000" dirty="0"/>
              <a:t>2. Gene based or structure based drug design</a:t>
            </a:r>
          </a:p>
          <a:p>
            <a:endParaRPr lang="en-US" sz="2000" dirty="0" smtClean="0"/>
          </a:p>
          <a:p>
            <a:r>
              <a:rPr lang="en-US" sz="2000" dirty="0" smtClean="0"/>
              <a:t>*</a:t>
            </a:r>
            <a:r>
              <a:rPr lang="en-US" sz="2000" dirty="0"/>
              <a:t>Agricultural </a:t>
            </a:r>
            <a:r>
              <a:rPr lang="en-US" sz="2000" dirty="0" smtClean="0"/>
              <a:t>Applications:</a:t>
            </a:r>
            <a:endParaRPr lang="en-US" sz="2000" dirty="0"/>
          </a:p>
          <a:p>
            <a:r>
              <a:rPr lang="en-US" sz="2000" dirty="0"/>
              <a:t>1. </a:t>
            </a:r>
            <a:r>
              <a:rPr lang="en-US" sz="2000" dirty="0" smtClean="0"/>
              <a:t>Pest, disease</a:t>
            </a:r>
            <a:r>
              <a:rPr lang="en-US" sz="2000" dirty="0"/>
              <a:t>, drought resistance plants</a:t>
            </a:r>
            <a:br>
              <a:rPr lang="en-US" sz="2000" dirty="0"/>
            </a:br>
            <a:r>
              <a:rPr lang="en-US" sz="2000" dirty="0"/>
              <a:t>2. Higher yield crops</a:t>
            </a:r>
          </a:p>
          <a:p>
            <a:endParaRPr lang="en-US" sz="2000" dirty="0" smtClean="0"/>
          </a:p>
          <a:p>
            <a:r>
              <a:rPr lang="en-US" sz="2000" dirty="0" smtClean="0"/>
              <a:t>*IT Industry:</a:t>
            </a:r>
          </a:p>
          <a:p>
            <a:pPr marL="342900" indent="-342900">
              <a:buAutoNum type="arabicPeriod"/>
            </a:pPr>
            <a:r>
              <a:rPr lang="en-US" sz="2000" dirty="0" smtClean="0"/>
              <a:t>Database &amp; Software development, management, maintenance</a:t>
            </a:r>
          </a:p>
          <a:p>
            <a:pPr marL="342900" indent="-342900">
              <a:buAutoNum type="arabicPeriod"/>
            </a:pPr>
            <a:r>
              <a:rPr lang="en-US" sz="2000" dirty="0" smtClean="0"/>
              <a:t>Clinical Data Management</a:t>
            </a:r>
            <a:endParaRPr lang="en-US" sz="2000" dirty="0"/>
          </a:p>
          <a:p>
            <a:endParaRPr lang="en-US" sz="2000" dirty="0" smtClean="0"/>
          </a:p>
        </p:txBody>
      </p:sp>
      <p:sp>
        <p:nvSpPr>
          <p:cNvPr id="3" name="Rectangle 2"/>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4" name="Rectangle 3"/>
          <p:cNvSpPr/>
          <p:nvPr/>
        </p:nvSpPr>
        <p:spPr>
          <a:xfrm>
            <a:off x="425302" y="695204"/>
            <a:ext cx="9861698" cy="461665"/>
          </a:xfrm>
          <a:prstGeom prst="rect">
            <a:avLst/>
          </a:prstGeom>
        </p:spPr>
        <p:txBody>
          <a:bodyPr wrap="square">
            <a:spAutoFit/>
          </a:bodyPr>
          <a:lstStyle/>
          <a:p>
            <a:r>
              <a:rPr lang="en-US" sz="2400" dirty="0"/>
              <a:t>Job prospects for </a:t>
            </a:r>
            <a:r>
              <a:rPr lang="en-US" sz="2400" dirty="0" err="1"/>
              <a:t>Bioinformaticians</a:t>
            </a:r>
            <a:r>
              <a:rPr lang="en-US" sz="2400" dirty="0"/>
              <a:t> are applicable to a variety of sectors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7095649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37811" y="713233"/>
            <a:ext cx="8541854" cy="4247317"/>
          </a:xfrm>
          <a:prstGeom prst="rect">
            <a:avLst/>
          </a:prstGeom>
        </p:spPr>
        <p:txBody>
          <a:bodyPr wrap="square">
            <a:spAutoFit/>
          </a:bodyPr>
          <a:lstStyle/>
          <a:p>
            <a:r>
              <a:rPr lang="en-US" dirty="0" smtClean="0"/>
              <a:t>*Energy Sector</a:t>
            </a:r>
          </a:p>
          <a:p>
            <a:pPr marL="342900" indent="-342900">
              <a:buAutoNum type="arabicPeriod"/>
            </a:pPr>
            <a:r>
              <a:rPr lang="en-US" dirty="0" err="1" smtClean="0"/>
              <a:t>Biofulel</a:t>
            </a:r>
            <a:r>
              <a:rPr lang="en-US" dirty="0" smtClean="0"/>
              <a:t> cells</a:t>
            </a:r>
          </a:p>
          <a:p>
            <a:pPr marL="342900" indent="-342900">
              <a:buAutoNum type="arabicPeriod"/>
            </a:pPr>
            <a:endParaRPr lang="en-US" dirty="0" smtClean="0"/>
          </a:p>
          <a:p>
            <a:r>
              <a:rPr lang="en-US" dirty="0" smtClean="0"/>
              <a:t>*Mining Industry</a:t>
            </a:r>
          </a:p>
          <a:p>
            <a:r>
              <a:rPr lang="en-US" dirty="0" smtClean="0"/>
              <a:t>1. </a:t>
            </a:r>
            <a:r>
              <a:rPr lang="en-US" dirty="0" err="1" smtClean="0"/>
              <a:t>Biomining</a:t>
            </a:r>
            <a:r>
              <a:rPr lang="en-US" dirty="0" smtClean="0"/>
              <a:t> &amp; Bioleaching</a:t>
            </a:r>
            <a:endParaRPr lang="en-US" dirty="0"/>
          </a:p>
          <a:p>
            <a:endParaRPr lang="en-US" dirty="0" smtClean="0"/>
          </a:p>
          <a:p>
            <a:r>
              <a:rPr lang="en-US" dirty="0" smtClean="0"/>
              <a:t>* Environmental  Sector</a:t>
            </a:r>
          </a:p>
          <a:p>
            <a:pPr marL="342900" indent="-342900">
              <a:buAutoNum type="arabicPeriod"/>
            </a:pPr>
            <a:r>
              <a:rPr lang="en-US" dirty="0" err="1" smtClean="0"/>
              <a:t>Bioremidiation</a:t>
            </a:r>
            <a:endParaRPr lang="en-US" dirty="0" smtClean="0"/>
          </a:p>
          <a:p>
            <a:pPr marL="342900" indent="-342900">
              <a:buAutoNum type="arabicPeriod"/>
            </a:pPr>
            <a:r>
              <a:rPr lang="en-US" dirty="0" smtClean="0"/>
              <a:t>Pollution control</a:t>
            </a:r>
          </a:p>
          <a:p>
            <a:pPr marL="342900" indent="-342900">
              <a:buAutoNum type="arabicPeriod"/>
            </a:pPr>
            <a:r>
              <a:rPr lang="en-US" dirty="0" smtClean="0"/>
              <a:t>Climate change</a:t>
            </a:r>
          </a:p>
          <a:p>
            <a:pPr marL="342900" indent="-342900">
              <a:buAutoNum type="arabicPeriod"/>
            </a:pPr>
            <a:endParaRPr lang="en-US" dirty="0" smtClean="0"/>
          </a:p>
          <a:p>
            <a:r>
              <a:rPr lang="en-US" dirty="0" smtClean="0"/>
              <a:t>*</a:t>
            </a:r>
            <a:r>
              <a:rPr lang="en-US" dirty="0"/>
              <a:t>Futuristic Industry:</a:t>
            </a:r>
          </a:p>
          <a:p>
            <a:pPr marL="342900" indent="-342900">
              <a:buAutoNum type="arabicPeriod"/>
            </a:pPr>
            <a:r>
              <a:rPr lang="en-US" dirty="0"/>
              <a:t>Space Biology</a:t>
            </a:r>
          </a:p>
          <a:p>
            <a:pPr marL="342900" indent="-342900">
              <a:buAutoNum type="arabicPeriod"/>
            </a:pPr>
            <a:r>
              <a:rPr lang="en-US" dirty="0" smtClean="0"/>
              <a:t>Terraforming</a:t>
            </a:r>
          </a:p>
          <a:p>
            <a:pPr marL="342900" indent="-342900">
              <a:buAutoNum type="arabicPeriod"/>
            </a:pPr>
            <a:r>
              <a:rPr lang="en-US" dirty="0" smtClean="0"/>
              <a:t>Bioweapon</a:t>
            </a:r>
            <a:endParaRPr lang="en-US" dirty="0"/>
          </a:p>
        </p:txBody>
      </p:sp>
      <p:sp>
        <p:nvSpPr>
          <p:cNvPr id="3" name="Rectangle 2"/>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8307322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3703" y="859603"/>
            <a:ext cx="8890148" cy="4524315"/>
          </a:xfrm>
          <a:prstGeom prst="rect">
            <a:avLst/>
          </a:prstGeom>
        </p:spPr>
        <p:txBody>
          <a:bodyPr wrap="square">
            <a:spAutoFit/>
          </a:bodyPr>
          <a:lstStyle/>
          <a:p>
            <a:r>
              <a:rPr lang="en-US" sz="2400" dirty="0"/>
              <a:t>The various positions that a candidate can hold with a degree in bioinformatics are:</a:t>
            </a:r>
          </a:p>
          <a:p>
            <a:pPr lvl="2"/>
            <a:r>
              <a:rPr lang="en-US" sz="2400" dirty="0"/>
              <a:t>*</a:t>
            </a:r>
            <a:r>
              <a:rPr lang="en-US" sz="2400" dirty="0" err="1"/>
              <a:t>Proteomix</a:t>
            </a:r>
            <a:r>
              <a:rPr lang="en-US" sz="2400" dirty="0"/>
              <a:t/>
            </a:r>
            <a:br>
              <a:rPr lang="en-US" sz="2400" dirty="0"/>
            </a:br>
            <a:r>
              <a:rPr lang="en-US" sz="2400" dirty="0"/>
              <a:t>*Scientific curator</a:t>
            </a:r>
            <a:br>
              <a:rPr lang="en-US" sz="2400" dirty="0"/>
            </a:br>
            <a:r>
              <a:rPr lang="en-US" sz="2400" dirty="0"/>
              <a:t>*Researcher</a:t>
            </a:r>
            <a:br>
              <a:rPr lang="en-US" sz="2400" dirty="0"/>
            </a:br>
            <a:r>
              <a:rPr lang="en-US" sz="2400" dirty="0"/>
              <a:t>*Sequence analyst</a:t>
            </a:r>
            <a:br>
              <a:rPr lang="en-US" sz="2400" dirty="0"/>
            </a:br>
            <a:r>
              <a:rPr lang="en-US" sz="2400" dirty="0"/>
              <a:t>*Pharmacology</a:t>
            </a:r>
            <a:br>
              <a:rPr lang="en-US" sz="2400" dirty="0"/>
            </a:br>
            <a:r>
              <a:rPr lang="en-US" sz="2400" dirty="0"/>
              <a:t>*Computational chemist</a:t>
            </a:r>
            <a:br>
              <a:rPr lang="en-US" sz="2400" dirty="0"/>
            </a:br>
            <a:r>
              <a:rPr lang="en-US" sz="2400" dirty="0"/>
              <a:t>*Pharmacogenomics</a:t>
            </a:r>
            <a:br>
              <a:rPr lang="en-US" sz="2400" dirty="0"/>
            </a:br>
            <a:r>
              <a:rPr lang="en-US" sz="2400" dirty="0"/>
              <a:t>*</a:t>
            </a:r>
            <a:r>
              <a:rPr lang="en-US" sz="2400" dirty="0" err="1"/>
              <a:t>Bioanalysts</a:t>
            </a:r>
            <a:r>
              <a:rPr lang="en-US" sz="2400" dirty="0"/>
              <a:t/>
            </a:r>
            <a:br>
              <a:rPr lang="en-US" sz="2400" dirty="0"/>
            </a:br>
            <a:r>
              <a:rPr lang="en-US" sz="2400" dirty="0"/>
              <a:t>*Content editor</a:t>
            </a:r>
            <a:br>
              <a:rPr lang="en-US" sz="2400" dirty="0"/>
            </a:br>
            <a:r>
              <a:rPr lang="en-US" sz="2400" dirty="0"/>
              <a:t>*</a:t>
            </a:r>
            <a:r>
              <a:rPr lang="en-US" sz="2400" dirty="0" err="1"/>
              <a:t>Bioinformatician</a:t>
            </a:r>
            <a:endParaRPr lang="en-US" sz="2400" dirty="0"/>
          </a:p>
        </p:txBody>
      </p:sp>
      <p:sp>
        <p:nvSpPr>
          <p:cNvPr id="4" name="Rectangle 3"/>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736607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92865" y="661959"/>
            <a:ext cx="8782493" cy="4524315"/>
          </a:xfrm>
          <a:prstGeom prst="rect">
            <a:avLst/>
          </a:prstGeom>
        </p:spPr>
        <p:txBody>
          <a:bodyPr wrap="square">
            <a:spAutoFit/>
          </a:bodyPr>
          <a:lstStyle/>
          <a:p>
            <a:r>
              <a:rPr lang="en-US" sz="2400" dirty="0"/>
              <a:t>List of Institutes in India offering </a:t>
            </a:r>
            <a:r>
              <a:rPr lang="en-US" sz="2400" dirty="0" smtClean="0"/>
              <a:t>Bioinformatics</a:t>
            </a:r>
          </a:p>
          <a:p>
            <a:endParaRPr lang="en-US" sz="2400" dirty="0"/>
          </a:p>
          <a:p>
            <a:pPr lvl="1"/>
            <a:r>
              <a:rPr lang="en-US" sz="2400" dirty="0"/>
              <a:t>*Institute of Bioinformatics and Applied Biotechnology, Bangalore</a:t>
            </a:r>
            <a:br>
              <a:rPr lang="en-US" sz="2400" dirty="0"/>
            </a:br>
            <a:r>
              <a:rPr lang="en-US" sz="2400" dirty="0"/>
              <a:t>*Jawaharlal Nehru University, New Delhi</a:t>
            </a:r>
            <a:br>
              <a:rPr lang="en-US" sz="2400" dirty="0"/>
            </a:br>
            <a:r>
              <a:rPr lang="en-US" sz="2400" dirty="0"/>
              <a:t>*Madurai </a:t>
            </a:r>
            <a:r>
              <a:rPr lang="en-US" sz="2400" dirty="0" err="1"/>
              <a:t>Kamaraj</a:t>
            </a:r>
            <a:r>
              <a:rPr lang="en-US" sz="2400" dirty="0"/>
              <a:t> University</a:t>
            </a:r>
            <a:br>
              <a:rPr lang="en-US" sz="2400" dirty="0"/>
            </a:br>
            <a:r>
              <a:rPr lang="en-US" sz="2400" dirty="0"/>
              <a:t>*Bioinformatics Institute of India, Noida</a:t>
            </a:r>
            <a:br>
              <a:rPr lang="en-US" sz="2400" dirty="0"/>
            </a:br>
            <a:r>
              <a:rPr lang="en-US" sz="2400" dirty="0"/>
              <a:t>*</a:t>
            </a:r>
            <a:r>
              <a:rPr lang="en-US" sz="2400" dirty="0" err="1"/>
              <a:t>Bharati</a:t>
            </a:r>
            <a:r>
              <a:rPr lang="en-US" sz="2400" dirty="0"/>
              <a:t> </a:t>
            </a:r>
            <a:r>
              <a:rPr lang="en-US" sz="2400" dirty="0" err="1"/>
              <a:t>Vidyapeeth</a:t>
            </a:r>
            <a:r>
              <a:rPr lang="en-US" sz="2400" dirty="0"/>
              <a:t> University, Pune</a:t>
            </a:r>
            <a:br>
              <a:rPr lang="en-US" sz="2400" dirty="0"/>
            </a:br>
            <a:r>
              <a:rPr lang="en-US" sz="2400" dirty="0"/>
              <a:t>*Indian Institute of Information Technology (IIIT), Allahabad</a:t>
            </a:r>
            <a:br>
              <a:rPr lang="en-US" sz="2400" dirty="0"/>
            </a:br>
            <a:r>
              <a:rPr lang="en-US" sz="2400" dirty="0"/>
              <a:t>*University of Hyderabad</a:t>
            </a:r>
            <a:br>
              <a:rPr lang="en-US" sz="2400" dirty="0"/>
            </a:br>
            <a:r>
              <a:rPr lang="en-US" sz="2400" dirty="0"/>
              <a:t>*Bioinformatics Institute of India, Noida</a:t>
            </a:r>
            <a:br>
              <a:rPr lang="en-US" sz="2400" dirty="0"/>
            </a:br>
            <a:r>
              <a:rPr lang="en-US" sz="2400" dirty="0"/>
              <a:t>*</a:t>
            </a:r>
            <a:r>
              <a:rPr lang="en-US" sz="2400" dirty="0" err="1"/>
              <a:t>Jamia</a:t>
            </a:r>
            <a:r>
              <a:rPr lang="en-US" sz="2400" dirty="0"/>
              <a:t> </a:t>
            </a:r>
            <a:r>
              <a:rPr lang="en-US" sz="2400" dirty="0" err="1"/>
              <a:t>Millia</a:t>
            </a:r>
            <a:r>
              <a:rPr lang="en-US" sz="2400" dirty="0"/>
              <a:t> </a:t>
            </a:r>
            <a:r>
              <a:rPr lang="en-US" sz="2400" dirty="0" err="1"/>
              <a:t>Islamia</a:t>
            </a:r>
            <a:r>
              <a:rPr lang="en-US" sz="2400" dirty="0"/>
              <a:t> University, New Delhi</a:t>
            </a:r>
            <a:br>
              <a:rPr lang="en-US" sz="2400" dirty="0"/>
            </a:br>
            <a:r>
              <a:rPr lang="en-US" sz="2400" dirty="0"/>
              <a:t>*Kerala University, Thiruvananthapuram</a:t>
            </a:r>
          </a:p>
        </p:txBody>
      </p:sp>
      <p:sp>
        <p:nvSpPr>
          <p:cNvPr id="3" name="Rectangle 2"/>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889368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4019"/>
            <a:ext cx="4205254" cy="584775"/>
          </a:xfrm>
          <a:prstGeom prst="rect">
            <a:avLst/>
          </a:prstGeom>
        </p:spPr>
        <p:txBody>
          <a:bodyPr wrap="none">
            <a:spAutoFit/>
          </a:bodyPr>
          <a:lstStyle/>
          <a:p>
            <a:r>
              <a:rPr lang="en-US" sz="3200" b="1" dirty="0" smtClean="0"/>
              <a:t>Scope of Bioinformatics</a:t>
            </a:r>
            <a:endParaRPr lang="en-US" sz="2800" dirty="0"/>
          </a:p>
        </p:txBody>
      </p:sp>
      <p:sp>
        <p:nvSpPr>
          <p:cNvPr id="3" name="Rectangle 2"/>
          <p:cNvSpPr/>
          <p:nvPr/>
        </p:nvSpPr>
        <p:spPr>
          <a:xfrm>
            <a:off x="1265273" y="1166843"/>
            <a:ext cx="8665535" cy="4893647"/>
          </a:xfrm>
          <a:prstGeom prst="rect">
            <a:avLst/>
          </a:prstGeom>
        </p:spPr>
        <p:txBody>
          <a:bodyPr wrap="square">
            <a:spAutoFit/>
          </a:bodyPr>
          <a:lstStyle/>
          <a:p>
            <a:r>
              <a:rPr lang="en-US" sz="2400" dirty="0"/>
              <a:t/>
            </a:r>
            <a:br>
              <a:rPr lang="en-US" sz="2400" dirty="0"/>
            </a:br>
            <a:r>
              <a:rPr lang="en-US" sz="2400" dirty="0"/>
              <a:t>Top companies that hire </a:t>
            </a:r>
            <a:r>
              <a:rPr lang="en-US" sz="2400" dirty="0" err="1"/>
              <a:t>Bioinformaticians</a:t>
            </a:r>
            <a:r>
              <a:rPr lang="en-US" sz="2400" dirty="0"/>
              <a:t> in </a:t>
            </a:r>
            <a:r>
              <a:rPr lang="en-US" sz="2400" dirty="0" smtClean="0"/>
              <a:t>India:</a:t>
            </a:r>
          </a:p>
          <a:p>
            <a:endParaRPr lang="en-US" sz="2400" dirty="0"/>
          </a:p>
          <a:p>
            <a:pPr lvl="3"/>
            <a:r>
              <a:rPr lang="en-US" sz="2400" dirty="0"/>
              <a:t>*Ranbaxy</a:t>
            </a:r>
            <a:br>
              <a:rPr lang="en-US" sz="2400" dirty="0"/>
            </a:br>
            <a:r>
              <a:rPr lang="en-US" sz="2400" dirty="0"/>
              <a:t>*GVK Biosciences</a:t>
            </a:r>
            <a:br>
              <a:rPr lang="en-US" sz="2400" dirty="0"/>
            </a:br>
            <a:r>
              <a:rPr lang="en-US" sz="2400" dirty="0"/>
              <a:t>*Torrent Pharmaceuticals</a:t>
            </a:r>
            <a:br>
              <a:rPr lang="en-US" sz="2400" dirty="0"/>
            </a:br>
            <a:r>
              <a:rPr lang="en-US" sz="2400" dirty="0"/>
              <a:t>*Astra Zeneca Research Center</a:t>
            </a:r>
            <a:br>
              <a:rPr lang="en-US" sz="2400" dirty="0"/>
            </a:br>
            <a:r>
              <a:rPr lang="en-US" sz="2400" dirty="0"/>
              <a:t>*</a:t>
            </a:r>
            <a:r>
              <a:rPr lang="en-US" sz="2400" dirty="0" err="1"/>
              <a:t>Biscon</a:t>
            </a:r>
            <a:r>
              <a:rPr lang="en-US" sz="2400" dirty="0"/>
              <a:t/>
            </a:r>
            <a:br>
              <a:rPr lang="en-US" sz="2400" dirty="0"/>
            </a:br>
            <a:r>
              <a:rPr lang="en-US" sz="2400" dirty="0"/>
              <a:t>*Dr. Reddy’s Laboratories</a:t>
            </a:r>
            <a:br>
              <a:rPr lang="en-US" sz="2400" dirty="0"/>
            </a:br>
            <a:r>
              <a:rPr lang="en-US" sz="2400" dirty="0"/>
              <a:t>*Strand Life Sciences</a:t>
            </a:r>
            <a:br>
              <a:rPr lang="en-US" sz="2400" dirty="0"/>
            </a:br>
            <a:r>
              <a:rPr lang="en-US" sz="2400" dirty="0"/>
              <a:t>*</a:t>
            </a:r>
            <a:r>
              <a:rPr lang="en-US" sz="2400" dirty="0" err="1"/>
              <a:t>Cura</a:t>
            </a:r>
            <a:r>
              <a:rPr lang="en-US" sz="2400" dirty="0"/>
              <a:t> Gen</a:t>
            </a:r>
            <a:br>
              <a:rPr lang="en-US" sz="2400" dirty="0"/>
            </a:br>
            <a:r>
              <a:rPr lang="en-US" sz="2400" dirty="0"/>
              <a:t>*Celera Genomics</a:t>
            </a:r>
            <a:br>
              <a:rPr lang="en-US" sz="2400" dirty="0"/>
            </a:br>
            <a:r>
              <a:rPr lang="en-US" sz="2400" dirty="0"/>
              <a:t>*</a:t>
            </a:r>
            <a:r>
              <a:rPr lang="en-US" sz="2400" dirty="0" err="1"/>
              <a:t>Avestha</a:t>
            </a:r>
            <a:r>
              <a:rPr lang="en-US" sz="2400" dirty="0"/>
              <a:t> </a:t>
            </a:r>
            <a:r>
              <a:rPr lang="en-US" sz="2400" dirty="0" err="1"/>
              <a:t>Gengraine</a:t>
            </a:r>
            <a:r>
              <a:rPr lang="en-US" sz="2400" dirty="0"/>
              <a:t> Technologies Pvt. Ltd.</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101565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4" name="Rectangle 3"/>
          <p:cNvSpPr/>
          <p:nvPr/>
        </p:nvSpPr>
        <p:spPr>
          <a:xfrm>
            <a:off x="328280" y="617516"/>
            <a:ext cx="9958720" cy="6001643"/>
          </a:xfrm>
          <a:prstGeom prst="rect">
            <a:avLst/>
          </a:prstGeom>
        </p:spPr>
        <p:txBody>
          <a:bodyPr wrap="square">
            <a:spAutoFit/>
          </a:bodyPr>
          <a:lstStyle/>
          <a:p>
            <a:r>
              <a:rPr lang="en-US" sz="2400" b="1" dirty="0"/>
              <a:t>These are some of the important fields in bioinformatics</a:t>
            </a:r>
            <a:r>
              <a:rPr lang="en-US" sz="2400" dirty="0"/>
              <a:t/>
            </a:r>
            <a:br>
              <a:rPr lang="en-US" sz="2400" dirty="0"/>
            </a:br>
            <a:r>
              <a:rPr lang="en-US" sz="2400" dirty="0"/>
              <a:t/>
            </a:r>
            <a:br>
              <a:rPr lang="en-US" sz="2400" dirty="0"/>
            </a:br>
            <a:r>
              <a:rPr lang="en-US" sz="2400" dirty="0">
                <a:hlinkClick r:id="rId2"/>
              </a:rPr>
              <a:t>1. Structural Bioinformatics:</a:t>
            </a:r>
            <a:r>
              <a:rPr lang="en-US" sz="2400" dirty="0"/>
              <a:t/>
            </a:r>
            <a:br>
              <a:rPr lang="en-US" sz="2400" dirty="0"/>
            </a:br>
            <a:r>
              <a:rPr lang="en-US" sz="2400" dirty="0" smtClean="0"/>
              <a:t>Predicting </a:t>
            </a:r>
            <a:r>
              <a:rPr lang="en-US" sz="2400" dirty="0"/>
              <a:t>the 3D structure of a protein from its protein sequence. </a:t>
            </a:r>
            <a:r>
              <a:rPr lang="en-US" sz="2400" dirty="0">
                <a:hlinkClick r:id="rId3"/>
              </a:rPr>
              <a:t>Homology </a:t>
            </a:r>
            <a:r>
              <a:rPr lang="en-US" sz="2400" dirty="0" err="1">
                <a:hlinkClick r:id="rId3"/>
              </a:rPr>
              <a:t>modelling</a:t>
            </a:r>
            <a:r>
              <a:rPr lang="en-US" sz="2400" dirty="0"/>
              <a:t> is the best method for predicting the protein structures by using already structured or crystallized protein as a template. </a:t>
            </a:r>
            <a:r>
              <a:rPr lang="en-US" sz="2400" dirty="0">
                <a:hlinkClick r:id="rId4"/>
              </a:rPr>
              <a:t>MODELLER</a:t>
            </a:r>
            <a:r>
              <a:rPr lang="en-US" sz="2400" dirty="0"/>
              <a:t> is one of the best software for Homology </a:t>
            </a:r>
            <a:r>
              <a:rPr lang="en-US" sz="2400" dirty="0" err="1"/>
              <a:t>modelling</a:t>
            </a:r>
            <a:r>
              <a:rPr lang="en-US" sz="2400" dirty="0"/>
              <a:t>. </a:t>
            </a:r>
            <a:r>
              <a:rPr lang="en-US" sz="2400" dirty="0">
                <a:hlinkClick r:id="rId5"/>
              </a:rPr>
              <a:t>Protein Data Bank</a:t>
            </a:r>
            <a:r>
              <a:rPr lang="en-US" sz="2400" dirty="0"/>
              <a:t> is the data base for 3D co-ordinates of a protein</a:t>
            </a:r>
            <a:r>
              <a:rPr lang="en-US" sz="2400" dirty="0" smtClean="0"/>
              <a:t>.</a:t>
            </a:r>
          </a:p>
          <a:p>
            <a:endParaRPr lang="en-US" sz="2400" dirty="0"/>
          </a:p>
          <a:p>
            <a:r>
              <a:rPr lang="en-US" sz="2400" dirty="0">
                <a:hlinkClick r:id="rId6"/>
              </a:rPr>
              <a:t>2. Drug Designing:</a:t>
            </a:r>
            <a:r>
              <a:rPr lang="en-US" sz="2400" dirty="0"/>
              <a:t/>
            </a:r>
            <a:br>
              <a:rPr lang="en-US" sz="2400" dirty="0"/>
            </a:br>
            <a:r>
              <a:rPr lang="en-US" sz="2400" b="1" dirty="0" smtClean="0"/>
              <a:t>Drug </a:t>
            </a:r>
            <a:r>
              <a:rPr lang="en-US" sz="2400" b="1" dirty="0"/>
              <a:t>design</a:t>
            </a:r>
            <a:r>
              <a:rPr lang="en-US" sz="2400" dirty="0"/>
              <a:t> is the approach of finding </a:t>
            </a:r>
            <a:r>
              <a:rPr lang="en-US" sz="2400" dirty="0">
                <a:hlinkClick r:id="rId7" tooltip="Medication"/>
              </a:rPr>
              <a:t>drugs</a:t>
            </a:r>
            <a:r>
              <a:rPr lang="en-US" sz="2400" dirty="0"/>
              <a:t> by design, based on their </a:t>
            </a:r>
            <a:r>
              <a:rPr lang="en-US" sz="2400" dirty="0">
                <a:hlinkClick r:id="rId8" tooltip="Biological target"/>
              </a:rPr>
              <a:t>biological targets</a:t>
            </a:r>
            <a:r>
              <a:rPr lang="en-US" sz="2400" dirty="0"/>
              <a:t>. Typically a drug target is a key </a:t>
            </a:r>
            <a:r>
              <a:rPr lang="en-US" sz="2400" dirty="0">
                <a:hlinkClick r:id="rId9" tooltip="Molecule"/>
              </a:rPr>
              <a:t>molecule</a:t>
            </a:r>
            <a:r>
              <a:rPr lang="en-US" sz="2400" dirty="0"/>
              <a:t> involved in a particular </a:t>
            </a:r>
            <a:r>
              <a:rPr lang="en-US" sz="2400" dirty="0">
                <a:hlinkClick r:id="rId10" tooltip="Metabolic"/>
              </a:rPr>
              <a:t>metabolic</a:t>
            </a:r>
            <a:r>
              <a:rPr lang="en-US" sz="2400" dirty="0"/>
              <a:t> or </a:t>
            </a:r>
            <a:r>
              <a:rPr lang="en-US" sz="2400" dirty="0" err="1"/>
              <a:t>signalling</a:t>
            </a:r>
            <a:r>
              <a:rPr lang="en-US" sz="2400" dirty="0"/>
              <a:t> </a:t>
            </a:r>
            <a:r>
              <a:rPr lang="en-US" sz="2400" dirty="0">
                <a:hlinkClick r:id="rId11" tooltip="Metabolic pathway"/>
              </a:rPr>
              <a:t>pathway</a:t>
            </a:r>
            <a:r>
              <a:rPr lang="en-US" sz="2400" dirty="0"/>
              <a:t> that is specific to a disease condition or </a:t>
            </a:r>
            <a:r>
              <a:rPr lang="en-US" sz="2400" dirty="0">
                <a:hlinkClick r:id="rId12" tooltip="Pathology"/>
              </a:rPr>
              <a:t>pathology</a:t>
            </a:r>
            <a:r>
              <a:rPr lang="en-US" sz="2400" dirty="0"/>
              <a:t>, or to the </a:t>
            </a:r>
            <a:r>
              <a:rPr lang="en-US" sz="2400" dirty="0">
                <a:hlinkClick r:id="rId13" tooltip="Infectivity"/>
              </a:rPr>
              <a:t>infectivity</a:t>
            </a:r>
            <a:r>
              <a:rPr lang="en-US" sz="2400" dirty="0"/>
              <a:t> or survival of </a:t>
            </a:r>
            <a:r>
              <a:rPr lang="en-US" sz="2400" dirty="0" smtClean="0"/>
              <a:t>a</a:t>
            </a:r>
            <a:r>
              <a:rPr lang="en-US" sz="2400" dirty="0"/>
              <a:t> </a:t>
            </a:r>
            <a:r>
              <a:rPr lang="en-US" sz="2400" dirty="0">
                <a:hlinkClick r:id="rId14" tooltip="Microorganism"/>
              </a:rPr>
              <a:t>microbial</a:t>
            </a:r>
            <a:r>
              <a:rPr lang="en-US" sz="2400" dirty="0"/>
              <a:t> </a:t>
            </a:r>
            <a:r>
              <a:rPr lang="en-US" sz="2400" dirty="0" smtClean="0">
                <a:hlinkClick r:id="rId15" tooltip="Pathogen"/>
              </a:rPr>
              <a:t>pathogen</a:t>
            </a:r>
            <a:r>
              <a:rPr lang="en-US" sz="2400" dirty="0" smtClean="0"/>
              <a:t>. Computer-assisted </a:t>
            </a:r>
            <a:r>
              <a:rPr lang="en-US" sz="2400" dirty="0"/>
              <a:t>drug design uses </a:t>
            </a:r>
            <a:r>
              <a:rPr lang="en-US" sz="2400" dirty="0">
                <a:hlinkClick r:id="rId16" tooltip="Computational chemistry"/>
              </a:rPr>
              <a:t>computational chemistry</a:t>
            </a:r>
            <a:r>
              <a:rPr lang="en-US" sz="2400" dirty="0"/>
              <a:t> to discover, enhance, or study </a:t>
            </a:r>
            <a:r>
              <a:rPr lang="en-US" sz="2400" dirty="0">
                <a:hlinkClick r:id="rId17" tooltip="Drugs"/>
              </a:rPr>
              <a:t>drugs</a:t>
            </a:r>
            <a:r>
              <a:rPr lang="en-US" sz="2400" dirty="0"/>
              <a:t> and related biologically active </a:t>
            </a:r>
            <a:r>
              <a:rPr lang="en-US" sz="2400" dirty="0">
                <a:hlinkClick r:id="rId9" tooltip="Molecule"/>
              </a:rPr>
              <a:t>molecules</a:t>
            </a:r>
            <a:r>
              <a:rPr lang="en-US" sz="2400" dirty="0"/>
              <a:t>.</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398413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3" name="Rectangle 2"/>
          <p:cNvSpPr/>
          <p:nvPr/>
        </p:nvSpPr>
        <p:spPr>
          <a:xfrm>
            <a:off x="202019" y="535980"/>
            <a:ext cx="10084981" cy="6370975"/>
          </a:xfrm>
          <a:prstGeom prst="rect">
            <a:avLst/>
          </a:prstGeom>
        </p:spPr>
        <p:txBody>
          <a:bodyPr wrap="square">
            <a:spAutoFit/>
          </a:bodyPr>
          <a:lstStyle/>
          <a:p>
            <a:r>
              <a:rPr lang="en-US" sz="2400" dirty="0">
                <a:hlinkClick r:id="rId2"/>
              </a:rPr>
              <a:t>3. </a:t>
            </a:r>
            <a:r>
              <a:rPr lang="en-US" sz="2400" dirty="0" err="1">
                <a:hlinkClick r:id="rId2"/>
              </a:rPr>
              <a:t>Phylogenetics</a:t>
            </a:r>
            <a:r>
              <a:rPr lang="en-US" sz="2400" dirty="0">
                <a:hlinkClick r:id="rId2"/>
              </a:rPr>
              <a:t>:</a:t>
            </a:r>
            <a:r>
              <a:rPr lang="en-US" sz="2400" dirty="0"/>
              <a:t/>
            </a:r>
            <a:br>
              <a:rPr lang="en-US" sz="2400" dirty="0"/>
            </a:br>
            <a:r>
              <a:rPr lang="en-US" sz="2400" dirty="0" smtClean="0"/>
              <a:t>Predicting </a:t>
            </a:r>
            <a:r>
              <a:rPr lang="en-US" sz="2400" dirty="0"/>
              <a:t>the genetic or evolutionary relation of set of organisms. Mitochondrial SNPs and Microsatellites ( DNA repeats) are mostly used in </a:t>
            </a:r>
            <a:r>
              <a:rPr lang="en-US" sz="2400" dirty="0" err="1"/>
              <a:t>Phylogenetics</a:t>
            </a:r>
            <a:r>
              <a:rPr lang="en-US" sz="2400" dirty="0"/>
              <a:t>.</a:t>
            </a:r>
            <a:r>
              <a:rPr lang="en-US" sz="2400" dirty="0">
                <a:hlinkClick r:id="rId3"/>
              </a:rPr>
              <a:t> MEGA</a:t>
            </a:r>
            <a:r>
              <a:rPr lang="en-US" sz="2400" dirty="0" smtClean="0"/>
              <a:t>, </a:t>
            </a:r>
            <a:r>
              <a:rPr lang="en-US" sz="2400" dirty="0" smtClean="0">
                <a:hlinkClick r:id="rId4"/>
              </a:rPr>
              <a:t>PAUP</a:t>
            </a:r>
            <a:r>
              <a:rPr lang="en-US" sz="2400" dirty="0">
                <a:hlinkClick r:id="rId4"/>
              </a:rPr>
              <a:t> </a:t>
            </a:r>
            <a:r>
              <a:rPr lang="en-US" sz="2400" dirty="0"/>
              <a:t>are </a:t>
            </a:r>
            <a:r>
              <a:rPr lang="en-US" sz="2400" dirty="0" smtClean="0"/>
              <a:t>some </a:t>
            </a:r>
            <a:r>
              <a:rPr lang="en-US" sz="2400" dirty="0"/>
              <a:t>of the important </a:t>
            </a:r>
            <a:r>
              <a:rPr lang="en-US" sz="2400" dirty="0" err="1"/>
              <a:t>softwares</a:t>
            </a:r>
            <a:r>
              <a:rPr lang="en-US" sz="2400" dirty="0"/>
              <a:t>. </a:t>
            </a:r>
            <a:r>
              <a:rPr lang="en-US" sz="2400" dirty="0">
                <a:hlinkClick r:id="rId5"/>
              </a:rPr>
              <a:t>Maximum Parsimony</a:t>
            </a:r>
            <a:r>
              <a:rPr lang="en-US" sz="2400" dirty="0"/>
              <a:t> and </a:t>
            </a:r>
            <a:r>
              <a:rPr lang="en-US" sz="2400" dirty="0">
                <a:hlinkClick r:id="rId6"/>
              </a:rPr>
              <a:t>Maximum </a:t>
            </a:r>
            <a:r>
              <a:rPr lang="en-US" sz="2400" dirty="0" err="1">
                <a:hlinkClick r:id="rId6"/>
              </a:rPr>
              <a:t>Likelyhood</a:t>
            </a:r>
            <a:r>
              <a:rPr lang="en-US" sz="2400" dirty="0"/>
              <a:t> are mostly used methods.</a:t>
            </a:r>
            <a:br>
              <a:rPr lang="en-US" sz="2400" dirty="0"/>
            </a:br>
            <a:r>
              <a:rPr lang="en-US" sz="2400" dirty="0"/>
              <a:t/>
            </a:r>
            <a:br>
              <a:rPr lang="en-US" sz="2400" dirty="0"/>
            </a:br>
            <a:r>
              <a:rPr lang="en-US" sz="2400" dirty="0">
                <a:hlinkClick r:id="rId7"/>
              </a:rPr>
              <a:t>4. Computational biology:</a:t>
            </a:r>
            <a:r>
              <a:rPr lang="en-US" sz="2400" dirty="0"/>
              <a:t/>
            </a:r>
            <a:br>
              <a:rPr lang="en-US" sz="2400" dirty="0"/>
            </a:br>
            <a:r>
              <a:rPr lang="en-US" sz="2400" b="1" dirty="0" smtClean="0"/>
              <a:t>Computational </a:t>
            </a:r>
            <a:r>
              <a:rPr lang="en-US" sz="2400" b="1" dirty="0"/>
              <a:t>biology</a:t>
            </a:r>
            <a:r>
              <a:rPr lang="en-US" sz="2400" dirty="0"/>
              <a:t> is an interdisciplinary field that applies the techniques of </a:t>
            </a:r>
            <a:r>
              <a:rPr lang="en-US" sz="2400" dirty="0">
                <a:hlinkClick r:id="rId8" tooltip="Computer science"/>
              </a:rPr>
              <a:t>computer science</a:t>
            </a:r>
            <a:r>
              <a:rPr lang="en-US" sz="2400" dirty="0"/>
              <a:t>, </a:t>
            </a:r>
            <a:r>
              <a:rPr lang="en-US" sz="2400" dirty="0">
                <a:hlinkClick r:id="rId9" tooltip="Applied mathematics"/>
              </a:rPr>
              <a:t>applied mathematics</a:t>
            </a:r>
            <a:r>
              <a:rPr lang="en-US" sz="2400" dirty="0"/>
              <a:t>, and </a:t>
            </a:r>
            <a:r>
              <a:rPr lang="en-US" sz="2400" dirty="0">
                <a:hlinkClick r:id="rId10" tooltip="Statistics"/>
              </a:rPr>
              <a:t>statistics</a:t>
            </a:r>
            <a:r>
              <a:rPr lang="en-US" sz="2400" dirty="0"/>
              <a:t> to address problems inspired by </a:t>
            </a:r>
            <a:r>
              <a:rPr lang="en-US" sz="2400" dirty="0">
                <a:hlinkClick r:id="rId11" tooltip="Biology"/>
              </a:rPr>
              <a:t>biology</a:t>
            </a:r>
            <a:r>
              <a:rPr lang="en-US" sz="2400" dirty="0"/>
              <a:t>.</a:t>
            </a:r>
            <a:br>
              <a:rPr lang="en-US" sz="2400" dirty="0"/>
            </a:br>
            <a:endParaRPr lang="en-US" sz="2400" dirty="0"/>
          </a:p>
          <a:p>
            <a:r>
              <a:rPr lang="en-US" sz="2400" dirty="0" smtClean="0">
                <a:hlinkClick r:id="rId12"/>
              </a:rPr>
              <a:t>5</a:t>
            </a:r>
            <a:r>
              <a:rPr lang="en-US" sz="2400" dirty="0">
                <a:hlinkClick r:id="rId12"/>
              </a:rPr>
              <a:t>. Population Genetics:</a:t>
            </a:r>
            <a:r>
              <a:rPr lang="en-US" sz="2400" dirty="0"/>
              <a:t/>
            </a:r>
            <a:br>
              <a:rPr lang="en-US" sz="2400" dirty="0"/>
            </a:br>
            <a:r>
              <a:rPr lang="en-US" sz="2400" dirty="0" smtClean="0"/>
              <a:t>Population </a:t>
            </a:r>
            <a:r>
              <a:rPr lang="en-US" sz="2400" dirty="0"/>
              <a:t>Genetics is a study of genotype frequency distribution and the change in the genotype frequencies under the influence of </a:t>
            </a:r>
            <a:r>
              <a:rPr lang="en-US" sz="2400" dirty="0">
                <a:hlinkClick r:id="rId13"/>
              </a:rPr>
              <a:t>Natural selection</a:t>
            </a:r>
            <a:r>
              <a:rPr lang="en-US" sz="2400" dirty="0"/>
              <a:t>, </a:t>
            </a:r>
            <a:r>
              <a:rPr lang="en-US" sz="2400" dirty="0">
                <a:hlinkClick r:id="rId14"/>
              </a:rPr>
              <a:t>genetics drift</a:t>
            </a:r>
            <a:r>
              <a:rPr lang="en-US" sz="2400" dirty="0"/>
              <a:t>, </a:t>
            </a:r>
            <a:r>
              <a:rPr lang="en-US" sz="2400" dirty="0">
                <a:hlinkClick r:id="rId15"/>
              </a:rPr>
              <a:t>mutation </a:t>
            </a:r>
            <a:r>
              <a:rPr lang="en-US" sz="2400" dirty="0"/>
              <a:t>and </a:t>
            </a:r>
            <a:r>
              <a:rPr lang="en-US" sz="2400" dirty="0">
                <a:hlinkClick r:id="rId16"/>
              </a:rPr>
              <a:t>gene flow.</a:t>
            </a:r>
            <a:r>
              <a:rPr lang="en-US" sz="2400" dirty="0"/>
              <a:t> </a:t>
            </a:r>
            <a:r>
              <a:rPr lang="en-US" sz="2400" dirty="0">
                <a:hlinkClick r:id="rId17"/>
              </a:rPr>
              <a:t>Coalescent theory</a:t>
            </a:r>
            <a:r>
              <a:rPr lang="en-US" sz="2400" dirty="0"/>
              <a:t> is one of the most used theory to predict the most recent </a:t>
            </a:r>
            <a:r>
              <a:rPr lang="en-US" sz="2400" dirty="0" err="1"/>
              <a:t>ancester</a:t>
            </a:r>
            <a:r>
              <a:rPr lang="en-US" sz="2400" dirty="0"/>
              <a:t>. </a:t>
            </a:r>
            <a:r>
              <a:rPr lang="en-US" sz="2400" dirty="0" err="1"/>
              <a:t>Arlequin</a:t>
            </a:r>
            <a:r>
              <a:rPr lang="en-US" sz="2400" dirty="0"/>
              <a:t> is one of the best and most used software in population </a:t>
            </a:r>
            <a:r>
              <a:rPr lang="en-US" sz="2400" dirty="0" err="1"/>
              <a:t>gentics</a:t>
            </a:r>
            <a:r>
              <a:rPr lang="en-US" sz="2400" dirty="0"/>
              <a:t>.</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23501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3" name="Rectangle 2"/>
          <p:cNvSpPr/>
          <p:nvPr/>
        </p:nvSpPr>
        <p:spPr>
          <a:xfrm>
            <a:off x="281050" y="594878"/>
            <a:ext cx="10005950" cy="5262979"/>
          </a:xfrm>
          <a:prstGeom prst="rect">
            <a:avLst/>
          </a:prstGeom>
        </p:spPr>
        <p:txBody>
          <a:bodyPr wrap="square">
            <a:spAutoFit/>
          </a:bodyPr>
          <a:lstStyle/>
          <a:p>
            <a:r>
              <a:rPr lang="en-US" sz="2400" b="1" dirty="0">
                <a:hlinkClick r:id="rId2"/>
              </a:rPr>
              <a:t>6. Genotype Analysis:</a:t>
            </a:r>
            <a:r>
              <a:rPr lang="en-US" sz="2400" b="1" dirty="0"/>
              <a:t/>
            </a:r>
            <a:br>
              <a:rPr lang="en-US" sz="2400" b="1" dirty="0"/>
            </a:br>
            <a:r>
              <a:rPr lang="en-US" sz="2400" dirty="0"/>
              <a:t>Genotype = Genetic variation, SNP</a:t>
            </a:r>
            <a:r>
              <a:rPr lang="en-US" sz="2400" dirty="0" smtClean="0"/>
              <a:t>, Mutation </a:t>
            </a:r>
            <a:r>
              <a:rPr lang="en-US" sz="2400" dirty="0"/>
              <a:t>....</a:t>
            </a:r>
            <a:r>
              <a:rPr lang="en-US" sz="2400" b="1" dirty="0"/>
              <a:t/>
            </a:r>
            <a:br>
              <a:rPr lang="en-US" sz="2400" b="1" dirty="0"/>
            </a:br>
            <a:r>
              <a:rPr lang="en-US" sz="2400" dirty="0"/>
              <a:t>1. Studying Genotype and phenotype association.</a:t>
            </a:r>
            <a:br>
              <a:rPr lang="en-US" sz="2400" dirty="0"/>
            </a:br>
            <a:r>
              <a:rPr lang="en-US" sz="2400" dirty="0"/>
              <a:t>2. Studying Genotype frequencies. There is no specific software for genotype analysis. But its called the </a:t>
            </a:r>
            <a:r>
              <a:rPr lang="en-US" sz="2400" b="1" dirty="0"/>
              <a:t>"Generation Next Market using Bioinformatics...."</a:t>
            </a:r>
            <a:r>
              <a:rPr lang="en-US" sz="2400" dirty="0"/>
              <a:t>. Genotyping is mostly done using </a:t>
            </a:r>
            <a:r>
              <a:rPr lang="en-US" sz="2400" dirty="0" err="1"/>
              <a:t>Illumina</a:t>
            </a:r>
            <a:r>
              <a:rPr lang="en-US" sz="2400" dirty="0"/>
              <a:t> and </a:t>
            </a:r>
            <a:r>
              <a:rPr lang="en-US" sz="2400" dirty="0" err="1"/>
              <a:t>Affy</a:t>
            </a:r>
            <a:r>
              <a:rPr lang="en-US" sz="2400" dirty="0"/>
              <a:t> </a:t>
            </a:r>
            <a:r>
              <a:rPr lang="en-US" sz="2400" dirty="0" err="1"/>
              <a:t>microarry</a:t>
            </a:r>
            <a:r>
              <a:rPr lang="en-US" sz="2400" dirty="0"/>
              <a:t> chips</a:t>
            </a:r>
            <a:r>
              <a:rPr lang="en-US" sz="2400" dirty="0" smtClean="0"/>
              <a:t>.</a:t>
            </a:r>
          </a:p>
          <a:p>
            <a:endParaRPr lang="en-US" sz="2400" dirty="0"/>
          </a:p>
          <a:p>
            <a:r>
              <a:rPr lang="en-US" sz="2400" b="1" dirty="0">
                <a:hlinkClick r:id="rId3"/>
              </a:rPr>
              <a:t>7. Splicing Site prediction:</a:t>
            </a:r>
            <a:r>
              <a:rPr lang="en-US" sz="2400" dirty="0"/>
              <a:t/>
            </a:r>
            <a:br>
              <a:rPr lang="en-US" sz="2400" dirty="0"/>
            </a:br>
            <a:r>
              <a:rPr lang="en-US" sz="2400" dirty="0" smtClean="0"/>
              <a:t>Splicing </a:t>
            </a:r>
            <a:r>
              <a:rPr lang="en-US" sz="2400" dirty="0"/>
              <a:t>prediction is a very important application of Bioinformatics which is very important in Gene expression studies. Visit also </a:t>
            </a:r>
            <a:r>
              <a:rPr lang="en-US" sz="2400" dirty="0">
                <a:hlinkClick r:id="rId4"/>
              </a:rPr>
              <a:t>Alternative Splicing site </a:t>
            </a:r>
            <a:r>
              <a:rPr lang="en-US" sz="2400" dirty="0" err="1">
                <a:hlinkClick r:id="rId4"/>
              </a:rPr>
              <a:t>Predictior</a:t>
            </a:r>
            <a:r>
              <a:rPr lang="en-US" sz="2400" dirty="0"/>
              <a:t>.</a:t>
            </a:r>
            <a:br>
              <a:rPr lang="en-US" sz="2400" dirty="0"/>
            </a:br>
            <a:endParaRPr lang="en-US" sz="2400" dirty="0"/>
          </a:p>
          <a:p>
            <a:r>
              <a:rPr lang="en-US" sz="2400" dirty="0"/>
              <a:t/>
            </a:r>
            <a:br>
              <a:rPr lang="en-US" sz="2400" dirty="0"/>
            </a:br>
            <a:endParaRPr 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73722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856" y="399914"/>
            <a:ext cx="10138144" cy="6370975"/>
          </a:xfrm>
          <a:prstGeom prst="rect">
            <a:avLst/>
          </a:prstGeom>
        </p:spPr>
        <p:txBody>
          <a:bodyPr wrap="square">
            <a:spAutoFit/>
          </a:bodyPr>
          <a:lstStyle/>
          <a:p>
            <a:r>
              <a:rPr lang="en-US" sz="2400" b="1" dirty="0">
                <a:hlinkClick r:id="rId2"/>
              </a:rPr>
              <a:t>8. </a:t>
            </a:r>
            <a:r>
              <a:rPr lang="en-US" sz="2400" b="1" dirty="0" err="1">
                <a:hlinkClick r:id="rId2"/>
              </a:rPr>
              <a:t>MiRNA</a:t>
            </a:r>
            <a:r>
              <a:rPr lang="en-US" sz="2400" b="1" dirty="0">
                <a:hlinkClick r:id="rId2"/>
              </a:rPr>
              <a:t> prediction:</a:t>
            </a:r>
            <a:r>
              <a:rPr lang="en-US" sz="2400" dirty="0"/>
              <a:t/>
            </a:r>
            <a:br>
              <a:rPr lang="en-US" sz="2400" dirty="0"/>
            </a:br>
            <a:r>
              <a:rPr lang="en-US" sz="2400" dirty="0" err="1" smtClean="0"/>
              <a:t>MiRNA</a:t>
            </a:r>
            <a:r>
              <a:rPr lang="en-US" sz="2400" dirty="0" smtClean="0"/>
              <a:t> </a:t>
            </a:r>
            <a:r>
              <a:rPr lang="en-US" sz="2400" dirty="0"/>
              <a:t>= MicroRNA. </a:t>
            </a:r>
            <a:r>
              <a:rPr lang="en-US" sz="2400" dirty="0" err="1"/>
              <a:t>MiRNA</a:t>
            </a:r>
            <a:r>
              <a:rPr lang="en-US" sz="2400" dirty="0"/>
              <a:t> emerged as a new Gene regulatory element and gained more space in research. 20 -23 base pair RNA which regulates a gene or genes. So many methods and </a:t>
            </a:r>
            <a:r>
              <a:rPr lang="en-US" sz="2400" dirty="0" err="1"/>
              <a:t>softwares</a:t>
            </a:r>
            <a:r>
              <a:rPr lang="en-US" sz="2400" dirty="0"/>
              <a:t> have been developed to predicting this tiny RNAs. But still they are not precise in predicting. It means that we need some more information from experimental labs to </a:t>
            </a:r>
            <a:r>
              <a:rPr lang="en-US" sz="2400" dirty="0" smtClean="0"/>
              <a:t>predict. </a:t>
            </a:r>
            <a:r>
              <a:rPr lang="en-US" sz="2400" dirty="0" err="1" smtClean="0"/>
              <a:t>MiRNA</a:t>
            </a:r>
            <a:r>
              <a:rPr lang="en-US" sz="2400" dirty="0" smtClean="0"/>
              <a:t> </a:t>
            </a:r>
            <a:r>
              <a:rPr lang="en-US" sz="2400" dirty="0"/>
              <a:t>binds to the gene and regulates the gene. Most of the time it down regulate the gene expression. Predicting the </a:t>
            </a:r>
            <a:r>
              <a:rPr lang="en-US" sz="2400" dirty="0" err="1"/>
              <a:t>MiRNA</a:t>
            </a:r>
            <a:r>
              <a:rPr lang="en-US" sz="2400" dirty="0"/>
              <a:t> target is also a very important problem in Bioinformatics.</a:t>
            </a:r>
            <a:br>
              <a:rPr lang="en-US" sz="2400" dirty="0"/>
            </a:br>
            <a:endParaRPr lang="en-US" sz="2400" dirty="0"/>
          </a:p>
          <a:p>
            <a:r>
              <a:rPr lang="en-US" sz="2400" b="1" dirty="0">
                <a:hlinkClick r:id="rId3"/>
              </a:rPr>
              <a:t>9. RNA Structure prediction:</a:t>
            </a:r>
            <a:r>
              <a:rPr lang="en-US" sz="2400" dirty="0"/>
              <a:t/>
            </a:r>
            <a:br>
              <a:rPr lang="en-US" sz="2400" dirty="0"/>
            </a:br>
            <a:r>
              <a:rPr lang="en-US" sz="2400" dirty="0" smtClean="0"/>
              <a:t>The </a:t>
            </a:r>
            <a:r>
              <a:rPr lang="en-US" sz="2400" dirty="0"/>
              <a:t>functional form of single stranded </a:t>
            </a:r>
            <a:r>
              <a:rPr lang="en-US" sz="2400" dirty="0">
                <a:hlinkClick r:id="rId4" tooltip="RNA"/>
              </a:rPr>
              <a:t>RNA</a:t>
            </a:r>
            <a:r>
              <a:rPr lang="en-US" sz="2400" dirty="0"/>
              <a:t> molecules frequently requires a specific tertiary structure. The scaffold for this structure is provided by secondary structural elements which are </a:t>
            </a:r>
            <a:r>
              <a:rPr lang="en-US" sz="2400" dirty="0">
                <a:hlinkClick r:id="rId5" tooltip="Hydrogen bond"/>
              </a:rPr>
              <a:t>hydrogen bonds</a:t>
            </a:r>
            <a:r>
              <a:rPr lang="en-US" sz="2400" dirty="0"/>
              <a:t> within the molecule. This leads to several recognizable "domains" of secondary structure like </a:t>
            </a:r>
            <a:r>
              <a:rPr lang="en-US" sz="2400" dirty="0">
                <a:hlinkClick r:id="rId6" tooltip="Hairpin loop"/>
              </a:rPr>
              <a:t>hairpin loops</a:t>
            </a:r>
            <a:r>
              <a:rPr lang="en-US" sz="2400" dirty="0"/>
              <a:t>, bulges and internal loops. There has been a significant amount of </a:t>
            </a:r>
            <a:r>
              <a:rPr lang="en-US" sz="2400" dirty="0">
                <a:hlinkClick r:id="rId7" tooltip="Bioinformatics"/>
              </a:rPr>
              <a:t>bioinformatics</a:t>
            </a:r>
            <a:r>
              <a:rPr lang="en-US" sz="2400" dirty="0"/>
              <a:t> research directed at the RNA structure prediction problem.</a:t>
            </a:r>
          </a:p>
        </p:txBody>
      </p:sp>
      <p:sp>
        <p:nvSpPr>
          <p:cNvPr id="3" name="Rectangle 2"/>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6937794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3" name="Rectangle 2"/>
          <p:cNvSpPr/>
          <p:nvPr/>
        </p:nvSpPr>
        <p:spPr>
          <a:xfrm>
            <a:off x="281050" y="627604"/>
            <a:ext cx="10005950" cy="4893647"/>
          </a:xfrm>
          <a:prstGeom prst="rect">
            <a:avLst/>
          </a:prstGeom>
        </p:spPr>
        <p:txBody>
          <a:bodyPr wrap="square">
            <a:spAutoFit/>
          </a:bodyPr>
          <a:lstStyle/>
          <a:p>
            <a:r>
              <a:rPr lang="en-US" sz="2400" dirty="0">
                <a:hlinkClick r:id="rId2"/>
              </a:rPr>
              <a:t>10. Gene Prediction:</a:t>
            </a:r>
            <a:r>
              <a:rPr lang="en-US" sz="2400" dirty="0"/>
              <a:t/>
            </a:r>
            <a:br>
              <a:rPr lang="en-US" sz="2400" dirty="0"/>
            </a:br>
            <a:r>
              <a:rPr lang="en-US" sz="2400" dirty="0" smtClean="0"/>
              <a:t>Predicting </a:t>
            </a:r>
            <a:r>
              <a:rPr lang="en-US" sz="2400" dirty="0"/>
              <a:t>the Gene by the predefined conditions. Comparative genomics is the best method for predicting the gene</a:t>
            </a:r>
            <a:r>
              <a:rPr lang="en-US" sz="2400" dirty="0" smtClean="0"/>
              <a:t>.</a:t>
            </a:r>
          </a:p>
          <a:p>
            <a:endParaRPr lang="en-US" sz="2400" dirty="0"/>
          </a:p>
          <a:p>
            <a:r>
              <a:rPr lang="en-US" sz="2400" dirty="0">
                <a:hlinkClick r:id="rId3"/>
              </a:rPr>
              <a:t>11. Transcription factor binding site prediction:</a:t>
            </a:r>
            <a:r>
              <a:rPr lang="en-US" sz="2400" dirty="0"/>
              <a:t/>
            </a:r>
            <a:br>
              <a:rPr lang="en-US" sz="2400" dirty="0"/>
            </a:br>
            <a:r>
              <a:rPr lang="en-US" sz="2400" dirty="0" smtClean="0"/>
              <a:t>Predicting </a:t>
            </a:r>
            <a:r>
              <a:rPr lang="en-US" sz="2400" dirty="0"/>
              <a:t>the transcription factor. Most common method is to use "Comparative genomics". And finding clusters of motifs in the noncoding part of gene</a:t>
            </a:r>
            <a:r>
              <a:rPr lang="en-US" sz="2400" dirty="0" smtClean="0"/>
              <a:t>.</a:t>
            </a:r>
          </a:p>
          <a:p>
            <a:endParaRPr lang="en-US" sz="2400" dirty="0"/>
          </a:p>
          <a:p>
            <a:r>
              <a:rPr lang="en-US" sz="2400" dirty="0">
                <a:hlinkClick r:id="rId4"/>
              </a:rPr>
              <a:t>12. Genome Annotation:</a:t>
            </a:r>
            <a:r>
              <a:rPr lang="en-US" sz="2400" dirty="0"/>
              <a:t/>
            </a:r>
            <a:br>
              <a:rPr lang="en-US" sz="2400" dirty="0"/>
            </a:br>
            <a:r>
              <a:rPr lang="en-US" sz="2400" dirty="0" smtClean="0"/>
              <a:t>Predicting </a:t>
            </a:r>
            <a:r>
              <a:rPr lang="en-US" sz="2400" dirty="0"/>
              <a:t>the genes, coding and noncoding sequences are called genome </a:t>
            </a:r>
            <a:r>
              <a:rPr lang="en-US" sz="2400" dirty="0" smtClean="0"/>
              <a:t>annotation. Most </a:t>
            </a:r>
            <a:r>
              <a:rPr lang="en-US" sz="2400" dirty="0"/>
              <a:t>of the people follow comparative genomics to annotate the newly sequenced genomes.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8612029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2019" y="667932"/>
            <a:ext cx="10084981" cy="6001643"/>
          </a:xfrm>
          <a:prstGeom prst="rect">
            <a:avLst/>
          </a:prstGeom>
        </p:spPr>
        <p:txBody>
          <a:bodyPr wrap="square">
            <a:spAutoFit/>
          </a:bodyPr>
          <a:lstStyle/>
          <a:p>
            <a:r>
              <a:rPr lang="en-US" sz="2400" dirty="0"/>
              <a:t>13. Ancestry Prediction:</a:t>
            </a:r>
            <a:br>
              <a:rPr lang="en-US" sz="2400" dirty="0"/>
            </a:br>
            <a:r>
              <a:rPr lang="en-US" sz="2400" dirty="0" smtClean="0"/>
              <a:t>Predicting </a:t>
            </a:r>
            <a:r>
              <a:rPr lang="en-US" sz="2400" dirty="0"/>
              <a:t>the Ancestry of an individual based on his/her genetic signatures or </a:t>
            </a:r>
            <a:r>
              <a:rPr lang="en-US" sz="2400" dirty="0" smtClean="0"/>
              <a:t>SNPs. Mitochondrial </a:t>
            </a:r>
            <a:r>
              <a:rPr lang="en-US" sz="2400" dirty="0"/>
              <a:t>SNPs are used in predicting </a:t>
            </a:r>
            <a:r>
              <a:rPr lang="en-US" sz="2400" dirty="0">
                <a:hlinkClick r:id="rId2"/>
              </a:rPr>
              <a:t>Maternal ancestry</a:t>
            </a:r>
            <a:r>
              <a:rPr lang="en-US" sz="2400" dirty="0"/>
              <a:t> because Mitochondria is passed ONLY through mother to the </a:t>
            </a:r>
            <a:r>
              <a:rPr lang="en-US" sz="2400" dirty="0" smtClean="0"/>
              <a:t>child. Y </a:t>
            </a:r>
            <a:r>
              <a:rPr lang="en-US" sz="2400" dirty="0"/>
              <a:t>chromosome SNPs are used in predicting </a:t>
            </a:r>
            <a:r>
              <a:rPr lang="en-US" sz="2400" dirty="0">
                <a:hlinkClick r:id="rId3"/>
              </a:rPr>
              <a:t>paternal ancestry</a:t>
            </a:r>
            <a:r>
              <a:rPr lang="en-US" sz="2400" dirty="0"/>
              <a:t> </a:t>
            </a:r>
            <a:r>
              <a:rPr lang="en-US" sz="2400" dirty="0" err="1"/>
              <a:t>becuase</a:t>
            </a:r>
            <a:r>
              <a:rPr lang="en-US" sz="2400" dirty="0"/>
              <a:t> Y </a:t>
            </a:r>
            <a:r>
              <a:rPr lang="en-US" sz="2400" dirty="0" err="1"/>
              <a:t>chromsome</a:t>
            </a:r>
            <a:r>
              <a:rPr lang="en-US" sz="2400" dirty="0"/>
              <a:t> is passed from Father to the </a:t>
            </a:r>
            <a:r>
              <a:rPr lang="en-US" sz="2400" dirty="0" smtClean="0"/>
              <a:t>child. Ancestry </a:t>
            </a:r>
            <a:r>
              <a:rPr lang="en-US" sz="2400" dirty="0"/>
              <a:t>is one of the successful field </a:t>
            </a:r>
            <a:r>
              <a:rPr lang="en-US" sz="2400" dirty="0" smtClean="0"/>
              <a:t>in Bioinformatics</a:t>
            </a:r>
            <a:r>
              <a:rPr lang="en-US" sz="2400" dirty="0"/>
              <a:t>. </a:t>
            </a:r>
            <a:r>
              <a:rPr lang="en-US" sz="2400" dirty="0" err="1" smtClean="0">
                <a:hlinkClick r:id="rId4"/>
              </a:rPr>
              <a:t>Genography</a:t>
            </a:r>
            <a:r>
              <a:rPr lang="en-US" sz="2400" dirty="0" smtClean="0">
                <a:hlinkClick r:id="rId4"/>
              </a:rPr>
              <a:t> </a:t>
            </a:r>
            <a:r>
              <a:rPr lang="en-US" sz="2400" dirty="0">
                <a:hlinkClick r:id="rId4"/>
              </a:rPr>
              <a:t>project</a:t>
            </a:r>
            <a:r>
              <a:rPr lang="en-US" sz="2400" dirty="0"/>
              <a:t> by Dr. Spencer Wells is one of the finest one</a:t>
            </a:r>
            <a:r>
              <a:rPr lang="en-US" sz="2400" dirty="0" smtClean="0"/>
              <a:t>.</a:t>
            </a:r>
          </a:p>
          <a:p>
            <a:endParaRPr lang="en-US" sz="2400" dirty="0"/>
          </a:p>
          <a:p>
            <a:r>
              <a:rPr lang="en-US" sz="2400" dirty="0">
                <a:hlinkClick r:id="rId5"/>
              </a:rPr>
              <a:t>14. Mathematical </a:t>
            </a:r>
            <a:r>
              <a:rPr lang="en-US" sz="2400" dirty="0" err="1">
                <a:hlinkClick r:id="rId5"/>
              </a:rPr>
              <a:t>Modelling</a:t>
            </a:r>
            <a:r>
              <a:rPr lang="en-US" sz="2400" dirty="0">
                <a:hlinkClick r:id="rId5"/>
              </a:rPr>
              <a:t>:</a:t>
            </a:r>
            <a:r>
              <a:rPr lang="en-US" sz="2400" dirty="0"/>
              <a:t/>
            </a:r>
            <a:br>
              <a:rPr lang="en-US" sz="2400" dirty="0"/>
            </a:br>
            <a:r>
              <a:rPr lang="en-US" sz="2400" dirty="0" smtClean="0"/>
              <a:t>Using </a:t>
            </a:r>
            <a:r>
              <a:rPr lang="en-US" sz="2400" dirty="0" err="1"/>
              <a:t>mathemetics</a:t>
            </a:r>
            <a:r>
              <a:rPr lang="en-US" sz="2400" dirty="0"/>
              <a:t> to predict the out come of some complex real time problems which cannot be done in lab or in reality. Ex: population dynamics</a:t>
            </a:r>
            <a:r>
              <a:rPr lang="en-US" sz="2400" dirty="0" smtClean="0"/>
              <a:t>.</a:t>
            </a:r>
          </a:p>
          <a:p>
            <a:endParaRPr lang="en-US" sz="2400" dirty="0"/>
          </a:p>
          <a:p>
            <a:r>
              <a:rPr lang="en-US" sz="2400" dirty="0">
                <a:hlinkClick r:id="rId6"/>
              </a:rPr>
              <a:t>15. Ethnicity Prediction:</a:t>
            </a:r>
            <a:r>
              <a:rPr lang="en-US" sz="2400" dirty="0"/>
              <a:t/>
            </a:r>
            <a:br>
              <a:rPr lang="en-US" sz="2400" dirty="0"/>
            </a:br>
            <a:r>
              <a:rPr lang="en-US" sz="2400" dirty="0" smtClean="0"/>
              <a:t>Predicting </a:t>
            </a:r>
            <a:r>
              <a:rPr lang="en-US" sz="2400" dirty="0"/>
              <a:t>the ethnicity of an individual by using genetics variations. Each ethnicity is defined by a set of genetic variations.</a:t>
            </a:r>
          </a:p>
        </p:txBody>
      </p:sp>
      <p:sp>
        <p:nvSpPr>
          <p:cNvPr id="3" name="Rectangle 2"/>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34541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050" y="670150"/>
            <a:ext cx="10005950" cy="4893647"/>
          </a:xfrm>
          <a:prstGeom prst="rect">
            <a:avLst/>
          </a:prstGeom>
        </p:spPr>
        <p:txBody>
          <a:bodyPr wrap="square">
            <a:spAutoFit/>
          </a:bodyPr>
          <a:lstStyle/>
          <a:p>
            <a:r>
              <a:rPr lang="en-US" sz="2400" dirty="0">
                <a:hlinkClick r:id="rId2"/>
              </a:rPr>
              <a:t>16. Functional Domains prediction:</a:t>
            </a:r>
            <a:r>
              <a:rPr lang="en-US" sz="2400" dirty="0"/>
              <a:t/>
            </a:r>
            <a:br>
              <a:rPr lang="en-US" sz="2400" dirty="0"/>
            </a:br>
            <a:r>
              <a:rPr lang="en-US" sz="2400" dirty="0" smtClean="0"/>
              <a:t>Predicting </a:t>
            </a:r>
            <a:r>
              <a:rPr lang="en-US" sz="2400" dirty="0"/>
              <a:t>the protein domains which are </a:t>
            </a:r>
            <a:r>
              <a:rPr lang="en-US" sz="2400" dirty="0" err="1"/>
              <a:t>functionaly</a:t>
            </a:r>
            <a:r>
              <a:rPr lang="en-US" sz="2400" dirty="0"/>
              <a:t> important from its protein sequence like active sites in a protein</a:t>
            </a:r>
            <a:r>
              <a:rPr lang="en-US" sz="2400" dirty="0" smtClean="0"/>
              <a:t>.</a:t>
            </a:r>
          </a:p>
          <a:p>
            <a:endParaRPr lang="en-US" sz="2400" dirty="0"/>
          </a:p>
          <a:p>
            <a:r>
              <a:rPr lang="en-US" sz="2400" dirty="0">
                <a:hlinkClick r:id="rId3"/>
              </a:rPr>
              <a:t>17. Motif Prediction /Pattern matching:</a:t>
            </a:r>
            <a:r>
              <a:rPr lang="en-US" sz="2400" dirty="0"/>
              <a:t/>
            </a:r>
            <a:br>
              <a:rPr lang="en-US" sz="2400" dirty="0"/>
            </a:br>
            <a:r>
              <a:rPr lang="en-US" sz="2400" dirty="0" smtClean="0"/>
              <a:t>Predicting </a:t>
            </a:r>
            <a:r>
              <a:rPr lang="en-US" sz="2400" dirty="0"/>
              <a:t>the motifs or motif clusters which are </a:t>
            </a:r>
            <a:r>
              <a:rPr lang="en-US" sz="2400" dirty="0" err="1"/>
              <a:t>functionaly</a:t>
            </a:r>
            <a:r>
              <a:rPr lang="en-US" sz="2400" dirty="0"/>
              <a:t> important.</a:t>
            </a:r>
            <a:br>
              <a:rPr lang="en-US" sz="2400" dirty="0"/>
            </a:br>
            <a:r>
              <a:rPr lang="en-US" sz="2400" dirty="0"/>
              <a:t>Ex: regulatory motifs, Binding site motifs ...</a:t>
            </a:r>
            <a:r>
              <a:rPr lang="en-US" sz="2400" dirty="0" err="1"/>
              <a:t>miRNA</a:t>
            </a:r>
            <a:r>
              <a:rPr lang="en-US" sz="2400" dirty="0"/>
              <a:t> </a:t>
            </a:r>
            <a:r>
              <a:rPr lang="en-US" sz="2400" dirty="0" err="1"/>
              <a:t>motics</a:t>
            </a:r>
            <a:r>
              <a:rPr lang="en-US" sz="2400" dirty="0"/>
              <a:t> ..repeat </a:t>
            </a:r>
            <a:r>
              <a:rPr lang="en-US" sz="2400" dirty="0" err="1"/>
              <a:t>motis</a:t>
            </a:r>
            <a:r>
              <a:rPr lang="en-US" sz="2400" dirty="0"/>
              <a:t> ...Microsatellites are also a kind of motifs</a:t>
            </a:r>
            <a:r>
              <a:rPr lang="en-US" sz="2400" dirty="0" smtClean="0"/>
              <a:t>.</a:t>
            </a:r>
          </a:p>
          <a:p>
            <a:endParaRPr lang="en-US" sz="2400" dirty="0"/>
          </a:p>
          <a:p>
            <a:r>
              <a:rPr lang="en-US" sz="2400" dirty="0" smtClean="0">
                <a:hlinkClick r:id="rId4"/>
              </a:rPr>
              <a:t>18</a:t>
            </a:r>
            <a:r>
              <a:rPr lang="en-US" sz="2400" dirty="0">
                <a:hlinkClick r:id="rId4"/>
              </a:rPr>
              <a:t>. Protein - protein interaction:</a:t>
            </a:r>
            <a:r>
              <a:rPr lang="en-US" sz="2400" dirty="0"/>
              <a:t/>
            </a:r>
            <a:br>
              <a:rPr lang="en-US" sz="2400" dirty="0"/>
            </a:br>
            <a:r>
              <a:rPr lang="en-US" sz="2400" dirty="0"/>
              <a:t/>
            </a:r>
            <a:br>
              <a:rPr lang="en-US" sz="2400" dirty="0"/>
            </a:br>
            <a:r>
              <a:rPr lang="en-US" sz="2400" dirty="0">
                <a:hlinkClick r:id="rId5"/>
              </a:rPr>
              <a:t>19. Protein folding:</a:t>
            </a:r>
            <a:r>
              <a:rPr lang="en-US" sz="2400" dirty="0"/>
              <a:t/>
            </a:r>
            <a:br>
              <a:rPr lang="en-US" sz="2400" dirty="0"/>
            </a:br>
            <a:r>
              <a:rPr lang="en-US" sz="2400" dirty="0" smtClean="0"/>
              <a:t>One </a:t>
            </a:r>
            <a:r>
              <a:rPr lang="en-US" sz="2400" dirty="0"/>
              <a:t>of the famous and most important and still unsolved problem.</a:t>
            </a:r>
          </a:p>
        </p:txBody>
      </p:sp>
      <p:sp>
        <p:nvSpPr>
          <p:cNvPr id="3" name="Rectangle 2"/>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14671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705601" cy="584775"/>
          </a:xfrm>
          <a:prstGeom prst="rect">
            <a:avLst/>
          </a:prstGeom>
        </p:spPr>
        <p:txBody>
          <a:bodyPr wrap="none">
            <a:spAutoFit/>
          </a:bodyPr>
          <a:lstStyle/>
          <a:p>
            <a:pPr algn="just"/>
            <a:r>
              <a:rPr lang="en-US" sz="3200" dirty="0"/>
              <a:t>Research </a:t>
            </a:r>
            <a:r>
              <a:rPr lang="en-US" sz="3200" dirty="0" smtClean="0"/>
              <a:t>areas of Bioinformatics </a:t>
            </a:r>
            <a:endParaRPr lang="en-US" sz="2800" dirty="0"/>
          </a:p>
        </p:txBody>
      </p:sp>
      <p:sp>
        <p:nvSpPr>
          <p:cNvPr id="3" name="Rectangle 2"/>
          <p:cNvSpPr/>
          <p:nvPr/>
        </p:nvSpPr>
        <p:spPr>
          <a:xfrm>
            <a:off x="281050" y="584775"/>
            <a:ext cx="10005950" cy="6001643"/>
          </a:xfrm>
          <a:prstGeom prst="rect">
            <a:avLst/>
          </a:prstGeom>
        </p:spPr>
        <p:txBody>
          <a:bodyPr wrap="square">
            <a:spAutoFit/>
          </a:bodyPr>
          <a:lstStyle/>
          <a:p>
            <a:r>
              <a:rPr lang="en-US" sz="2400" dirty="0">
                <a:hlinkClick r:id="rId2"/>
              </a:rPr>
              <a:t>20. Database development:</a:t>
            </a:r>
            <a:r>
              <a:rPr lang="en-US" sz="2400" dirty="0"/>
              <a:t/>
            </a:r>
            <a:br>
              <a:rPr lang="en-US" sz="2400" dirty="0"/>
            </a:br>
            <a:r>
              <a:rPr lang="en-US" sz="2400" dirty="0" smtClean="0"/>
              <a:t>In </a:t>
            </a:r>
            <a:r>
              <a:rPr lang="en-US" sz="2400" dirty="0"/>
              <a:t>some sense Bioinformatics is called as "Comparative Method". Because Bioinformatics depends on Databases for all of its analysis. So developing data base is a very important project. Many companies surviving by </a:t>
            </a:r>
            <a:r>
              <a:rPr lang="en-US" sz="2400" dirty="0" err="1"/>
              <a:t>devloping</a:t>
            </a:r>
            <a:r>
              <a:rPr lang="en-US" sz="2400" dirty="0"/>
              <a:t> and updating the </a:t>
            </a:r>
            <a:r>
              <a:rPr lang="en-US" sz="2400" dirty="0" smtClean="0"/>
              <a:t>databases. NCBI </a:t>
            </a:r>
            <a:r>
              <a:rPr lang="en-US" sz="2400" dirty="0"/>
              <a:t>, PDB and UCSC genome browser are some of the very important databases.</a:t>
            </a:r>
            <a:br>
              <a:rPr lang="en-US" sz="2400" dirty="0"/>
            </a:br>
            <a:r>
              <a:rPr lang="en-US" sz="2400" dirty="0">
                <a:hlinkClick r:id="rId3"/>
              </a:rPr>
              <a:t/>
            </a:r>
            <a:br>
              <a:rPr lang="en-US" sz="2400" dirty="0">
                <a:hlinkClick r:id="rId3"/>
              </a:rPr>
            </a:br>
            <a:r>
              <a:rPr lang="en-US" sz="2400" dirty="0">
                <a:hlinkClick r:id="rId3"/>
              </a:rPr>
              <a:t>21. Software development:</a:t>
            </a:r>
            <a:r>
              <a:rPr lang="en-US" sz="2400" dirty="0"/>
              <a:t/>
            </a:r>
            <a:br>
              <a:rPr lang="en-US" sz="2400" dirty="0"/>
            </a:br>
            <a:r>
              <a:rPr lang="en-US" sz="2400" dirty="0" smtClean="0"/>
              <a:t>Incorporating </a:t>
            </a:r>
            <a:r>
              <a:rPr lang="en-US" sz="2400" dirty="0"/>
              <a:t>the usage of </a:t>
            </a:r>
            <a:r>
              <a:rPr lang="en-US" sz="2400" dirty="0" err="1"/>
              <a:t>Softwares</a:t>
            </a:r>
            <a:r>
              <a:rPr lang="en-US" sz="2400" dirty="0"/>
              <a:t> in Biological analysis is called "Bioinformatics</a:t>
            </a:r>
            <a:r>
              <a:rPr lang="en-US" sz="2400" dirty="0" smtClean="0"/>
              <a:t>".</a:t>
            </a:r>
          </a:p>
          <a:p>
            <a:endParaRPr lang="en-US" sz="2400" dirty="0"/>
          </a:p>
          <a:p>
            <a:r>
              <a:rPr lang="en-US" sz="2400" dirty="0"/>
              <a:t>22. </a:t>
            </a:r>
            <a:r>
              <a:rPr lang="en-US" sz="2400" dirty="0" smtClean="0"/>
              <a:t>Primer </a:t>
            </a:r>
            <a:r>
              <a:rPr lang="en-US" sz="2400" dirty="0"/>
              <a:t>designing:</a:t>
            </a:r>
            <a:br>
              <a:rPr lang="en-US" sz="2400" dirty="0"/>
            </a:br>
            <a:r>
              <a:rPr lang="en-US" sz="2400" dirty="0"/>
              <a:t/>
            </a:r>
            <a:br>
              <a:rPr lang="en-US" sz="2400" dirty="0"/>
            </a:br>
            <a:r>
              <a:rPr lang="en-US" sz="2400" dirty="0" smtClean="0"/>
              <a:t>23. Genome </a:t>
            </a:r>
            <a:r>
              <a:rPr lang="en-US" sz="2400" dirty="0"/>
              <a:t>wide Association Studies:</a:t>
            </a:r>
            <a:br>
              <a:rPr lang="en-US" sz="2400" dirty="0"/>
            </a:br>
            <a:r>
              <a:rPr lang="en-US" sz="2400" dirty="0"/>
              <a:t/>
            </a:r>
            <a:br>
              <a:rPr lang="en-US" sz="2400" dirty="0"/>
            </a:br>
            <a:r>
              <a:rPr lang="en-US" sz="2400" dirty="0" smtClean="0"/>
              <a:t>24. </a:t>
            </a:r>
            <a:r>
              <a:rPr lang="en-US" sz="2400" dirty="0"/>
              <a:t>Systems Biology</a:t>
            </a:r>
            <a:r>
              <a:rPr lang="en-US" sz="2400" dirty="0" smtClean="0"/>
              <a:t>:</a:t>
            </a:r>
            <a:endParaRPr 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4877885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0287000" cy="6858000"/>
          </a:xfrm>
          <a:prstGeom prst="rect">
            <a:avLst/>
          </a:prstGeom>
        </p:spPr>
      </p:pic>
    </p:spTree>
    <p:extLst>
      <p:ext uri="{BB962C8B-B14F-4D97-AF65-F5344CB8AC3E}">
        <p14:creationId xmlns:p14="http://schemas.microsoft.com/office/powerpoint/2010/main" val="17244094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3785</TotalTime>
  <Words>1305</Words>
  <Application>Microsoft Office PowerPoint</Application>
  <PresentationFormat>35mm Slides</PresentationFormat>
  <Paragraphs>289</Paragraphs>
  <Slides>51</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3" baseType="lpstr">
      <vt:lpstr>Celestial</vt:lpstr>
      <vt:lpstr>Photo Editor Photo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New York Times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Bioinformatics history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dc:creator>
  <cp:lastModifiedBy>Pritam</cp:lastModifiedBy>
  <cp:revision>135</cp:revision>
  <dcterms:created xsi:type="dcterms:W3CDTF">2020-08-29T16:56:40Z</dcterms:created>
  <dcterms:modified xsi:type="dcterms:W3CDTF">2021-08-25T20:57:40Z</dcterms:modified>
</cp:coreProperties>
</file>