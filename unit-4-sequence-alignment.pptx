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64"/>
  </p:notesMasterIdLst>
  <p:sldIdLst>
    <p:sldId id="256" r:id="rId2"/>
    <p:sldId id="258" r:id="rId3"/>
    <p:sldId id="259" r:id="rId4"/>
    <p:sldId id="261" r:id="rId5"/>
    <p:sldId id="262" r:id="rId6"/>
    <p:sldId id="260" r:id="rId7"/>
    <p:sldId id="263" r:id="rId8"/>
    <p:sldId id="264" r:id="rId9"/>
    <p:sldId id="265" r:id="rId10"/>
    <p:sldId id="267" r:id="rId11"/>
    <p:sldId id="268" r:id="rId12"/>
    <p:sldId id="269" r:id="rId13"/>
    <p:sldId id="270" r:id="rId14"/>
    <p:sldId id="266" r:id="rId15"/>
    <p:sldId id="271" r:id="rId16"/>
    <p:sldId id="272" r:id="rId17"/>
    <p:sldId id="273" r:id="rId18"/>
    <p:sldId id="274" r:id="rId19"/>
    <p:sldId id="281" r:id="rId20"/>
    <p:sldId id="275" r:id="rId21"/>
    <p:sldId id="283" r:id="rId22"/>
    <p:sldId id="284" r:id="rId23"/>
    <p:sldId id="276" r:id="rId24"/>
    <p:sldId id="277" r:id="rId25"/>
    <p:sldId id="278" r:id="rId26"/>
    <p:sldId id="279" r:id="rId27"/>
    <p:sldId id="280" r:id="rId28"/>
    <p:sldId id="285" r:id="rId29"/>
    <p:sldId id="316" r:id="rId30"/>
    <p:sldId id="318" r:id="rId31"/>
    <p:sldId id="319" r:id="rId32"/>
    <p:sldId id="320" r:id="rId33"/>
    <p:sldId id="321" r:id="rId34"/>
    <p:sldId id="286" r:id="rId35"/>
    <p:sldId id="287"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Lst>
  <p:sldSz cx="10287000" cy="6858000" type="35mm"/>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50" d="100"/>
          <a:sy n="50" d="100"/>
        </p:scale>
        <p:origin x="-1544" y="-476"/>
      </p:cViewPr>
      <p:guideLst>
        <p:guide orient="horz" pos="2160"/>
        <p:guide pos="32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9BF85-77C1-41AE-9F39-6050061EDF6A}" type="datetimeFigureOut">
              <a:rPr lang="en-US" smtClean="0"/>
              <a:t>10/23/2021</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476B26-3396-4668-8E95-206BD960031C}" type="slidenum">
              <a:rPr lang="en-US" smtClean="0"/>
              <a:t>‹#›</a:t>
            </a:fld>
            <a:endParaRPr lang="en-US"/>
          </a:p>
        </p:txBody>
      </p:sp>
    </p:spTree>
    <p:extLst>
      <p:ext uri="{BB962C8B-B14F-4D97-AF65-F5344CB8AC3E}">
        <p14:creationId xmlns:p14="http://schemas.microsoft.com/office/powerpoint/2010/main" val="2202817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493448-131A-47EB-ABC0-4A83B873D1A6}" type="slidenum">
              <a:rPr lang="en-US"/>
              <a:pPr/>
              <a:t>38</a:t>
            </a:fld>
            <a:endParaRPr lang="en-US"/>
          </a:p>
        </p:txBody>
      </p:sp>
      <p:sp>
        <p:nvSpPr>
          <p:cNvPr id="141314" name="Rectangle 2"/>
          <p:cNvSpPr>
            <a:spLocks noGrp="1" noRot="1" noChangeAspect="1" noChangeArrowheads="1" noTextEdit="1"/>
          </p:cNvSpPr>
          <p:nvPr>
            <p:ph type="sldImg"/>
          </p:nvPr>
        </p:nvSpPr>
        <p:spPr>
          <a:ln/>
        </p:spPr>
      </p:sp>
      <p:sp>
        <p:nvSpPr>
          <p:cNvPr id="1413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9E9F19-FC06-4D60-A83D-54FA7567869F}" type="slidenum">
              <a:rPr lang="en-US"/>
              <a:pPr/>
              <a:t>58</a:t>
            </a:fld>
            <a:endParaRPr lang="en-US"/>
          </a:p>
        </p:txBody>
      </p:sp>
      <p:sp>
        <p:nvSpPr>
          <p:cNvPr id="162818" name="Rectangle 2"/>
          <p:cNvSpPr>
            <a:spLocks noGrp="1" noRot="1" noChangeAspect="1" noChangeArrowheads="1" noTextEdit="1"/>
          </p:cNvSpPr>
          <p:nvPr>
            <p:ph type="sldImg"/>
          </p:nvPr>
        </p:nvSpPr>
        <p:spPr>
          <a:ln/>
        </p:spPr>
      </p:sp>
      <p:sp>
        <p:nvSpPr>
          <p:cNvPr id="162819"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Celestia-R1---OverlayTitle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22469" cy="6858000"/>
          </a:xfrm>
          <a:prstGeom prst="rect">
            <a:avLst/>
          </a:prstGeom>
        </p:spPr>
      </p:pic>
      <p:sp>
        <p:nvSpPr>
          <p:cNvPr id="2" name="Title 1"/>
          <p:cNvSpPr>
            <a:spLocks noGrp="1"/>
          </p:cNvSpPr>
          <p:nvPr>
            <p:ph type="ctrTitle"/>
          </p:nvPr>
        </p:nvSpPr>
        <p:spPr>
          <a:xfrm>
            <a:off x="3086969" y="1964267"/>
            <a:ext cx="6428507" cy="2421464"/>
          </a:xfrm>
        </p:spPr>
        <p:txBody>
          <a:bodyPr anchor="b">
            <a:normAutofit/>
          </a:bodyPr>
          <a:lstStyle>
            <a:lvl1pPr algn="r">
              <a:defRPr sz="4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086969" y="4385734"/>
            <a:ext cx="6428507"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96350" y="5870577"/>
            <a:ext cx="1363695" cy="377825"/>
          </a:xfrm>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a:xfrm>
            <a:off x="3086970" y="5870577"/>
            <a:ext cx="4423654" cy="377825"/>
          </a:xfrm>
        </p:spPr>
        <p:txBody>
          <a:bodyPr/>
          <a:lstStyle/>
          <a:p>
            <a:endParaRPr lang="en-US"/>
          </a:p>
        </p:txBody>
      </p:sp>
      <p:sp>
        <p:nvSpPr>
          <p:cNvPr id="6" name="Slide Number Placeholder 5"/>
          <p:cNvSpPr>
            <a:spLocks noGrp="1"/>
          </p:cNvSpPr>
          <p:nvPr>
            <p:ph type="sldNum" sz="quarter" idx="12"/>
          </p:nvPr>
        </p:nvSpPr>
        <p:spPr>
          <a:xfrm>
            <a:off x="9045770" y="5870577"/>
            <a:ext cx="469706" cy="377825"/>
          </a:xfrm>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845706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p:txBody>
          <a:bodyPr>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132262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2" y="3308581"/>
            <a:ext cx="8743950" cy="14688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514351" y="4777381"/>
            <a:ext cx="8743950" cy="860400"/>
          </a:xfrm>
        </p:spPr>
        <p:txBody>
          <a:bodyPr anchor="t">
            <a:normAutofit/>
          </a:bodyPr>
          <a:lstStyle>
            <a:lvl1pPr marL="0" indent="0" algn="l">
              <a:buNone/>
              <a:defRPr sz="18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17026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14351" y="2142068"/>
            <a:ext cx="4289679" cy="364913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968622" y="2142069"/>
            <a:ext cx="4289679" cy="364913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4136626-2AE9-4567-8D5E-94F038CBDAA7}" type="datetimeFigureOut">
              <a:rPr lang="en-US" smtClean="0"/>
              <a:t>10/23/2021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865625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p:txBody>
          <a:bodyPr>
            <a:normAutofit/>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36416" y="2218267"/>
            <a:ext cx="398317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14350" y="2870201"/>
            <a:ext cx="4289679"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300010" y="2218267"/>
            <a:ext cx="3958290"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968621" y="2870201"/>
            <a:ext cx="4289679"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4136626-2AE9-4567-8D5E-94F038CBDAA7}" type="datetimeFigureOut">
              <a:rPr lang="en-US" smtClean="0"/>
              <a:t>10/23/2021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37214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1" y="609602"/>
            <a:ext cx="8743950" cy="1456267"/>
          </a:xfrm>
        </p:spPr>
        <p:txBody>
          <a:bodyPr>
            <a:normAutofit/>
          </a:bodyPr>
          <a:lstStyle>
            <a:lvl1pPr>
              <a:defRPr sz="3200"/>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4136626-2AE9-4567-8D5E-94F038CBDAA7}" type="datetimeFigureOut">
              <a:rPr lang="en-US" smtClean="0"/>
              <a:t>10/23/2021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604770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Date Placeholder 1"/>
          <p:cNvSpPr>
            <a:spLocks noGrp="1"/>
          </p:cNvSpPr>
          <p:nvPr>
            <p:ph type="dt" sz="half" idx="10"/>
          </p:nvPr>
        </p:nvSpPr>
        <p:spPr/>
        <p:txBody>
          <a:bodyPr/>
          <a:lstStyle/>
          <a:p>
            <a:fld id="{E4136626-2AE9-4567-8D5E-94F038CBDAA7}" type="datetimeFigureOut">
              <a:rPr lang="en-US" smtClean="0"/>
              <a:t>10/23/2021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633771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2" name="Picture 11"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9433" y="1557868"/>
            <a:ext cx="3220774" cy="1439332"/>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056913" y="609601"/>
            <a:ext cx="5206472" cy="5181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19433" y="2997201"/>
            <a:ext cx="3220774" cy="184573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136626-2AE9-4567-8D5E-94F038CBDAA7}" type="datetimeFigureOut">
              <a:rPr lang="en-US" smtClean="0"/>
              <a:t>10/23/2021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260361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1" name="Picture 10"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9894" y="1735672"/>
            <a:ext cx="4609355" cy="1371600"/>
          </a:xfrm>
        </p:spPr>
        <p:txBody>
          <a:bodyPr anchor="b">
            <a:normAutofit/>
          </a:bodyPr>
          <a:lstStyle>
            <a:lvl1pPr algn="l">
              <a:defRPr sz="24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5657850" y="914400"/>
            <a:ext cx="3600450"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dirty="0"/>
            </a:lvl1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a:xfrm>
            <a:off x="519894" y="3107272"/>
            <a:ext cx="460935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136626-2AE9-4567-8D5E-94F038CBDAA7}" type="datetimeFigureOut">
              <a:rPr lang="en-US" smtClean="0"/>
              <a:t>10/23/2021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455269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1" y="4732865"/>
            <a:ext cx="8743950" cy="566738"/>
          </a:xfrm>
        </p:spPr>
        <p:txBody>
          <a:bodyPr anchor="b">
            <a:normAutofit/>
          </a:bodyPr>
          <a:lstStyle>
            <a:lvl1pPr algn="l">
              <a:defRPr sz="20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8701" y="932112"/>
            <a:ext cx="7715250"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a:lvl1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a:xfrm>
            <a:off x="514351" y="5299603"/>
            <a:ext cx="874395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136626-2AE9-4567-8D5E-94F038CBDAA7}" type="datetimeFigureOut">
              <a:rPr lang="en-US" smtClean="0"/>
              <a:t>10/23/2021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034304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4" y="609603"/>
            <a:ext cx="8743949"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4353" y="4343400"/>
            <a:ext cx="8743949"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843701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7" name="Picture 1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14" name="TextBox 13"/>
          <p:cNvSpPr txBox="1"/>
          <p:nvPr/>
        </p:nvSpPr>
        <p:spPr>
          <a:xfrm>
            <a:off x="474521" y="718114"/>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702776" y="2751671"/>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89005" y="609603"/>
            <a:ext cx="797770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112255" y="3352800"/>
            <a:ext cx="7735650" cy="381000"/>
          </a:xfrm>
        </p:spPr>
        <p:txBody>
          <a:bodyPr anchor="ct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20049" y="4343400"/>
            <a:ext cx="874395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8669568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2" y="3291648"/>
            <a:ext cx="8743951" cy="1468800"/>
          </a:xfrm>
        </p:spPr>
        <p:txBody>
          <a:bodyPr anchor="b">
            <a:normAutofit/>
          </a:bodyPr>
          <a:lstStyle>
            <a:lvl1pPr algn="l">
              <a:defRPr sz="2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4350" y="4760448"/>
            <a:ext cx="8743952"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005130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11" name="TextBox 10"/>
          <p:cNvSpPr txBox="1"/>
          <p:nvPr/>
        </p:nvSpPr>
        <p:spPr>
          <a:xfrm>
            <a:off x="474521" y="718114"/>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6" name="TextBox 15"/>
          <p:cNvSpPr txBox="1"/>
          <p:nvPr/>
        </p:nvSpPr>
        <p:spPr>
          <a:xfrm>
            <a:off x="8702776" y="2751671"/>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89005" y="609603"/>
            <a:ext cx="797770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514351" y="3886200"/>
            <a:ext cx="8743951" cy="8890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514351" y="4775200"/>
            <a:ext cx="8743951" cy="10160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31317424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22496" y="609603"/>
            <a:ext cx="8743951" cy="2743199"/>
          </a:xfrm>
        </p:spPr>
        <p:txBody>
          <a:bodyPr vert="horz" lIns="91440" tIns="45720" rIns="91440" bIns="45720" rtlCol="0" anchor="ctr">
            <a:normAutofit/>
          </a:bodyPr>
          <a:lstStyle>
            <a:lvl1pPr>
              <a:defRPr lang="en-US" sz="2800"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522496" y="3505200"/>
            <a:ext cx="8743951" cy="8382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522495" y="4343400"/>
            <a:ext cx="8743951" cy="14478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3507549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8" name="Title 1"/>
          <p:cNvSpPr>
            <a:spLocks noGrp="1"/>
          </p:cNvSpPr>
          <p:nvPr>
            <p:ph type="title"/>
          </p:nvPr>
        </p:nvSpPr>
        <p:spPr>
          <a:xfrm>
            <a:off x="514350" y="609602"/>
            <a:ext cx="8743950" cy="1456267"/>
          </a:xfrm>
        </p:spPr>
        <p:txBody>
          <a:bodyPr>
            <a:normAutofit/>
          </a:bodyPr>
          <a:lstStyle>
            <a:lvl1pPr>
              <a:defRPr sz="2800"/>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3785357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Vertical Title 1"/>
          <p:cNvSpPr>
            <a:spLocks noGrp="1"/>
          </p:cNvSpPr>
          <p:nvPr>
            <p:ph type="title" orient="vert"/>
          </p:nvPr>
        </p:nvSpPr>
        <p:spPr>
          <a:xfrm>
            <a:off x="7372101" y="609601"/>
            <a:ext cx="1886199" cy="5181601"/>
          </a:xfrm>
        </p:spPr>
        <p:txBody>
          <a:bodyPr vert="eaVert">
            <a:normAutofit/>
          </a:bodyPr>
          <a:lstStyle>
            <a:lvl1pPr>
              <a:defRPr sz="2800"/>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14350" y="609600"/>
            <a:ext cx="6738957" cy="5181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9639079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71525" y="609600"/>
            <a:ext cx="874395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771525" y="1981200"/>
            <a:ext cx="428625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229225" y="1981200"/>
            <a:ext cx="428625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771525" y="6248400"/>
            <a:ext cx="2143125" cy="457200"/>
          </a:xfrm>
        </p:spPr>
        <p:txBody>
          <a:bodyPr/>
          <a:lstStyle>
            <a:lvl1pPr>
              <a:defRPr/>
            </a:lvl1pPr>
          </a:lstStyle>
          <a:p>
            <a:fld id="{73F5BB96-1F9A-4DE1-B850-25171C04F1F9}" type="datetime4">
              <a:rPr lang="en-US"/>
              <a:pPr/>
              <a:t>October 23, 2021</a:t>
            </a:fld>
            <a:endParaRPr lang="en-US"/>
          </a:p>
        </p:txBody>
      </p:sp>
      <p:sp>
        <p:nvSpPr>
          <p:cNvPr id="6" name="Footer Placeholder 5"/>
          <p:cNvSpPr>
            <a:spLocks noGrp="1"/>
          </p:cNvSpPr>
          <p:nvPr>
            <p:ph type="ftr" sz="quarter" idx="11"/>
          </p:nvPr>
        </p:nvSpPr>
        <p:spPr>
          <a:xfrm>
            <a:off x="2914650" y="6248400"/>
            <a:ext cx="4457700" cy="457200"/>
          </a:xfrm>
        </p:spPr>
        <p:txBody>
          <a:bodyPr/>
          <a:lstStyle>
            <a:lvl1pPr>
              <a:defRPr/>
            </a:lvl1pPr>
          </a:lstStyle>
          <a:p>
            <a:r>
              <a:rPr lang="en-US"/>
              <a:t>BBSI Summer School - Iowa State University</a:t>
            </a:r>
          </a:p>
        </p:txBody>
      </p:sp>
      <p:sp>
        <p:nvSpPr>
          <p:cNvPr id="7" name="Slide Number Placeholder 6"/>
          <p:cNvSpPr>
            <a:spLocks noGrp="1"/>
          </p:cNvSpPr>
          <p:nvPr>
            <p:ph type="sldNum" sz="quarter" idx="12"/>
          </p:nvPr>
        </p:nvSpPr>
        <p:spPr>
          <a:xfrm>
            <a:off x="7372350" y="6248400"/>
            <a:ext cx="2143125" cy="457200"/>
          </a:xfrm>
        </p:spPr>
        <p:txBody>
          <a:bodyPr/>
          <a:lstStyle>
            <a:lvl1pPr>
              <a:defRPr/>
            </a:lvl1pPr>
          </a:lstStyle>
          <a:p>
            <a:fld id="{9FBE210B-413D-411F-927F-37609911A659}" type="slidenum">
              <a:rPr lang="en-US"/>
              <a:pPr/>
              <a:t>‹#›</a:t>
            </a:fld>
            <a:endParaRPr lang="en-US"/>
          </a:p>
        </p:txBody>
      </p:sp>
    </p:spTree>
    <p:extLst>
      <p:ext uri="{BB962C8B-B14F-4D97-AF65-F5344CB8AC3E}">
        <p14:creationId xmlns:p14="http://schemas.microsoft.com/office/powerpoint/2010/main" val="1375922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4350" y="609602"/>
            <a:ext cx="8743950"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14350" y="2142069"/>
            <a:ext cx="8743950" cy="3649133"/>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339176" y="5870577"/>
            <a:ext cx="1363695"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4136626-2AE9-4567-8D5E-94F038CBDAA7}" type="datetimeFigureOut">
              <a:rPr lang="en-US" smtClean="0"/>
              <a:t>10/23/2021</a:t>
            </a:fld>
            <a:endParaRPr lang="en-US"/>
          </a:p>
        </p:txBody>
      </p:sp>
      <p:sp>
        <p:nvSpPr>
          <p:cNvPr id="5" name="Footer Placeholder 4"/>
          <p:cNvSpPr>
            <a:spLocks noGrp="1"/>
          </p:cNvSpPr>
          <p:nvPr>
            <p:ph type="ftr" sz="quarter" idx="3"/>
          </p:nvPr>
        </p:nvSpPr>
        <p:spPr>
          <a:xfrm>
            <a:off x="514351" y="5870577"/>
            <a:ext cx="6739100"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788595" y="5870577"/>
            <a:ext cx="469706"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2276F9-8EC0-4ED6-B069-0CC0FD5EB513}" type="slidenum">
              <a:rPr lang="en-US" smtClean="0"/>
              <a:t>‹#›</a:t>
            </a:fld>
            <a:endParaRPr lang="en-US"/>
          </a:p>
        </p:txBody>
      </p:sp>
    </p:spTree>
    <p:extLst>
      <p:ext uri="{BB962C8B-B14F-4D97-AF65-F5344CB8AC3E}">
        <p14:creationId xmlns:p14="http://schemas.microsoft.com/office/powerpoint/2010/main" val="246596487"/>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Ls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7168866" y="5903188"/>
            <a:ext cx="311841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Helvetica" charset="0"/>
              </a:defRPr>
            </a:lvl1pPr>
            <a:lvl2pPr marL="742950" indent="-285750">
              <a:defRPr sz="2400">
                <a:solidFill>
                  <a:schemeClr val="tx1"/>
                </a:solidFill>
                <a:latin typeface="Helvetica" charset="0"/>
              </a:defRPr>
            </a:lvl2pPr>
            <a:lvl3pPr marL="1143000" indent="-228600">
              <a:defRPr sz="2400">
                <a:solidFill>
                  <a:schemeClr val="tx1"/>
                </a:solidFill>
                <a:latin typeface="Helvetica" charset="0"/>
              </a:defRPr>
            </a:lvl3pPr>
            <a:lvl4pPr marL="1600200" indent="-228600">
              <a:defRPr sz="2400">
                <a:solidFill>
                  <a:schemeClr val="tx1"/>
                </a:solidFill>
                <a:latin typeface="Helvetica" charset="0"/>
              </a:defRPr>
            </a:lvl4pPr>
            <a:lvl5pPr marL="2057400" indent="-228600">
              <a:defRPr sz="2400">
                <a:solidFill>
                  <a:schemeClr val="tx1"/>
                </a:solidFill>
                <a:latin typeface="Helvetica" charset="0"/>
              </a:defRPr>
            </a:lvl5pPr>
            <a:lvl6pPr marL="2514600" indent="-228600" eaLnBrk="0" fontAlgn="base" hangingPunct="0">
              <a:spcBef>
                <a:spcPct val="0"/>
              </a:spcBef>
              <a:spcAft>
                <a:spcPct val="0"/>
              </a:spcAft>
              <a:defRPr sz="2400">
                <a:solidFill>
                  <a:schemeClr val="tx1"/>
                </a:solidFill>
                <a:latin typeface="Helvetica" charset="0"/>
              </a:defRPr>
            </a:lvl6pPr>
            <a:lvl7pPr marL="2971800" indent="-228600" eaLnBrk="0" fontAlgn="base" hangingPunct="0">
              <a:spcBef>
                <a:spcPct val="0"/>
              </a:spcBef>
              <a:spcAft>
                <a:spcPct val="0"/>
              </a:spcAft>
              <a:defRPr sz="2400">
                <a:solidFill>
                  <a:schemeClr val="tx1"/>
                </a:solidFill>
                <a:latin typeface="Helvetica" charset="0"/>
              </a:defRPr>
            </a:lvl7pPr>
            <a:lvl8pPr marL="3429000" indent="-228600" eaLnBrk="0" fontAlgn="base" hangingPunct="0">
              <a:spcBef>
                <a:spcPct val="0"/>
              </a:spcBef>
              <a:spcAft>
                <a:spcPct val="0"/>
              </a:spcAft>
              <a:defRPr sz="2400">
                <a:solidFill>
                  <a:schemeClr val="tx1"/>
                </a:solidFill>
                <a:latin typeface="Helvetica" charset="0"/>
              </a:defRPr>
            </a:lvl8pPr>
            <a:lvl9pPr marL="3886200" indent="-228600" eaLnBrk="0" fontAlgn="base" hangingPunct="0">
              <a:spcBef>
                <a:spcPct val="0"/>
              </a:spcBef>
              <a:spcAft>
                <a:spcPct val="0"/>
              </a:spcAft>
              <a:defRPr sz="2400">
                <a:solidFill>
                  <a:schemeClr val="tx1"/>
                </a:solidFill>
                <a:latin typeface="Helvetica" charset="0"/>
              </a:defRPr>
            </a:lvl9pPr>
          </a:lstStyle>
          <a:p>
            <a:pPr algn="ctr"/>
            <a:r>
              <a:rPr lang="en-US" sz="2000" dirty="0"/>
              <a:t>Dr. </a:t>
            </a:r>
            <a:r>
              <a:rPr lang="en-US" sz="2000" dirty="0" err="1"/>
              <a:t>Pritam</a:t>
            </a:r>
            <a:r>
              <a:rPr lang="en-US" sz="2000" dirty="0"/>
              <a:t> </a:t>
            </a:r>
            <a:r>
              <a:rPr lang="en-US" sz="2000" dirty="0" err="1"/>
              <a:t>Chattopadhyay</a:t>
            </a:r>
            <a:endParaRPr lang="en-US" sz="2000" dirty="0"/>
          </a:p>
          <a:p>
            <a:pPr algn="ctr"/>
            <a:r>
              <a:rPr lang="en-US" sz="1800" dirty="0"/>
              <a:t>Department of Botany</a:t>
            </a:r>
          </a:p>
          <a:p>
            <a:pPr algn="ctr"/>
            <a:r>
              <a:rPr lang="en-US" sz="1800" dirty="0"/>
              <a:t>MUC Women’s College </a:t>
            </a:r>
          </a:p>
        </p:txBody>
      </p:sp>
      <p:sp>
        <p:nvSpPr>
          <p:cNvPr id="4" name="AutoShape 2" descr="Emerging Computing Technologies: Bioinformatics Certificate | NYU Tandon  School of Engineer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3"/>
          <p:cNvSpPr txBox="1">
            <a:spLocks noChangeArrowheads="1"/>
          </p:cNvSpPr>
          <p:nvPr/>
        </p:nvSpPr>
        <p:spPr>
          <a:xfrm>
            <a:off x="1215030" y="419016"/>
            <a:ext cx="9072254"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4400" smtClean="0">
                <a:solidFill>
                  <a:schemeClr val="tx1">
                    <a:lumMod val="95000"/>
                  </a:schemeClr>
                </a:solidFill>
              </a:rPr>
              <a:t>Unit 4: </a:t>
            </a:r>
            <a:r>
              <a:rPr lang="en-US" sz="4400" dirty="0" smtClean="0">
                <a:solidFill>
                  <a:schemeClr val="tx1">
                    <a:lumMod val="95000"/>
                  </a:schemeClr>
                </a:solidFill>
              </a:rPr>
              <a:t>Sequence Alignments</a:t>
            </a:r>
            <a:endParaRPr lang="en-US" sz="4400" dirty="0">
              <a:solidFill>
                <a:schemeClr val="tx1">
                  <a:lumMod val="95000"/>
                </a:schemeClr>
              </a:solidFill>
            </a:endParaRPr>
          </a:p>
        </p:txBody>
      </p:sp>
    </p:spTree>
    <p:extLst>
      <p:ext uri="{BB962C8B-B14F-4D97-AF65-F5344CB8AC3E}">
        <p14:creationId xmlns:p14="http://schemas.microsoft.com/office/powerpoint/2010/main" val="23170184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7525265"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smtClean="0"/>
              <a:t>Introduction </a:t>
            </a:r>
          </a:p>
          <a:p>
            <a:pPr marL="0" indent="0">
              <a:buNone/>
            </a:pPr>
            <a:r>
              <a:rPr lang="en-US" sz="4400" dirty="0"/>
              <a:t>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112114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618" t="4123" r="7681" b="8847"/>
          <a:stretch/>
        </p:blipFill>
        <p:spPr bwMode="auto">
          <a:xfrm>
            <a:off x="882505" y="542259"/>
            <a:ext cx="8431619" cy="5635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527834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343" y="146498"/>
            <a:ext cx="9840792" cy="6552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5273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9179470"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smtClean="0"/>
              <a:t>Concepts of Sequence Alignments </a:t>
            </a:r>
          </a:p>
          <a:p>
            <a:pPr marL="0" indent="0">
              <a:buNone/>
            </a:pPr>
            <a:r>
              <a:rPr lang="en-US" sz="4400" dirty="0"/>
              <a:t>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261135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171450" y="381000"/>
            <a:ext cx="9772650" cy="609600"/>
          </a:xfrm>
        </p:spPr>
        <p:txBody>
          <a:bodyPr/>
          <a:lstStyle/>
          <a:p>
            <a:r>
              <a:rPr lang="en-GB" dirty="0" smtClean="0"/>
              <a:t>Concept of Sequence Alignments</a:t>
            </a:r>
            <a:endParaRPr lang="en-GB" dirty="0"/>
          </a:p>
        </p:txBody>
      </p:sp>
      <p:sp>
        <p:nvSpPr>
          <p:cNvPr id="136195" name="Rectangle 3"/>
          <p:cNvSpPr>
            <a:spLocks noGrp="1" noChangeArrowheads="1"/>
          </p:cNvSpPr>
          <p:nvPr>
            <p:ph type="body" idx="1"/>
          </p:nvPr>
        </p:nvSpPr>
        <p:spPr>
          <a:xfrm>
            <a:off x="514350" y="1253069"/>
            <a:ext cx="9378950" cy="3649133"/>
          </a:xfrm>
        </p:spPr>
        <p:txBody>
          <a:bodyPr>
            <a:normAutofit/>
          </a:bodyPr>
          <a:lstStyle/>
          <a:p>
            <a:r>
              <a:rPr lang="en-GB" sz="2400" dirty="0"/>
              <a:t>DNA is blue print for living organisms</a:t>
            </a:r>
          </a:p>
          <a:p>
            <a:pPr>
              <a:buClr>
                <a:schemeClr val="tx1"/>
              </a:buClr>
              <a:buFont typeface="Symbol" panose="05050102010706020507" pitchFamily="18" charset="2"/>
              <a:buChar char="Þ"/>
            </a:pPr>
            <a:r>
              <a:rPr lang="en-GB" sz="2400" dirty="0"/>
              <a:t> Evolution is related to changes in DNA</a:t>
            </a:r>
          </a:p>
          <a:p>
            <a:pPr>
              <a:buClr>
                <a:schemeClr val="tx1"/>
              </a:buClr>
              <a:buFont typeface="Symbol" panose="05050102010706020507" pitchFamily="18" charset="2"/>
              <a:buChar char="Þ"/>
            </a:pPr>
            <a:r>
              <a:rPr lang="en-GB" sz="2400" dirty="0"/>
              <a:t> By comparing DNA sequences we can infer </a:t>
            </a:r>
            <a:r>
              <a:rPr lang="en-GB" sz="2400" dirty="0">
                <a:solidFill>
                  <a:schemeClr val="folHlink"/>
                </a:solidFill>
              </a:rPr>
              <a:t>evolutionary relationships</a:t>
            </a:r>
            <a:r>
              <a:rPr lang="en-GB" sz="2400" dirty="0"/>
              <a:t> between the sequences . </a:t>
            </a:r>
          </a:p>
          <a:p>
            <a:pPr>
              <a:buClr>
                <a:schemeClr val="tx1"/>
              </a:buClr>
              <a:buFont typeface="Symbol" panose="05050102010706020507" pitchFamily="18" charset="2"/>
              <a:buChar char="Þ"/>
            </a:pPr>
            <a:r>
              <a:rPr lang="en-GB" sz="2400" dirty="0"/>
              <a:t>Foundation for inferring function, active site, and key mutations</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102510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ChangeArrowheads="1"/>
          </p:cNvSpPr>
          <p:nvPr>
            <p:ph type="title"/>
          </p:nvPr>
        </p:nvSpPr>
        <p:spPr>
          <a:xfrm>
            <a:off x="171450" y="381000"/>
            <a:ext cx="9772650" cy="609600"/>
          </a:xfrm>
        </p:spPr>
        <p:txBody>
          <a:bodyPr/>
          <a:lstStyle/>
          <a:p>
            <a:r>
              <a:rPr lang="en-GB"/>
              <a:t>Motivations for Sequence Comparison</a:t>
            </a:r>
          </a:p>
        </p:txBody>
      </p:sp>
      <p:pic>
        <p:nvPicPr>
          <p:cNvPr id="262150" name="Picture 6" descr="orthologs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7325" y="1600200"/>
            <a:ext cx="7200900" cy="43243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989922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14569"/>
          <a:stretch/>
        </p:blipFill>
        <p:spPr bwMode="auto">
          <a:xfrm>
            <a:off x="141945" y="146497"/>
            <a:ext cx="9985679" cy="5680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336443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18046"/>
          <a:stretch/>
        </p:blipFill>
        <p:spPr bwMode="auto">
          <a:xfrm>
            <a:off x="127456" y="146497"/>
            <a:ext cx="10000168" cy="545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732460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a:bodyPr>
          <a:lstStyle/>
          <a:p>
            <a:r>
              <a:rPr lang="en-US" sz="4400" dirty="0" smtClean="0"/>
              <a:t>Sequence Alignment</a:t>
            </a:r>
          </a:p>
        </p:txBody>
      </p:sp>
      <p:sp>
        <p:nvSpPr>
          <p:cNvPr id="16387" name="Rectangle 3"/>
          <p:cNvSpPr>
            <a:spLocks noGrp="1" noChangeArrowheads="1"/>
          </p:cNvSpPr>
          <p:nvPr>
            <p:ph type="body" idx="1"/>
          </p:nvPr>
        </p:nvSpPr>
        <p:spPr/>
        <p:txBody>
          <a:bodyPr>
            <a:normAutofit/>
          </a:bodyPr>
          <a:lstStyle/>
          <a:p>
            <a:r>
              <a:rPr lang="en-US" sz="3200" dirty="0" smtClean="0"/>
              <a:t>Pairwise alignments</a:t>
            </a:r>
          </a:p>
          <a:p>
            <a:r>
              <a:rPr lang="en-US" sz="3200" dirty="0" smtClean="0"/>
              <a:t>Multiple sequence alignments</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7183091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xfrm>
            <a:off x="0" y="1"/>
            <a:ext cx="10287000" cy="1456267"/>
          </a:xfrm>
        </p:spPr>
        <p:txBody>
          <a:bodyPr>
            <a:normAutofit/>
          </a:bodyPr>
          <a:lstStyle/>
          <a:p>
            <a:pPr algn="ctr"/>
            <a:r>
              <a:rPr lang="en-US" sz="4000" dirty="0"/>
              <a:t>Pairwise Sequence Alignment</a:t>
            </a:r>
          </a:p>
        </p:txBody>
      </p:sp>
      <p:sp>
        <p:nvSpPr>
          <p:cNvPr id="124931" name="Rectangle 3"/>
          <p:cNvSpPr>
            <a:spLocks noGrp="1" noChangeArrowheads="1"/>
          </p:cNvSpPr>
          <p:nvPr>
            <p:ph type="body" idx="1"/>
          </p:nvPr>
        </p:nvSpPr>
        <p:spPr>
          <a:xfrm>
            <a:off x="514350" y="1704183"/>
            <a:ext cx="8743950" cy="3649133"/>
          </a:xfrm>
        </p:spPr>
        <p:txBody>
          <a:bodyPr>
            <a:normAutofit/>
          </a:bodyPr>
          <a:lstStyle/>
          <a:p>
            <a:r>
              <a:rPr lang="en-US" sz="2000" dirty="0"/>
              <a:t>Given two DNA or AA sequences, find the best way to “line them up”</a:t>
            </a:r>
          </a:p>
          <a:p>
            <a:pPr lvl="1"/>
            <a:r>
              <a:rPr lang="en-US" sz="2000" dirty="0"/>
              <a:t>Biology allows for variation</a:t>
            </a:r>
          </a:p>
          <a:p>
            <a:pPr lvl="1"/>
            <a:r>
              <a:rPr lang="en-US" sz="2000" dirty="0"/>
              <a:t>Gaps, mismatches, etc..</a:t>
            </a:r>
          </a:p>
        </p:txBody>
      </p:sp>
      <p:sp>
        <p:nvSpPr>
          <p:cNvPr id="124932" name="Text Box 4"/>
          <p:cNvSpPr txBox="1">
            <a:spLocks noChangeArrowheads="1"/>
          </p:cNvSpPr>
          <p:nvPr/>
        </p:nvSpPr>
        <p:spPr bwMode="auto">
          <a:xfrm>
            <a:off x="3857626" y="4277877"/>
            <a:ext cx="15632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atin typeface="Courier New" panose="02070309020205020404" pitchFamily="49" charset="0"/>
              </a:rPr>
              <a:t>HEAGAWGHEE</a:t>
            </a:r>
          </a:p>
        </p:txBody>
      </p:sp>
      <p:sp>
        <p:nvSpPr>
          <p:cNvPr id="124933" name="Text Box 5"/>
          <p:cNvSpPr txBox="1">
            <a:spLocks noChangeArrowheads="1"/>
          </p:cNvSpPr>
          <p:nvPr/>
        </p:nvSpPr>
        <p:spPr bwMode="auto">
          <a:xfrm>
            <a:off x="3857625" y="4658877"/>
            <a:ext cx="11496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atin typeface="Courier New" panose="02070309020205020404" pitchFamily="49" charset="0"/>
              </a:rPr>
              <a:t>PAWHEAE</a:t>
            </a:r>
          </a:p>
        </p:txBody>
      </p:sp>
      <p:sp>
        <p:nvSpPr>
          <p:cNvPr id="124934" name="Text Box 6"/>
          <p:cNvSpPr txBox="1">
            <a:spLocks noChangeArrowheads="1"/>
          </p:cNvSpPr>
          <p:nvPr/>
        </p:nvSpPr>
        <p:spPr bwMode="auto">
          <a:xfrm>
            <a:off x="1200150" y="5268477"/>
            <a:ext cx="17011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atin typeface="Courier New" panose="02070309020205020404" pitchFamily="49" charset="0"/>
              </a:rPr>
              <a:t>HEAGAWGHE-E</a:t>
            </a:r>
          </a:p>
        </p:txBody>
      </p:sp>
      <p:sp>
        <p:nvSpPr>
          <p:cNvPr id="124935" name="Text Box 7"/>
          <p:cNvSpPr txBox="1">
            <a:spLocks noChangeArrowheads="1"/>
          </p:cNvSpPr>
          <p:nvPr/>
        </p:nvSpPr>
        <p:spPr bwMode="auto">
          <a:xfrm>
            <a:off x="1200150" y="5878077"/>
            <a:ext cx="17011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atin typeface="Courier New" panose="02070309020205020404" pitchFamily="49" charset="0"/>
              </a:rPr>
              <a:t>P-A--W-HEAE</a:t>
            </a:r>
          </a:p>
        </p:txBody>
      </p:sp>
      <p:sp>
        <p:nvSpPr>
          <p:cNvPr id="124936" name="Line 8"/>
          <p:cNvSpPr>
            <a:spLocks noChangeShapeType="1"/>
          </p:cNvSpPr>
          <p:nvPr/>
        </p:nvSpPr>
        <p:spPr bwMode="auto">
          <a:xfrm>
            <a:off x="1684314" y="564947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4937" name="Line 9"/>
          <p:cNvSpPr>
            <a:spLocks noChangeShapeType="1"/>
          </p:cNvSpPr>
          <p:nvPr/>
        </p:nvSpPr>
        <p:spPr bwMode="auto">
          <a:xfrm>
            <a:off x="2168478" y="564947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4938" name="Line 10"/>
          <p:cNvSpPr>
            <a:spLocks noChangeShapeType="1"/>
          </p:cNvSpPr>
          <p:nvPr/>
        </p:nvSpPr>
        <p:spPr bwMode="auto">
          <a:xfrm>
            <a:off x="2437725" y="564947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4939" name="Line 11"/>
          <p:cNvSpPr>
            <a:spLocks noChangeShapeType="1"/>
          </p:cNvSpPr>
          <p:nvPr/>
        </p:nvSpPr>
        <p:spPr bwMode="auto">
          <a:xfrm>
            <a:off x="2634179" y="564947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4940" name="Line 12"/>
          <p:cNvSpPr>
            <a:spLocks noChangeShapeType="1"/>
          </p:cNvSpPr>
          <p:nvPr/>
        </p:nvSpPr>
        <p:spPr bwMode="auto">
          <a:xfrm>
            <a:off x="2905414" y="564947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4941" name="Text Box 13"/>
          <p:cNvSpPr txBox="1">
            <a:spLocks noChangeArrowheads="1"/>
          </p:cNvSpPr>
          <p:nvPr/>
        </p:nvSpPr>
        <p:spPr bwMode="auto">
          <a:xfrm>
            <a:off x="6343650" y="5344677"/>
            <a:ext cx="17011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atin typeface="Courier New" panose="02070309020205020404" pitchFamily="49" charset="0"/>
              </a:rPr>
              <a:t>HEAGAWGHE-E</a:t>
            </a:r>
          </a:p>
        </p:txBody>
      </p:sp>
      <p:sp>
        <p:nvSpPr>
          <p:cNvPr id="124942" name="Text Box 14"/>
          <p:cNvSpPr txBox="1">
            <a:spLocks noChangeArrowheads="1"/>
          </p:cNvSpPr>
          <p:nvPr/>
        </p:nvSpPr>
        <p:spPr bwMode="auto">
          <a:xfrm>
            <a:off x="6343650" y="5954277"/>
            <a:ext cx="17011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atin typeface="Courier New" panose="02070309020205020404" pitchFamily="49" charset="0"/>
              </a:rPr>
              <a:t>--P-AW-HEAE</a:t>
            </a:r>
          </a:p>
        </p:txBody>
      </p:sp>
      <p:sp>
        <p:nvSpPr>
          <p:cNvPr id="124943" name="Line 15"/>
          <p:cNvSpPr>
            <a:spLocks noChangeShapeType="1"/>
          </p:cNvSpPr>
          <p:nvPr/>
        </p:nvSpPr>
        <p:spPr bwMode="auto">
          <a:xfrm>
            <a:off x="7119298" y="572567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4944" name="Line 16"/>
          <p:cNvSpPr>
            <a:spLocks noChangeShapeType="1"/>
          </p:cNvSpPr>
          <p:nvPr/>
        </p:nvSpPr>
        <p:spPr bwMode="auto">
          <a:xfrm>
            <a:off x="7326467" y="572567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4945" name="Line 17"/>
          <p:cNvSpPr>
            <a:spLocks noChangeShapeType="1"/>
          </p:cNvSpPr>
          <p:nvPr/>
        </p:nvSpPr>
        <p:spPr bwMode="auto">
          <a:xfrm>
            <a:off x="7581225" y="572567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4946" name="Line 18"/>
          <p:cNvSpPr>
            <a:spLocks noChangeShapeType="1"/>
          </p:cNvSpPr>
          <p:nvPr/>
        </p:nvSpPr>
        <p:spPr bwMode="auto">
          <a:xfrm>
            <a:off x="7777679" y="572567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24947" name="Line 19"/>
          <p:cNvSpPr>
            <a:spLocks noChangeShapeType="1"/>
          </p:cNvSpPr>
          <p:nvPr/>
        </p:nvSpPr>
        <p:spPr bwMode="auto">
          <a:xfrm>
            <a:off x="8077892" y="572567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 name="Rectangle 1"/>
          <p:cNvSpPr/>
          <p:nvPr/>
        </p:nvSpPr>
        <p:spPr>
          <a:xfrm>
            <a:off x="0" y="1540951"/>
            <a:ext cx="10287000" cy="830997"/>
          </a:xfrm>
          <a:prstGeom prst="rect">
            <a:avLst/>
          </a:prstGeom>
        </p:spPr>
        <p:txBody>
          <a:bodyPr wrap="square">
            <a:spAutoFit/>
          </a:bodyPr>
          <a:lstStyle/>
          <a:p>
            <a:pPr marL="342900" indent="-342900">
              <a:buFont typeface="Wingdings" pitchFamily="2" charset="2"/>
              <a:buChar char="v"/>
            </a:pPr>
            <a:r>
              <a:rPr lang="en-US" sz="2400" dirty="0"/>
              <a:t>Pairwise sequence alignment methods are used to find the best-matching piecewise (local or global) alignments of two query sequences. </a:t>
            </a:r>
          </a:p>
        </p:txBody>
      </p:sp>
      <p:sp>
        <p:nvSpPr>
          <p:cNvPr id="21" name="Rectangle 20"/>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088577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402997"/>
            <a:ext cx="10287000" cy="6001643"/>
          </a:xfrm>
          <a:prstGeom prst="rect">
            <a:avLst/>
          </a:prstGeom>
        </p:spPr>
        <p:txBody>
          <a:bodyPr wrap="square">
            <a:spAutoFit/>
          </a:bodyPr>
          <a:lstStyle/>
          <a:p>
            <a:pPr marL="342900" indent="-342900">
              <a:buFont typeface="Wingdings" pitchFamily="2" charset="2"/>
              <a:buChar char="v"/>
            </a:pPr>
            <a:r>
              <a:rPr lang="en-US" sz="2400" dirty="0" smtClean="0"/>
              <a:t>Pairwise </a:t>
            </a:r>
            <a:r>
              <a:rPr lang="en-US" sz="2400" dirty="0"/>
              <a:t>alignments can only be used </a:t>
            </a:r>
            <a:r>
              <a:rPr lang="en-US" sz="2400" dirty="0" smtClean="0"/>
              <a:t>between two </a:t>
            </a:r>
            <a:r>
              <a:rPr lang="en-US" sz="2400" dirty="0"/>
              <a:t>sequences at a time, but they are efficient to calculate and are often used for methods that </a:t>
            </a:r>
            <a:r>
              <a:rPr lang="en-US" sz="2400" dirty="0" smtClean="0"/>
              <a:t>do not </a:t>
            </a:r>
            <a:r>
              <a:rPr lang="en-US" sz="2400" dirty="0"/>
              <a:t>require extreme precision (such as searching a database for sequences with high similarity </a:t>
            </a:r>
            <a:r>
              <a:rPr lang="en-US" sz="2400" dirty="0" smtClean="0"/>
              <a:t>to a </a:t>
            </a:r>
            <a:r>
              <a:rPr lang="en-US" sz="2400" dirty="0"/>
              <a:t>query). </a:t>
            </a:r>
            <a:endParaRPr lang="en-US" sz="2400" dirty="0" smtClean="0"/>
          </a:p>
          <a:p>
            <a:pPr marL="342900" indent="-342900">
              <a:buFont typeface="Wingdings" pitchFamily="2" charset="2"/>
              <a:buChar char="v"/>
            </a:pPr>
            <a:r>
              <a:rPr lang="en-US" sz="2400" dirty="0" smtClean="0"/>
              <a:t>The </a:t>
            </a:r>
            <a:r>
              <a:rPr lang="en-US" sz="2400" dirty="0"/>
              <a:t>three primary methods of producing pairwise alignments are dot-matrix </a:t>
            </a:r>
            <a:r>
              <a:rPr lang="en-US" sz="2400" dirty="0" smtClean="0"/>
              <a:t>methods, dynamic </a:t>
            </a:r>
            <a:r>
              <a:rPr lang="en-US" sz="2400" dirty="0"/>
              <a:t>programming, and word </a:t>
            </a:r>
            <a:r>
              <a:rPr lang="en-US" sz="2400" dirty="0" smtClean="0"/>
              <a:t>methods</a:t>
            </a:r>
            <a:r>
              <a:rPr lang="en-US" sz="2400" dirty="0"/>
              <a:t>.</a:t>
            </a:r>
            <a:endParaRPr lang="en-US" sz="2400" dirty="0" smtClean="0"/>
          </a:p>
          <a:p>
            <a:pPr marL="342900" indent="-342900">
              <a:buFont typeface="Wingdings" pitchFamily="2" charset="2"/>
              <a:buChar char="v"/>
            </a:pPr>
            <a:r>
              <a:rPr lang="en-US" sz="2400" dirty="0" smtClean="0"/>
              <a:t>Although </a:t>
            </a:r>
            <a:r>
              <a:rPr lang="en-US" sz="2400" dirty="0"/>
              <a:t>each method has its individual strengths </a:t>
            </a:r>
            <a:r>
              <a:rPr lang="en-US" sz="2400" dirty="0" smtClean="0"/>
              <a:t>and weaknesses</a:t>
            </a:r>
            <a:r>
              <a:rPr lang="en-US" sz="2400" dirty="0"/>
              <a:t>, all three pairwise methods have difficulty with highly repetitive sequences </a:t>
            </a:r>
            <a:r>
              <a:rPr lang="en-US" sz="2400" dirty="0" smtClean="0"/>
              <a:t>of low </a:t>
            </a:r>
            <a:r>
              <a:rPr lang="en-US" sz="2400" dirty="0"/>
              <a:t>information content - especially where the number of repetitions differ in the two </a:t>
            </a:r>
            <a:r>
              <a:rPr lang="en-US" sz="2400" dirty="0" smtClean="0"/>
              <a:t>sequences to </a:t>
            </a:r>
            <a:r>
              <a:rPr lang="en-US" sz="2400" dirty="0"/>
              <a:t>be aligned. </a:t>
            </a:r>
            <a:endParaRPr lang="en-US" sz="2400" dirty="0" smtClean="0"/>
          </a:p>
          <a:p>
            <a:pPr marL="342900" indent="-342900">
              <a:buFont typeface="Wingdings" pitchFamily="2" charset="2"/>
              <a:buChar char="v"/>
            </a:pPr>
            <a:r>
              <a:rPr lang="en-US" sz="2400" dirty="0" smtClean="0"/>
              <a:t>One </a:t>
            </a:r>
            <a:r>
              <a:rPr lang="en-US" sz="2400" dirty="0"/>
              <a:t>way of quantifying the utility of a given pairwise alignment is the </a:t>
            </a:r>
            <a:r>
              <a:rPr lang="en-US" sz="2400" dirty="0" smtClean="0"/>
              <a:t>'maximum unique </a:t>
            </a:r>
            <a:r>
              <a:rPr lang="en-US" sz="2400" dirty="0"/>
              <a:t>match' (MUM), or the longest subsequence that occurs in both query sequences. </a:t>
            </a:r>
            <a:r>
              <a:rPr lang="en-US" sz="2400" dirty="0" smtClean="0"/>
              <a:t>Longer MUM </a:t>
            </a:r>
            <a:r>
              <a:rPr lang="en-US" sz="2400" dirty="0"/>
              <a:t>sequences typically reflect closer relatedness</a:t>
            </a:r>
            <a:r>
              <a:rPr lang="en-US" sz="2400" dirty="0" smtClean="0"/>
              <a:t>.</a:t>
            </a:r>
          </a:p>
          <a:p>
            <a:pPr marL="342900" indent="-342900">
              <a:buFont typeface="Wingdings" pitchFamily="2" charset="2"/>
              <a:buChar char="v"/>
            </a:pPr>
            <a:r>
              <a:rPr lang="en-US" sz="2400" dirty="0"/>
              <a:t>However, multiple sequence alignment techniques can also align pairs of sequences. </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410264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smtClean="0"/>
              <a:t>Pairwise Alignments</a:t>
            </a:r>
          </a:p>
        </p:txBody>
      </p:sp>
      <p:sp>
        <p:nvSpPr>
          <p:cNvPr id="17411" name="Rectangle 3"/>
          <p:cNvSpPr>
            <a:spLocks noGrp="1" noChangeArrowheads="1"/>
          </p:cNvSpPr>
          <p:nvPr>
            <p:ph type="body" idx="1"/>
          </p:nvPr>
        </p:nvSpPr>
        <p:spPr/>
        <p:txBody>
          <a:bodyPr>
            <a:normAutofit lnSpcReduction="10000"/>
          </a:bodyPr>
          <a:lstStyle/>
          <a:p>
            <a:r>
              <a:rPr kumimoji="0" lang="en-US" sz="2400" b="1" smtClean="0">
                <a:latin typeface="Arial" panose="020B0604020202020204" pitchFamily="34" charset="0"/>
              </a:rPr>
              <a:t>SIM</a:t>
            </a:r>
            <a:r>
              <a:rPr kumimoji="0" lang="en-US" sz="2400" smtClean="0">
                <a:latin typeface="Arial" panose="020B0604020202020204" pitchFamily="34" charset="0"/>
              </a:rPr>
              <a:t> (Protein only) - k best non-intersecting alignments (EXPASY) </a:t>
            </a:r>
          </a:p>
          <a:p>
            <a:r>
              <a:rPr kumimoji="0" lang="en-US" sz="2400" b="1" smtClean="0">
                <a:latin typeface="Arial" panose="020B0604020202020204" pitchFamily="34" charset="0"/>
              </a:rPr>
              <a:t>ALIGN</a:t>
            </a:r>
            <a:r>
              <a:rPr kumimoji="0" lang="en-US" sz="2400" smtClean="0">
                <a:latin typeface="Arial" panose="020B0604020202020204" pitchFamily="34" charset="0"/>
              </a:rPr>
              <a:t> - optimal global alignment with no short-cuts (EERIE)  </a:t>
            </a:r>
          </a:p>
          <a:p>
            <a:r>
              <a:rPr kumimoji="0" lang="en-US" sz="2400" b="1" smtClean="0">
                <a:latin typeface="Arial" panose="020B0604020202020204" pitchFamily="34" charset="0"/>
              </a:rPr>
              <a:t>LALIGN</a:t>
            </a:r>
            <a:r>
              <a:rPr kumimoji="0" lang="en-US" sz="2400" smtClean="0">
                <a:latin typeface="Arial" panose="020B0604020202020204" pitchFamily="34" charset="0"/>
              </a:rPr>
              <a:t> - calculates the N-best local alignments (EERIE) </a:t>
            </a:r>
          </a:p>
          <a:p>
            <a:r>
              <a:rPr kumimoji="0" lang="en-US" sz="2400" b="1" smtClean="0">
                <a:latin typeface="Arial" panose="020B0604020202020204" pitchFamily="34" charset="0"/>
              </a:rPr>
              <a:t>LFASTA</a:t>
            </a:r>
            <a:r>
              <a:rPr kumimoji="0" lang="en-US" sz="2400" smtClean="0">
                <a:latin typeface="Arial" panose="020B0604020202020204" pitchFamily="34" charset="0"/>
              </a:rPr>
              <a:t> - local similarity searches showing local alignments (EERIE) </a:t>
            </a:r>
          </a:p>
          <a:p>
            <a:r>
              <a:rPr kumimoji="0" lang="en-US" sz="2400" b="1" smtClean="0">
                <a:latin typeface="Arial" panose="020B0604020202020204" pitchFamily="34" charset="0"/>
              </a:rPr>
              <a:t>BLAST 2</a:t>
            </a:r>
            <a:r>
              <a:rPr kumimoji="0" lang="en-US" sz="2400" smtClean="0">
                <a:latin typeface="Arial" panose="020B0604020202020204" pitchFamily="34" charset="0"/>
              </a:rPr>
              <a:t> - local alignment using BLAST (NCBI) </a:t>
            </a:r>
          </a:p>
          <a:p>
            <a:r>
              <a:rPr kumimoji="0" lang="en-US" sz="2400" b="1" smtClean="0">
                <a:latin typeface="Arial" panose="020B0604020202020204" pitchFamily="34" charset="0"/>
              </a:rPr>
              <a:t>LAP2 </a:t>
            </a:r>
            <a:r>
              <a:rPr kumimoji="0" lang="en-US" sz="2400" smtClean="0">
                <a:latin typeface="Arial" panose="020B0604020202020204" pitchFamily="34" charset="0"/>
              </a:rPr>
              <a:t>- local DNA to protein alignment with LAP2 (MTU)</a:t>
            </a:r>
          </a:p>
          <a:p>
            <a:endParaRPr lang="en-US" sz="2400" smtClean="0">
              <a:latin typeface="Arial" panose="020B0604020202020204" pitchFamily="34" charset="0"/>
            </a:endParaRP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5234407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9179470"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smtClean="0"/>
              <a:t>Multiple Sequence Alignment (MSA) </a:t>
            </a:r>
          </a:p>
          <a:p>
            <a:pPr marL="0" indent="0">
              <a:buNone/>
            </a:pPr>
            <a:r>
              <a:rPr lang="en-US" sz="4400" dirty="0"/>
              <a:t>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385776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476638"/>
            <a:ext cx="10287000" cy="4154984"/>
          </a:xfrm>
          <a:prstGeom prst="rect">
            <a:avLst/>
          </a:prstGeom>
        </p:spPr>
        <p:txBody>
          <a:bodyPr wrap="square">
            <a:spAutoFit/>
          </a:bodyPr>
          <a:lstStyle/>
          <a:p>
            <a:pPr marL="285750" indent="-285750">
              <a:buFont typeface="Wingdings" pitchFamily="2" charset="2"/>
              <a:buChar char="v"/>
            </a:pPr>
            <a:r>
              <a:rPr lang="en-US" sz="2400" dirty="0"/>
              <a:t>A multiple sequence alignment (MSA) is a sequence alignment of three </a:t>
            </a:r>
            <a:r>
              <a:rPr lang="en-US" sz="2400" dirty="0" smtClean="0"/>
              <a:t>or more </a:t>
            </a:r>
            <a:r>
              <a:rPr lang="en-US" sz="2400" dirty="0"/>
              <a:t>biological sequences, generally protein, DNA, or RNA. </a:t>
            </a:r>
            <a:endParaRPr lang="en-US" sz="2400" dirty="0" smtClean="0"/>
          </a:p>
          <a:p>
            <a:pPr marL="285750" indent="-285750">
              <a:buFont typeface="Wingdings" pitchFamily="2" charset="2"/>
              <a:buChar char="v"/>
            </a:pPr>
            <a:r>
              <a:rPr lang="en-US" sz="2400" dirty="0" smtClean="0"/>
              <a:t>Multiple </a:t>
            </a:r>
            <a:r>
              <a:rPr lang="en-US" sz="2400" dirty="0"/>
              <a:t>sequence alignment </a:t>
            </a:r>
            <a:r>
              <a:rPr lang="en-US" sz="2400" dirty="0" smtClean="0"/>
              <a:t>is often </a:t>
            </a:r>
            <a:r>
              <a:rPr lang="en-US" sz="2400" dirty="0"/>
              <a:t>used to assess sequence conservation of protein domains, tertiary and secondary </a:t>
            </a:r>
            <a:r>
              <a:rPr lang="en-US" sz="2400" dirty="0" smtClean="0"/>
              <a:t>structures, and </a:t>
            </a:r>
            <a:r>
              <a:rPr lang="en-US" sz="2400" dirty="0"/>
              <a:t>even individual amino acids or nucleotides. </a:t>
            </a:r>
            <a:endParaRPr lang="en-US" sz="2400" dirty="0" smtClean="0"/>
          </a:p>
          <a:p>
            <a:pPr marL="285750" indent="-285750">
              <a:buFont typeface="Wingdings" pitchFamily="2" charset="2"/>
              <a:buChar char="v"/>
            </a:pPr>
            <a:r>
              <a:rPr lang="en-US" sz="2400" dirty="0" smtClean="0"/>
              <a:t>MSAs </a:t>
            </a:r>
            <a:r>
              <a:rPr lang="en-US" sz="2400" dirty="0"/>
              <a:t>require more sophisticated </a:t>
            </a:r>
            <a:r>
              <a:rPr lang="en-US" sz="2400" dirty="0" smtClean="0"/>
              <a:t>methodologies than </a:t>
            </a:r>
            <a:r>
              <a:rPr lang="en-US" sz="2400" dirty="0"/>
              <a:t>pairwise alignment because they are more computationally complex. </a:t>
            </a:r>
            <a:endParaRPr lang="en-US" sz="2400" dirty="0" smtClean="0"/>
          </a:p>
          <a:p>
            <a:pPr marL="285750" indent="-285750">
              <a:buFont typeface="Wingdings" pitchFamily="2" charset="2"/>
              <a:buChar char="v"/>
            </a:pPr>
            <a:r>
              <a:rPr lang="en-US" sz="2400" dirty="0" smtClean="0"/>
              <a:t>Most multiple sequence </a:t>
            </a:r>
            <a:r>
              <a:rPr lang="en-US" sz="2400" dirty="0"/>
              <a:t>alignment programs use heuristic methods rather than global optimization </a:t>
            </a:r>
            <a:r>
              <a:rPr lang="en-US" sz="2400" dirty="0" smtClean="0"/>
              <a:t>because identifying </a:t>
            </a:r>
            <a:r>
              <a:rPr lang="en-US" sz="2400" dirty="0"/>
              <a:t>the optimal alignment between more than a few sequences of moderate length </a:t>
            </a:r>
            <a:r>
              <a:rPr lang="en-US" sz="2400" dirty="0" smtClean="0"/>
              <a:t>is prohibitively </a:t>
            </a:r>
            <a:r>
              <a:rPr lang="en-US" sz="2400" dirty="0"/>
              <a:t>computationally expensive. </a:t>
            </a:r>
            <a:endParaRPr lang="en-US" sz="2400" dirty="0" smtClean="0"/>
          </a:p>
        </p:txBody>
      </p:sp>
      <p:sp>
        <p:nvSpPr>
          <p:cNvPr id="5" name="Rectangle 2"/>
          <p:cNvSpPr txBox="1">
            <a:spLocks noChangeArrowheads="1"/>
          </p:cNvSpPr>
          <p:nvPr/>
        </p:nvSpPr>
        <p:spPr>
          <a:xfrm>
            <a:off x="0" y="1"/>
            <a:ext cx="10287000" cy="1456267"/>
          </a:xfrm>
          <a:prstGeom prst="rect">
            <a:avLst/>
          </a:prstGeom>
        </p:spPr>
        <p:txBody>
          <a:bodyPr anchor="ctr"/>
          <a:lst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000" dirty="0" smtClean="0"/>
              <a:t>Multiple Sequence Alignments</a:t>
            </a:r>
          </a:p>
        </p:txBody>
      </p:sp>
      <p:sp>
        <p:nvSpPr>
          <p:cNvPr id="6" name="Rectangle 5"/>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282506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74346"/>
            <a:ext cx="10287000" cy="4524315"/>
          </a:xfrm>
          <a:prstGeom prst="rect">
            <a:avLst/>
          </a:prstGeom>
        </p:spPr>
        <p:txBody>
          <a:bodyPr wrap="square">
            <a:spAutoFit/>
          </a:bodyPr>
          <a:lstStyle/>
          <a:p>
            <a:pPr marL="285750" indent="-285750">
              <a:buFont typeface="Wingdings" pitchFamily="2" charset="2"/>
              <a:buChar char="v"/>
            </a:pPr>
            <a:r>
              <a:rPr lang="en-US" sz="2400" dirty="0"/>
              <a:t>Multiple alignments are often used in identifying conserved sequence regions across a group of sequences hypothesized to be evolutionarily related. </a:t>
            </a:r>
            <a:endParaRPr lang="en-US" sz="2400" dirty="0" smtClean="0"/>
          </a:p>
          <a:p>
            <a:pPr marL="285750" indent="-285750">
              <a:buFont typeface="Wingdings" pitchFamily="2" charset="2"/>
              <a:buChar char="v"/>
            </a:pPr>
            <a:r>
              <a:rPr lang="en-US" sz="2400" dirty="0" smtClean="0"/>
              <a:t>Such </a:t>
            </a:r>
            <a:r>
              <a:rPr lang="en-US" sz="2400" dirty="0"/>
              <a:t>conserved sequence motifs can be used in conjunction with structural and mechanistic information to locate the catalytic active sites of enzymes. </a:t>
            </a:r>
          </a:p>
          <a:p>
            <a:pPr marL="285750" indent="-285750">
              <a:buFont typeface="Wingdings" pitchFamily="2" charset="2"/>
              <a:buChar char="v"/>
            </a:pPr>
            <a:r>
              <a:rPr lang="en-US" sz="2400" dirty="0"/>
              <a:t>Alignments are also used to aid in establishing evolutionary relationships by constructing phylogenetic trees.</a:t>
            </a:r>
          </a:p>
          <a:p>
            <a:pPr marL="285750" indent="-285750">
              <a:buFont typeface="Wingdings" pitchFamily="2" charset="2"/>
              <a:buChar char="v"/>
            </a:pPr>
            <a:r>
              <a:rPr lang="en-US" sz="2400" dirty="0"/>
              <a:t>Multiple sequence alignments are computationally difficult to produce and most formulations </a:t>
            </a:r>
            <a:r>
              <a:rPr lang="en-US" sz="2400" dirty="0" smtClean="0"/>
              <a:t>of the </a:t>
            </a:r>
            <a:r>
              <a:rPr lang="en-US" sz="2400" dirty="0"/>
              <a:t>problem lead to NP-complete combinatorial optimization problems. </a:t>
            </a:r>
          </a:p>
          <a:p>
            <a:pPr marL="285750" indent="-285750">
              <a:buFont typeface="Wingdings" pitchFamily="2" charset="2"/>
              <a:buChar char="v"/>
            </a:pPr>
            <a:r>
              <a:rPr lang="en-US" sz="2400" dirty="0"/>
              <a:t>Nevertheless, the utility of these alignments in bioinformatics has led to the development of a variety of methods suitable for aligning three or more sequences.</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431708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6308" y="116903"/>
            <a:ext cx="10040691" cy="6740307"/>
          </a:xfrm>
          <a:prstGeom prst="rect">
            <a:avLst/>
          </a:prstGeom>
        </p:spPr>
        <p:txBody>
          <a:bodyPr wrap="square">
            <a:spAutoFit/>
          </a:bodyPr>
          <a:lstStyle/>
          <a:p>
            <a:r>
              <a:rPr lang="en-US" sz="2400" b="1" dirty="0">
                <a:solidFill>
                  <a:srgbClr val="FF0000"/>
                </a:solidFill>
              </a:rPr>
              <a:t>Salient features of MSA</a:t>
            </a:r>
          </a:p>
          <a:p>
            <a:r>
              <a:rPr lang="en-US" sz="2400" dirty="0"/>
              <a:t>• MSA is an alignment generated from three or more sequences.</a:t>
            </a:r>
          </a:p>
          <a:p>
            <a:r>
              <a:rPr lang="en-US" sz="2400" dirty="0"/>
              <a:t>• MSA is usually a global alignment, i.e., the aim is to align </a:t>
            </a:r>
            <a:r>
              <a:rPr lang="en-US" sz="2400" dirty="0" smtClean="0"/>
              <a:t>	homologous residues (nucleotides </a:t>
            </a:r>
            <a:r>
              <a:rPr lang="en-US" sz="2400" dirty="0"/>
              <a:t>or amino acids) in columns </a:t>
            </a:r>
            <a:r>
              <a:rPr lang="en-US" sz="2400" dirty="0" smtClean="0"/>
              <a:t>	across </a:t>
            </a:r>
            <a:r>
              <a:rPr lang="en-US" sz="2400" dirty="0"/>
              <a:t>the </a:t>
            </a:r>
            <a:r>
              <a:rPr lang="en-US" sz="2400" dirty="0" smtClean="0"/>
              <a:t>length </a:t>
            </a:r>
            <a:r>
              <a:rPr lang="en-US" sz="2400" dirty="0"/>
              <a:t>of the whole sequences.</a:t>
            </a:r>
          </a:p>
          <a:p>
            <a:pPr lvl="8"/>
            <a:r>
              <a:rPr lang="en-US" sz="2000" dirty="0"/>
              <a:t>A--GT</a:t>
            </a:r>
          </a:p>
          <a:p>
            <a:pPr lvl="8"/>
            <a:r>
              <a:rPr lang="en-US" sz="2000" dirty="0"/>
              <a:t>AC-GT</a:t>
            </a:r>
          </a:p>
          <a:p>
            <a:pPr lvl="8"/>
            <a:r>
              <a:rPr lang="en-US" sz="2000" dirty="0"/>
              <a:t>ACGGT</a:t>
            </a:r>
          </a:p>
          <a:p>
            <a:pPr lvl="8"/>
            <a:r>
              <a:rPr lang="en-US" sz="2000" dirty="0"/>
              <a:t>-CGGT</a:t>
            </a:r>
          </a:p>
          <a:p>
            <a:r>
              <a:rPr lang="en-US" sz="2400" b="1" dirty="0" smtClean="0">
                <a:solidFill>
                  <a:srgbClr val="FF0000"/>
                </a:solidFill>
              </a:rPr>
              <a:t>Align-ability </a:t>
            </a:r>
            <a:r>
              <a:rPr lang="en-US" sz="2400" b="1" dirty="0">
                <a:solidFill>
                  <a:srgbClr val="FF0000"/>
                </a:solidFill>
              </a:rPr>
              <a:t>of sequences</a:t>
            </a:r>
          </a:p>
          <a:p>
            <a:r>
              <a:rPr lang="en-US" sz="2400" dirty="0"/>
              <a:t>• If the similarity of sequences drops too low, sequences can’t be </a:t>
            </a:r>
            <a:r>
              <a:rPr lang="en-US" sz="2400" dirty="0" smtClean="0"/>
              <a:t>reliably </a:t>
            </a:r>
            <a:r>
              <a:rPr lang="en-US" sz="2400" dirty="0"/>
              <a:t>aligned (</a:t>
            </a:r>
            <a:r>
              <a:rPr lang="en-US" sz="2400" dirty="0" smtClean="0"/>
              <a:t>accuracy drops </a:t>
            </a:r>
            <a:r>
              <a:rPr lang="en-US" sz="2400" dirty="0"/>
              <a:t>below acceptable).</a:t>
            </a:r>
          </a:p>
          <a:p>
            <a:r>
              <a:rPr lang="en-US" sz="2400" dirty="0" smtClean="0"/>
              <a:t>		– For </a:t>
            </a:r>
            <a:r>
              <a:rPr lang="en-US" sz="2400" dirty="0"/>
              <a:t>proteins &lt;20% similarity</a:t>
            </a:r>
          </a:p>
          <a:p>
            <a:r>
              <a:rPr lang="en-US" sz="2400" dirty="0" smtClean="0"/>
              <a:t>		– </a:t>
            </a:r>
            <a:r>
              <a:rPr lang="en-US" sz="2400" dirty="0"/>
              <a:t>For DNA &lt;~75% similarity</a:t>
            </a:r>
          </a:p>
          <a:p>
            <a:r>
              <a:rPr lang="en-US" sz="2400" dirty="0"/>
              <a:t>• This cut-off is called twilight zone.</a:t>
            </a:r>
          </a:p>
          <a:p>
            <a:r>
              <a:rPr lang="en-US" sz="2400" dirty="0"/>
              <a:t>• In other words, twilight zone marks the sequence similarity below </a:t>
            </a:r>
            <a:r>
              <a:rPr lang="en-US" sz="2400" dirty="0" smtClean="0"/>
              <a:t>	which </a:t>
            </a:r>
            <a:r>
              <a:rPr lang="en-US" sz="2400" dirty="0"/>
              <a:t>the </a:t>
            </a:r>
            <a:r>
              <a:rPr lang="en-US" sz="2400" dirty="0" smtClean="0"/>
              <a:t>observed similarity </a:t>
            </a:r>
            <a:r>
              <a:rPr lang="en-US" sz="2400" dirty="0"/>
              <a:t>is mainly due to random </a:t>
            </a:r>
            <a:r>
              <a:rPr lang="en-US" sz="2400" dirty="0" smtClean="0"/>
              <a:t>	variation</a:t>
            </a:r>
            <a:r>
              <a:rPr lang="en-US" sz="2400" dirty="0"/>
              <a:t>, and not due to evolution.</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189344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dirty="0" smtClean="0"/>
              <a:t>Multiple Sequence Alignments</a:t>
            </a:r>
          </a:p>
        </p:txBody>
      </p:sp>
      <p:sp>
        <p:nvSpPr>
          <p:cNvPr id="18435" name="Rectangle 3"/>
          <p:cNvSpPr>
            <a:spLocks noGrp="1" noChangeArrowheads="1"/>
          </p:cNvSpPr>
          <p:nvPr>
            <p:ph type="body" idx="1"/>
          </p:nvPr>
        </p:nvSpPr>
        <p:spPr/>
        <p:txBody>
          <a:bodyPr>
            <a:normAutofit fontScale="85000" lnSpcReduction="10000"/>
          </a:bodyPr>
          <a:lstStyle/>
          <a:p>
            <a:r>
              <a:rPr kumimoji="0" lang="en-US" sz="2400" b="1" smtClean="0">
                <a:latin typeface="Arial" panose="020B0604020202020204" pitchFamily="34" charset="0"/>
              </a:rPr>
              <a:t>ClustalW 1.7</a:t>
            </a:r>
            <a:r>
              <a:rPr kumimoji="0" lang="en-US" sz="2400" smtClean="0">
                <a:latin typeface="Arial" panose="020B0604020202020204" pitchFamily="34" charset="0"/>
              </a:rPr>
              <a:t> (DNA/Protein) - Global progressive (BCM)</a:t>
            </a:r>
          </a:p>
          <a:p>
            <a:r>
              <a:rPr kumimoji="0" lang="en-US" sz="2400" b="1" smtClean="0">
                <a:latin typeface="Arial" panose="020B0604020202020204" pitchFamily="34" charset="0"/>
              </a:rPr>
              <a:t>CAP Sequence Assembly</a:t>
            </a:r>
            <a:r>
              <a:rPr kumimoji="0" lang="en-US" sz="2400" smtClean="0">
                <a:latin typeface="Arial" panose="020B0604020202020204" pitchFamily="34" charset="0"/>
              </a:rPr>
              <a:t> (DNA) - Contig Assembly</a:t>
            </a:r>
          </a:p>
          <a:p>
            <a:r>
              <a:rPr kumimoji="0" lang="en-US" sz="2400" b="1" smtClean="0">
                <a:latin typeface="Arial" panose="020B0604020202020204" pitchFamily="34" charset="0"/>
              </a:rPr>
              <a:t>MAP</a:t>
            </a:r>
            <a:r>
              <a:rPr kumimoji="0" lang="en-US" sz="2400" smtClean="0">
                <a:latin typeface="Arial" panose="020B0604020202020204" pitchFamily="34" charset="0"/>
              </a:rPr>
              <a:t> (DNA/Protein) - Global progressive in linear space </a:t>
            </a:r>
          </a:p>
          <a:p>
            <a:r>
              <a:rPr kumimoji="0" lang="en-US" sz="2400" b="1" smtClean="0">
                <a:latin typeface="Arial" panose="020B0604020202020204" pitchFamily="34" charset="0"/>
              </a:rPr>
              <a:t>PIMA 1.4</a:t>
            </a:r>
            <a:r>
              <a:rPr kumimoji="0" lang="en-US" sz="2400" smtClean="0">
                <a:latin typeface="Arial" panose="020B0604020202020204" pitchFamily="34" charset="0"/>
              </a:rPr>
              <a:t> (Protein only) - Pattern-Induced (local) Multiple Alignment (BCM)</a:t>
            </a:r>
          </a:p>
          <a:p>
            <a:r>
              <a:rPr kumimoji="0" lang="en-US" sz="2400" b="1" smtClean="0">
                <a:latin typeface="Arial" panose="020B0604020202020204" pitchFamily="34" charset="0"/>
              </a:rPr>
              <a:t>MSA 2.1</a:t>
            </a:r>
            <a:r>
              <a:rPr kumimoji="0" lang="en-US" sz="2400" smtClean="0">
                <a:latin typeface="Arial" panose="020B0604020202020204" pitchFamily="34" charset="0"/>
              </a:rPr>
              <a:t> (Protein only) - Near-optimal sum-of-pairs global (WashU) </a:t>
            </a:r>
          </a:p>
          <a:p>
            <a:r>
              <a:rPr kumimoji="0" lang="en-US" sz="2400" b="1" smtClean="0">
                <a:latin typeface="Arial" panose="020B0604020202020204" pitchFamily="34" charset="0"/>
              </a:rPr>
              <a:t>BLOCK MAKER</a:t>
            </a:r>
            <a:r>
              <a:rPr kumimoji="0" lang="en-US" sz="2400" smtClean="0">
                <a:latin typeface="Arial" panose="020B0604020202020204" pitchFamily="34" charset="0"/>
              </a:rPr>
              <a:t> (Protein only) - Finds conserved blocks in seq sets (FHCRC)</a:t>
            </a:r>
            <a:r>
              <a:rPr kumimoji="0" lang="en-US" sz="2400" b="1" smtClean="0">
                <a:latin typeface="Arial" panose="020B0604020202020204" pitchFamily="34" charset="0"/>
              </a:rPr>
              <a:t>ClustalW 1.7</a:t>
            </a:r>
            <a:r>
              <a:rPr kumimoji="0" lang="en-US" sz="2400" smtClean="0">
                <a:latin typeface="Arial" panose="020B0604020202020204" pitchFamily="34" charset="0"/>
              </a:rPr>
              <a:t> (DNA/Protein) - Global progressive (BCM) </a:t>
            </a:r>
          </a:p>
          <a:p>
            <a:r>
              <a:rPr kumimoji="0" lang="en-US" sz="2400" b="1" smtClean="0">
                <a:latin typeface="Arial" panose="020B0604020202020204" pitchFamily="34" charset="0"/>
              </a:rPr>
              <a:t>MEME 2.2</a:t>
            </a:r>
            <a:r>
              <a:rPr kumimoji="0" lang="en-US" sz="2400" smtClean="0">
                <a:latin typeface="Arial" panose="020B0604020202020204" pitchFamily="34" charset="0"/>
              </a:rPr>
              <a:t> (DNA/Protein) - Multiple EM for Motif Elicitation (SDSC)</a:t>
            </a:r>
            <a:endParaRPr lang="en-US" sz="2400" smtClean="0">
              <a:latin typeface="Arial" panose="020B0604020202020204" pitchFamily="34" charset="0"/>
            </a:endParaRP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63570311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230679"/>
            <a:ext cx="4368119" cy="769441"/>
          </a:xfrm>
          <a:prstGeom prst="rect">
            <a:avLst/>
          </a:prstGeom>
        </p:spPr>
        <p:txBody>
          <a:bodyPr wrap="none">
            <a:spAutoFit/>
          </a:bodyPr>
          <a:lstStyle/>
          <a:p>
            <a:r>
              <a:rPr lang="en-US" sz="4400" b="1" dirty="0"/>
              <a:t>Constructing MSA</a:t>
            </a:r>
            <a:endParaRPr lang="en-US" sz="4400"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651" y="1000120"/>
            <a:ext cx="8276749" cy="522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1687829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9179470"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a:t>MSA </a:t>
            </a:r>
            <a:r>
              <a:rPr lang="en-US" sz="4400" dirty="0" smtClean="0"/>
              <a:t>by CLUSTALW </a:t>
            </a:r>
          </a:p>
          <a:p>
            <a:pPr marL="0" indent="0">
              <a:buNone/>
            </a:pPr>
            <a:r>
              <a:rPr lang="en-US" sz="4400" dirty="0"/>
              <a:t>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840829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1295"/>
            <a:ext cx="10287000" cy="5940088"/>
          </a:xfrm>
          <a:prstGeom prst="rect">
            <a:avLst/>
          </a:prstGeom>
        </p:spPr>
        <p:txBody>
          <a:bodyPr wrap="square">
            <a:spAutoFit/>
          </a:bodyPr>
          <a:lstStyle/>
          <a:p>
            <a:pPr algn="ctr"/>
            <a:r>
              <a:rPr lang="en-US" sz="4000" b="1" dirty="0" smtClean="0"/>
              <a:t>CLUSTAL</a:t>
            </a:r>
          </a:p>
          <a:p>
            <a:endParaRPr lang="en-US" sz="2000" dirty="0" smtClean="0"/>
          </a:p>
          <a:p>
            <a:r>
              <a:rPr lang="en-US" sz="2000" dirty="0" err="1" smtClean="0"/>
              <a:t>Clustal</a:t>
            </a:r>
            <a:r>
              <a:rPr lang="en-US" sz="2000" dirty="0" smtClean="0"/>
              <a:t> </a:t>
            </a:r>
            <a:r>
              <a:rPr lang="en-US" sz="2000" dirty="0"/>
              <a:t>is a series of widely used computer programs used in Bioinformatics for </a:t>
            </a:r>
            <a:r>
              <a:rPr lang="en-US" sz="2000" dirty="0" smtClean="0"/>
              <a:t>multiple sequence </a:t>
            </a:r>
            <a:r>
              <a:rPr lang="en-US" sz="2000" dirty="0"/>
              <a:t>alignment. </a:t>
            </a:r>
            <a:r>
              <a:rPr lang="en-US" sz="2000" dirty="0" smtClean="0"/>
              <a:t>The </a:t>
            </a:r>
            <a:r>
              <a:rPr lang="en-US" sz="2000" dirty="0"/>
              <a:t>guide tree in the initial programs was constructed via a UPGMA cluster analysis of the pairwise alignments, hence the name CLUSTAL. The first four versions in 1988 had Arabic numerals (1 to 4), whereas with the fifth version Des Higgins switched to Roman </a:t>
            </a:r>
            <a:r>
              <a:rPr lang="en-US" sz="2000" dirty="0" err="1" smtClean="0"/>
              <a:t>numera</a:t>
            </a:r>
            <a:r>
              <a:rPr lang="en-US" sz="2000" dirty="0" smtClean="0"/>
              <a:t> </a:t>
            </a:r>
            <a:r>
              <a:rPr lang="en-US" sz="2000" dirty="0" err="1" smtClean="0"/>
              <a:t>lV</a:t>
            </a:r>
            <a:r>
              <a:rPr lang="en-US" sz="2000" dirty="0" smtClean="0"/>
              <a:t> </a:t>
            </a:r>
            <a:r>
              <a:rPr lang="en-US" sz="2000" dirty="0"/>
              <a:t>in 1992. In 1994 and in 1997, for the next two versions, the letters after the letter V were used </a:t>
            </a:r>
            <a:r>
              <a:rPr lang="en-US" sz="2000" dirty="0" smtClean="0"/>
              <a:t>and made </a:t>
            </a:r>
            <a:r>
              <a:rPr lang="en-US" sz="2000" dirty="0"/>
              <a:t>to correspond to W for Weighted and X for X </a:t>
            </a:r>
            <a:r>
              <a:rPr lang="en-US" sz="2000" dirty="0" smtClean="0"/>
              <a:t>Window. </a:t>
            </a:r>
          </a:p>
          <a:p>
            <a:endParaRPr lang="en-US" sz="2000" dirty="0" smtClean="0"/>
          </a:p>
          <a:p>
            <a:r>
              <a:rPr lang="en-US" sz="2000" dirty="0" smtClean="0"/>
              <a:t>There </a:t>
            </a:r>
            <a:r>
              <a:rPr lang="en-US" sz="2000" dirty="0"/>
              <a:t>have been many variations of the </a:t>
            </a:r>
            <a:r>
              <a:rPr lang="en-US" sz="2000" dirty="0" err="1"/>
              <a:t>Clustal</a:t>
            </a:r>
            <a:r>
              <a:rPr lang="en-US" sz="2000" dirty="0"/>
              <a:t> software, all of which are listed below:</a:t>
            </a:r>
            <a:endParaRPr lang="en-US" sz="2000" dirty="0" smtClean="0"/>
          </a:p>
          <a:p>
            <a:endParaRPr lang="en-US" sz="2000" b="1" dirty="0" smtClean="0">
              <a:solidFill>
                <a:srgbClr val="FF0000"/>
              </a:solidFill>
            </a:endParaRPr>
          </a:p>
          <a:p>
            <a:r>
              <a:rPr lang="en-US" sz="2000" b="1" dirty="0" err="1" smtClean="0">
                <a:solidFill>
                  <a:srgbClr val="FF0000"/>
                </a:solidFill>
              </a:rPr>
              <a:t>Clustal</a:t>
            </a:r>
            <a:r>
              <a:rPr lang="en-US" sz="2000" b="1" dirty="0" smtClean="0">
                <a:solidFill>
                  <a:srgbClr val="FF0000"/>
                </a:solidFill>
              </a:rPr>
              <a:t>:</a:t>
            </a:r>
            <a:r>
              <a:rPr lang="en-US" sz="2000" dirty="0" smtClean="0"/>
              <a:t> The </a:t>
            </a:r>
            <a:r>
              <a:rPr lang="en-US" sz="2000" dirty="0"/>
              <a:t>original software for multiple sequence alignments, created by Des </a:t>
            </a:r>
            <a:r>
              <a:rPr lang="en-US" sz="2000" dirty="0" smtClean="0"/>
              <a:t>Higgins in </a:t>
            </a:r>
            <a:r>
              <a:rPr lang="en-US" sz="2000" dirty="0"/>
              <a:t>1988, was based on deriving phylogenetic trees from pairwise sequences of amino acids </a:t>
            </a:r>
            <a:r>
              <a:rPr lang="en-US" sz="2000" dirty="0" smtClean="0"/>
              <a:t>or nucleotides</a:t>
            </a:r>
            <a:r>
              <a:rPr lang="en-US" sz="2000" dirty="0"/>
              <a:t>.</a:t>
            </a:r>
          </a:p>
          <a:p>
            <a:endParaRPr lang="en-US" sz="2000" dirty="0" smtClean="0"/>
          </a:p>
          <a:p>
            <a:r>
              <a:rPr lang="en-US" sz="2000" b="1" dirty="0" err="1" smtClean="0">
                <a:solidFill>
                  <a:srgbClr val="FF0000"/>
                </a:solidFill>
              </a:rPr>
              <a:t>ClustalV</a:t>
            </a:r>
            <a:r>
              <a:rPr lang="en-US" sz="2000" dirty="0"/>
              <a:t>: The second generation of the </a:t>
            </a:r>
            <a:r>
              <a:rPr lang="en-US" sz="2000" dirty="0" err="1"/>
              <a:t>Clustal</a:t>
            </a:r>
            <a:r>
              <a:rPr lang="en-US" sz="2000" dirty="0"/>
              <a:t> software was released in 1992 and was </a:t>
            </a:r>
            <a:r>
              <a:rPr lang="en-US" sz="2000" dirty="0" smtClean="0"/>
              <a:t>a rewrite </a:t>
            </a:r>
            <a:r>
              <a:rPr lang="en-US" sz="2000" dirty="0"/>
              <a:t>of the original </a:t>
            </a:r>
            <a:r>
              <a:rPr lang="en-US" sz="2000" dirty="0" err="1"/>
              <a:t>Clustal</a:t>
            </a:r>
            <a:r>
              <a:rPr lang="en-US" sz="2000" dirty="0"/>
              <a:t> package. It introduced phylogenetic tree </a:t>
            </a:r>
            <a:r>
              <a:rPr lang="en-US" sz="2000" dirty="0" smtClean="0"/>
              <a:t>reconstruction </a:t>
            </a:r>
            <a:r>
              <a:rPr lang="en-US" sz="2000" dirty="0"/>
              <a:t>on </a:t>
            </a:r>
            <a:r>
              <a:rPr lang="en-US" sz="2000" dirty="0" smtClean="0"/>
              <a:t>the final </a:t>
            </a:r>
            <a:r>
              <a:rPr lang="en-US" sz="2000" dirty="0"/>
              <a:t>alignment, the ability to create alignments from existing alignments, and the option </a:t>
            </a:r>
            <a:r>
              <a:rPr lang="en-US" sz="2000" dirty="0" smtClean="0"/>
              <a:t>to create </a:t>
            </a:r>
            <a:r>
              <a:rPr lang="en-US" sz="2000" dirty="0"/>
              <a:t>trees from alignments using a method called Neighbor joining</a:t>
            </a:r>
            <a:r>
              <a:rPr lang="en-US" sz="2000" dirty="0" smtClean="0"/>
              <a:t>.</a:t>
            </a:r>
          </a:p>
        </p:txBody>
      </p:sp>
    </p:spTree>
    <p:extLst>
      <p:ext uri="{BB962C8B-B14F-4D97-AF65-F5344CB8AC3E}">
        <p14:creationId xmlns:p14="http://schemas.microsoft.com/office/powerpoint/2010/main" val="17074534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47901"/>
            <a:ext cx="10287000" cy="5016758"/>
          </a:xfrm>
          <a:prstGeom prst="rect">
            <a:avLst/>
          </a:prstGeom>
        </p:spPr>
        <p:txBody>
          <a:bodyPr wrap="square">
            <a:spAutoFit/>
          </a:bodyPr>
          <a:lstStyle/>
          <a:p>
            <a:r>
              <a:rPr lang="en-US" sz="2000" b="1" dirty="0" err="1" smtClean="0">
                <a:solidFill>
                  <a:srgbClr val="FF0000"/>
                </a:solidFill>
              </a:rPr>
              <a:t>ClustalW</a:t>
            </a:r>
            <a:r>
              <a:rPr lang="en-US" sz="2000" dirty="0">
                <a:solidFill>
                  <a:srgbClr val="FF0000"/>
                </a:solidFill>
              </a:rPr>
              <a:t>:</a:t>
            </a:r>
            <a:r>
              <a:rPr lang="en-US" sz="2000" dirty="0"/>
              <a:t> The third generation, released in 1994, greatly improved upon the previous</a:t>
            </a:r>
          </a:p>
          <a:p>
            <a:r>
              <a:rPr lang="en-US" sz="2000" dirty="0"/>
              <a:t>versions. It improved upon the progressive alignment algorithm in various ways, including allowing individual sequences to be weighted down or up according to similarity or divergence respectively in a partial alignment. It also included the ability to run the </a:t>
            </a:r>
            <a:r>
              <a:rPr lang="en-US" sz="2000" dirty="0" err="1"/>
              <a:t>programin</a:t>
            </a:r>
            <a:r>
              <a:rPr lang="en-US" sz="2000" dirty="0"/>
              <a:t> batch mode from the command line.</a:t>
            </a:r>
          </a:p>
          <a:p>
            <a:endParaRPr lang="en-US" sz="2000" b="1" dirty="0" smtClean="0">
              <a:solidFill>
                <a:srgbClr val="FF0000"/>
              </a:solidFill>
            </a:endParaRPr>
          </a:p>
          <a:p>
            <a:r>
              <a:rPr lang="en-US" sz="2000" b="1" dirty="0" smtClean="0">
                <a:solidFill>
                  <a:srgbClr val="FF0000"/>
                </a:solidFill>
              </a:rPr>
              <a:t>ClustalW2</a:t>
            </a:r>
            <a:r>
              <a:rPr lang="en-US" sz="2000" dirty="0"/>
              <a:t>: This is a general purpose DNA or protein multiple sequence alignment</a:t>
            </a:r>
          </a:p>
          <a:p>
            <a:r>
              <a:rPr lang="en-US" sz="2000" dirty="0"/>
              <a:t>program for </a:t>
            </a:r>
            <a:r>
              <a:rPr lang="en-US" sz="2000" b="1" dirty="0"/>
              <a:t>three or more </a:t>
            </a:r>
            <a:r>
              <a:rPr lang="en-US" sz="2000" dirty="0"/>
              <a:t>sequences. For the alignment of two sequences please </a:t>
            </a:r>
            <a:r>
              <a:rPr lang="en-US" sz="2000" dirty="0" smtClean="0"/>
              <a:t>instead use </a:t>
            </a:r>
            <a:r>
              <a:rPr lang="en-US" sz="2000" dirty="0"/>
              <a:t>our pairwise sequence alignment tools. The ClustalW2 services have been </a:t>
            </a:r>
            <a:r>
              <a:rPr lang="en-US" sz="2000" dirty="0" smtClean="0"/>
              <a:t>retired.</a:t>
            </a:r>
            <a:endParaRPr lang="en-US" sz="2000" dirty="0"/>
          </a:p>
          <a:p>
            <a:endParaRPr lang="en-US" sz="2000" dirty="0"/>
          </a:p>
          <a:p>
            <a:r>
              <a:rPr lang="en-US" sz="2000" b="1" dirty="0" err="1" smtClean="0">
                <a:solidFill>
                  <a:srgbClr val="FF0000"/>
                </a:solidFill>
              </a:rPr>
              <a:t>ClustalX</a:t>
            </a:r>
            <a:r>
              <a:rPr lang="en-US" sz="2000" dirty="0"/>
              <a:t>: This version, released in 1997, was the first to have a graphical user interface.</a:t>
            </a:r>
          </a:p>
          <a:p>
            <a:endParaRPr lang="en-US" sz="2000" dirty="0"/>
          </a:p>
          <a:p>
            <a:r>
              <a:rPr lang="en-US" sz="2000" b="1" dirty="0" err="1" smtClean="0">
                <a:solidFill>
                  <a:srgbClr val="FF0000"/>
                </a:solidFill>
              </a:rPr>
              <a:t>ClustalΩ</a:t>
            </a:r>
            <a:r>
              <a:rPr lang="en-US" sz="2000" b="1" dirty="0" smtClean="0">
                <a:solidFill>
                  <a:srgbClr val="FF0000"/>
                </a:solidFill>
              </a:rPr>
              <a:t> </a:t>
            </a:r>
            <a:r>
              <a:rPr lang="en-US" sz="2000" b="1" dirty="0">
                <a:solidFill>
                  <a:srgbClr val="FF0000"/>
                </a:solidFill>
              </a:rPr>
              <a:t>(Omega)</a:t>
            </a:r>
            <a:r>
              <a:rPr lang="en-US" sz="2000" dirty="0"/>
              <a:t>: The current standard version included new MSA tool that uses</a:t>
            </a:r>
          </a:p>
          <a:p>
            <a:r>
              <a:rPr lang="en-US" sz="2000" dirty="0"/>
              <a:t>seeded guide trees and HMM profile-profile techniques to generate alignments. Suitable </a:t>
            </a:r>
            <a:r>
              <a:rPr lang="en-US" sz="2000" dirty="0" smtClean="0"/>
              <a:t>for medium-large alignments. The name omega was chosen to mark a change from the previous ones. </a:t>
            </a:r>
            <a:r>
              <a:rPr lang="en-US" sz="2000" dirty="0" err="1" smtClean="0"/>
              <a:t>Clustal</a:t>
            </a:r>
            <a:r>
              <a:rPr lang="en-US" sz="2000" dirty="0" smtClean="0"/>
              <a:t> Omega</a:t>
            </a:r>
            <a:r>
              <a:rPr lang="en-US" sz="2000" dirty="0" smtClean="0">
                <a:solidFill>
                  <a:srgbClr val="FF0000"/>
                </a:solidFill>
              </a:rPr>
              <a:t> </a:t>
            </a:r>
            <a:r>
              <a:rPr lang="en-US" sz="2000" dirty="0" smtClean="0"/>
              <a:t>has the widest variety of operating systems out of all the </a:t>
            </a:r>
            <a:r>
              <a:rPr lang="en-US" sz="2000" dirty="0" err="1" smtClean="0"/>
              <a:t>Clustal</a:t>
            </a:r>
            <a:r>
              <a:rPr lang="en-US" sz="2000" dirty="0" smtClean="0"/>
              <a:t> tools.</a:t>
            </a:r>
          </a:p>
        </p:txBody>
      </p:sp>
    </p:spTree>
    <p:extLst>
      <p:ext uri="{BB962C8B-B14F-4D97-AF65-F5344CB8AC3E}">
        <p14:creationId xmlns:p14="http://schemas.microsoft.com/office/powerpoint/2010/main" val="4193865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33297"/>
            <a:ext cx="10287000" cy="5016758"/>
          </a:xfrm>
          <a:prstGeom prst="rect">
            <a:avLst/>
          </a:prstGeom>
        </p:spPr>
        <p:txBody>
          <a:bodyPr wrap="square">
            <a:spAutoFit/>
          </a:bodyPr>
          <a:lstStyle/>
          <a:p>
            <a:pPr algn="ctr"/>
            <a:r>
              <a:rPr lang="en-US" sz="4000" b="1" dirty="0" err="1"/>
              <a:t>ClustalW</a:t>
            </a:r>
            <a:endParaRPr lang="en-US" sz="4000" b="1" dirty="0"/>
          </a:p>
          <a:p>
            <a:endParaRPr lang="en-US" sz="2000" dirty="0" smtClean="0"/>
          </a:p>
          <a:p>
            <a:endParaRPr lang="en-US" sz="2000" dirty="0" smtClean="0"/>
          </a:p>
          <a:p>
            <a:pPr marL="342900" indent="-342900">
              <a:buFont typeface="Wingdings" pitchFamily="2" charset="2"/>
              <a:buChar char="Ø"/>
            </a:pPr>
            <a:r>
              <a:rPr lang="en-US" sz="2000" dirty="0" err="1" smtClean="0"/>
              <a:t>ClustalW</a:t>
            </a:r>
            <a:r>
              <a:rPr lang="en-US" sz="2000" dirty="0" smtClean="0"/>
              <a:t> </a:t>
            </a:r>
            <a:r>
              <a:rPr lang="en-US" sz="2000" dirty="0"/>
              <a:t>like the other </a:t>
            </a:r>
            <a:r>
              <a:rPr lang="en-US" sz="2000" dirty="0" err="1"/>
              <a:t>Clustal</a:t>
            </a:r>
            <a:r>
              <a:rPr lang="en-US" sz="2000" dirty="0"/>
              <a:t> tools is used for aligning multiple nucleotide or </a:t>
            </a:r>
            <a:r>
              <a:rPr lang="en-US" sz="2000" dirty="0" smtClean="0"/>
              <a:t>protein sequences </a:t>
            </a:r>
            <a:r>
              <a:rPr lang="en-US" sz="2000" dirty="0"/>
              <a:t>in an efficient manner. </a:t>
            </a:r>
            <a:endParaRPr lang="en-US" sz="2000" dirty="0" smtClean="0"/>
          </a:p>
          <a:p>
            <a:pPr marL="342900" indent="-342900">
              <a:buFont typeface="Wingdings" pitchFamily="2" charset="2"/>
              <a:buChar char="Ø"/>
            </a:pPr>
            <a:endParaRPr lang="en-US" sz="2000" dirty="0" smtClean="0"/>
          </a:p>
          <a:p>
            <a:pPr marL="342900" indent="-342900">
              <a:buFont typeface="Wingdings" pitchFamily="2" charset="2"/>
              <a:buChar char="Ø"/>
            </a:pPr>
            <a:r>
              <a:rPr lang="en-US" sz="2000" dirty="0" smtClean="0"/>
              <a:t>It </a:t>
            </a:r>
            <a:r>
              <a:rPr lang="en-US" sz="2000" dirty="0"/>
              <a:t>uses progressive alignment methods, which align the </a:t>
            </a:r>
            <a:r>
              <a:rPr lang="en-US" sz="2000" dirty="0" smtClean="0"/>
              <a:t>most similar </a:t>
            </a:r>
            <a:r>
              <a:rPr lang="en-US" sz="2000" dirty="0"/>
              <a:t>sequences first and work their way down to the least similar sequences until a </a:t>
            </a:r>
            <a:r>
              <a:rPr lang="en-US" sz="2000" dirty="0" smtClean="0"/>
              <a:t>global alignment </a:t>
            </a:r>
            <a:r>
              <a:rPr lang="en-US" sz="2000" dirty="0"/>
              <a:t>is created. </a:t>
            </a:r>
            <a:endParaRPr lang="en-US" sz="2000" dirty="0" smtClean="0"/>
          </a:p>
          <a:p>
            <a:pPr marL="342900" indent="-342900">
              <a:buFont typeface="Wingdings" pitchFamily="2" charset="2"/>
              <a:buChar char="Ø"/>
            </a:pPr>
            <a:endParaRPr lang="en-US" sz="2000" dirty="0" smtClean="0"/>
          </a:p>
          <a:p>
            <a:pPr marL="342900" indent="-342900">
              <a:buFont typeface="Wingdings" pitchFamily="2" charset="2"/>
              <a:buChar char="Ø"/>
            </a:pPr>
            <a:r>
              <a:rPr lang="en-US" sz="2000" dirty="0" err="1" smtClean="0"/>
              <a:t>ClustalW</a:t>
            </a:r>
            <a:r>
              <a:rPr lang="en-US" sz="2000" dirty="0" smtClean="0"/>
              <a:t> </a:t>
            </a:r>
            <a:r>
              <a:rPr lang="en-US" sz="2000" dirty="0"/>
              <a:t>is a matrix-based algorithm, whereas tools like </a:t>
            </a:r>
            <a:r>
              <a:rPr lang="en-US" sz="2000" dirty="0" err="1" smtClean="0"/>
              <a:t>Tcoffee</a:t>
            </a:r>
            <a:r>
              <a:rPr lang="en-US" sz="2000" dirty="0" smtClean="0"/>
              <a:t> and </a:t>
            </a:r>
            <a:r>
              <a:rPr lang="en-US" sz="2000" dirty="0" err="1"/>
              <a:t>Dialign</a:t>
            </a:r>
            <a:r>
              <a:rPr lang="en-US" sz="2000" dirty="0"/>
              <a:t> are consistency-based. </a:t>
            </a:r>
            <a:endParaRPr lang="en-US" sz="2000" dirty="0" smtClean="0"/>
          </a:p>
          <a:p>
            <a:pPr marL="342900" indent="-342900">
              <a:buFont typeface="Wingdings" pitchFamily="2" charset="2"/>
              <a:buChar char="Ø"/>
            </a:pPr>
            <a:endParaRPr lang="en-US" sz="2000" dirty="0" smtClean="0"/>
          </a:p>
          <a:p>
            <a:pPr marL="342900" indent="-342900">
              <a:buFont typeface="Wingdings" pitchFamily="2" charset="2"/>
              <a:buChar char="Ø"/>
            </a:pPr>
            <a:r>
              <a:rPr lang="en-US" sz="2000" dirty="0" err="1" smtClean="0"/>
              <a:t>ClustalW</a:t>
            </a:r>
            <a:r>
              <a:rPr lang="en-US" sz="2000" dirty="0" smtClean="0"/>
              <a:t> </a:t>
            </a:r>
            <a:r>
              <a:rPr lang="en-US" sz="2000" dirty="0"/>
              <a:t>has a fairly efficient algorithm </a:t>
            </a:r>
            <a:r>
              <a:rPr lang="en-US" sz="2000" dirty="0" smtClean="0"/>
              <a:t>that competes </a:t>
            </a:r>
            <a:r>
              <a:rPr lang="en-US" sz="2000" dirty="0"/>
              <a:t>well against other software. This program requires three or more sequences in order </a:t>
            </a:r>
            <a:r>
              <a:rPr lang="en-US" sz="2000" dirty="0" smtClean="0"/>
              <a:t>to calculate </a:t>
            </a:r>
            <a:r>
              <a:rPr lang="en-US" sz="2000" dirty="0"/>
              <a:t>a global alignment, for pairwise sequence alignment (2 sequences) use tools </a:t>
            </a:r>
            <a:r>
              <a:rPr lang="en-US" sz="2000" dirty="0" smtClean="0"/>
              <a:t>similar to </a:t>
            </a:r>
            <a:r>
              <a:rPr lang="en-US" sz="2000" dirty="0"/>
              <a:t>EMBOSS, LALIGN.</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916813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0287000" cy="2246769"/>
          </a:xfrm>
          <a:prstGeom prst="rect">
            <a:avLst/>
          </a:prstGeom>
        </p:spPr>
        <p:txBody>
          <a:bodyPr wrap="square">
            <a:spAutoFit/>
          </a:bodyPr>
          <a:lstStyle/>
          <a:p>
            <a:r>
              <a:rPr lang="en-US" sz="2000" b="1" dirty="0"/>
              <a:t>MSA by CLUSTAL W</a:t>
            </a:r>
          </a:p>
          <a:p>
            <a:endParaRPr lang="en-US" sz="2000" b="1" dirty="0" smtClean="0"/>
          </a:p>
          <a:p>
            <a:r>
              <a:rPr lang="en-US" sz="2000" b="1" dirty="0" smtClean="0"/>
              <a:t>[A] </a:t>
            </a:r>
            <a:r>
              <a:rPr lang="en-US" sz="2000" b="1" dirty="0" err="1" smtClean="0"/>
              <a:t>Input/Output</a:t>
            </a:r>
            <a:endParaRPr lang="en-US" sz="2000" b="1" dirty="0"/>
          </a:p>
          <a:p>
            <a:pPr marL="342900" indent="-342900">
              <a:buFont typeface="Wingdings" pitchFamily="2" charset="2"/>
              <a:buChar char="Ø"/>
            </a:pPr>
            <a:r>
              <a:rPr lang="en-US" sz="2000" dirty="0"/>
              <a:t>This program accepts a wide range of input formats, including NBRF/PIR, FASTA,</a:t>
            </a:r>
          </a:p>
          <a:p>
            <a:pPr marL="342900" indent="-342900">
              <a:buFont typeface="Wingdings" pitchFamily="2" charset="2"/>
              <a:buChar char="Ø"/>
            </a:pPr>
            <a:r>
              <a:rPr lang="en-US" sz="2000" dirty="0"/>
              <a:t>EMBL/Swiss-</a:t>
            </a:r>
            <a:r>
              <a:rPr lang="en-US" sz="2000" dirty="0" err="1"/>
              <a:t>Prot</a:t>
            </a:r>
            <a:r>
              <a:rPr lang="en-US" sz="2000" dirty="0"/>
              <a:t>, </a:t>
            </a:r>
            <a:r>
              <a:rPr lang="en-US" sz="2000" dirty="0" err="1"/>
              <a:t>Clustal</a:t>
            </a:r>
            <a:r>
              <a:rPr lang="en-US" sz="2000" dirty="0"/>
              <a:t>, GCC/MSF, GCG9 RSF, and GDE.</a:t>
            </a:r>
          </a:p>
          <a:p>
            <a:pPr marL="342900" indent="-342900">
              <a:buFont typeface="Wingdings" pitchFamily="2" charset="2"/>
              <a:buChar char="Ø"/>
            </a:pPr>
            <a:r>
              <a:rPr lang="en-US" sz="2000" dirty="0"/>
              <a:t>The output format can be one or many of the following: </a:t>
            </a:r>
            <a:r>
              <a:rPr lang="en-US" sz="2000" dirty="0" err="1"/>
              <a:t>Clustal</a:t>
            </a:r>
            <a:r>
              <a:rPr lang="en-US" sz="2000" dirty="0"/>
              <a:t>,</a:t>
            </a:r>
          </a:p>
          <a:p>
            <a:pPr marL="342900" indent="-342900">
              <a:buFont typeface="Wingdings" pitchFamily="2" charset="2"/>
              <a:buChar char="Ø"/>
            </a:pPr>
            <a:r>
              <a:rPr lang="en-US" sz="2000" dirty="0"/>
              <a:t>NBRF/PIR, GCG/MSF, PHYLIP, GDE, or NEXUS.</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066" y="2337315"/>
            <a:ext cx="9200873" cy="3196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521066" y="5519375"/>
            <a:ext cx="9200873" cy="830997"/>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r>
              <a:rPr lang="en-US" sz="1600" dirty="0"/>
              <a:t>The same symbols are shown for both DNA/RNA alignments and protein alignments, so</a:t>
            </a:r>
          </a:p>
          <a:p>
            <a:r>
              <a:rPr lang="en-US" sz="1600" dirty="0"/>
              <a:t>while * (asterisk) symbols are useful to both, the other consensus symbols should be ignored</a:t>
            </a:r>
          </a:p>
          <a:p>
            <a:r>
              <a:rPr lang="en-US" sz="1600" dirty="0"/>
              <a:t>for DNA/RNA alignments.</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045015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68765"/>
            <a:ext cx="6186689" cy="5632311"/>
          </a:xfrm>
          <a:prstGeom prst="rect">
            <a:avLst/>
          </a:prstGeom>
        </p:spPr>
        <p:txBody>
          <a:bodyPr wrap="square">
            <a:spAutoFit/>
          </a:bodyPr>
          <a:lstStyle/>
          <a:p>
            <a:r>
              <a:rPr lang="en-US" sz="2000" b="1" dirty="0" smtClean="0"/>
              <a:t>[B] Progressive </a:t>
            </a:r>
            <a:r>
              <a:rPr lang="en-US" sz="2000" b="1" dirty="0"/>
              <a:t>alignment </a:t>
            </a:r>
            <a:r>
              <a:rPr lang="en-US" sz="2000" b="1" dirty="0" smtClean="0"/>
              <a:t>method</a:t>
            </a:r>
          </a:p>
          <a:p>
            <a:endParaRPr lang="en-US" sz="2000" b="1" dirty="0"/>
          </a:p>
          <a:p>
            <a:pPr marL="342900" indent="-342900">
              <a:buFont typeface="Wingdings" pitchFamily="2" charset="2"/>
              <a:buChar char="Ø"/>
            </a:pPr>
            <a:r>
              <a:rPr lang="en-US" sz="2000" dirty="0" err="1"/>
              <a:t>ClustalW</a:t>
            </a:r>
            <a:r>
              <a:rPr lang="en-US" sz="2000" dirty="0"/>
              <a:t> uses progressive alignment methods as stated above. In these, the sequences </a:t>
            </a:r>
            <a:r>
              <a:rPr lang="en-US" sz="2000" dirty="0" smtClean="0"/>
              <a:t>with the </a:t>
            </a:r>
            <a:r>
              <a:rPr lang="en-US" sz="2000" dirty="0"/>
              <a:t>best alignment score are aligned first, then progressively more distant groups </a:t>
            </a:r>
            <a:r>
              <a:rPr lang="en-US" sz="2000" dirty="0" smtClean="0"/>
              <a:t>of sequences </a:t>
            </a:r>
            <a:r>
              <a:rPr lang="en-US" sz="2000" dirty="0"/>
              <a:t>are aligned. </a:t>
            </a:r>
            <a:endParaRPr lang="en-US" sz="2000" dirty="0" smtClean="0"/>
          </a:p>
          <a:p>
            <a:pPr marL="342900" indent="-342900">
              <a:buFont typeface="Wingdings" pitchFamily="2" charset="2"/>
              <a:buChar char="Ø"/>
            </a:pPr>
            <a:r>
              <a:rPr lang="en-US" sz="2000" dirty="0" smtClean="0"/>
              <a:t>This </a:t>
            </a:r>
            <a:r>
              <a:rPr lang="en-US" sz="2000" dirty="0"/>
              <a:t>heuristic approach is necessary due to the time and </a:t>
            </a:r>
            <a:r>
              <a:rPr lang="en-US" sz="2000" dirty="0" smtClean="0"/>
              <a:t>memory demand </a:t>
            </a:r>
            <a:r>
              <a:rPr lang="en-US" sz="2000" dirty="0"/>
              <a:t>of finding the global optimal solution. </a:t>
            </a:r>
            <a:endParaRPr lang="en-US" sz="2000" dirty="0" smtClean="0"/>
          </a:p>
          <a:p>
            <a:pPr marL="342900" indent="-342900">
              <a:buFont typeface="Wingdings" pitchFamily="2" charset="2"/>
              <a:buChar char="Ø"/>
            </a:pPr>
            <a:r>
              <a:rPr lang="en-US" sz="2000" dirty="0" smtClean="0"/>
              <a:t>The </a:t>
            </a:r>
            <a:r>
              <a:rPr lang="en-US" sz="2000" dirty="0"/>
              <a:t>first step to the algorithm is computing </a:t>
            </a:r>
            <a:r>
              <a:rPr lang="en-US" sz="2000" dirty="0" smtClean="0"/>
              <a:t>a rough </a:t>
            </a:r>
            <a:r>
              <a:rPr lang="en-US" sz="2000" dirty="0"/>
              <a:t>distance matrix between each pair of sequences, also known as pairwise </a:t>
            </a:r>
            <a:r>
              <a:rPr lang="en-US" sz="2000" dirty="0" smtClean="0"/>
              <a:t>sequence alignment</a:t>
            </a:r>
            <a:r>
              <a:rPr lang="en-US" sz="2000" dirty="0"/>
              <a:t>. </a:t>
            </a:r>
            <a:endParaRPr lang="en-US" sz="2000" dirty="0" smtClean="0"/>
          </a:p>
          <a:p>
            <a:pPr marL="342900" indent="-342900">
              <a:buFont typeface="Wingdings" pitchFamily="2" charset="2"/>
              <a:buChar char="Ø"/>
            </a:pPr>
            <a:r>
              <a:rPr lang="en-US" sz="2000" dirty="0" smtClean="0"/>
              <a:t>The </a:t>
            </a:r>
            <a:r>
              <a:rPr lang="en-US" sz="2000" dirty="0"/>
              <a:t>next step is a neighbor-joining method that uses midpoint rooting to create </a:t>
            </a:r>
            <a:r>
              <a:rPr lang="en-US" sz="2000" dirty="0" smtClean="0"/>
              <a:t>an overall </a:t>
            </a:r>
            <a:r>
              <a:rPr lang="en-US" sz="2000" dirty="0"/>
              <a:t>guide tree. </a:t>
            </a:r>
            <a:endParaRPr lang="en-US" sz="2000" dirty="0" smtClean="0"/>
          </a:p>
          <a:p>
            <a:pPr marL="342900" indent="-342900">
              <a:buFont typeface="Wingdings" pitchFamily="2" charset="2"/>
              <a:buChar char="Ø"/>
            </a:pPr>
            <a:r>
              <a:rPr lang="en-US" sz="2000" dirty="0" smtClean="0"/>
              <a:t>The </a:t>
            </a:r>
            <a:r>
              <a:rPr lang="en-US" sz="2000" dirty="0"/>
              <a:t>process it uses to do this is shown in the detailed diagram for </a:t>
            </a:r>
            <a:r>
              <a:rPr lang="en-US" sz="2000" dirty="0" smtClean="0"/>
              <a:t>the method </a:t>
            </a:r>
            <a:r>
              <a:rPr lang="en-US" sz="2000" dirty="0"/>
              <a:t>to the right. </a:t>
            </a:r>
            <a:endParaRPr lang="en-US" sz="2000" dirty="0" smtClean="0"/>
          </a:p>
          <a:p>
            <a:pPr marL="342900" indent="-342900">
              <a:buFont typeface="Wingdings" pitchFamily="2" charset="2"/>
              <a:buChar char="Ø"/>
            </a:pPr>
            <a:r>
              <a:rPr lang="en-US" sz="2000" dirty="0" smtClean="0"/>
              <a:t>The </a:t>
            </a:r>
            <a:r>
              <a:rPr lang="en-US" sz="2000" dirty="0"/>
              <a:t>guide tree is then used as a rough template to generate a </a:t>
            </a:r>
            <a:r>
              <a:rPr lang="en-US" sz="2000" dirty="0" smtClean="0"/>
              <a:t>global alignment</a:t>
            </a:r>
            <a:r>
              <a:rPr lang="en-US" sz="2000" dirty="0"/>
              <a:t>.</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2294" y="803724"/>
            <a:ext cx="3934707" cy="5712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919926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4675"/>
            <a:ext cx="10287000" cy="400110"/>
          </a:xfrm>
          <a:prstGeom prst="rect">
            <a:avLst/>
          </a:prstGeom>
        </p:spPr>
        <p:txBody>
          <a:bodyPr wrap="square">
            <a:spAutoFit/>
          </a:bodyPr>
          <a:lstStyle/>
          <a:p>
            <a:r>
              <a:rPr lang="en-US" sz="2000" b="1" dirty="0" smtClean="0"/>
              <a:t>[C] Combine </a:t>
            </a:r>
            <a:r>
              <a:rPr lang="en-US" sz="2000" b="1" dirty="0"/>
              <a:t>pairwise alignment and global </a:t>
            </a:r>
            <a:r>
              <a:rPr lang="en-US" sz="2000" b="1" dirty="0" smtClean="0"/>
              <a:t>alignment</a:t>
            </a:r>
            <a:endParaRPr lang="en-US" sz="2000" b="1" dirty="0"/>
          </a:p>
        </p:txBody>
      </p:sp>
      <p:sp>
        <p:nvSpPr>
          <p:cNvPr id="3" name="Rectangle 2"/>
          <p:cNvSpPr/>
          <p:nvPr/>
        </p:nvSpPr>
        <p:spPr>
          <a:xfrm>
            <a:off x="594038" y="647214"/>
            <a:ext cx="9692962" cy="1015663"/>
          </a:xfrm>
          <a:prstGeom prst="rect">
            <a:avLst/>
          </a:prstGeom>
        </p:spPr>
        <p:txBody>
          <a:bodyPr wrap="square">
            <a:spAutoFit/>
          </a:bodyPr>
          <a:lstStyle/>
          <a:p>
            <a:pPr marL="342900" indent="-342900">
              <a:buFont typeface="Wingdings" pitchFamily="2" charset="2"/>
              <a:buChar char="Ø"/>
            </a:pPr>
            <a:r>
              <a:rPr lang="en-US" sz="2000" dirty="0" err="1"/>
              <a:t>ClustalW</a:t>
            </a:r>
            <a:r>
              <a:rPr lang="en-US" sz="2000" dirty="0"/>
              <a:t> was one of the first algorithms to combine pairwise alignment and </a:t>
            </a:r>
            <a:r>
              <a:rPr lang="en-US" sz="2000" dirty="0" smtClean="0"/>
              <a:t>global alignment </a:t>
            </a:r>
            <a:r>
              <a:rPr lang="en-US" sz="2000" dirty="0"/>
              <a:t>in an attempt to be speed efficient, and it worked, but there is a loss in </a:t>
            </a:r>
            <a:r>
              <a:rPr lang="en-US" sz="2000" dirty="0" smtClean="0"/>
              <a:t>accuracy that </a:t>
            </a:r>
            <a:r>
              <a:rPr lang="en-US" sz="2000" dirty="0"/>
              <a:t>other software doesn't have due to this</a:t>
            </a:r>
            <a:r>
              <a:rPr lang="en-US" sz="2000" dirty="0" smtClean="0"/>
              <a:t>.</a:t>
            </a:r>
            <a:endParaRPr lang="en-US" sz="2000" dirty="0"/>
          </a:p>
        </p:txBody>
      </p:sp>
      <p:sp>
        <p:nvSpPr>
          <p:cNvPr id="4" name="Rectangle 3"/>
          <p:cNvSpPr/>
          <p:nvPr/>
        </p:nvSpPr>
        <p:spPr>
          <a:xfrm>
            <a:off x="594039" y="3351127"/>
            <a:ext cx="9692961" cy="1631216"/>
          </a:xfrm>
          <a:prstGeom prst="rect">
            <a:avLst/>
          </a:prstGeom>
        </p:spPr>
        <p:txBody>
          <a:bodyPr wrap="square">
            <a:spAutoFit/>
          </a:bodyPr>
          <a:lstStyle/>
          <a:p>
            <a:pPr marL="342900" indent="-342900">
              <a:buFont typeface="Wingdings" pitchFamily="2" charset="2"/>
              <a:buChar char="Ø"/>
            </a:pPr>
            <a:r>
              <a:rPr lang="en-US" sz="2000" dirty="0" err="1" smtClean="0"/>
              <a:t>ClustalW</a:t>
            </a:r>
            <a:r>
              <a:rPr lang="en-US" sz="2000" dirty="0" smtClean="0"/>
              <a:t> </a:t>
            </a:r>
            <a:r>
              <a:rPr lang="en-US" sz="2000" dirty="0"/>
              <a:t>has a time complexity of because of its use of the neighbor-joining method. In </a:t>
            </a:r>
            <a:r>
              <a:rPr lang="en-US" sz="2000" dirty="0" smtClean="0"/>
              <a:t>the updated </a:t>
            </a:r>
            <a:r>
              <a:rPr lang="en-US" sz="2000" dirty="0"/>
              <a:t>version (ClustalW2) there is an option built into the software to use UPGMA </a:t>
            </a:r>
            <a:r>
              <a:rPr lang="en-US" sz="2000" dirty="0" smtClean="0"/>
              <a:t>which is </a:t>
            </a:r>
            <a:r>
              <a:rPr lang="en-US" sz="2000" dirty="0"/>
              <a:t>faster with large input sizes. For example, on a standard desktop, running UPGMA </a:t>
            </a:r>
            <a:r>
              <a:rPr lang="en-US" sz="2000" dirty="0" smtClean="0"/>
              <a:t>on 10,000 </a:t>
            </a:r>
            <a:r>
              <a:rPr lang="en-US" sz="2000" dirty="0"/>
              <a:t>sequences would produce results in less than a minute while neighbor-joining </a:t>
            </a:r>
            <a:r>
              <a:rPr lang="en-US" sz="2000" dirty="0" smtClean="0"/>
              <a:t>would take </a:t>
            </a:r>
            <a:r>
              <a:rPr lang="en-US" sz="2000" dirty="0"/>
              <a:t>over an hour.</a:t>
            </a:r>
          </a:p>
        </p:txBody>
      </p:sp>
      <p:sp>
        <p:nvSpPr>
          <p:cNvPr id="5" name="Rectangle 4"/>
          <p:cNvSpPr/>
          <p:nvPr/>
        </p:nvSpPr>
        <p:spPr>
          <a:xfrm>
            <a:off x="-1" y="2680473"/>
            <a:ext cx="8954038" cy="400110"/>
          </a:xfrm>
          <a:prstGeom prst="rect">
            <a:avLst/>
          </a:prstGeom>
        </p:spPr>
        <p:txBody>
          <a:bodyPr wrap="square">
            <a:spAutoFit/>
          </a:bodyPr>
          <a:lstStyle/>
          <a:p>
            <a:r>
              <a:rPr lang="en-US" sz="2000" b="1" dirty="0" smtClean="0"/>
              <a:t>[D] Clustering </a:t>
            </a:r>
            <a:r>
              <a:rPr lang="en-US" sz="2000" b="1" dirty="0"/>
              <a:t>through neighbor-joining method = time complexity</a:t>
            </a:r>
          </a:p>
        </p:txBody>
      </p:sp>
      <p:sp>
        <p:nvSpPr>
          <p:cNvPr id="6" name="Rectangle 5"/>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806054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6066"/>
            <a:ext cx="10287000" cy="5324535"/>
          </a:xfrm>
          <a:prstGeom prst="rect">
            <a:avLst/>
          </a:prstGeom>
        </p:spPr>
        <p:txBody>
          <a:bodyPr wrap="square">
            <a:spAutoFit/>
          </a:bodyPr>
          <a:lstStyle/>
          <a:p>
            <a:r>
              <a:rPr lang="en-US" sz="2000" b="1" dirty="0" smtClean="0"/>
              <a:t>Limitations of </a:t>
            </a:r>
            <a:r>
              <a:rPr lang="en-US" sz="2000" b="1" dirty="0" err="1" smtClean="0"/>
              <a:t>ClustalW</a:t>
            </a:r>
            <a:endParaRPr lang="en-US" sz="2000" b="1" dirty="0" smtClean="0"/>
          </a:p>
          <a:p>
            <a:endParaRPr lang="en-US" sz="2000" b="1" dirty="0"/>
          </a:p>
          <a:p>
            <a:pPr marL="342900" indent="-342900">
              <a:buFont typeface="Wingdings" pitchFamily="2" charset="2"/>
              <a:buChar char="Ø"/>
            </a:pPr>
            <a:r>
              <a:rPr lang="en-US" sz="2000" dirty="0"/>
              <a:t>The algorithm </a:t>
            </a:r>
            <a:r>
              <a:rPr lang="en-US" sz="2000" dirty="0" err="1"/>
              <a:t>ClustalW</a:t>
            </a:r>
            <a:r>
              <a:rPr lang="en-US" sz="2000" dirty="0"/>
              <a:t> uses provides a close-to-optimal result almost every time. </a:t>
            </a:r>
            <a:endParaRPr lang="en-US" sz="2000" dirty="0" smtClean="0"/>
          </a:p>
          <a:p>
            <a:pPr marL="342900" indent="-342900">
              <a:buFont typeface="Wingdings" pitchFamily="2" charset="2"/>
              <a:buChar char="Ø"/>
            </a:pPr>
            <a:r>
              <a:rPr lang="en-US" sz="2000" dirty="0" smtClean="0"/>
              <a:t>However, it </a:t>
            </a:r>
            <a:r>
              <a:rPr lang="en-US" sz="2000" dirty="0"/>
              <a:t>does exceptionally well when the data set contains sequences with varied degrees </a:t>
            </a:r>
            <a:r>
              <a:rPr lang="en-US" sz="2000" dirty="0" smtClean="0"/>
              <a:t>of divergence</a:t>
            </a:r>
            <a:r>
              <a:rPr lang="en-US" sz="2000" dirty="0"/>
              <a:t>. </a:t>
            </a:r>
            <a:endParaRPr lang="en-US" sz="2000" dirty="0" smtClean="0"/>
          </a:p>
          <a:p>
            <a:pPr marL="342900" indent="-342900">
              <a:buFont typeface="Wingdings" pitchFamily="2" charset="2"/>
              <a:buChar char="Ø"/>
            </a:pPr>
            <a:r>
              <a:rPr lang="en-US" sz="2000" dirty="0" smtClean="0"/>
              <a:t>This </a:t>
            </a:r>
            <a:r>
              <a:rPr lang="en-US" sz="2000" dirty="0"/>
              <a:t>is because in a data set like this, the guide tree becomes less sensitive </a:t>
            </a:r>
            <a:r>
              <a:rPr lang="en-US" sz="2000" dirty="0" smtClean="0"/>
              <a:t>to noise</a:t>
            </a:r>
            <a:r>
              <a:rPr lang="en-US" sz="2000" dirty="0"/>
              <a:t>. </a:t>
            </a:r>
            <a:endParaRPr lang="en-US" sz="2000" dirty="0" smtClean="0"/>
          </a:p>
          <a:p>
            <a:pPr marL="342900" indent="-342900">
              <a:buFont typeface="Wingdings" pitchFamily="2" charset="2"/>
              <a:buChar char="Ø"/>
            </a:pPr>
            <a:r>
              <a:rPr lang="en-US" sz="2000" dirty="0" err="1" smtClean="0"/>
              <a:t>ClustalW</a:t>
            </a:r>
            <a:r>
              <a:rPr lang="en-US" sz="2000" dirty="0"/>
              <a:t>, when compared to other MSA algorithms, performed as one of the </a:t>
            </a:r>
            <a:r>
              <a:rPr lang="en-US" sz="2000" dirty="0" smtClean="0"/>
              <a:t>quickest while </a:t>
            </a:r>
            <a:r>
              <a:rPr lang="en-US" sz="2000" dirty="0"/>
              <a:t>still maintaining a level of accuracy. </a:t>
            </a:r>
            <a:endParaRPr lang="en-US" sz="2000" dirty="0" smtClean="0"/>
          </a:p>
          <a:p>
            <a:pPr marL="342900" indent="-342900">
              <a:buFont typeface="Wingdings" pitchFamily="2" charset="2"/>
              <a:buChar char="Ø"/>
            </a:pPr>
            <a:r>
              <a:rPr lang="en-US" sz="2000" dirty="0" smtClean="0"/>
              <a:t>There </a:t>
            </a:r>
            <a:r>
              <a:rPr lang="en-US" sz="2000" dirty="0"/>
              <a:t>is still much to be improved compared to </a:t>
            </a:r>
            <a:r>
              <a:rPr lang="en-US" sz="2000" dirty="0" smtClean="0"/>
              <a:t>its consistency-based </a:t>
            </a:r>
            <a:r>
              <a:rPr lang="en-US" sz="2000" dirty="0"/>
              <a:t>competitors like T-Coffee. </a:t>
            </a:r>
            <a:endParaRPr lang="en-US" sz="2000" dirty="0" smtClean="0"/>
          </a:p>
          <a:p>
            <a:pPr marL="342900" indent="-342900">
              <a:buFont typeface="Wingdings" pitchFamily="2" charset="2"/>
              <a:buChar char="Ø"/>
            </a:pPr>
            <a:r>
              <a:rPr lang="en-US" sz="2000" dirty="0" smtClean="0"/>
              <a:t>The </a:t>
            </a:r>
            <a:r>
              <a:rPr lang="en-US" sz="2000" dirty="0"/>
              <a:t>accuracy for </a:t>
            </a:r>
            <a:r>
              <a:rPr lang="en-US" sz="2000" dirty="0" err="1"/>
              <a:t>ClustalW</a:t>
            </a:r>
            <a:r>
              <a:rPr lang="en-US" sz="2000" dirty="0"/>
              <a:t> when tested </a:t>
            </a:r>
            <a:r>
              <a:rPr lang="en-US" sz="2000" dirty="0" smtClean="0"/>
              <a:t>against MAFFT</a:t>
            </a:r>
            <a:r>
              <a:rPr lang="en-US" sz="2000" dirty="0"/>
              <a:t>, T-Coffee, </a:t>
            </a:r>
            <a:r>
              <a:rPr lang="en-US" sz="2000" dirty="0" err="1"/>
              <a:t>Clustal</a:t>
            </a:r>
            <a:r>
              <a:rPr lang="en-US" sz="2000" dirty="0"/>
              <a:t> Omega, and other MSA implementations had the lowest </a:t>
            </a:r>
            <a:r>
              <a:rPr lang="en-US" sz="2000" dirty="0" smtClean="0"/>
              <a:t>accuracy for </a:t>
            </a:r>
            <a:r>
              <a:rPr lang="en-US" sz="2000" dirty="0"/>
              <a:t>full-length sequences. </a:t>
            </a:r>
            <a:endParaRPr lang="en-US" sz="2000" dirty="0" smtClean="0"/>
          </a:p>
          <a:p>
            <a:pPr marL="342900" indent="-342900">
              <a:buFont typeface="Wingdings" pitchFamily="2" charset="2"/>
              <a:buChar char="Ø"/>
            </a:pPr>
            <a:r>
              <a:rPr lang="en-US" sz="2000" dirty="0" smtClean="0"/>
              <a:t>It </a:t>
            </a:r>
            <a:r>
              <a:rPr lang="en-US" sz="2000" dirty="0"/>
              <a:t>had the least RAM memory demanding algorithm out of all </a:t>
            </a:r>
            <a:r>
              <a:rPr lang="en-US" sz="2000" dirty="0" smtClean="0"/>
              <a:t>the ones </a:t>
            </a:r>
            <a:r>
              <a:rPr lang="en-US" sz="2000" dirty="0"/>
              <a:t>tested in the study. </a:t>
            </a:r>
            <a:endParaRPr lang="en-US" sz="2000" dirty="0" smtClean="0"/>
          </a:p>
          <a:p>
            <a:pPr marL="342900" indent="-342900">
              <a:buFont typeface="Wingdings" pitchFamily="2" charset="2"/>
              <a:buChar char="Ø"/>
            </a:pPr>
            <a:r>
              <a:rPr lang="en-US" sz="2000" dirty="0" smtClean="0"/>
              <a:t>While </a:t>
            </a:r>
            <a:r>
              <a:rPr lang="en-US" sz="2000" dirty="0" err="1"/>
              <a:t>ClustalW</a:t>
            </a:r>
            <a:r>
              <a:rPr lang="en-US" sz="2000" dirty="0"/>
              <a:t> recorded the lowest level of accuracy among </a:t>
            </a:r>
            <a:r>
              <a:rPr lang="en-US" sz="2000" dirty="0" smtClean="0"/>
              <a:t>its competitors</a:t>
            </a:r>
            <a:r>
              <a:rPr lang="en-US" sz="2000" dirty="0"/>
              <a:t>, it still maintained what some would deem acceptable. </a:t>
            </a:r>
            <a:endParaRPr lang="en-US" sz="2000" dirty="0" smtClean="0"/>
          </a:p>
          <a:p>
            <a:pPr marL="342900" indent="-342900">
              <a:buFont typeface="Wingdings" pitchFamily="2" charset="2"/>
              <a:buChar char="Ø"/>
            </a:pPr>
            <a:r>
              <a:rPr lang="en-US" sz="2000" dirty="0" smtClean="0"/>
              <a:t>There </a:t>
            </a:r>
            <a:r>
              <a:rPr lang="en-US" sz="2000" dirty="0"/>
              <a:t>have been </a:t>
            </a:r>
            <a:r>
              <a:rPr lang="en-US" sz="2000" dirty="0" smtClean="0"/>
              <a:t>updates and </a:t>
            </a:r>
            <a:r>
              <a:rPr lang="en-US" sz="2000" dirty="0"/>
              <a:t>improvements to the algorithm that are present in ClustalW2 that work to </a:t>
            </a:r>
            <a:r>
              <a:rPr lang="en-US" sz="2000" dirty="0" smtClean="0"/>
              <a:t>increase accuracy </a:t>
            </a:r>
            <a:r>
              <a:rPr lang="en-US" sz="2000" dirty="0"/>
              <a:t>while still maintaining its greatly valued speed.</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7942409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r>
              <a:rPr lang="en-US" dirty="0"/>
              <a:t>Multiple Sequence </a:t>
            </a:r>
            <a:r>
              <a:rPr lang="en-US" dirty="0" smtClean="0"/>
              <a:t>Alignment in </a:t>
            </a:r>
            <a:r>
              <a:rPr lang="en-US" dirty="0" err="1" smtClean="0"/>
              <a:t>Clustal</a:t>
            </a:r>
            <a:r>
              <a:rPr lang="en-US" dirty="0" smtClean="0"/>
              <a:t> w</a:t>
            </a:r>
            <a:endParaRPr lang="en-US" dirty="0"/>
          </a:p>
        </p:txBody>
      </p:sp>
      <p:sp>
        <p:nvSpPr>
          <p:cNvPr id="125955" name="Rectangle 3"/>
          <p:cNvSpPr>
            <a:spLocks noGrp="1" noChangeArrowheads="1"/>
          </p:cNvSpPr>
          <p:nvPr>
            <p:ph type="body" idx="1"/>
          </p:nvPr>
        </p:nvSpPr>
        <p:spPr/>
        <p:txBody>
          <a:bodyPr/>
          <a:lstStyle/>
          <a:p>
            <a:r>
              <a:rPr lang="en-US" sz="2800"/>
              <a:t>Extend pairwise problem to multiple sequences</a:t>
            </a:r>
          </a:p>
        </p:txBody>
      </p:sp>
      <p:graphicFrame>
        <p:nvGraphicFramePr>
          <p:cNvPr id="125956" name="Object 4"/>
          <p:cNvGraphicFramePr>
            <a:graphicFrameLocks noChangeAspect="1"/>
          </p:cNvGraphicFramePr>
          <p:nvPr>
            <p:extLst>
              <p:ext uri="{D42A27DB-BD31-4B8C-83A1-F6EECF244321}">
                <p14:modId xmlns:p14="http://schemas.microsoft.com/office/powerpoint/2010/main" val="1927995139"/>
              </p:ext>
            </p:extLst>
          </p:nvPr>
        </p:nvGraphicFramePr>
        <p:xfrm>
          <a:off x="87720" y="2279562"/>
          <a:ext cx="10091243" cy="3892639"/>
        </p:xfrm>
        <a:graphic>
          <a:graphicData uri="http://schemas.openxmlformats.org/presentationml/2006/ole">
            <mc:AlternateContent xmlns:mc="http://schemas.openxmlformats.org/markup-compatibility/2006">
              <mc:Choice xmlns:v="urn:schemas-microsoft-com:vml" Requires="v">
                <p:oleObj spid="_x0000_s16396" name="Photo Editor Photo" r:id="rId3" imgW="12142857" imgH="15714286" progId="MSPhotoEd.3">
                  <p:embed/>
                </p:oleObj>
              </mc:Choice>
              <mc:Fallback>
                <p:oleObj name="Photo Editor Photo" r:id="rId3" imgW="12142857" imgH="15714286" progId="MSPhotoEd.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t="4022" r="9525" b="69540"/>
                      <a:stretch>
                        <a:fillRect/>
                      </a:stretch>
                    </p:blipFill>
                    <p:spPr bwMode="auto">
                      <a:xfrm>
                        <a:off x="87720" y="2279562"/>
                        <a:ext cx="10091243" cy="3892639"/>
                      </a:xfrm>
                      <a:prstGeom prst="rect">
                        <a:avLst/>
                      </a:prstGeom>
                      <a:noFill/>
                      <a:ln>
                        <a:noFill/>
                      </a:ln>
                      <a:effectLst/>
                      <a:extLst/>
                    </p:spPr>
                  </p:pic>
                </p:oleObj>
              </mc:Fallback>
            </mc:AlternateContent>
          </a:graphicData>
        </a:graphic>
      </p:graphicFrame>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3595834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3954" name="Picture 2"/>
          <p:cNvPicPr>
            <a:picLocks noChangeAspect="1" noChangeArrowheads="1"/>
          </p:cNvPicPr>
          <p:nvPr/>
        </p:nvPicPr>
        <p:blipFill>
          <a:blip r:embed="rId2">
            <a:extLst>
              <a:ext uri="{28A0092B-C50C-407E-A947-70E740481C1C}">
                <a14:useLocalDpi xmlns:a14="http://schemas.microsoft.com/office/drawing/2010/main" val="0"/>
              </a:ext>
            </a:extLst>
          </a:blip>
          <a:srcRect l="781" t="10417" r="36719" b="23959"/>
          <a:stretch>
            <a:fillRect/>
          </a:stretch>
        </p:blipFill>
        <p:spPr bwMode="auto">
          <a:xfrm>
            <a:off x="3257550" y="838200"/>
            <a:ext cx="68580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3955" name="Text Box 3"/>
          <p:cNvSpPr txBox="1">
            <a:spLocks noChangeArrowheads="1"/>
          </p:cNvSpPr>
          <p:nvPr/>
        </p:nvSpPr>
        <p:spPr bwMode="auto">
          <a:xfrm>
            <a:off x="239316" y="1133476"/>
            <a:ext cx="293250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atin typeface="Arial" panose="020B0604020202020204" pitchFamily="34" charset="0"/>
              </a:rPr>
              <a:t>Unix version of ClustalX, the graphical interface to ClustalW, run locally.</a:t>
            </a:r>
          </a:p>
          <a:p>
            <a:r>
              <a:rPr lang="en-US">
                <a:latin typeface="Arial" panose="020B0604020202020204" pitchFamily="34" charset="0"/>
              </a:rPr>
              <a:t>Note colors for amino acid qualities and score indicator.</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773741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Text Box 2"/>
          <p:cNvSpPr txBox="1">
            <a:spLocks noChangeArrowheads="1"/>
          </p:cNvSpPr>
          <p:nvPr/>
        </p:nvSpPr>
        <p:spPr bwMode="auto">
          <a:xfrm>
            <a:off x="2314575" y="0"/>
            <a:ext cx="7800975"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r>
              <a:rPr lang="en-US" sz="1200">
                <a:solidFill>
                  <a:schemeClr val="folHlink"/>
                </a:solidFill>
                <a:latin typeface="Courier New" panose="02070309020205020404" pitchFamily="49" charset="0"/>
                <a:cs typeface="Arial" panose="020B0604020202020204" pitchFamily="34" charset="0"/>
              </a:rPr>
              <a:t>&gt;FOSB_MOUSE Protein fosB</a:t>
            </a:r>
          </a:p>
          <a:p>
            <a:pPr lvl="1"/>
            <a:r>
              <a:rPr lang="en-US" sz="1200">
                <a:solidFill>
                  <a:schemeClr val="folHlink"/>
                </a:solidFill>
                <a:latin typeface="Courier New" panose="02070309020205020404" pitchFamily="49" charset="0"/>
                <a:cs typeface="Arial" panose="020B0604020202020204" pitchFamily="34" charset="0"/>
              </a:rPr>
              <a:t>MFQAFPGDYD SGSRCSSSPS AESQYLSSVD SFGSPPTAAA SQECAGLGEM PGSFVPTVTA ITTSQDLQWL VQPTLISSMA QSQGQPLASQ PPAVDPYDMP GTSYSTPGLS AYSTGGASGS GGPSTSTTTS GPVSARPARA RPRRPREETL TPEEEEKRRV RRERNKLAAA KCRNRRRELT DRLQAETDQL EEEKAELESE IAELQKEKER LEFVLVAHKP GCKIPYEEGP GPGPLAEVRD LPGSTSAKED GFGWLLPPPP PPPLPFQSSR DAPPNLTASL FTHSEVQVLG DPFPVVSPSY TSSFVLTCPE VSAFAGAQRT SGSEQPSDPL NSPSLLAL</a:t>
            </a:r>
          </a:p>
          <a:p>
            <a:pPr lvl="1"/>
            <a:r>
              <a:rPr lang="en-US" sz="1200">
                <a:solidFill>
                  <a:schemeClr val="folHlink"/>
                </a:solidFill>
                <a:latin typeface="Courier New" panose="02070309020205020404" pitchFamily="49" charset="0"/>
                <a:cs typeface="Arial" panose="020B0604020202020204" pitchFamily="34" charset="0"/>
              </a:rPr>
              <a:t>&gt;FOSB_HUMAN Protein fosB</a:t>
            </a:r>
          </a:p>
          <a:p>
            <a:pPr lvl="1"/>
            <a:r>
              <a:rPr lang="en-US" sz="1200">
                <a:solidFill>
                  <a:schemeClr val="folHlink"/>
                </a:solidFill>
                <a:latin typeface="Courier New" panose="02070309020205020404" pitchFamily="49" charset="0"/>
                <a:cs typeface="Arial" panose="020B0604020202020204" pitchFamily="34" charset="0"/>
              </a:rPr>
              <a:t>MFQAFPGDYD SGSRCSSSPS AESQYLSSVD SFGSPPTAAA SQECAGLGEM PGSFVPTVTA ITTSQDLQWL VQPTLISSMA QSQGQPLASQ PPVVDPYDMP GTSYSTPGMS GYSSGGASGS GGPSTSGTTS GPGPARPARA RPRRPREETL TPEEEEKRRV RRERNKLAAA KCRNRRRELT DRLQAETDQL EEEKAELESE IAELQKEKER LEFVLVAHKP GCKIPYEEGP GPGPLAEVRD LPGSAPAKED GFSWLLPPPP PPPLPFQTSQ DAPPNLTASL FTHSEVQVLG DPFPVVNPSY TSSFVLTCPE VSAFAGAQRT SGSDQPSDPL NSPSLLAL</a:t>
            </a:r>
          </a:p>
          <a:p>
            <a:pPr lvl="1"/>
            <a:r>
              <a:rPr lang="en-US" sz="1200">
                <a:solidFill>
                  <a:schemeClr val="folHlink"/>
                </a:solidFill>
                <a:latin typeface="Courier New" panose="02070309020205020404" pitchFamily="49" charset="0"/>
                <a:cs typeface="Arial" panose="020B0604020202020204" pitchFamily="34" charset="0"/>
              </a:rPr>
              <a:t>&gt;FOS_CHICK Proto-oncogene protein c-fos</a:t>
            </a:r>
          </a:p>
          <a:p>
            <a:pPr lvl="1"/>
            <a:r>
              <a:rPr lang="en-US" sz="1200">
                <a:solidFill>
                  <a:schemeClr val="folHlink"/>
                </a:solidFill>
                <a:latin typeface="Courier New" panose="02070309020205020404" pitchFamily="49" charset="0"/>
                <a:cs typeface="Arial" panose="020B0604020202020204" pitchFamily="34" charset="0"/>
              </a:rPr>
              <a:t>MMYQGFAGEY EAPSSRCSSA SPAGDSLTYY PSPADSFSSM GSPVNSQDFC TDLAVSSANF VPTVTAISTS PDLQWLVQPT LISSVAPSQN RGHPYGVPAP APPAAYSRPA VLKAPGGRGQ SIGRRGKVEQ LSPEEEEKRR IRRERNKMAA AKCRNRRREL TDTLQAETDQ LEEEKSALQA EIANLLKEKE KLEFILAAHR PACKMPEELR FSEELAAATA LDLGAPSPAA AEEAFALPLM TEAPPAVPPK EPSGSGLELK AEPFDELLFS AGPREASRSV PDMDLPGASS FYASDWEPLG AGSGGELEPL CTPVVTCTPC PSTYTSTFVF TYPEADAFPS CAAAHRKGSS SNEPSSDSLS</a:t>
            </a:r>
          </a:p>
          <a:p>
            <a:pPr lvl="1"/>
            <a:r>
              <a:rPr lang="en-US" sz="1200">
                <a:solidFill>
                  <a:schemeClr val="folHlink"/>
                </a:solidFill>
                <a:latin typeface="Courier New" panose="02070309020205020404" pitchFamily="49" charset="0"/>
                <a:cs typeface="Arial" panose="020B0604020202020204" pitchFamily="34" charset="0"/>
              </a:rPr>
              <a:t>&gt;FOS_RAT Proto-oncogene protein c-fos</a:t>
            </a:r>
          </a:p>
          <a:p>
            <a:pPr lvl="1"/>
            <a:r>
              <a:rPr lang="en-US" sz="1200">
                <a:solidFill>
                  <a:schemeClr val="folHlink"/>
                </a:solidFill>
                <a:latin typeface="Courier New" panose="02070309020205020404" pitchFamily="49" charset="0"/>
                <a:cs typeface="Arial" panose="020B0604020202020204" pitchFamily="34" charset="0"/>
              </a:rPr>
              <a:t>MMFSGFNADY EASSSRCSSA SPAGDSLSYY HSPADSFSSM GSPVNTQDFC ADLSVSSANF IPTVTAISTS PDLQWLVQPT LVSSVAPSQT RAPHPYGLPT PSTGAYARAG VVKTMSGGRA QSIGRRGKVE QLSPEEEEKR RIRRERNKMA AAKCRNRRRE LTDTLQAETD QLEDEKSALQ TEIANLLKEK EKLEFILAAH RPACKIPNDL GFPEEMSVTS LDLTGGLPEA TTPESEEAFT LPLLNDPEPK PSLEPVKNIS NMELKAEPFD DFLFPASSRP SGSETARSVP DVDLSGSFYA ADWEPLHSSS LGMGPMVTEL EPLCTPVVTC TPSCTTYTSS FVFTYPEADS FPSCAAAHRK GSSSNEPSSD SLSSPTLLAL</a:t>
            </a:r>
          </a:p>
          <a:p>
            <a:pPr lvl="1"/>
            <a:r>
              <a:rPr lang="en-US" sz="1200">
                <a:solidFill>
                  <a:schemeClr val="folHlink"/>
                </a:solidFill>
                <a:latin typeface="Courier New" panose="02070309020205020404" pitchFamily="49" charset="0"/>
                <a:cs typeface="Arial" panose="020B0604020202020204" pitchFamily="34" charset="0"/>
              </a:rPr>
              <a:t>&gt;FOS_MOUSE Proto-oncogene protein c-fos</a:t>
            </a:r>
          </a:p>
          <a:p>
            <a:pPr lvl="1"/>
            <a:r>
              <a:rPr lang="en-US" sz="1200">
                <a:solidFill>
                  <a:schemeClr val="folHlink"/>
                </a:solidFill>
                <a:latin typeface="Courier New" panose="02070309020205020404" pitchFamily="49" charset="0"/>
                <a:cs typeface="Arial" panose="020B0604020202020204" pitchFamily="34" charset="0"/>
              </a:rPr>
              <a:t>MMFSGFNADY EASSSRCSSA SPAGDSLSYY HSPADSFSSM GSPVNTQDFC ADLSVSSANF IPTVTAISTS PDLQWLVQPT LVSSVAPSQT RAPHPYGLPT QSAGAYARAG MVKTVSGGRA QSIGRRGKVE QLSPEEEEKR RIRRERNKMA AAKCRNRRRE LTDTLQAETD QLEDEKSALQ TEIANLLKEK EKLEFILAAH RPACKIPDDL GFPEEMSVAS LDLTGGLPEA STPESEEAFT LPLLNDPEPK PSLEPVKSIS NVELKAEPFD DFLFPASSRP SGSETSRSVP DVDLSGSFYA ADWEPLHSNS LGMGPMVTEL EPLCTPVVTC TPGCTTYTSS FVFTYPEADS FPSCAAAHRK GSSSNEPSSD SLSSPTLLAL</a:t>
            </a:r>
            <a:endParaRPr lang="en-US" sz="1200">
              <a:solidFill>
                <a:schemeClr val="folHlink"/>
              </a:solidFill>
              <a:latin typeface="Courier New" panose="02070309020205020404" pitchFamily="49" charset="0"/>
            </a:endParaRPr>
          </a:p>
        </p:txBody>
      </p:sp>
      <p:sp>
        <p:nvSpPr>
          <p:cNvPr id="257027" name="Text Box 3"/>
          <p:cNvSpPr txBox="1">
            <a:spLocks noChangeArrowheads="1"/>
          </p:cNvSpPr>
          <p:nvPr/>
        </p:nvSpPr>
        <p:spPr bwMode="auto">
          <a:xfrm>
            <a:off x="171451" y="304801"/>
            <a:ext cx="224670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atin typeface="Arial" panose="020B0604020202020204" pitchFamily="34" charset="0"/>
              </a:rPr>
              <a:t>Sequence data for two related genes: fosB from mouse and human; c-fos from chicken, mouse, and rat.</a:t>
            </a:r>
          </a:p>
        </p:txBody>
      </p:sp>
    </p:spTree>
    <p:extLst>
      <p:ext uri="{BB962C8B-B14F-4D97-AF65-F5344CB8AC3E}">
        <p14:creationId xmlns:p14="http://schemas.microsoft.com/office/powerpoint/2010/main" val="36423201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8050" name="Picture 2"/>
          <p:cNvPicPr>
            <a:picLocks noChangeAspect="1" noChangeArrowheads="1"/>
          </p:cNvPicPr>
          <p:nvPr/>
        </p:nvPicPr>
        <p:blipFill>
          <a:blip r:embed="rId2">
            <a:extLst>
              <a:ext uri="{28A0092B-C50C-407E-A947-70E740481C1C}">
                <a14:useLocalDpi xmlns:a14="http://schemas.microsoft.com/office/drawing/2010/main" val="0"/>
              </a:ext>
            </a:extLst>
          </a:blip>
          <a:srcRect l="26563" t="16667" r="10156" b="2084"/>
          <a:stretch>
            <a:fillRect/>
          </a:stretch>
        </p:blipFill>
        <p:spPr bwMode="auto">
          <a:xfrm>
            <a:off x="3257550" y="381000"/>
            <a:ext cx="6943725"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8051" name="Text Box 3"/>
          <p:cNvSpPr txBox="1">
            <a:spLocks noChangeArrowheads="1"/>
          </p:cNvSpPr>
          <p:nvPr/>
        </p:nvSpPr>
        <p:spPr bwMode="auto">
          <a:xfrm>
            <a:off x="171450" y="406400"/>
            <a:ext cx="3000375"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ahoma" panose="020B0604030504040204" pitchFamily="34" charset="0"/>
              </a:defRPr>
            </a:lvl1pPr>
            <a:lvl2pPr marL="914400" indent="-457200">
              <a:defRPr sz="2400">
                <a:solidFill>
                  <a:schemeClr val="tx1"/>
                </a:solidFill>
                <a:latin typeface="Tahoma" panose="020B0604030504040204" pitchFamily="34" charset="0"/>
              </a:defRPr>
            </a:lvl2pPr>
            <a:lvl3pPr marL="1371600" indent="-457200">
              <a:defRPr sz="2400">
                <a:solidFill>
                  <a:schemeClr val="tx1"/>
                </a:solidFill>
                <a:latin typeface="Tahoma" panose="020B0604030504040204" pitchFamily="34" charset="0"/>
              </a:defRPr>
            </a:lvl3pPr>
            <a:lvl4pPr marL="1828800" indent="-457200">
              <a:defRPr sz="2400">
                <a:solidFill>
                  <a:schemeClr val="tx1"/>
                </a:solidFill>
                <a:latin typeface="Tahoma" panose="020B0604030504040204" pitchFamily="34" charset="0"/>
              </a:defRPr>
            </a:lvl4pPr>
            <a:lvl5pPr marL="2286000" indent="-457200">
              <a:defRPr sz="2400">
                <a:solidFill>
                  <a:schemeClr val="tx1"/>
                </a:solidFill>
                <a:latin typeface="Tahoma" panose="020B0604030504040204" pitchFamily="34" charset="0"/>
              </a:defRPr>
            </a:lvl5pPr>
            <a:lvl6pPr marL="2743200" indent="-457200" fontAlgn="base">
              <a:spcBef>
                <a:spcPct val="0"/>
              </a:spcBef>
              <a:spcAft>
                <a:spcPct val="0"/>
              </a:spcAft>
              <a:defRPr sz="2400">
                <a:solidFill>
                  <a:schemeClr val="tx1"/>
                </a:solidFill>
                <a:latin typeface="Tahoma" panose="020B0604030504040204" pitchFamily="34" charset="0"/>
              </a:defRPr>
            </a:lvl6pPr>
            <a:lvl7pPr marL="3200400" indent="-457200" fontAlgn="base">
              <a:spcBef>
                <a:spcPct val="0"/>
              </a:spcBef>
              <a:spcAft>
                <a:spcPct val="0"/>
              </a:spcAft>
              <a:defRPr sz="2400">
                <a:solidFill>
                  <a:schemeClr val="tx1"/>
                </a:solidFill>
                <a:latin typeface="Tahoma" panose="020B0604030504040204" pitchFamily="34" charset="0"/>
              </a:defRPr>
            </a:lvl7pPr>
            <a:lvl8pPr marL="3657600" indent="-457200" fontAlgn="base">
              <a:spcBef>
                <a:spcPct val="0"/>
              </a:spcBef>
              <a:spcAft>
                <a:spcPct val="0"/>
              </a:spcAft>
              <a:defRPr sz="2400">
                <a:solidFill>
                  <a:schemeClr val="tx1"/>
                </a:solidFill>
                <a:latin typeface="Tahoma" panose="020B0604030504040204" pitchFamily="34" charset="0"/>
              </a:defRPr>
            </a:lvl8pPr>
            <a:lvl9pPr marL="4114800" indent="-457200" fontAlgn="base">
              <a:spcBef>
                <a:spcPct val="0"/>
              </a:spcBef>
              <a:spcAft>
                <a:spcPct val="0"/>
              </a:spcAft>
              <a:defRPr sz="2400">
                <a:solidFill>
                  <a:schemeClr val="tx1"/>
                </a:solidFill>
                <a:latin typeface="Tahoma" panose="020B0604030504040204" pitchFamily="34" charset="0"/>
              </a:defRPr>
            </a:lvl9pPr>
          </a:lstStyle>
          <a:p>
            <a:pPr>
              <a:spcBef>
                <a:spcPct val="25000"/>
              </a:spcBef>
              <a:buFontTx/>
              <a:buAutoNum type="arabicPeriod"/>
            </a:pPr>
            <a:r>
              <a:rPr lang="en-US" sz="1800">
                <a:latin typeface="Arial" panose="020B0604020202020204" pitchFamily="34" charset="0"/>
              </a:rPr>
              <a:t>Significant differences between FosB and C-Fos.</a:t>
            </a:r>
          </a:p>
          <a:p>
            <a:pPr>
              <a:spcBef>
                <a:spcPct val="25000"/>
              </a:spcBef>
              <a:buFontTx/>
              <a:buAutoNum type="arabicPeriod"/>
            </a:pPr>
            <a:r>
              <a:rPr lang="en-US" sz="1800">
                <a:latin typeface="Arial" panose="020B0604020202020204" pitchFamily="34" charset="0"/>
              </a:rPr>
              <a:t>Rat and mouse C-Fos sequences differ from chicken C-Fos.</a:t>
            </a:r>
          </a:p>
          <a:p>
            <a:pPr>
              <a:spcBef>
                <a:spcPct val="25000"/>
              </a:spcBef>
              <a:buFontTx/>
              <a:buAutoNum type="arabicPeriod"/>
            </a:pPr>
            <a:r>
              <a:rPr lang="en-US" sz="1800">
                <a:latin typeface="Arial" panose="020B0604020202020204" pitchFamily="34" charset="0"/>
              </a:rPr>
              <a:t>Long conserved region between~130 and 225.</a:t>
            </a:r>
          </a:p>
          <a:p>
            <a:pPr>
              <a:spcBef>
                <a:spcPct val="25000"/>
              </a:spcBef>
              <a:buFontTx/>
              <a:buAutoNum type="arabicPeriod"/>
            </a:pPr>
            <a:r>
              <a:rPr lang="en-US" sz="1800">
                <a:latin typeface="Arial" panose="020B0604020202020204" pitchFamily="34" charset="0"/>
              </a:rPr>
              <a:t>Symbols:</a:t>
            </a:r>
          </a:p>
          <a:p>
            <a:pPr>
              <a:spcBef>
                <a:spcPct val="25000"/>
              </a:spcBef>
              <a:buFontTx/>
              <a:buChar char="•"/>
            </a:pPr>
            <a:r>
              <a:rPr lang="en-US" sz="1800">
                <a:latin typeface="Arial" panose="020B0604020202020204" pitchFamily="34" charset="0"/>
              </a:rPr>
              <a:t>“*” Identity across all sequences</a:t>
            </a:r>
          </a:p>
          <a:p>
            <a:pPr>
              <a:spcBef>
                <a:spcPct val="25000"/>
              </a:spcBef>
              <a:buFontTx/>
              <a:buChar char="•"/>
            </a:pPr>
            <a:r>
              <a:rPr lang="en-US" sz="1800">
                <a:latin typeface="Arial" panose="020B0604020202020204" pitchFamily="34" charset="0"/>
              </a:rPr>
              <a:t>“:” Conservation of amino acid characteristics</a:t>
            </a:r>
          </a:p>
          <a:p>
            <a:pPr>
              <a:spcBef>
                <a:spcPct val="25000"/>
              </a:spcBef>
              <a:buFontTx/>
              <a:buChar char="•"/>
            </a:pPr>
            <a:r>
              <a:rPr lang="en-US" sz="1800">
                <a:latin typeface="Arial" panose="020B0604020202020204" pitchFamily="34" charset="0"/>
              </a:rPr>
              <a:t>“.” Semi-conserved substitutions</a:t>
            </a:r>
          </a:p>
        </p:txBody>
      </p:sp>
    </p:spTree>
    <p:extLst>
      <p:ext uri="{BB962C8B-B14F-4D97-AF65-F5344CB8AC3E}">
        <p14:creationId xmlns:p14="http://schemas.microsoft.com/office/powerpoint/2010/main" val="42151787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Text Box 2"/>
          <p:cNvSpPr txBox="1">
            <a:spLocks noChangeArrowheads="1"/>
          </p:cNvSpPr>
          <p:nvPr/>
        </p:nvSpPr>
        <p:spPr bwMode="auto">
          <a:xfrm>
            <a:off x="257175" y="381000"/>
            <a:ext cx="3429000"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ahoma" panose="020B0604030504040204" pitchFamily="34" charset="0"/>
              </a:defRPr>
            </a:lvl1pPr>
            <a:lvl2pPr marL="914400" indent="-457200">
              <a:defRPr sz="2400">
                <a:solidFill>
                  <a:schemeClr val="tx1"/>
                </a:solidFill>
                <a:latin typeface="Tahoma" panose="020B0604030504040204" pitchFamily="34" charset="0"/>
              </a:defRPr>
            </a:lvl2pPr>
            <a:lvl3pPr marL="1371600" indent="-457200">
              <a:defRPr sz="2400">
                <a:solidFill>
                  <a:schemeClr val="tx1"/>
                </a:solidFill>
                <a:latin typeface="Tahoma" panose="020B0604030504040204" pitchFamily="34" charset="0"/>
              </a:defRPr>
            </a:lvl3pPr>
            <a:lvl4pPr marL="1828800" indent="-457200">
              <a:defRPr sz="2400">
                <a:solidFill>
                  <a:schemeClr val="tx1"/>
                </a:solidFill>
                <a:latin typeface="Tahoma" panose="020B0604030504040204" pitchFamily="34" charset="0"/>
              </a:defRPr>
            </a:lvl4pPr>
            <a:lvl5pPr marL="2286000" indent="-457200">
              <a:defRPr sz="2400">
                <a:solidFill>
                  <a:schemeClr val="tx1"/>
                </a:solidFill>
                <a:latin typeface="Tahoma" panose="020B0604030504040204" pitchFamily="34" charset="0"/>
              </a:defRPr>
            </a:lvl5pPr>
            <a:lvl6pPr marL="2743200" indent="-457200" fontAlgn="base">
              <a:spcBef>
                <a:spcPct val="0"/>
              </a:spcBef>
              <a:spcAft>
                <a:spcPct val="0"/>
              </a:spcAft>
              <a:defRPr sz="2400">
                <a:solidFill>
                  <a:schemeClr val="tx1"/>
                </a:solidFill>
                <a:latin typeface="Tahoma" panose="020B0604030504040204" pitchFamily="34" charset="0"/>
              </a:defRPr>
            </a:lvl6pPr>
            <a:lvl7pPr marL="3200400" indent="-457200" fontAlgn="base">
              <a:spcBef>
                <a:spcPct val="0"/>
              </a:spcBef>
              <a:spcAft>
                <a:spcPct val="0"/>
              </a:spcAft>
              <a:defRPr sz="2400">
                <a:solidFill>
                  <a:schemeClr val="tx1"/>
                </a:solidFill>
                <a:latin typeface="Tahoma" panose="020B0604030504040204" pitchFamily="34" charset="0"/>
              </a:defRPr>
            </a:lvl7pPr>
            <a:lvl8pPr marL="3657600" indent="-457200" fontAlgn="base">
              <a:spcBef>
                <a:spcPct val="0"/>
              </a:spcBef>
              <a:spcAft>
                <a:spcPct val="0"/>
              </a:spcAft>
              <a:defRPr sz="2400">
                <a:solidFill>
                  <a:schemeClr val="tx1"/>
                </a:solidFill>
                <a:latin typeface="Tahoma" panose="020B0604030504040204" pitchFamily="34" charset="0"/>
              </a:defRPr>
            </a:lvl8pPr>
            <a:lvl9pPr marL="4114800" indent="-457200" fontAlgn="base">
              <a:spcBef>
                <a:spcPct val="0"/>
              </a:spcBef>
              <a:spcAft>
                <a:spcPct val="0"/>
              </a:spcAft>
              <a:defRPr sz="2400">
                <a:solidFill>
                  <a:schemeClr val="tx1"/>
                </a:solidFill>
                <a:latin typeface="Tahoma" panose="020B0604030504040204" pitchFamily="34" charset="0"/>
              </a:defRPr>
            </a:lvl9pPr>
          </a:lstStyle>
          <a:p>
            <a:pPr>
              <a:spcBef>
                <a:spcPct val="50000"/>
              </a:spcBef>
              <a:buFontTx/>
              <a:buAutoNum type="arabicPeriod"/>
            </a:pPr>
            <a:r>
              <a:rPr lang="en-US" sz="1800">
                <a:latin typeface="Arial" panose="020B0604020202020204" pitchFamily="34" charset="0"/>
              </a:rPr>
              <a:t>To better visualize conservation, colors can be used.</a:t>
            </a:r>
          </a:p>
          <a:p>
            <a:pPr>
              <a:spcBef>
                <a:spcPct val="50000"/>
              </a:spcBef>
              <a:buFontTx/>
              <a:buAutoNum type="arabicPeriod"/>
            </a:pPr>
            <a:r>
              <a:rPr lang="en-US" sz="1800">
                <a:latin typeface="Arial" panose="020B0604020202020204" pitchFamily="34" charset="0"/>
              </a:rPr>
              <a:t>Color code:</a:t>
            </a:r>
          </a:p>
          <a:p>
            <a:pPr>
              <a:spcBef>
                <a:spcPct val="50000"/>
              </a:spcBef>
              <a:buFontTx/>
              <a:buChar char="•"/>
            </a:pPr>
            <a:r>
              <a:rPr lang="en-US" sz="1800">
                <a:solidFill>
                  <a:schemeClr val="folHlink"/>
                </a:solidFill>
                <a:latin typeface="Arial" panose="020B0604020202020204" pitchFamily="34" charset="0"/>
                <a:cs typeface="Arial" panose="020B0604020202020204" pitchFamily="34" charset="0"/>
              </a:rPr>
              <a:t>AVFPMILW: </a:t>
            </a:r>
            <a:r>
              <a:rPr lang="en-US" sz="1800">
                <a:solidFill>
                  <a:schemeClr val="hlink"/>
                </a:solidFill>
                <a:latin typeface="Arial" panose="020B0604020202020204" pitchFamily="34" charset="0"/>
                <a:cs typeface="Arial" panose="020B0604020202020204" pitchFamily="34" charset="0"/>
              </a:rPr>
              <a:t>RED</a:t>
            </a:r>
            <a:r>
              <a:rPr lang="en-US" sz="1800">
                <a:solidFill>
                  <a:schemeClr val="folHlink"/>
                </a:solidFill>
                <a:latin typeface="Arial" panose="020B0604020202020204" pitchFamily="34" charset="0"/>
                <a:cs typeface="Arial" panose="020B0604020202020204" pitchFamily="34" charset="0"/>
              </a:rPr>
              <a:t>, Small (small+ hydrophobic (incl.aromatic -Y))</a:t>
            </a:r>
          </a:p>
          <a:p>
            <a:pPr>
              <a:spcBef>
                <a:spcPct val="50000"/>
              </a:spcBef>
              <a:buFontTx/>
              <a:buChar char="•"/>
            </a:pPr>
            <a:r>
              <a:rPr lang="en-US" sz="1800">
                <a:solidFill>
                  <a:schemeClr val="folHlink"/>
                </a:solidFill>
                <a:latin typeface="Arial" panose="020B0604020202020204" pitchFamily="34" charset="0"/>
                <a:cs typeface="Arial" panose="020B0604020202020204" pitchFamily="34" charset="0"/>
              </a:rPr>
              <a:t>DE: </a:t>
            </a:r>
            <a:r>
              <a:rPr lang="en-US" sz="1800">
                <a:solidFill>
                  <a:schemeClr val="hlink"/>
                </a:solidFill>
                <a:latin typeface="Arial" panose="020B0604020202020204" pitchFamily="34" charset="0"/>
                <a:cs typeface="Arial" panose="020B0604020202020204" pitchFamily="34" charset="0"/>
              </a:rPr>
              <a:t>BLUE</a:t>
            </a:r>
            <a:r>
              <a:rPr lang="en-US" sz="1800">
                <a:solidFill>
                  <a:schemeClr val="folHlink"/>
                </a:solidFill>
                <a:latin typeface="Arial" panose="020B0604020202020204" pitchFamily="34" charset="0"/>
                <a:cs typeface="Arial" panose="020B0604020202020204" pitchFamily="34" charset="0"/>
              </a:rPr>
              <a:t>, Acidic</a:t>
            </a:r>
          </a:p>
          <a:p>
            <a:pPr>
              <a:spcBef>
                <a:spcPct val="50000"/>
              </a:spcBef>
              <a:buFontTx/>
              <a:buChar char="•"/>
            </a:pPr>
            <a:r>
              <a:rPr lang="en-US" sz="1800">
                <a:solidFill>
                  <a:schemeClr val="folHlink"/>
                </a:solidFill>
                <a:latin typeface="Arial" panose="020B0604020202020204" pitchFamily="34" charset="0"/>
                <a:cs typeface="Arial" panose="020B0604020202020204" pitchFamily="34" charset="0"/>
              </a:rPr>
              <a:t>RHK</a:t>
            </a:r>
            <a:r>
              <a:rPr lang="en-US" sz="1800">
                <a:solidFill>
                  <a:srgbClr val="000000"/>
                </a:solidFill>
                <a:latin typeface="Arial" panose="020B0604020202020204" pitchFamily="34" charset="0"/>
                <a:cs typeface="Arial" panose="020B0604020202020204" pitchFamily="34" charset="0"/>
              </a:rPr>
              <a:t>: </a:t>
            </a:r>
            <a:r>
              <a:rPr lang="en-US" sz="1800">
                <a:solidFill>
                  <a:srgbClr val="FF66FF"/>
                </a:solidFill>
                <a:latin typeface="Arial" panose="020B0604020202020204" pitchFamily="34" charset="0"/>
                <a:cs typeface="Arial" panose="020B0604020202020204" pitchFamily="34" charset="0"/>
              </a:rPr>
              <a:t>MAGENTA</a:t>
            </a:r>
            <a:r>
              <a:rPr lang="en-US" sz="1800">
                <a:solidFill>
                  <a:srgbClr val="000000"/>
                </a:solidFill>
                <a:latin typeface="Arial" panose="020B0604020202020204" pitchFamily="34" charset="0"/>
                <a:cs typeface="Arial" panose="020B0604020202020204" pitchFamily="34" charset="0"/>
              </a:rPr>
              <a:t>, </a:t>
            </a:r>
            <a:r>
              <a:rPr lang="en-US" sz="1800">
                <a:solidFill>
                  <a:schemeClr val="folHlink"/>
                </a:solidFill>
                <a:latin typeface="Arial" panose="020B0604020202020204" pitchFamily="34" charset="0"/>
                <a:cs typeface="Arial" panose="020B0604020202020204" pitchFamily="34" charset="0"/>
              </a:rPr>
              <a:t>Basic</a:t>
            </a:r>
          </a:p>
          <a:p>
            <a:pPr>
              <a:spcBef>
                <a:spcPct val="50000"/>
              </a:spcBef>
              <a:buFontTx/>
              <a:buChar char="•"/>
            </a:pPr>
            <a:r>
              <a:rPr lang="en-US" sz="1800">
                <a:solidFill>
                  <a:schemeClr val="folHlink"/>
                </a:solidFill>
                <a:latin typeface="Arial" panose="020B0604020202020204" pitchFamily="34" charset="0"/>
                <a:cs typeface="Arial" panose="020B0604020202020204" pitchFamily="34" charset="0"/>
              </a:rPr>
              <a:t>STYHCNGQ:</a:t>
            </a:r>
            <a:r>
              <a:rPr lang="en-US" sz="1800">
                <a:solidFill>
                  <a:srgbClr val="000000"/>
                </a:solidFill>
                <a:latin typeface="Arial" panose="020B0604020202020204" pitchFamily="34" charset="0"/>
                <a:cs typeface="Arial" panose="020B0604020202020204" pitchFamily="34" charset="0"/>
              </a:rPr>
              <a:t> </a:t>
            </a:r>
            <a:r>
              <a:rPr lang="en-US" sz="1800">
                <a:solidFill>
                  <a:srgbClr val="33CC33"/>
                </a:solidFill>
                <a:latin typeface="Arial" panose="020B0604020202020204" pitchFamily="34" charset="0"/>
                <a:cs typeface="Arial" panose="020B0604020202020204" pitchFamily="34" charset="0"/>
              </a:rPr>
              <a:t>GREEN</a:t>
            </a:r>
            <a:r>
              <a:rPr lang="en-US" sz="1800">
                <a:solidFill>
                  <a:srgbClr val="000000"/>
                </a:solidFill>
                <a:latin typeface="Arial" panose="020B0604020202020204" pitchFamily="34" charset="0"/>
                <a:cs typeface="Arial" panose="020B0604020202020204" pitchFamily="34" charset="0"/>
              </a:rPr>
              <a:t>, </a:t>
            </a:r>
            <a:r>
              <a:rPr lang="en-US" sz="1800">
                <a:solidFill>
                  <a:schemeClr val="folHlink"/>
                </a:solidFill>
                <a:latin typeface="Arial" panose="020B0604020202020204" pitchFamily="34" charset="0"/>
                <a:cs typeface="Arial" panose="020B0604020202020204" pitchFamily="34" charset="0"/>
              </a:rPr>
              <a:t>Hydroxyl + Amine + Basic – Q</a:t>
            </a:r>
          </a:p>
          <a:p>
            <a:pPr>
              <a:spcBef>
                <a:spcPct val="50000"/>
              </a:spcBef>
              <a:buFontTx/>
              <a:buChar char="•"/>
            </a:pPr>
            <a:r>
              <a:rPr lang="en-US" sz="1800">
                <a:solidFill>
                  <a:schemeClr val="folHlink"/>
                </a:solidFill>
                <a:latin typeface="Arial" panose="020B0604020202020204" pitchFamily="34" charset="0"/>
                <a:cs typeface="Arial" panose="020B0604020202020204" pitchFamily="34" charset="0"/>
              </a:rPr>
              <a:t>Others: Grey</a:t>
            </a:r>
          </a:p>
          <a:p>
            <a:pPr>
              <a:spcBef>
                <a:spcPct val="50000"/>
              </a:spcBef>
              <a:buFontTx/>
              <a:buAutoNum type="arabicPeriod" startAt="3"/>
            </a:pPr>
            <a:r>
              <a:rPr lang="en-US" sz="1800">
                <a:latin typeface="Arial" panose="020B0604020202020204" pitchFamily="34" charset="0"/>
              </a:rPr>
              <a:t>Differences between the genes and species are more apparent.</a:t>
            </a:r>
          </a:p>
        </p:txBody>
      </p:sp>
      <p:pic>
        <p:nvPicPr>
          <p:cNvPr id="259075" name="Picture 3"/>
          <p:cNvPicPr>
            <a:picLocks noChangeAspect="1" noChangeArrowheads="1"/>
          </p:cNvPicPr>
          <p:nvPr/>
        </p:nvPicPr>
        <p:blipFill>
          <a:blip r:embed="rId2">
            <a:extLst>
              <a:ext uri="{28A0092B-C50C-407E-A947-70E740481C1C}">
                <a14:useLocalDpi xmlns:a14="http://schemas.microsoft.com/office/drawing/2010/main" val="0"/>
              </a:ext>
            </a:extLst>
          </a:blip>
          <a:srcRect l="16406" t="11458" r="26563" b="6250"/>
          <a:stretch>
            <a:fillRect/>
          </a:stretch>
        </p:blipFill>
        <p:spPr bwMode="auto">
          <a:xfrm>
            <a:off x="3771900" y="381000"/>
            <a:ext cx="6257925"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63141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221" y="0"/>
            <a:ext cx="10250778" cy="3231654"/>
          </a:xfrm>
          <a:prstGeom prst="rect">
            <a:avLst/>
          </a:prstGeom>
        </p:spPr>
        <p:txBody>
          <a:bodyPr wrap="square">
            <a:spAutoFit/>
          </a:bodyPr>
          <a:lstStyle/>
          <a:p>
            <a:r>
              <a:rPr lang="en-US" sz="3600" b="1" dirty="0"/>
              <a:t>Known Problems of Multiple Alignments</a:t>
            </a:r>
          </a:p>
          <a:p>
            <a:pPr marL="342900" indent="-342900">
              <a:buFont typeface="Wingdings" pitchFamily="2" charset="2"/>
              <a:buChar char="Ø"/>
            </a:pPr>
            <a:r>
              <a:rPr lang="en-US" sz="2400" dirty="0"/>
              <a:t>Important sites could be misaligned by the software used for the sequence </a:t>
            </a:r>
            <a:r>
              <a:rPr lang="en-US" sz="2400" dirty="0" smtClean="0"/>
              <a:t>alignment. That </a:t>
            </a:r>
            <a:r>
              <a:rPr lang="en-US" sz="2400" dirty="0"/>
              <a:t>will affect the significance of the site - and the </a:t>
            </a:r>
            <a:r>
              <a:rPr lang="en-US" sz="2400" dirty="0" smtClean="0"/>
              <a:t>tree. For </a:t>
            </a:r>
            <a:r>
              <a:rPr lang="en-US" sz="2400" dirty="0"/>
              <a:t>example: ATG as start codon, or specific amino acids in functional domains.</a:t>
            </a:r>
          </a:p>
          <a:p>
            <a:pPr marL="342900" indent="-342900">
              <a:buFont typeface="Wingdings" pitchFamily="2" charset="2"/>
              <a:buChar char="Ø"/>
            </a:pPr>
            <a:r>
              <a:rPr lang="en-US" sz="2400" dirty="0"/>
              <a:t>Gaps - Are treated differently by different alignment programs and should play no part </a:t>
            </a:r>
            <a:r>
              <a:rPr lang="en-US" sz="2400" dirty="0" smtClean="0"/>
              <a:t>in building </a:t>
            </a:r>
            <a:r>
              <a:rPr lang="en-US" sz="2400" dirty="0"/>
              <a:t>trees.</a:t>
            </a:r>
          </a:p>
          <a:p>
            <a:pPr marL="342900" indent="-342900">
              <a:buFont typeface="Wingdings" pitchFamily="2" charset="2"/>
              <a:buChar char="Ø"/>
            </a:pPr>
            <a:r>
              <a:rPr lang="en-US" sz="2400" dirty="0"/>
              <a:t>Alignment of a coding region should be compared with the alignment of their </a:t>
            </a:r>
            <a:r>
              <a:rPr lang="en-US" sz="2400" dirty="0" smtClean="0"/>
              <a:t>protein sequences</a:t>
            </a:r>
            <a:r>
              <a:rPr lang="en-US" sz="2400" dirty="0"/>
              <a:t>, to be sure about the placement of gaps.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5525" y="3953815"/>
            <a:ext cx="7656993" cy="2571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1892652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9179470"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a:t>Scoring </a:t>
            </a:r>
            <a:r>
              <a:rPr lang="en-US" sz="4400" dirty="0" smtClean="0"/>
              <a:t>Matrices</a:t>
            </a:r>
          </a:p>
          <a:p>
            <a:pPr marL="0" indent="0">
              <a:buNone/>
            </a:pPr>
            <a:r>
              <a:rPr lang="en-US" sz="4400" dirty="0"/>
              <a:t>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9802546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379"/>
            <a:ext cx="10287000" cy="5632311"/>
          </a:xfrm>
          <a:prstGeom prst="rect">
            <a:avLst/>
          </a:prstGeom>
        </p:spPr>
        <p:txBody>
          <a:bodyPr wrap="square">
            <a:spAutoFit/>
          </a:bodyPr>
          <a:lstStyle/>
          <a:p>
            <a:pPr algn="ctr"/>
            <a:r>
              <a:rPr lang="en-US" sz="4000" b="1" dirty="0"/>
              <a:t>Scoring Matrices</a:t>
            </a:r>
          </a:p>
          <a:p>
            <a:endParaRPr lang="en-US" sz="2000" b="1" dirty="0" smtClean="0"/>
          </a:p>
          <a:p>
            <a:endParaRPr lang="en-US" sz="2000" b="1" dirty="0"/>
          </a:p>
          <a:p>
            <a:r>
              <a:rPr lang="en-US" sz="2000" b="1" dirty="0" smtClean="0"/>
              <a:t>Score </a:t>
            </a:r>
            <a:r>
              <a:rPr lang="en-US" sz="2000" b="1" dirty="0"/>
              <a:t>of alignment</a:t>
            </a:r>
          </a:p>
          <a:p>
            <a:pPr algn="ctr"/>
            <a:r>
              <a:rPr lang="en-US" sz="2000" dirty="0"/>
              <a:t>1234</a:t>
            </a:r>
          </a:p>
          <a:p>
            <a:pPr algn="ctr"/>
            <a:r>
              <a:rPr lang="en-US" sz="2000" dirty="0" smtClean="0"/>
              <a:t>ACGT</a:t>
            </a:r>
            <a:endParaRPr lang="en-US" sz="2000" dirty="0"/>
          </a:p>
          <a:p>
            <a:pPr algn="ctr"/>
            <a:r>
              <a:rPr lang="en-US" sz="2000" dirty="0" smtClean="0"/>
              <a:t>ACGA</a:t>
            </a:r>
            <a:endParaRPr lang="en-US" sz="2000" dirty="0"/>
          </a:p>
          <a:p>
            <a:pPr algn="ctr"/>
            <a:r>
              <a:rPr lang="en-US" sz="2000" dirty="0" smtClean="0"/>
              <a:t>AGGA</a:t>
            </a:r>
          </a:p>
          <a:p>
            <a:r>
              <a:rPr lang="en-US" sz="2000" dirty="0" smtClean="0"/>
              <a:t>If we presume, match=1 &amp; mismatch=0, then we can calculate MSA score for each position of nucleotide</a:t>
            </a:r>
            <a:endParaRPr lang="en-US" sz="2000" dirty="0"/>
          </a:p>
          <a:p>
            <a:pPr algn="ctr"/>
            <a:r>
              <a:rPr lang="pt-BR" sz="2000" dirty="0"/>
              <a:t>1: A-A + A-A + A-A = 1+1+1 = 3</a:t>
            </a:r>
          </a:p>
          <a:p>
            <a:pPr algn="ctr"/>
            <a:r>
              <a:rPr lang="nn-NO" sz="2000" dirty="0"/>
              <a:t>2: C-C + C-G + C-G =1+0+0 = 1</a:t>
            </a:r>
          </a:p>
          <a:p>
            <a:pPr algn="ctr"/>
            <a:r>
              <a:rPr lang="nn-NO" sz="2000" dirty="0"/>
              <a:t>3: G-G + G-G + G-G = 1+1+1 = 3</a:t>
            </a:r>
          </a:p>
          <a:p>
            <a:pPr algn="ctr"/>
            <a:r>
              <a:rPr lang="en-US" sz="2000" dirty="0"/>
              <a:t>4: T-A </a:t>
            </a:r>
            <a:r>
              <a:rPr lang="en-US" sz="2000" dirty="0" smtClean="0"/>
              <a:t>+ </a:t>
            </a:r>
            <a:r>
              <a:rPr lang="en-US" sz="2000" dirty="0"/>
              <a:t>A-A + T-A = 0+0+1 =1</a:t>
            </a:r>
          </a:p>
          <a:p>
            <a:endParaRPr lang="en-US" sz="2000" dirty="0" smtClean="0"/>
          </a:p>
          <a:p>
            <a:r>
              <a:rPr lang="en-US" sz="2000" dirty="0" smtClean="0"/>
              <a:t>• </a:t>
            </a:r>
            <a:r>
              <a:rPr lang="en-US" sz="2000" dirty="0"/>
              <a:t>S(alignment) = S(1) + S(2) + S(3) + S(4) = 3+1+3+1 = 8</a:t>
            </a:r>
          </a:p>
          <a:p>
            <a:r>
              <a:rPr lang="en-US" sz="2000" dirty="0"/>
              <a:t>• The higher the score, the better the </a:t>
            </a:r>
            <a:r>
              <a:rPr lang="en-US" sz="2000" dirty="0" smtClean="0"/>
              <a:t>alignment</a:t>
            </a:r>
            <a:endParaRPr lang="en-US" sz="2000" dirty="0"/>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0748777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55626"/>
            <a:ext cx="3197478" cy="400110"/>
          </a:xfrm>
          <a:prstGeom prst="rect">
            <a:avLst/>
          </a:prstGeom>
        </p:spPr>
        <p:txBody>
          <a:bodyPr wrap="none">
            <a:spAutoFit/>
          </a:bodyPr>
          <a:lstStyle/>
          <a:p>
            <a:r>
              <a:rPr lang="en-US" sz="2000" b="1" dirty="0"/>
              <a:t>An example of a DNA matrix</a:t>
            </a:r>
            <a:endParaRPr lang="en-US" sz="2000"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3884" y="926426"/>
            <a:ext cx="5575592" cy="1894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2963750"/>
            <a:ext cx="10287000" cy="3170099"/>
          </a:xfrm>
          <a:prstGeom prst="rect">
            <a:avLst/>
          </a:prstGeom>
        </p:spPr>
        <p:txBody>
          <a:bodyPr wrap="square">
            <a:spAutoFit/>
          </a:bodyPr>
          <a:lstStyle/>
          <a:p>
            <a:r>
              <a:rPr lang="en-US" sz="2000" b="1" dirty="0"/>
              <a:t>Gap penalties</a:t>
            </a:r>
          </a:p>
          <a:p>
            <a:r>
              <a:rPr lang="en-US" sz="2000" dirty="0" smtClean="0"/>
              <a:t>	• </a:t>
            </a:r>
            <a:r>
              <a:rPr lang="en-US" sz="2000" dirty="0"/>
              <a:t>Gap are evolutionarily expensive.</a:t>
            </a:r>
          </a:p>
          <a:p>
            <a:r>
              <a:rPr lang="en-US" sz="2000" dirty="0" smtClean="0"/>
              <a:t>		– </a:t>
            </a:r>
            <a:r>
              <a:rPr lang="en-US" sz="2000" dirty="0"/>
              <a:t>Opening is more costly than extension</a:t>
            </a:r>
          </a:p>
          <a:p>
            <a:r>
              <a:rPr lang="en-US" sz="2000" dirty="0" smtClean="0"/>
              <a:t>		– </a:t>
            </a:r>
            <a:r>
              <a:rPr lang="en-US" sz="2000" dirty="0"/>
              <a:t>Affine gap model</a:t>
            </a:r>
          </a:p>
          <a:p>
            <a:r>
              <a:rPr lang="en-US" sz="2000" dirty="0" smtClean="0"/>
              <a:t>	• </a:t>
            </a:r>
            <a:r>
              <a:rPr lang="en-US" sz="2000" dirty="0"/>
              <a:t>Mathematically</a:t>
            </a:r>
          </a:p>
          <a:p>
            <a:r>
              <a:rPr lang="en-US" sz="2000" dirty="0" smtClean="0"/>
              <a:t>		– </a:t>
            </a:r>
            <a:r>
              <a:rPr lang="en-US" sz="2000" dirty="0"/>
              <a:t>P = c + </a:t>
            </a:r>
            <a:r>
              <a:rPr lang="en-US" sz="2000" dirty="0" err="1"/>
              <a:t>gd</a:t>
            </a:r>
            <a:endParaRPr lang="en-US" sz="2000" dirty="0"/>
          </a:p>
          <a:p>
            <a:r>
              <a:rPr lang="en-US" sz="2000" dirty="0" smtClean="0"/>
              <a:t>		– </a:t>
            </a:r>
            <a:r>
              <a:rPr lang="en-US" sz="2000" dirty="0"/>
              <a:t>P is the total gap penalty</a:t>
            </a:r>
          </a:p>
          <a:p>
            <a:r>
              <a:rPr lang="en-US" sz="2000" dirty="0" smtClean="0"/>
              <a:t>		– </a:t>
            </a:r>
            <a:r>
              <a:rPr lang="en-US" sz="2000" dirty="0"/>
              <a:t>c is gap opening penalty</a:t>
            </a:r>
          </a:p>
          <a:p>
            <a:r>
              <a:rPr lang="en-US" sz="2000" dirty="0" smtClean="0"/>
              <a:t>		– </a:t>
            </a:r>
            <a:r>
              <a:rPr lang="en-US" sz="2000" dirty="0"/>
              <a:t>d is extension penalty</a:t>
            </a:r>
          </a:p>
          <a:p>
            <a:r>
              <a:rPr lang="en-US" sz="2000" dirty="0" smtClean="0"/>
              <a:t>		– </a:t>
            </a:r>
            <a:r>
              <a:rPr lang="en-US" sz="2000" dirty="0"/>
              <a:t>g is the (</a:t>
            </a:r>
            <a:r>
              <a:rPr lang="en-US" sz="2000" dirty="0" err="1"/>
              <a:t>lenght</a:t>
            </a:r>
            <a:r>
              <a:rPr lang="en-US" sz="2000" dirty="0"/>
              <a:t> of the gap - 1)</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7483643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7605" y="356072"/>
            <a:ext cx="4423367" cy="4035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905267" y="4426693"/>
            <a:ext cx="6527175" cy="1938992"/>
          </a:xfrm>
          <a:prstGeom prst="rect">
            <a:avLst/>
          </a:prstGeom>
        </p:spPr>
        <p:txBody>
          <a:bodyPr wrap="square">
            <a:spAutoFit/>
          </a:bodyPr>
          <a:lstStyle/>
          <a:p>
            <a:r>
              <a:rPr lang="en-US" sz="2000" dirty="0"/>
              <a:t>How to calculate an alignment score?</a:t>
            </a:r>
          </a:p>
          <a:p>
            <a:pPr lvl="3"/>
            <a:r>
              <a:rPr lang="en-US" sz="2000" dirty="0"/>
              <a:t>• match: +4</a:t>
            </a:r>
          </a:p>
          <a:p>
            <a:pPr lvl="3"/>
            <a:r>
              <a:rPr lang="en-US" sz="2000" dirty="0"/>
              <a:t>• mismatch: -5</a:t>
            </a:r>
          </a:p>
          <a:p>
            <a:pPr lvl="3"/>
            <a:r>
              <a:rPr lang="en-US" sz="2000" dirty="0"/>
              <a:t>• gap opening: -16</a:t>
            </a:r>
          </a:p>
          <a:p>
            <a:pPr lvl="3"/>
            <a:r>
              <a:rPr lang="en-US" sz="2000" dirty="0"/>
              <a:t>• gap extension: -4</a:t>
            </a:r>
          </a:p>
          <a:p>
            <a:pPr lvl="3"/>
            <a:r>
              <a:rPr lang="en-US" sz="2000" dirty="0"/>
              <a:t>• 4+4</a:t>
            </a:r>
            <a:r>
              <a:rPr lang="en-US" sz="2000" dirty="0" smtClean="0"/>
              <a:t>+(-5)+</a:t>
            </a:r>
            <a:r>
              <a:rPr lang="en-US" sz="2000" dirty="0"/>
              <a:t>4+(-16)+4+4+4+4+4 = </a:t>
            </a:r>
            <a:r>
              <a:rPr lang="en-US" sz="2000" dirty="0" smtClean="0"/>
              <a:t>11</a:t>
            </a:r>
            <a:endParaRPr lang="en-US" sz="20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583094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3"/>
          <p:cNvSpPr>
            <a:spLocks noGrp="1" noChangeArrowheads="1"/>
          </p:cNvSpPr>
          <p:nvPr>
            <p:ph type="body" idx="1"/>
          </p:nvPr>
        </p:nvSpPr>
        <p:spPr>
          <a:xfrm>
            <a:off x="1289498" y="5298142"/>
            <a:ext cx="8954037" cy="1559859"/>
          </a:xfrm>
        </p:spPr>
        <p:txBody>
          <a:bodyPr>
            <a:normAutofit/>
          </a:bodyPr>
          <a:lstStyle/>
          <a:p>
            <a:pPr>
              <a:lnSpc>
                <a:spcPct val="120000"/>
              </a:lnSpc>
              <a:buFont typeface="Wingdings" pitchFamily="2" charset="2"/>
              <a:buChar char="Ø"/>
            </a:pPr>
            <a:r>
              <a:rPr lang="en-US" sz="2000" dirty="0"/>
              <a:t>Accounts for the observation that some amino acid substitutions are better tolerated than others.</a:t>
            </a:r>
          </a:p>
          <a:p>
            <a:pPr>
              <a:lnSpc>
                <a:spcPct val="120000"/>
              </a:lnSpc>
              <a:buFont typeface="Wingdings" pitchFamily="2" charset="2"/>
              <a:buChar char="Ø"/>
            </a:pPr>
            <a:r>
              <a:rPr lang="en-US" sz="2000" dirty="0"/>
              <a:t>Other types of substitutions are rare.</a:t>
            </a:r>
          </a:p>
          <a:p>
            <a:endParaRPr lang="en-US" sz="2000" dirty="0"/>
          </a:p>
        </p:txBody>
      </p:sp>
      <p:sp>
        <p:nvSpPr>
          <p:cNvPr id="105476" name="Text Box 4"/>
          <p:cNvSpPr txBox="1">
            <a:spLocks noChangeArrowheads="1"/>
          </p:cNvSpPr>
          <p:nvPr/>
        </p:nvSpPr>
        <p:spPr bwMode="auto">
          <a:xfrm>
            <a:off x="4563590" y="448252"/>
            <a:ext cx="14350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atin typeface="Times New Roman" pitchFamily="18" charset="0"/>
              </a:rPr>
              <a:t>A   C    D    E</a:t>
            </a:r>
          </a:p>
        </p:txBody>
      </p:sp>
      <p:sp>
        <p:nvSpPr>
          <p:cNvPr id="105477" name="Text Box 5"/>
          <p:cNvSpPr txBox="1">
            <a:spLocks noChangeArrowheads="1"/>
          </p:cNvSpPr>
          <p:nvPr/>
        </p:nvSpPr>
        <p:spPr bwMode="auto">
          <a:xfrm>
            <a:off x="3792065" y="905453"/>
            <a:ext cx="35137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atin typeface="Times New Roman" pitchFamily="18" charset="0"/>
              </a:rPr>
              <a:t>A</a:t>
            </a:r>
          </a:p>
          <a:p>
            <a:r>
              <a:rPr lang="en-US">
                <a:latin typeface="Times New Roman" pitchFamily="18" charset="0"/>
              </a:rPr>
              <a:t>C</a:t>
            </a:r>
          </a:p>
          <a:p>
            <a:r>
              <a:rPr lang="en-US">
                <a:latin typeface="Times New Roman" pitchFamily="18" charset="0"/>
              </a:rPr>
              <a:t>D</a:t>
            </a:r>
          </a:p>
          <a:p>
            <a:r>
              <a:rPr lang="en-US">
                <a:latin typeface="Times New Roman" pitchFamily="18" charset="0"/>
              </a:rPr>
              <a:t>E</a:t>
            </a:r>
          </a:p>
        </p:txBody>
      </p:sp>
      <p:sp>
        <p:nvSpPr>
          <p:cNvPr id="105478" name="Text Box 6"/>
          <p:cNvSpPr txBox="1">
            <a:spLocks noChangeArrowheads="1"/>
          </p:cNvSpPr>
          <p:nvPr/>
        </p:nvSpPr>
        <p:spPr bwMode="auto">
          <a:xfrm>
            <a:off x="4460005" y="870528"/>
            <a:ext cx="174278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latin typeface="Times New Roman" pitchFamily="18" charset="0"/>
              </a:rPr>
              <a:t> 2   -2    0     0</a:t>
            </a:r>
          </a:p>
          <a:p>
            <a:r>
              <a:rPr lang="en-US" dirty="0">
                <a:latin typeface="Times New Roman" pitchFamily="18" charset="0"/>
              </a:rPr>
              <a:t>      12   -5   -5</a:t>
            </a:r>
          </a:p>
          <a:p>
            <a:r>
              <a:rPr lang="en-US" dirty="0">
                <a:latin typeface="Times New Roman" pitchFamily="18" charset="0"/>
              </a:rPr>
              <a:t>              4     3</a:t>
            </a:r>
          </a:p>
          <a:p>
            <a:r>
              <a:rPr lang="en-US" dirty="0">
                <a:latin typeface="Times New Roman" pitchFamily="18" charset="0"/>
              </a:rPr>
              <a:t>	         4</a:t>
            </a:r>
          </a:p>
        </p:txBody>
      </p:sp>
      <p:sp>
        <p:nvSpPr>
          <p:cNvPr id="105479" name="Line 7"/>
          <p:cNvSpPr>
            <a:spLocks noChangeShapeType="1"/>
          </p:cNvSpPr>
          <p:nvPr/>
        </p:nvSpPr>
        <p:spPr bwMode="auto">
          <a:xfrm>
            <a:off x="4306415" y="905452"/>
            <a:ext cx="2400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80" name="Line 8"/>
          <p:cNvSpPr>
            <a:spLocks noChangeShapeType="1"/>
          </p:cNvSpPr>
          <p:nvPr/>
        </p:nvSpPr>
        <p:spPr bwMode="auto">
          <a:xfrm>
            <a:off x="4306415" y="905452"/>
            <a:ext cx="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Rectangle 8"/>
          <p:cNvSpPr/>
          <p:nvPr/>
        </p:nvSpPr>
        <p:spPr>
          <a:xfrm>
            <a:off x="0" y="17740"/>
            <a:ext cx="3489353" cy="400110"/>
          </a:xfrm>
          <a:prstGeom prst="rect">
            <a:avLst/>
          </a:prstGeom>
        </p:spPr>
        <p:txBody>
          <a:bodyPr wrap="none">
            <a:spAutoFit/>
          </a:bodyPr>
          <a:lstStyle/>
          <a:p>
            <a:r>
              <a:rPr lang="en-US" sz="2000" b="1" dirty="0"/>
              <a:t>An example of a </a:t>
            </a:r>
            <a:r>
              <a:rPr lang="en-US" sz="2000" b="1" dirty="0" smtClean="0"/>
              <a:t>Protein matrix</a:t>
            </a:r>
            <a:endParaRPr lang="en-US" sz="2000" dirty="0"/>
          </a:p>
        </p:txBody>
      </p:sp>
      <p:sp>
        <p:nvSpPr>
          <p:cNvPr id="11" name="Rectangle 3"/>
          <p:cNvSpPr txBox="1">
            <a:spLocks noChangeArrowheads="1"/>
          </p:cNvSpPr>
          <p:nvPr/>
        </p:nvSpPr>
        <p:spPr>
          <a:xfrm>
            <a:off x="0" y="2489582"/>
            <a:ext cx="10287000" cy="3362029"/>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2000" dirty="0" smtClean="0"/>
              <a:t>Aliphatic - G, A, V, L, I, P</a:t>
            </a:r>
          </a:p>
          <a:p>
            <a:r>
              <a:rPr lang="en-US" sz="2000" dirty="0" smtClean="0"/>
              <a:t>Aromatic - F, Y, W</a:t>
            </a:r>
          </a:p>
          <a:p>
            <a:r>
              <a:rPr lang="en-US" sz="2000" dirty="0" smtClean="0"/>
              <a:t>Uncharged polar - S, T, N, Q</a:t>
            </a:r>
          </a:p>
          <a:p>
            <a:r>
              <a:rPr lang="en-US" sz="2000" dirty="0" smtClean="0"/>
              <a:t>Charged - D, E, H, K, R</a:t>
            </a:r>
          </a:p>
          <a:p>
            <a:r>
              <a:rPr lang="en-US" sz="2000" dirty="0" smtClean="0"/>
              <a:t>Sulfur-containing - C, M</a:t>
            </a:r>
            <a:endParaRPr lang="en-US" sz="2000" dirty="0"/>
          </a:p>
        </p:txBody>
      </p:sp>
      <p:sp>
        <p:nvSpPr>
          <p:cNvPr id="12" name="Rectangle 11"/>
          <p:cNvSpPr/>
          <p:nvPr/>
        </p:nvSpPr>
        <p:spPr>
          <a:xfrm>
            <a:off x="0" y="2423102"/>
            <a:ext cx="10287000" cy="707886"/>
          </a:xfrm>
          <a:prstGeom prst="rect">
            <a:avLst/>
          </a:prstGeom>
        </p:spPr>
        <p:txBody>
          <a:bodyPr wrap="square">
            <a:spAutoFit/>
          </a:bodyPr>
          <a:lstStyle/>
          <a:p>
            <a:r>
              <a:rPr lang="en-US" sz="2000" dirty="0"/>
              <a:t>20 different amino acids</a:t>
            </a:r>
          </a:p>
          <a:p>
            <a:pPr lvl="1"/>
            <a:r>
              <a:rPr lang="en-US" sz="2000" dirty="0"/>
              <a:t>Physical and chemical properties of some are similar.</a:t>
            </a:r>
          </a:p>
        </p:txBody>
      </p:sp>
      <p:sp>
        <p:nvSpPr>
          <p:cNvPr id="13" name="Rectangle 1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9480844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858377"/>
            <a:ext cx="10286999" cy="4093428"/>
          </a:xfrm>
          <a:prstGeom prst="rect">
            <a:avLst/>
          </a:prstGeom>
        </p:spPr>
        <p:txBody>
          <a:bodyPr wrap="square">
            <a:spAutoFit/>
          </a:bodyPr>
          <a:lstStyle/>
          <a:p>
            <a:r>
              <a:rPr lang="en-US" sz="2000" b="1" dirty="0"/>
              <a:t>Uses of </a:t>
            </a:r>
            <a:r>
              <a:rPr lang="en-US" sz="2000" b="1" dirty="0" smtClean="0"/>
              <a:t>matrices</a:t>
            </a:r>
          </a:p>
          <a:p>
            <a:endParaRPr lang="en-US" sz="2000" b="1" dirty="0"/>
          </a:p>
          <a:p>
            <a:r>
              <a:rPr lang="en-US" sz="2000" dirty="0" smtClean="0"/>
              <a:t>	• </a:t>
            </a:r>
            <a:r>
              <a:rPr lang="en-US" sz="2000" dirty="0"/>
              <a:t>Sequence alignment</a:t>
            </a:r>
          </a:p>
          <a:p>
            <a:r>
              <a:rPr lang="en-US" sz="2000" dirty="0" smtClean="0"/>
              <a:t>	• </a:t>
            </a:r>
            <a:r>
              <a:rPr lang="en-US" sz="2000" dirty="0"/>
              <a:t>Database searches</a:t>
            </a:r>
          </a:p>
          <a:p>
            <a:r>
              <a:rPr lang="en-US" sz="2000" dirty="0" smtClean="0"/>
              <a:t>	• </a:t>
            </a:r>
            <a:r>
              <a:rPr lang="en-US" sz="2000" dirty="0" err="1" smtClean="0"/>
              <a:t>Phylogenetics</a:t>
            </a:r>
            <a:r>
              <a:rPr lang="en-US" sz="2000" dirty="0" smtClean="0"/>
              <a:t> </a:t>
            </a:r>
          </a:p>
          <a:p>
            <a:r>
              <a:rPr lang="en-US" sz="2000" dirty="0"/>
              <a:t>	</a:t>
            </a:r>
            <a:r>
              <a:rPr lang="en-US" sz="2000" dirty="0" smtClean="0"/>
              <a:t>	-&gt; Distances </a:t>
            </a:r>
            <a:r>
              <a:rPr lang="en-US" sz="2000" dirty="0"/>
              <a:t>between </a:t>
            </a:r>
            <a:r>
              <a:rPr lang="en-US" sz="2000" dirty="0" smtClean="0"/>
              <a:t>sequences </a:t>
            </a:r>
          </a:p>
          <a:p>
            <a:r>
              <a:rPr lang="en-US" sz="2000" dirty="0"/>
              <a:t>	</a:t>
            </a:r>
            <a:r>
              <a:rPr lang="en-US" sz="2000" dirty="0" smtClean="0"/>
              <a:t>	-&gt; As </a:t>
            </a:r>
            <a:r>
              <a:rPr lang="en-US" sz="2000" dirty="0"/>
              <a:t>evolutionary models</a:t>
            </a:r>
          </a:p>
          <a:p>
            <a:r>
              <a:rPr lang="pt-BR" sz="2000" dirty="0" smtClean="0"/>
              <a:t>	</a:t>
            </a:r>
            <a:r>
              <a:rPr lang="en-US" sz="2000" dirty="0" smtClean="0"/>
              <a:t>• </a:t>
            </a:r>
            <a:r>
              <a:rPr lang="en-US" sz="2000" dirty="0"/>
              <a:t>For DNA: </a:t>
            </a:r>
            <a:r>
              <a:rPr lang="en-US" sz="2000" dirty="0" smtClean="0"/>
              <a:t>IUB	(</a:t>
            </a:r>
            <a:r>
              <a:rPr lang="en-US" sz="2000" dirty="0"/>
              <a:t>match 1.9, mismatch </a:t>
            </a:r>
            <a:r>
              <a:rPr lang="en-US" sz="2000" dirty="0" smtClean="0"/>
              <a:t>0, </a:t>
            </a:r>
            <a:r>
              <a:rPr lang="en-US" sz="2000" dirty="0"/>
              <a:t>For local </a:t>
            </a:r>
            <a:r>
              <a:rPr lang="en-US" sz="2000" dirty="0" smtClean="0"/>
              <a:t>alignments: </a:t>
            </a:r>
            <a:r>
              <a:rPr lang="en-US" sz="2000" dirty="0"/>
              <a:t>gap opening </a:t>
            </a:r>
            <a:r>
              <a:rPr lang="en-US" sz="2000" dirty="0" smtClean="0"/>
              <a:t> </a:t>
            </a:r>
          </a:p>
          <a:p>
            <a:r>
              <a:rPr lang="en-US" sz="2000" dirty="0"/>
              <a:t>	</a:t>
            </a:r>
            <a:r>
              <a:rPr lang="en-US" sz="2000" dirty="0" smtClean="0"/>
              <a:t>		-16 and </a:t>
            </a:r>
            <a:r>
              <a:rPr lang="en-US" sz="2000" dirty="0"/>
              <a:t>extension of -4 are </a:t>
            </a:r>
            <a:r>
              <a:rPr lang="en-US" sz="2000" dirty="0" smtClean="0"/>
              <a:t>typically used</a:t>
            </a:r>
            <a:r>
              <a:rPr lang="en-US" sz="2000" dirty="0"/>
              <a:t>.</a:t>
            </a:r>
            <a:r>
              <a:rPr lang="en-US" sz="2000" dirty="0" smtClean="0"/>
              <a:t>)</a:t>
            </a:r>
          </a:p>
          <a:p>
            <a:r>
              <a:rPr lang="pt-BR" sz="2000" dirty="0" smtClean="0"/>
              <a:t>	• </a:t>
            </a:r>
            <a:r>
              <a:rPr lang="pt-BR" sz="2000" dirty="0"/>
              <a:t>For amino </a:t>
            </a:r>
            <a:r>
              <a:rPr lang="pt-BR" sz="2000" dirty="0" smtClean="0"/>
              <a:t>acids: PAM (</a:t>
            </a:r>
            <a:r>
              <a:rPr lang="en-US" sz="2000" dirty="0"/>
              <a:t>PAM matrices are based on an explicit evolutionary</a:t>
            </a:r>
          </a:p>
          <a:p>
            <a:r>
              <a:rPr lang="en-US" sz="2000" dirty="0" smtClean="0"/>
              <a:t>			model</a:t>
            </a:r>
            <a:r>
              <a:rPr lang="pt-BR" sz="2000" dirty="0" smtClean="0"/>
              <a:t>), Blosum (</a:t>
            </a:r>
            <a:r>
              <a:rPr lang="en-US" sz="2000" dirty="0" smtClean="0"/>
              <a:t>BLOSUM </a:t>
            </a:r>
            <a:r>
              <a:rPr lang="en-US" sz="2000" dirty="0"/>
              <a:t>matrices are based on an </a:t>
            </a:r>
            <a:r>
              <a:rPr lang="en-US" sz="2000" dirty="0" smtClean="0"/>
              <a:t>implicit 			model)</a:t>
            </a:r>
            <a:endParaRPr lang="pt-BR" sz="2000" dirty="0"/>
          </a:p>
          <a:p>
            <a:endParaRPr lang="en-US" sz="2000" dirty="0"/>
          </a:p>
        </p:txBody>
      </p:sp>
      <p:sp>
        <p:nvSpPr>
          <p:cNvPr id="3" name="Rectangle 2"/>
          <p:cNvSpPr/>
          <p:nvPr/>
        </p:nvSpPr>
        <p:spPr>
          <a:xfrm>
            <a:off x="5143499" y="5115728"/>
            <a:ext cx="5143500" cy="646331"/>
          </a:xfrm>
          <a:prstGeom prst="rect">
            <a:avLst/>
          </a:prstGeom>
          <a:solidFill>
            <a:srgbClr val="FFFF00"/>
          </a:solidFill>
        </p:spPr>
        <p:txBody>
          <a:bodyPr>
            <a:spAutoFit/>
          </a:bodyPr>
          <a:lstStyle/>
          <a:p>
            <a:r>
              <a:rPr lang="en-US" dirty="0">
                <a:solidFill>
                  <a:srgbClr val="FF0000"/>
                </a:solidFill>
              </a:rPr>
              <a:t>N.B.: For evolutionary work, matrices are replaced by mathematical </a:t>
            </a:r>
            <a:r>
              <a:rPr lang="en-US" dirty="0" smtClean="0">
                <a:solidFill>
                  <a:srgbClr val="FF0000"/>
                </a:solidFill>
              </a:rPr>
              <a:t>models</a:t>
            </a:r>
            <a:endParaRPr lang="en-US" dirty="0">
              <a:solidFill>
                <a:srgbClr val="FF0000"/>
              </a:solidFill>
            </a:endParaRP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9392681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9179470"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a:t>Percent Accepted Mutation (</a:t>
            </a:r>
            <a:r>
              <a:rPr lang="en-US" sz="4400" dirty="0" smtClean="0"/>
              <a:t>PAM)</a:t>
            </a:r>
          </a:p>
          <a:p>
            <a:pPr marL="0" indent="0">
              <a:buNone/>
            </a:pPr>
            <a:r>
              <a:rPr lang="en-US" sz="4400" dirty="0"/>
              <a:t>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0801596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0374"/>
            <a:ext cx="10287000" cy="1323439"/>
          </a:xfrm>
          <a:prstGeom prst="rect">
            <a:avLst/>
          </a:prstGeom>
        </p:spPr>
        <p:txBody>
          <a:bodyPr wrap="square">
            <a:spAutoFit/>
          </a:bodyPr>
          <a:lstStyle/>
          <a:p>
            <a:pPr algn="ctr"/>
            <a:r>
              <a:rPr lang="en-US" sz="4000" b="1" dirty="0"/>
              <a:t>Percent Accepted Mutation </a:t>
            </a:r>
            <a:endParaRPr lang="en-US" sz="4000" b="1" dirty="0" smtClean="0"/>
          </a:p>
          <a:p>
            <a:pPr algn="ctr"/>
            <a:r>
              <a:rPr lang="en-US" sz="4000" b="1" dirty="0" smtClean="0"/>
              <a:t>(</a:t>
            </a:r>
            <a:r>
              <a:rPr lang="en-US" sz="4000" b="1" dirty="0"/>
              <a:t>PAM)</a:t>
            </a:r>
            <a:endParaRPr lang="en-US" sz="4000" dirty="0"/>
          </a:p>
        </p:txBody>
      </p:sp>
      <p:sp>
        <p:nvSpPr>
          <p:cNvPr id="3" name="Rectangle 2"/>
          <p:cNvSpPr/>
          <p:nvPr/>
        </p:nvSpPr>
        <p:spPr>
          <a:xfrm>
            <a:off x="0" y="915362"/>
            <a:ext cx="10287000" cy="5324535"/>
          </a:xfrm>
          <a:prstGeom prst="rect">
            <a:avLst/>
          </a:prstGeom>
        </p:spPr>
        <p:txBody>
          <a:bodyPr wrap="square">
            <a:spAutoFit/>
          </a:bodyPr>
          <a:lstStyle/>
          <a:p>
            <a:r>
              <a:rPr lang="en-US" sz="2000" b="1" dirty="0"/>
              <a:t>Assumptions</a:t>
            </a:r>
          </a:p>
          <a:p>
            <a:pPr marL="342900" indent="-342900">
              <a:buFont typeface="Courier New" pitchFamily="49" charset="0"/>
              <a:buChar char="o"/>
            </a:pPr>
            <a:r>
              <a:rPr lang="en-US" sz="2000" dirty="0" smtClean="0"/>
              <a:t>PAM </a:t>
            </a:r>
            <a:r>
              <a:rPr lang="en-US" sz="2000" dirty="0"/>
              <a:t>matrices are based on a simple evolutionary </a:t>
            </a:r>
            <a:r>
              <a:rPr lang="en-US" sz="2000" dirty="0" smtClean="0"/>
              <a:t>model</a:t>
            </a:r>
          </a:p>
          <a:p>
            <a:pPr marL="342900" indent="-342900">
              <a:buFont typeface="Courier New" pitchFamily="49" charset="0"/>
              <a:buChar char="o"/>
            </a:pPr>
            <a:r>
              <a:rPr lang="en-US" sz="2000" dirty="0" smtClean="0"/>
              <a:t>Only </a:t>
            </a:r>
            <a:r>
              <a:rPr lang="en-US" sz="2000" dirty="0"/>
              <a:t>mutations are allowed</a:t>
            </a:r>
          </a:p>
          <a:p>
            <a:pPr marL="342900" indent="-342900">
              <a:buFont typeface="Courier New" pitchFamily="49" charset="0"/>
              <a:buChar char="o"/>
            </a:pPr>
            <a:r>
              <a:rPr lang="en-US" sz="2000" dirty="0" smtClean="0"/>
              <a:t>Sites </a:t>
            </a:r>
            <a:r>
              <a:rPr lang="en-US" sz="2000" dirty="0"/>
              <a:t>evolve </a:t>
            </a:r>
            <a:r>
              <a:rPr lang="en-US" sz="2000" dirty="0" smtClean="0"/>
              <a:t>independently</a:t>
            </a:r>
            <a:r>
              <a:rPr lang="en-US" sz="2000" dirty="0"/>
              <a:t> </a:t>
            </a:r>
            <a:endParaRPr lang="en-US" sz="2000" dirty="0" smtClean="0"/>
          </a:p>
          <a:p>
            <a:pPr marL="342900" indent="-342900">
              <a:buFont typeface="Courier New" pitchFamily="49" charset="0"/>
              <a:buChar char="o"/>
            </a:pPr>
            <a:r>
              <a:rPr lang="en-US" sz="2000" dirty="0" smtClean="0"/>
              <a:t>Evolution </a:t>
            </a:r>
            <a:r>
              <a:rPr lang="en-US" sz="2000" dirty="0"/>
              <a:t>at each site occurs according to a simple (“first-order”) Markov process</a:t>
            </a:r>
          </a:p>
          <a:p>
            <a:pPr marL="342900" indent="-342900">
              <a:buFont typeface="Courier New" pitchFamily="49" charset="0"/>
              <a:buChar char="o"/>
            </a:pPr>
            <a:r>
              <a:rPr lang="en-US" sz="2000" dirty="0" smtClean="0"/>
              <a:t>Next </a:t>
            </a:r>
            <a:r>
              <a:rPr lang="en-US" sz="2000" dirty="0"/>
              <a:t>mutation depends only on current state and is independent of previous mutations</a:t>
            </a:r>
          </a:p>
          <a:p>
            <a:pPr marL="342900" indent="-342900">
              <a:buFont typeface="Courier New" pitchFamily="49" charset="0"/>
              <a:buChar char="o"/>
            </a:pPr>
            <a:r>
              <a:rPr lang="en-US" sz="2000" dirty="0" smtClean="0"/>
              <a:t>Mutation </a:t>
            </a:r>
            <a:r>
              <a:rPr lang="en-US" sz="2000" dirty="0"/>
              <a:t>probabilities are given by a substitution matrix </a:t>
            </a:r>
            <a:r>
              <a:rPr lang="en-US" sz="2000" i="1" dirty="0"/>
              <a:t>M </a:t>
            </a:r>
            <a:r>
              <a:rPr lang="en-US" sz="2000" dirty="0"/>
              <a:t>= [</a:t>
            </a:r>
            <a:r>
              <a:rPr lang="en-US" sz="2000" dirty="0" err="1"/>
              <a:t>m</a:t>
            </a:r>
            <a:r>
              <a:rPr lang="en-US" sz="2000" baseline="-25000" dirty="0" err="1"/>
              <a:t>XY</a:t>
            </a:r>
            <a:r>
              <a:rPr lang="en-US" sz="2000" dirty="0"/>
              <a:t>], where </a:t>
            </a:r>
            <a:r>
              <a:rPr lang="en-US" sz="2000" dirty="0" err="1"/>
              <a:t>m</a:t>
            </a:r>
            <a:r>
              <a:rPr lang="en-US" sz="2000" baseline="-25000" dirty="0" err="1"/>
              <a:t>xy</a:t>
            </a:r>
            <a:r>
              <a:rPr lang="en-US" sz="2000" dirty="0"/>
              <a:t> = </a:t>
            </a:r>
            <a:r>
              <a:rPr lang="en-US" sz="2000" dirty="0" err="1" smtClean="0"/>
              <a:t>Prob</a:t>
            </a:r>
            <a:r>
              <a:rPr lang="en-US" sz="2000" dirty="0" smtClean="0"/>
              <a:t>(X </a:t>
            </a:r>
            <a:r>
              <a:rPr lang="en-US" sz="2000" dirty="0" smtClean="0">
                <a:sym typeface="Wingdings" pitchFamily="2" charset="2"/>
              </a:rPr>
              <a:t></a:t>
            </a:r>
            <a:r>
              <a:rPr lang="en-US" sz="2000" dirty="0" smtClean="0"/>
              <a:t> </a:t>
            </a:r>
            <a:r>
              <a:rPr lang="en-US" sz="2000" dirty="0"/>
              <a:t>Y mutation) = </a:t>
            </a:r>
            <a:r>
              <a:rPr lang="en-US" sz="2000" dirty="0" err="1"/>
              <a:t>Prob</a:t>
            </a:r>
            <a:r>
              <a:rPr lang="en-US" sz="2000" dirty="0"/>
              <a:t>(Y|X</a:t>
            </a:r>
            <a:r>
              <a:rPr lang="en-US" sz="2000" dirty="0" smtClean="0"/>
              <a:t>)</a:t>
            </a:r>
          </a:p>
          <a:p>
            <a:endParaRPr lang="en-US" sz="2000" dirty="0"/>
          </a:p>
          <a:p>
            <a:r>
              <a:rPr lang="en-US" sz="2000" b="1" dirty="0"/>
              <a:t>Mutation probabilities depend on evolutionary distance</a:t>
            </a:r>
          </a:p>
          <a:p>
            <a:pPr marL="342900" indent="-342900">
              <a:buFont typeface="Courier New" pitchFamily="49" charset="0"/>
              <a:buChar char="o"/>
            </a:pPr>
            <a:r>
              <a:rPr lang="en-US" sz="2000" dirty="0" smtClean="0"/>
              <a:t>Suppose </a:t>
            </a:r>
            <a:r>
              <a:rPr lang="en-US" sz="2000" i="1" dirty="0"/>
              <a:t>M </a:t>
            </a:r>
            <a:r>
              <a:rPr lang="en-US" sz="2000" dirty="0"/>
              <a:t>corresponds to one unit of evolutionary time.</a:t>
            </a:r>
          </a:p>
          <a:p>
            <a:pPr marL="342900" indent="-342900">
              <a:buFont typeface="Courier New" pitchFamily="49" charset="0"/>
              <a:buChar char="o"/>
            </a:pPr>
            <a:r>
              <a:rPr lang="en-US" sz="2000" dirty="0" smtClean="0"/>
              <a:t>Let </a:t>
            </a:r>
            <a:r>
              <a:rPr lang="en-US" sz="2000" i="1" dirty="0"/>
              <a:t>f </a:t>
            </a:r>
            <a:r>
              <a:rPr lang="en-US" sz="2000" dirty="0"/>
              <a:t>be a frequency vector (</a:t>
            </a:r>
            <a:r>
              <a:rPr lang="en-US" sz="2000" i="1" dirty="0"/>
              <a:t>fi </a:t>
            </a:r>
            <a:r>
              <a:rPr lang="en-US" sz="2000" dirty="0"/>
              <a:t>= frequency of </a:t>
            </a:r>
            <a:r>
              <a:rPr lang="en-US" sz="2000" dirty="0" err="1"/>
              <a:t>a.a</a:t>
            </a:r>
            <a:r>
              <a:rPr lang="en-US" sz="2000" dirty="0"/>
              <a:t>. </a:t>
            </a:r>
            <a:r>
              <a:rPr lang="en-US" sz="2000" i="1" dirty="0"/>
              <a:t>i </a:t>
            </a:r>
            <a:r>
              <a:rPr lang="en-US" sz="2000" dirty="0"/>
              <a:t>in sequence). Then</a:t>
            </a:r>
          </a:p>
          <a:p>
            <a:r>
              <a:rPr lang="en-US" sz="2000" dirty="0" smtClean="0"/>
              <a:t>		– </a:t>
            </a:r>
            <a:r>
              <a:rPr lang="en-US" sz="2000" i="1" dirty="0" err="1" smtClean="0"/>
              <a:t>M.f</a:t>
            </a:r>
            <a:r>
              <a:rPr lang="en-US" sz="2000" i="1" dirty="0" smtClean="0"/>
              <a:t> </a:t>
            </a:r>
            <a:r>
              <a:rPr lang="en-US" sz="2000" dirty="0"/>
              <a:t>= frequency vector after one unit of evolution.</a:t>
            </a:r>
          </a:p>
          <a:p>
            <a:r>
              <a:rPr lang="en-US" sz="2000" dirty="0" smtClean="0"/>
              <a:t>		– </a:t>
            </a:r>
            <a:r>
              <a:rPr lang="en-US" sz="2000" dirty="0"/>
              <a:t>If we start with just amino acid </a:t>
            </a:r>
            <a:r>
              <a:rPr lang="en-US" sz="2000" i="1" dirty="0"/>
              <a:t>i </a:t>
            </a:r>
            <a:r>
              <a:rPr lang="en-US" sz="2000" dirty="0"/>
              <a:t>(a probability vector with a 1 in </a:t>
            </a:r>
            <a:r>
              <a:rPr lang="en-US" sz="2000" dirty="0" smtClean="0"/>
              <a:t>		position </a:t>
            </a:r>
            <a:r>
              <a:rPr lang="en-US" sz="2000" i="1" dirty="0"/>
              <a:t>i </a:t>
            </a:r>
            <a:r>
              <a:rPr lang="en-US" sz="2000" dirty="0"/>
              <a:t>and </a:t>
            </a:r>
            <a:r>
              <a:rPr lang="en-US" sz="2000" dirty="0" smtClean="0"/>
              <a:t>0s in </a:t>
            </a:r>
            <a:r>
              <a:rPr lang="en-US" sz="2000" dirty="0"/>
              <a:t>all others) column </a:t>
            </a:r>
            <a:r>
              <a:rPr lang="en-US" sz="2000" i="1" dirty="0"/>
              <a:t>i </a:t>
            </a:r>
            <a:r>
              <a:rPr lang="en-US" sz="2000" dirty="0"/>
              <a:t>of </a:t>
            </a:r>
            <a:r>
              <a:rPr lang="en-US" sz="2000" i="1" dirty="0"/>
              <a:t>M </a:t>
            </a:r>
            <a:r>
              <a:rPr lang="en-US" sz="2000" dirty="0"/>
              <a:t>is the probability vector </a:t>
            </a:r>
            <a:r>
              <a:rPr lang="en-US" sz="2000" dirty="0" smtClean="0"/>
              <a:t>		after </a:t>
            </a:r>
            <a:r>
              <a:rPr lang="en-US" sz="2000" dirty="0"/>
              <a:t>one unit of evolution.</a:t>
            </a:r>
          </a:p>
          <a:p>
            <a:r>
              <a:rPr lang="en-US" sz="2000" dirty="0" smtClean="0"/>
              <a:t>		– After </a:t>
            </a:r>
            <a:r>
              <a:rPr lang="en-US" sz="2000" i="1" dirty="0"/>
              <a:t>k </a:t>
            </a:r>
            <a:r>
              <a:rPr lang="en-US" sz="2000" dirty="0"/>
              <a:t>units of evolution, expected frequencies are given by </a:t>
            </a:r>
            <a:r>
              <a:rPr lang="en-US" sz="2000" i="1" dirty="0" err="1" smtClean="0"/>
              <a:t>M</a:t>
            </a:r>
            <a:r>
              <a:rPr lang="en-US" sz="2000" i="1" baseline="30000" dirty="0" err="1" smtClean="0"/>
              <a:t>k</a:t>
            </a:r>
            <a:r>
              <a:rPr lang="en-US" sz="2000" dirty="0" err="1" smtClean="0"/>
              <a:t>.</a:t>
            </a:r>
            <a:r>
              <a:rPr lang="en-US" sz="2000" i="1" dirty="0" err="1" smtClean="0"/>
              <a:t>f</a:t>
            </a:r>
            <a:endParaRPr lang="en-US" sz="20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972482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15161"/>
            <a:ext cx="10287000" cy="4093428"/>
          </a:xfrm>
          <a:prstGeom prst="rect">
            <a:avLst/>
          </a:prstGeom>
        </p:spPr>
        <p:txBody>
          <a:bodyPr wrap="square">
            <a:spAutoFit/>
          </a:bodyPr>
          <a:lstStyle/>
          <a:p>
            <a:r>
              <a:rPr lang="en-US" sz="2000" b="1" dirty="0"/>
              <a:t>PAM </a:t>
            </a:r>
            <a:r>
              <a:rPr lang="en-US" sz="2000" b="1" dirty="0" smtClean="0"/>
              <a:t>matrices</a:t>
            </a:r>
          </a:p>
          <a:p>
            <a:endParaRPr lang="en-US" sz="2000" b="1" dirty="0"/>
          </a:p>
          <a:p>
            <a:r>
              <a:rPr lang="en-US" sz="2000" dirty="0"/>
              <a:t>• Percent Accepted Mutation: Unit of evolutionary change for protein sequences</a:t>
            </a:r>
          </a:p>
          <a:p>
            <a:r>
              <a:rPr lang="en-US" sz="2000" dirty="0"/>
              <a:t>[Dayhoff78</a:t>
            </a:r>
            <a:r>
              <a:rPr lang="en-US" sz="2000" dirty="0" smtClean="0"/>
              <a:t>].</a:t>
            </a:r>
          </a:p>
          <a:p>
            <a:pPr>
              <a:buFontTx/>
              <a:buNone/>
            </a:pPr>
            <a:r>
              <a:rPr lang="en-US" sz="2000" dirty="0"/>
              <a:t>Acceptable mutations -conserved function</a:t>
            </a:r>
          </a:p>
          <a:p>
            <a:pPr lvl="1">
              <a:buFontTx/>
              <a:buNone/>
            </a:pPr>
            <a:r>
              <a:rPr lang="en-US" sz="2000" dirty="0" smtClean="0"/>
              <a:t>	Number </a:t>
            </a:r>
            <a:r>
              <a:rPr lang="en-US" sz="2000" dirty="0"/>
              <a:t>of changes of each amino acid into every other amino acid was </a:t>
            </a:r>
            <a:r>
              <a:rPr lang="en-US" sz="2000" dirty="0" smtClean="0"/>
              <a:t>counted</a:t>
            </a:r>
            <a:endParaRPr lang="en-US" sz="2000" dirty="0"/>
          </a:p>
          <a:p>
            <a:pPr lvl="1"/>
            <a:r>
              <a:rPr lang="en-US" sz="2000" dirty="0" smtClean="0"/>
              <a:t>	Takes </a:t>
            </a:r>
            <a:r>
              <a:rPr lang="en-US" sz="2000" dirty="0"/>
              <a:t>into account the frequency of occurrence of each amino acid (not all </a:t>
            </a:r>
            <a:r>
              <a:rPr lang="en-US" sz="2000" dirty="0" smtClean="0"/>
              <a:t>amino </a:t>
            </a:r>
            <a:r>
              <a:rPr lang="en-US" sz="2000" dirty="0"/>
              <a:t>acids </a:t>
            </a:r>
            <a:r>
              <a:rPr lang="en-US" sz="2000" dirty="0" smtClean="0"/>
              <a:t>	are </a:t>
            </a:r>
            <a:r>
              <a:rPr lang="en-US" sz="2000" dirty="0"/>
              <a:t>equally abundant</a:t>
            </a:r>
            <a:r>
              <a:rPr lang="en-US" sz="2000" dirty="0" smtClean="0"/>
              <a:t>).</a:t>
            </a:r>
          </a:p>
          <a:p>
            <a:r>
              <a:rPr lang="en-US" sz="2000" dirty="0"/>
              <a:t>	</a:t>
            </a:r>
            <a:r>
              <a:rPr lang="en-US" sz="2000" dirty="0" smtClean="0"/>
              <a:t>Results </a:t>
            </a:r>
            <a:r>
              <a:rPr lang="en-US" sz="2000" dirty="0"/>
              <a:t>in a 20 X 20 matrix of probabilities for each possible amino acid </a:t>
            </a:r>
            <a:r>
              <a:rPr lang="en-US" sz="2000" dirty="0" smtClean="0"/>
              <a:t>	substitution</a:t>
            </a:r>
            <a:r>
              <a:rPr lang="en-US" sz="2000" dirty="0"/>
              <a:t>.</a:t>
            </a:r>
          </a:p>
          <a:p>
            <a:r>
              <a:rPr lang="en-US" sz="2000" dirty="0" smtClean="0"/>
              <a:t>• </a:t>
            </a:r>
            <a:r>
              <a:rPr lang="en-US" sz="2000" dirty="0"/>
              <a:t>A PAM unit is the amount of evolution that will on average change 1% of the amino</a:t>
            </a:r>
          </a:p>
          <a:p>
            <a:r>
              <a:rPr lang="en-US" sz="2000" dirty="0"/>
              <a:t>acids within a protein sequence.</a:t>
            </a:r>
          </a:p>
          <a:p>
            <a:r>
              <a:rPr lang="en-US" sz="2000" dirty="0"/>
              <a:t>• Let </a:t>
            </a:r>
            <a:r>
              <a:rPr lang="en-US" sz="2000" i="1" dirty="0"/>
              <a:t>M </a:t>
            </a:r>
            <a:r>
              <a:rPr lang="en-US" sz="2000" dirty="0"/>
              <a:t>be a PAM 1 matrix. Then,</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294" y="4374140"/>
            <a:ext cx="2561034"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4672253"/>
            <a:ext cx="10287000" cy="1015663"/>
          </a:xfrm>
          <a:prstGeom prst="rect">
            <a:avLst/>
          </a:prstGeom>
        </p:spPr>
        <p:txBody>
          <a:bodyPr wrap="square">
            <a:spAutoFit/>
          </a:bodyPr>
          <a:lstStyle/>
          <a:p>
            <a:endParaRPr lang="en-US" sz="2000" dirty="0" smtClean="0"/>
          </a:p>
          <a:p>
            <a:r>
              <a:rPr lang="en-US" sz="2000" dirty="0" smtClean="0"/>
              <a:t>• </a:t>
            </a:r>
            <a:r>
              <a:rPr lang="en-US" sz="2000" dirty="0"/>
              <a:t>Reason: </a:t>
            </a:r>
            <a:r>
              <a:rPr lang="en-US" sz="2000" i="1" dirty="0" err="1"/>
              <a:t>M</a:t>
            </a:r>
            <a:r>
              <a:rPr lang="en-US" sz="2000" i="1" baseline="-25000" dirty="0" err="1"/>
              <a:t>ii</a:t>
            </a:r>
            <a:r>
              <a:rPr lang="en-US" sz="2000" i="1" dirty="0" err="1"/>
              <a:t>’</a:t>
            </a:r>
            <a:r>
              <a:rPr lang="en-US" sz="2000" dirty="0" err="1"/>
              <a:t>s</a:t>
            </a:r>
            <a:r>
              <a:rPr lang="en-US" sz="2000" dirty="0"/>
              <a:t> are the probabilities that a given amino acid does not change, so (1-</a:t>
            </a:r>
            <a:r>
              <a:rPr lang="en-US" sz="2000" i="1" dirty="0"/>
              <a:t>M</a:t>
            </a:r>
            <a:r>
              <a:rPr lang="en-US" sz="2000" i="1" baseline="-25000" dirty="0"/>
              <a:t>ii</a:t>
            </a:r>
            <a:r>
              <a:rPr lang="en-US" sz="2000" dirty="0"/>
              <a:t>) </a:t>
            </a:r>
            <a:r>
              <a:rPr lang="en-US" sz="2000" dirty="0" smtClean="0"/>
              <a:t>is the </a:t>
            </a:r>
            <a:r>
              <a:rPr lang="en-US" sz="2000" dirty="0"/>
              <a:t>probability of mutating away from </a:t>
            </a:r>
            <a:r>
              <a:rPr lang="en-US" sz="2000" i="1" dirty="0"/>
              <a:t>i</a:t>
            </a:r>
            <a:r>
              <a:rPr lang="en-US" sz="2000" i="1" dirty="0" smtClean="0"/>
              <a:t>.</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6842443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87000" cy="5047536"/>
          </a:xfrm>
          <a:prstGeom prst="rect">
            <a:avLst/>
          </a:prstGeom>
        </p:spPr>
        <p:txBody>
          <a:bodyPr wrap="square">
            <a:spAutoFit/>
          </a:bodyPr>
          <a:lstStyle/>
          <a:p>
            <a:r>
              <a:rPr lang="en-US" sz="2000" b="1" dirty="0"/>
              <a:t>The PAM Family</a:t>
            </a:r>
          </a:p>
          <a:p>
            <a:endParaRPr lang="en-US" sz="2000" b="1" dirty="0"/>
          </a:p>
          <a:p>
            <a:r>
              <a:rPr lang="en-US" sz="2000" dirty="0"/>
              <a:t>• Define a </a:t>
            </a:r>
            <a:r>
              <a:rPr lang="en-US" sz="2000" i="1" dirty="0"/>
              <a:t>family </a:t>
            </a:r>
            <a:r>
              <a:rPr lang="en-US" sz="2000" dirty="0"/>
              <a:t>of substitution matrices — PAM 1, PAM 2, etc. — where PAM n is used to compare sequences at distance n PAM.</a:t>
            </a:r>
          </a:p>
          <a:p>
            <a:pPr algn="ctr"/>
            <a:r>
              <a:rPr lang="en-US" sz="2000" dirty="0"/>
              <a:t>PAM n = (PAM 1)</a:t>
            </a:r>
            <a:r>
              <a:rPr lang="en-US" sz="2000" baseline="30000" dirty="0"/>
              <a:t>n</a:t>
            </a:r>
          </a:p>
          <a:p>
            <a:r>
              <a:rPr lang="en-US" sz="2000" dirty="0"/>
              <a:t>• Do not confuse with scoring matrices!</a:t>
            </a:r>
          </a:p>
          <a:p>
            <a:r>
              <a:rPr lang="en-US" sz="2000" dirty="0"/>
              <a:t>• Scoring matrices are derived from PAM matrices to yield log-odds scores</a:t>
            </a:r>
            <a:r>
              <a:rPr lang="en-US" sz="2000" dirty="0" smtClean="0"/>
              <a:t>.</a:t>
            </a:r>
          </a:p>
          <a:p>
            <a:pPr>
              <a:lnSpc>
                <a:spcPct val="90000"/>
              </a:lnSpc>
            </a:pPr>
            <a:r>
              <a:rPr lang="en-US" sz="2000" dirty="0"/>
              <a:t>• </a:t>
            </a:r>
            <a:r>
              <a:rPr lang="en-US" sz="2000" dirty="0" smtClean="0"/>
              <a:t>Initial </a:t>
            </a:r>
            <a:r>
              <a:rPr lang="en-US" sz="2000" dirty="0"/>
              <a:t>matrix is derived from very similar proteins.</a:t>
            </a:r>
          </a:p>
          <a:p>
            <a:pPr>
              <a:lnSpc>
                <a:spcPct val="90000"/>
              </a:lnSpc>
            </a:pPr>
            <a:r>
              <a:rPr lang="en-US" sz="2000" dirty="0"/>
              <a:t>• </a:t>
            </a:r>
            <a:r>
              <a:rPr lang="en-US" sz="2000" dirty="0" smtClean="0"/>
              <a:t>However</a:t>
            </a:r>
            <a:r>
              <a:rPr lang="en-US" sz="2000" dirty="0"/>
              <a:t>, not all homologs are very similar.</a:t>
            </a:r>
          </a:p>
          <a:p>
            <a:pPr>
              <a:lnSpc>
                <a:spcPct val="90000"/>
              </a:lnSpc>
            </a:pPr>
            <a:r>
              <a:rPr lang="en-US" sz="2000" dirty="0"/>
              <a:t>• </a:t>
            </a:r>
            <a:r>
              <a:rPr lang="en-US" sz="2000" dirty="0" smtClean="0"/>
              <a:t>Extrapolate </a:t>
            </a:r>
            <a:r>
              <a:rPr lang="en-US" sz="2000" dirty="0"/>
              <a:t>to encompass greater divergence by multiplication of original matrix</a:t>
            </a:r>
          </a:p>
          <a:p>
            <a:pPr>
              <a:lnSpc>
                <a:spcPct val="90000"/>
              </a:lnSpc>
            </a:pPr>
            <a:r>
              <a:rPr lang="en-US" sz="2000" dirty="0"/>
              <a:t>• </a:t>
            </a:r>
            <a:r>
              <a:rPr lang="en-US" sz="2000" dirty="0" smtClean="0"/>
              <a:t>Results </a:t>
            </a:r>
            <a:r>
              <a:rPr lang="en-US" sz="2000" dirty="0"/>
              <a:t>in a series of PAM matrices representing different levels of similarity.</a:t>
            </a:r>
          </a:p>
          <a:p>
            <a:pPr>
              <a:lnSpc>
                <a:spcPct val="90000"/>
              </a:lnSpc>
            </a:pPr>
            <a:r>
              <a:rPr lang="en-US" sz="2000" dirty="0"/>
              <a:t>• </a:t>
            </a:r>
            <a:r>
              <a:rPr lang="en-US" sz="2000" dirty="0" smtClean="0"/>
              <a:t>PAM250,PAM120,PAM80, and </a:t>
            </a:r>
            <a:r>
              <a:rPr lang="en-US" sz="2000" dirty="0"/>
              <a:t>PAM60 correspond to 20, 40, 50 and 60 percent </a:t>
            </a:r>
            <a:r>
              <a:rPr lang="en-US" sz="2000" dirty="0" smtClean="0"/>
              <a:t>	similarity</a:t>
            </a:r>
            <a:r>
              <a:rPr lang="en-US" sz="2000" dirty="0"/>
              <a:t>, </a:t>
            </a:r>
            <a:r>
              <a:rPr lang="en-US" sz="2000" dirty="0" smtClean="0"/>
              <a:t>respectively.</a:t>
            </a:r>
          </a:p>
          <a:p>
            <a:pPr>
              <a:lnSpc>
                <a:spcPct val="90000"/>
              </a:lnSpc>
            </a:pPr>
            <a:r>
              <a:rPr lang="en-US" sz="2000" dirty="0"/>
              <a:t>• </a:t>
            </a:r>
            <a:r>
              <a:rPr lang="en-US" sz="2000" dirty="0" smtClean="0"/>
              <a:t>As </a:t>
            </a:r>
            <a:r>
              <a:rPr lang="en-US" sz="2000" dirty="0"/>
              <a:t>proteins being compared decrease in similarity, the numerical value of the PAM </a:t>
            </a:r>
            <a:r>
              <a:rPr lang="en-US" sz="2000" dirty="0" smtClean="0"/>
              <a:t>matrix </a:t>
            </a:r>
            <a:r>
              <a:rPr lang="en-US" sz="2000" dirty="0"/>
              <a:t>should increase.</a:t>
            </a:r>
          </a:p>
          <a:p>
            <a:pPr>
              <a:lnSpc>
                <a:spcPct val="90000"/>
              </a:lnSpc>
            </a:pPr>
            <a:endParaRPr lang="en-US" sz="2000" dirty="0"/>
          </a:p>
          <a:p>
            <a:endParaRPr lang="en-US" sz="2000" dirty="0"/>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1258315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142"/>
            <a:ext cx="4085862" cy="400110"/>
          </a:xfrm>
          <a:prstGeom prst="rect">
            <a:avLst/>
          </a:prstGeom>
        </p:spPr>
        <p:txBody>
          <a:bodyPr wrap="none">
            <a:spAutoFit/>
          </a:bodyPr>
          <a:lstStyle/>
          <a:p>
            <a:r>
              <a:rPr lang="en-US" sz="2000" b="1" dirty="0"/>
              <a:t>PAM250 mutation probability matrix</a:t>
            </a:r>
            <a:endParaRPr lang="en-US" sz="2000"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849" y="388601"/>
            <a:ext cx="9788352" cy="5767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237849" y="6156102"/>
            <a:ext cx="5143500" cy="646331"/>
          </a:xfrm>
          <a:prstGeom prst="rect">
            <a:avLst/>
          </a:prstGeom>
        </p:spPr>
        <p:txBody>
          <a:bodyPr>
            <a:spAutoFit/>
          </a:bodyPr>
          <a:lstStyle/>
          <a:p>
            <a:r>
              <a:rPr lang="en-US" dirty="0"/>
              <a:t>Top: original amino acid</a:t>
            </a:r>
          </a:p>
          <a:p>
            <a:r>
              <a:rPr lang="en-US" dirty="0"/>
              <a:t>Side: replacement amino acid</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9791528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855" y="62030"/>
            <a:ext cx="9780030" cy="6511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1184132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9179470"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a:t>Blocks of Amino </a:t>
            </a:r>
            <a:r>
              <a:rPr lang="en-US" sz="4400" dirty="0" smtClean="0"/>
              <a:t>Acid Substitution </a:t>
            </a:r>
            <a:r>
              <a:rPr lang="en-US" sz="4400" dirty="0"/>
              <a:t>Matrix (</a:t>
            </a:r>
            <a:r>
              <a:rPr lang="en-US" sz="4400" dirty="0" smtClean="0"/>
              <a:t>BLOSUM)</a:t>
            </a:r>
          </a:p>
          <a:p>
            <a:pPr marL="0" indent="0">
              <a:buNone/>
            </a:pPr>
            <a:r>
              <a:rPr lang="en-US" sz="4400" dirty="0"/>
              <a:t>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1620658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0287000" cy="1323439"/>
          </a:xfrm>
          <a:prstGeom prst="rect">
            <a:avLst/>
          </a:prstGeom>
        </p:spPr>
        <p:txBody>
          <a:bodyPr wrap="square">
            <a:spAutoFit/>
          </a:bodyPr>
          <a:lstStyle/>
          <a:p>
            <a:pPr algn="ctr"/>
            <a:r>
              <a:rPr lang="en-US" sz="4000" b="1" dirty="0"/>
              <a:t>Blocks of Amino Acid Substitution Matrix (BLOSUM)</a:t>
            </a:r>
            <a:endParaRPr lang="en-US" sz="4000" dirty="0"/>
          </a:p>
        </p:txBody>
      </p:sp>
      <p:sp>
        <p:nvSpPr>
          <p:cNvPr id="4" name="Rectangle 3"/>
          <p:cNvSpPr/>
          <p:nvPr/>
        </p:nvSpPr>
        <p:spPr>
          <a:xfrm>
            <a:off x="0" y="1323440"/>
            <a:ext cx="10287000" cy="2677656"/>
          </a:xfrm>
          <a:prstGeom prst="rect">
            <a:avLst/>
          </a:prstGeom>
        </p:spPr>
        <p:txBody>
          <a:bodyPr wrap="square">
            <a:spAutoFit/>
          </a:bodyPr>
          <a:lstStyle/>
          <a:p>
            <a:pPr marL="800100" lvl="1" indent="-342900">
              <a:buFont typeface="Wingdings" pitchFamily="2" charset="2"/>
              <a:buChar char="Ø"/>
            </a:pPr>
            <a:r>
              <a:rPr lang="en-US" sz="2400" dirty="0"/>
              <a:t>Developed from large number of conserved amino acid patterns, termed BLOCKS</a:t>
            </a:r>
          </a:p>
          <a:p>
            <a:pPr marL="800100" lvl="1" indent="-342900">
              <a:buFont typeface="Wingdings" pitchFamily="2" charset="2"/>
              <a:buChar char="Ø"/>
            </a:pPr>
            <a:r>
              <a:rPr lang="en-US" sz="2400" dirty="0"/>
              <a:t>BLOCKS: conserved, </a:t>
            </a:r>
            <a:r>
              <a:rPr lang="en-US" sz="2400" u="sng" dirty="0" err="1"/>
              <a:t>ungapped</a:t>
            </a:r>
            <a:r>
              <a:rPr lang="en-US" sz="2400" dirty="0"/>
              <a:t> amino acids identified in related proteins</a:t>
            </a:r>
          </a:p>
          <a:p>
            <a:pPr marL="800100" lvl="1" indent="-342900">
              <a:buFont typeface="Wingdings" pitchFamily="2" charset="2"/>
              <a:buChar char="Ø"/>
            </a:pPr>
            <a:r>
              <a:rPr lang="en-US" sz="2400" dirty="0"/>
              <a:t>~2000 conserved blocks-- thought to act as signatures for families of related proteins.</a:t>
            </a:r>
          </a:p>
          <a:p>
            <a:pPr marL="800100" lvl="1" indent="-342900">
              <a:buFont typeface="Wingdings" pitchFamily="2" charset="2"/>
              <a:buChar char="Ø"/>
            </a:pPr>
            <a:r>
              <a:rPr lang="en-US" sz="2400" dirty="0"/>
              <a:t>BLOSUM 62  matrix derived from BLOCKS exhibiting 62% similarity--</a:t>
            </a:r>
          </a:p>
          <a:p>
            <a:pPr marL="800100" lvl="1" indent="-342900">
              <a:buFont typeface="Wingdings" pitchFamily="2" charset="2"/>
              <a:buChar char="Ø"/>
            </a:pPr>
            <a:r>
              <a:rPr lang="en-US" sz="2400" dirty="0"/>
              <a:t>Higher the number, the greater the </a:t>
            </a:r>
            <a:r>
              <a:rPr lang="en-US" sz="2400" dirty="0" smtClean="0"/>
              <a:t>similarity opposite </a:t>
            </a:r>
            <a:r>
              <a:rPr lang="en-US" sz="2400" dirty="0"/>
              <a:t>of PAM matrix.</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9365" y="4001097"/>
            <a:ext cx="3082584" cy="2380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3593207" y="6292807"/>
            <a:ext cx="3528723" cy="400110"/>
          </a:xfrm>
          <a:prstGeom prst="rect">
            <a:avLst/>
          </a:prstGeom>
        </p:spPr>
        <p:txBody>
          <a:bodyPr wrap="none">
            <a:spAutoFit/>
          </a:bodyPr>
          <a:lstStyle/>
          <a:p>
            <a:r>
              <a:rPr lang="en-US" sz="2000" b="1" dirty="0"/>
              <a:t>Conserved blocks in alignments</a:t>
            </a:r>
            <a:endParaRPr lang="en-US" sz="2000" dirty="0"/>
          </a:p>
        </p:txBody>
      </p:sp>
      <p:sp>
        <p:nvSpPr>
          <p:cNvPr id="7" name="Rectangle 6"/>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2197604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5912" y="1054010"/>
            <a:ext cx="10286999" cy="4893647"/>
          </a:xfrm>
          <a:prstGeom prst="rect">
            <a:avLst/>
          </a:prstGeom>
        </p:spPr>
        <p:txBody>
          <a:bodyPr wrap="square">
            <a:spAutoFit/>
          </a:bodyPr>
          <a:lstStyle/>
          <a:p>
            <a:r>
              <a:rPr lang="en-US" sz="2400" b="1" dirty="0"/>
              <a:t>Assumptions</a:t>
            </a:r>
          </a:p>
          <a:p>
            <a:pPr lvl="1"/>
            <a:r>
              <a:rPr lang="en-US" sz="2400" dirty="0" smtClean="0"/>
              <a:t>•	</a:t>
            </a:r>
            <a:r>
              <a:rPr lang="en-US" sz="2400" dirty="0" err="1" smtClean="0"/>
              <a:t>BLOck</a:t>
            </a:r>
            <a:r>
              <a:rPr lang="en-US" sz="2400" dirty="0" smtClean="0"/>
              <a:t> </a:t>
            </a:r>
            <a:r>
              <a:rPr lang="en-US" sz="2400" dirty="0" err="1"/>
              <a:t>SUbstitution</a:t>
            </a:r>
            <a:r>
              <a:rPr lang="en-US" sz="2400" dirty="0"/>
              <a:t> Matrix</a:t>
            </a:r>
          </a:p>
          <a:p>
            <a:pPr lvl="1"/>
            <a:r>
              <a:rPr lang="en-US" sz="2400" dirty="0" smtClean="0"/>
              <a:t>•	Based </a:t>
            </a:r>
            <a:r>
              <a:rPr lang="en-US" sz="2400" dirty="0"/>
              <a:t>on comparisons of blocks of sequences derived from the Blocks </a:t>
            </a:r>
            <a:r>
              <a:rPr lang="en-US" sz="2400" dirty="0" smtClean="0"/>
              <a:t>	database</a:t>
            </a:r>
            <a:endParaRPr lang="en-US" sz="2400" dirty="0"/>
          </a:p>
          <a:p>
            <a:pPr lvl="1"/>
            <a:r>
              <a:rPr lang="en-US" sz="2400" dirty="0" smtClean="0"/>
              <a:t>•	The </a:t>
            </a:r>
            <a:r>
              <a:rPr lang="en-US" sz="2400" dirty="0"/>
              <a:t>Blocks database contains multiply aligned </a:t>
            </a:r>
            <a:r>
              <a:rPr lang="en-US" sz="2400" dirty="0" err="1"/>
              <a:t>ungapped</a:t>
            </a:r>
            <a:r>
              <a:rPr lang="en-US" sz="2400" dirty="0"/>
              <a:t> segments </a:t>
            </a:r>
            <a:r>
              <a:rPr lang="en-US" sz="2400" dirty="0" smtClean="0"/>
              <a:t>	corresponding </a:t>
            </a:r>
            <a:r>
              <a:rPr lang="en-US" sz="2400" dirty="0"/>
              <a:t>to </a:t>
            </a:r>
            <a:r>
              <a:rPr lang="en-US" sz="2400" dirty="0" smtClean="0"/>
              <a:t>the most </a:t>
            </a:r>
            <a:r>
              <a:rPr lang="en-US" sz="2400" dirty="0"/>
              <a:t>highly conserved regions of proteins (local </a:t>
            </a:r>
            <a:r>
              <a:rPr lang="en-US" sz="2400" dirty="0" smtClean="0"/>
              <a:t>	alignment </a:t>
            </a:r>
            <a:r>
              <a:rPr lang="en-US" sz="2400" dirty="0"/>
              <a:t>versus global alignment)</a:t>
            </a:r>
          </a:p>
          <a:p>
            <a:pPr lvl="1"/>
            <a:r>
              <a:rPr lang="en-US" sz="2400" dirty="0" smtClean="0"/>
              <a:t>•	BLOSUM </a:t>
            </a:r>
            <a:r>
              <a:rPr lang="en-US" sz="2400" dirty="0"/>
              <a:t>matrices are derived from blocks whose alignment corresponds </a:t>
            </a:r>
            <a:r>
              <a:rPr lang="en-US" sz="2400" dirty="0" smtClean="0"/>
              <a:t>	to the BLOSUM-</a:t>
            </a:r>
            <a:r>
              <a:rPr lang="en-US" sz="2400" dirty="0"/>
              <a:t>,matrix </a:t>
            </a:r>
            <a:r>
              <a:rPr lang="en-US" sz="2400" dirty="0" smtClean="0"/>
              <a:t>number</a:t>
            </a:r>
          </a:p>
          <a:p>
            <a:pPr lvl="1"/>
            <a:r>
              <a:rPr lang="en-US" sz="2400" dirty="0" smtClean="0"/>
              <a:t>•	Scores </a:t>
            </a:r>
            <a:r>
              <a:rPr lang="en-US" sz="2400" dirty="0"/>
              <a:t>for each position are obtained frequencies of substitutions in </a:t>
            </a:r>
            <a:r>
              <a:rPr lang="en-US" sz="2400" dirty="0" smtClean="0"/>
              <a:t>	blocks </a:t>
            </a:r>
            <a:r>
              <a:rPr lang="en-US" sz="2400" dirty="0"/>
              <a:t>of </a:t>
            </a:r>
            <a:r>
              <a:rPr lang="en-US" sz="2400" dirty="0" smtClean="0"/>
              <a:t>local alignments </a:t>
            </a:r>
            <a:r>
              <a:rPr lang="en-US" sz="2400" dirty="0"/>
              <a:t>of protein sequences [</a:t>
            </a:r>
            <a:r>
              <a:rPr lang="en-US" sz="2400" dirty="0" err="1"/>
              <a:t>Henikoff</a:t>
            </a:r>
            <a:r>
              <a:rPr lang="en-US" sz="2400" dirty="0"/>
              <a:t> &amp; Henikoff92].</a:t>
            </a:r>
          </a:p>
          <a:p>
            <a:pPr lvl="1"/>
            <a:r>
              <a:rPr lang="en-US" sz="2400" dirty="0" smtClean="0"/>
              <a:t>•	For </a:t>
            </a:r>
            <a:r>
              <a:rPr lang="en-US" sz="2400" dirty="0"/>
              <a:t>example BLOSUM62 is derived from sequence alignments with no </a:t>
            </a:r>
            <a:r>
              <a:rPr lang="en-US" sz="2400" dirty="0" smtClean="0"/>
              <a:t>	more than 62% identity</a:t>
            </a:r>
            <a:r>
              <a:rPr lang="en-US" sz="2400" dirty="0"/>
              <a:t>.</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6751704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514350" y="38102"/>
            <a:ext cx="8743950" cy="1456267"/>
          </a:xfrm>
        </p:spPr>
        <p:txBody>
          <a:bodyPr/>
          <a:lstStyle/>
          <a:p>
            <a:r>
              <a:rPr lang="en-US" dirty="0"/>
              <a:t>Constructing BLOSUM </a:t>
            </a:r>
            <a:r>
              <a:rPr lang="en-US" i="1" dirty="0"/>
              <a:t>r</a:t>
            </a:r>
          </a:p>
        </p:txBody>
      </p:sp>
      <p:sp>
        <p:nvSpPr>
          <p:cNvPr id="278531" name="Rectangle 3"/>
          <p:cNvSpPr>
            <a:spLocks noGrp="1" noChangeArrowheads="1"/>
          </p:cNvSpPr>
          <p:nvPr>
            <p:ph type="body" idx="1"/>
          </p:nvPr>
        </p:nvSpPr>
        <p:spPr>
          <a:xfrm>
            <a:off x="514350" y="1562100"/>
            <a:ext cx="9607550" cy="4635499"/>
          </a:xfrm>
        </p:spPr>
        <p:txBody>
          <a:bodyPr>
            <a:noAutofit/>
          </a:bodyPr>
          <a:lstStyle/>
          <a:p>
            <a:pPr>
              <a:lnSpc>
                <a:spcPct val="80000"/>
              </a:lnSpc>
            </a:pPr>
            <a:r>
              <a:rPr lang="en-US" sz="2400" dirty="0"/>
              <a:t>To avoid bias in favor of a certain protein, first  eliminate sequences that are more than </a:t>
            </a:r>
            <a:r>
              <a:rPr lang="en-US" sz="2400" i="1" dirty="0"/>
              <a:t>r</a:t>
            </a:r>
            <a:r>
              <a:rPr lang="en-US" sz="2400" dirty="0"/>
              <a:t>% identical</a:t>
            </a:r>
          </a:p>
          <a:p>
            <a:pPr>
              <a:lnSpc>
                <a:spcPct val="80000"/>
              </a:lnSpc>
            </a:pPr>
            <a:r>
              <a:rPr lang="en-US" sz="2400" dirty="0"/>
              <a:t>The elimination is done by either </a:t>
            </a:r>
          </a:p>
          <a:p>
            <a:pPr lvl="1">
              <a:lnSpc>
                <a:spcPct val="80000"/>
              </a:lnSpc>
            </a:pPr>
            <a:r>
              <a:rPr lang="en-US" sz="2400" dirty="0"/>
              <a:t>removing sequences from the block, or </a:t>
            </a:r>
          </a:p>
          <a:p>
            <a:pPr lvl="1">
              <a:lnSpc>
                <a:spcPct val="80000"/>
              </a:lnSpc>
            </a:pPr>
            <a:r>
              <a:rPr lang="en-US" sz="2400" dirty="0"/>
              <a:t>finding a cluster of similar sequences and replacing it by a new sequence that represents the cluster. </a:t>
            </a:r>
          </a:p>
          <a:p>
            <a:pPr>
              <a:lnSpc>
                <a:spcPct val="80000"/>
              </a:lnSpc>
            </a:pPr>
            <a:r>
              <a:rPr lang="en-US" sz="2400" dirty="0"/>
              <a:t>BLOSUM </a:t>
            </a:r>
            <a:r>
              <a:rPr lang="en-US" sz="2400" i="1" dirty="0"/>
              <a:t>r </a:t>
            </a:r>
            <a:r>
              <a:rPr lang="en-US" sz="2400" dirty="0"/>
              <a:t>is the matrix built from blocks with no more the </a:t>
            </a:r>
            <a:r>
              <a:rPr lang="en-US" sz="2400" i="1" dirty="0"/>
              <a:t>r</a:t>
            </a:r>
            <a:r>
              <a:rPr lang="en-US" sz="2400" dirty="0"/>
              <a:t>% of similarity</a:t>
            </a:r>
          </a:p>
          <a:p>
            <a:pPr lvl="1">
              <a:lnSpc>
                <a:spcPct val="80000"/>
              </a:lnSpc>
            </a:pPr>
            <a:r>
              <a:rPr lang="en-US" sz="2400" dirty="0"/>
              <a:t>E.g., BLOSUM62 is the matrix built using sequences with no more than 62% similarity.</a:t>
            </a:r>
          </a:p>
          <a:p>
            <a:pPr lvl="1">
              <a:lnSpc>
                <a:spcPct val="80000"/>
              </a:lnSpc>
            </a:pPr>
            <a:r>
              <a:rPr lang="en-US" sz="2400" dirty="0"/>
              <a:t>Note:  BLOSUM 62 is the default matrix for protein BLAST</a:t>
            </a:r>
          </a:p>
          <a:p>
            <a:pPr>
              <a:lnSpc>
                <a:spcPct val="80000"/>
              </a:lnSpc>
            </a:pPr>
            <a:endParaRPr lang="en-US" sz="2400" dirty="0"/>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21355466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8" name="Rectangle 4"/>
          <p:cNvSpPr>
            <a:spLocks noGrp="1" noChangeArrowheads="1"/>
          </p:cNvSpPr>
          <p:nvPr>
            <p:ph type="title"/>
          </p:nvPr>
        </p:nvSpPr>
        <p:spPr/>
        <p:txBody>
          <a:bodyPr/>
          <a:lstStyle/>
          <a:p>
            <a:r>
              <a:rPr lang="en-US" sz="3600"/>
              <a:t>Collecting substitution statistics</a:t>
            </a:r>
          </a:p>
        </p:txBody>
      </p:sp>
      <p:sp>
        <p:nvSpPr>
          <p:cNvPr id="262149" name="Rectangle 5"/>
          <p:cNvSpPr>
            <a:spLocks noGrp="1" noChangeArrowheads="1"/>
          </p:cNvSpPr>
          <p:nvPr>
            <p:ph type="body" sz="half" idx="1"/>
          </p:nvPr>
        </p:nvSpPr>
        <p:spPr>
          <a:xfrm>
            <a:off x="771525" y="1981200"/>
            <a:ext cx="7715250" cy="4114800"/>
          </a:xfrm>
        </p:spPr>
        <p:txBody>
          <a:bodyPr/>
          <a:lstStyle/>
          <a:p>
            <a:pPr marL="533400" indent="-533400">
              <a:lnSpc>
                <a:spcPct val="90000"/>
              </a:lnSpc>
              <a:buFontTx/>
              <a:buAutoNum type="arabicPeriod"/>
            </a:pPr>
            <a:r>
              <a:rPr lang="en-US" sz="2800"/>
              <a:t>Count amino acids pairs in each column; e.g.,</a:t>
            </a:r>
          </a:p>
          <a:p>
            <a:pPr marL="914400" lvl="1" indent="-457200">
              <a:lnSpc>
                <a:spcPct val="90000"/>
              </a:lnSpc>
            </a:pPr>
            <a:r>
              <a:rPr lang="en-US" sz="2400"/>
              <a:t>6 AA pairs, 4 AB pairs, 4 AC, 1 BC, 0 BB, 0 CC. </a:t>
            </a:r>
          </a:p>
          <a:p>
            <a:pPr marL="914400" lvl="1" indent="-457200">
              <a:lnSpc>
                <a:spcPct val="90000"/>
              </a:lnSpc>
            </a:pPr>
            <a:r>
              <a:rPr lang="en-US" sz="2400"/>
              <a:t>Total = 6+4+4+1=15</a:t>
            </a:r>
          </a:p>
          <a:p>
            <a:pPr marL="533400" indent="-533400">
              <a:lnSpc>
                <a:spcPct val="90000"/>
              </a:lnSpc>
              <a:buFontTx/>
              <a:buAutoNum type="arabicPeriod"/>
            </a:pPr>
            <a:r>
              <a:rPr lang="en-US" sz="2800"/>
              <a:t>Normalize results to obtain probabilities (</a:t>
            </a:r>
            <a:r>
              <a:rPr lang="en-US" sz="2800" i="1"/>
              <a:t>p</a:t>
            </a:r>
            <a:r>
              <a:rPr lang="en-US" sz="2800" i="1" baseline="-25000"/>
              <a:t>X</a:t>
            </a:r>
            <a:r>
              <a:rPr lang="en-US" sz="2800"/>
              <a:t>’s and </a:t>
            </a:r>
            <a:r>
              <a:rPr lang="en-US" sz="2800" i="1"/>
              <a:t>q</a:t>
            </a:r>
            <a:r>
              <a:rPr lang="en-US" sz="2800" i="1" baseline="-25000"/>
              <a:t>XY</a:t>
            </a:r>
            <a:r>
              <a:rPr lang="en-US" sz="2800"/>
              <a:t>’s)</a:t>
            </a:r>
          </a:p>
          <a:p>
            <a:pPr marL="533400" indent="-533400">
              <a:lnSpc>
                <a:spcPct val="90000"/>
              </a:lnSpc>
              <a:buFontTx/>
              <a:buAutoNum type="arabicPeriod"/>
            </a:pPr>
            <a:r>
              <a:rPr lang="en-US" sz="2800"/>
              <a:t>Compute log-odds score matrix from probabilities: </a:t>
            </a:r>
            <a:br>
              <a:rPr lang="en-US" sz="2800"/>
            </a:br>
            <a:r>
              <a:rPr lang="en-US" sz="2800"/>
              <a:t>	</a:t>
            </a:r>
            <a:r>
              <a:rPr lang="en-US" sz="2800">
                <a:solidFill>
                  <a:schemeClr val="tx1"/>
                </a:solidFill>
              </a:rPr>
              <a:t>s(X,Y) = log (</a:t>
            </a:r>
            <a:r>
              <a:rPr lang="en-US" sz="2800" i="1">
                <a:solidFill>
                  <a:schemeClr val="tx1"/>
                </a:solidFill>
              </a:rPr>
              <a:t>q</a:t>
            </a:r>
            <a:r>
              <a:rPr lang="en-US" sz="2800" i="1" baseline="-25000">
                <a:solidFill>
                  <a:schemeClr val="tx1"/>
                </a:solidFill>
              </a:rPr>
              <a:t>XY </a:t>
            </a:r>
            <a:r>
              <a:rPr lang="en-US" sz="2800">
                <a:solidFill>
                  <a:schemeClr val="tx1"/>
                </a:solidFill>
              </a:rPr>
              <a:t>/ (</a:t>
            </a:r>
            <a:r>
              <a:rPr lang="en-US" sz="2800" i="1">
                <a:solidFill>
                  <a:schemeClr val="tx1"/>
                </a:solidFill>
              </a:rPr>
              <a:t>p</a:t>
            </a:r>
            <a:r>
              <a:rPr lang="en-US" sz="2800" i="1" baseline="-25000">
                <a:solidFill>
                  <a:schemeClr val="tx1"/>
                </a:solidFill>
              </a:rPr>
              <a:t>X</a:t>
            </a:r>
            <a:r>
              <a:rPr lang="en-US" sz="2800">
                <a:solidFill>
                  <a:schemeClr val="tx1"/>
                </a:solidFill>
              </a:rPr>
              <a:t> </a:t>
            </a:r>
            <a:r>
              <a:rPr lang="en-US" sz="2800" i="1">
                <a:solidFill>
                  <a:schemeClr val="tx1"/>
                </a:solidFill>
              </a:rPr>
              <a:t>p</a:t>
            </a:r>
            <a:r>
              <a:rPr lang="en-US" sz="2800" i="1" baseline="-25000">
                <a:solidFill>
                  <a:schemeClr val="tx1"/>
                </a:solidFill>
              </a:rPr>
              <a:t>y</a:t>
            </a:r>
            <a:r>
              <a:rPr lang="en-US" sz="2800">
                <a:solidFill>
                  <a:schemeClr val="tx1"/>
                </a:solidFill>
              </a:rPr>
              <a:t>))</a:t>
            </a:r>
          </a:p>
        </p:txBody>
      </p:sp>
      <p:sp>
        <p:nvSpPr>
          <p:cNvPr id="262156" name="Text Box 12"/>
          <p:cNvSpPr txBox="1">
            <a:spLocks noChangeArrowheads="1"/>
          </p:cNvSpPr>
          <p:nvPr/>
        </p:nvSpPr>
        <p:spPr bwMode="auto">
          <a:xfrm>
            <a:off x="8915401" y="2438400"/>
            <a:ext cx="39946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latin typeface="Courier New" pitchFamily="49" charset="0"/>
              </a:rPr>
              <a:t>A</a:t>
            </a:r>
          </a:p>
          <a:p>
            <a:r>
              <a:rPr lang="en-US" sz="2800">
                <a:latin typeface="Courier New" pitchFamily="49" charset="0"/>
              </a:rPr>
              <a:t>A</a:t>
            </a:r>
          </a:p>
          <a:p>
            <a:r>
              <a:rPr lang="en-US" sz="2800">
                <a:latin typeface="Courier New" pitchFamily="49" charset="0"/>
              </a:rPr>
              <a:t>B</a:t>
            </a:r>
          </a:p>
          <a:p>
            <a:r>
              <a:rPr lang="en-US" sz="2800">
                <a:latin typeface="Courier New" pitchFamily="49" charset="0"/>
              </a:rPr>
              <a:t>A</a:t>
            </a:r>
          </a:p>
          <a:p>
            <a:r>
              <a:rPr lang="en-US" sz="2800">
                <a:latin typeface="Courier New" pitchFamily="49" charset="0"/>
              </a:rPr>
              <a:t>C</a:t>
            </a:r>
          </a:p>
          <a:p>
            <a:r>
              <a:rPr lang="en-US" sz="2800">
                <a:latin typeface="Courier New" pitchFamily="49" charset="0"/>
              </a:rPr>
              <a:t>A</a:t>
            </a:r>
          </a:p>
        </p:txBody>
      </p:sp>
      <p:sp>
        <p:nvSpPr>
          <p:cNvPr id="6" name="Rectangle 5"/>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69712782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p:txBody>
          <a:bodyPr/>
          <a:lstStyle/>
          <a:p>
            <a:r>
              <a:rPr lang="en-US"/>
              <a:t>Computing probabilities</a:t>
            </a:r>
          </a:p>
        </p:txBody>
      </p:sp>
      <p:pic>
        <p:nvPicPr>
          <p:cNvPr id="2723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525" y="1828800"/>
            <a:ext cx="8743950" cy="414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2389" name="Text Box 5"/>
          <p:cNvSpPr txBox="1">
            <a:spLocks noChangeArrowheads="1"/>
          </p:cNvSpPr>
          <p:nvPr/>
        </p:nvSpPr>
        <p:spPr bwMode="auto">
          <a:xfrm>
            <a:off x="514350" y="6096000"/>
            <a:ext cx="846097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sz="1400">
                <a:solidFill>
                  <a:schemeClr val="accent2"/>
                </a:solidFill>
                <a:latin typeface="Comic Sans MS" pitchFamily="66" charset="0"/>
              </a:rPr>
              <a:t>From http://www.csit.fsu.edu/~swofford/bioinformatics_spring05/lectures/lecture03-blosum.pdf</a:t>
            </a:r>
          </a:p>
        </p:txBody>
      </p:sp>
      <p:sp>
        <p:nvSpPr>
          <p:cNvPr id="2" name="Oval 1"/>
          <p:cNvSpPr/>
          <p:nvPr/>
        </p:nvSpPr>
        <p:spPr>
          <a:xfrm>
            <a:off x="4592928" y="3902869"/>
            <a:ext cx="2057400" cy="1005840"/>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477573" y="5035064"/>
            <a:ext cx="1866632" cy="941875"/>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29803466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6" name="Rectangle 4"/>
          <p:cNvSpPr>
            <a:spLocks noGrp="1" noChangeArrowheads="1"/>
          </p:cNvSpPr>
          <p:nvPr>
            <p:ph type="title"/>
          </p:nvPr>
        </p:nvSpPr>
        <p:spPr/>
        <p:txBody>
          <a:bodyPr/>
          <a:lstStyle/>
          <a:p>
            <a:r>
              <a:rPr lang="en-US"/>
              <a:t>Computing probabilities</a:t>
            </a:r>
          </a:p>
        </p:txBody>
      </p:sp>
      <p:pic>
        <p:nvPicPr>
          <p:cNvPr id="27443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1981201"/>
            <a:ext cx="8658225" cy="328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Oval 4"/>
          <p:cNvSpPr/>
          <p:nvPr/>
        </p:nvSpPr>
        <p:spPr>
          <a:xfrm>
            <a:off x="3448318" y="2293010"/>
            <a:ext cx="3028145" cy="1107013"/>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3185107" y="4583303"/>
            <a:ext cx="3841929" cy="679261"/>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20329816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4" name="Rectangle 4"/>
          <p:cNvSpPr>
            <a:spLocks noGrp="1" noChangeArrowheads="1"/>
          </p:cNvSpPr>
          <p:nvPr>
            <p:ph type="title"/>
          </p:nvPr>
        </p:nvSpPr>
        <p:spPr/>
        <p:txBody>
          <a:bodyPr/>
          <a:lstStyle/>
          <a:p>
            <a:r>
              <a:rPr lang="en-US"/>
              <a:t>Computing probabilities</a:t>
            </a:r>
          </a:p>
        </p:txBody>
      </p:sp>
      <p:pic>
        <p:nvPicPr>
          <p:cNvPr id="27648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2438401"/>
            <a:ext cx="8743950" cy="2373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76905925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6" name="Rectangle 4"/>
          <p:cNvSpPr>
            <a:spLocks noGrp="1" noChangeArrowheads="1"/>
          </p:cNvSpPr>
          <p:nvPr>
            <p:ph type="title"/>
          </p:nvPr>
        </p:nvSpPr>
        <p:spPr/>
        <p:txBody>
          <a:bodyPr/>
          <a:lstStyle/>
          <a:p>
            <a:r>
              <a:rPr lang="en-US"/>
              <a:t>Example</a:t>
            </a:r>
          </a:p>
        </p:txBody>
      </p:sp>
      <p:pic>
        <p:nvPicPr>
          <p:cNvPr id="26419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2590801"/>
            <a:ext cx="2400300"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419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1900" y="1752600"/>
            <a:ext cx="5893594"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4200" name="Text Box 8"/>
          <p:cNvSpPr txBox="1">
            <a:spLocks noChangeArrowheads="1"/>
          </p:cNvSpPr>
          <p:nvPr/>
        </p:nvSpPr>
        <p:spPr bwMode="auto">
          <a:xfrm>
            <a:off x="514350" y="6096000"/>
            <a:ext cx="846097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sz="1400">
                <a:solidFill>
                  <a:schemeClr val="accent2"/>
                </a:solidFill>
                <a:latin typeface="Comic Sans MS" pitchFamily="66" charset="0"/>
              </a:rPr>
              <a:t>From http://www.csit.fsu.edu/~swofford/bioinformatics_spring05/lectures/lecture03-blosum.pdf</a:t>
            </a:r>
          </a:p>
        </p:txBody>
      </p:sp>
      <p:sp>
        <p:nvSpPr>
          <p:cNvPr id="7" name="Rectangle 6"/>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94691005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p:cNvSpPr>
            <a:spLocks noGrp="1"/>
          </p:cNvSpPr>
          <p:nvPr>
            <p:ph type="sldNum" sz="quarter" idx="12"/>
          </p:nvPr>
        </p:nvSpPr>
        <p:spPr/>
        <p:txBody>
          <a:bodyPr/>
          <a:lstStyle/>
          <a:p>
            <a:fld id="{F51696BA-5AD7-4282-AD40-48CAA0CD9164}" type="slidenum">
              <a:rPr lang="en-US"/>
              <a:pPr/>
              <a:t>55</a:t>
            </a:fld>
            <a:endParaRPr lang="en-US"/>
          </a:p>
        </p:txBody>
      </p:sp>
      <p:sp>
        <p:nvSpPr>
          <p:cNvPr id="266244" name="Rectangle 4"/>
          <p:cNvSpPr>
            <a:spLocks noGrp="1" noChangeArrowheads="1"/>
          </p:cNvSpPr>
          <p:nvPr>
            <p:ph type="title"/>
          </p:nvPr>
        </p:nvSpPr>
        <p:spPr/>
        <p:txBody>
          <a:bodyPr/>
          <a:lstStyle/>
          <a:p>
            <a:r>
              <a:rPr lang="en-US"/>
              <a:t>Example</a:t>
            </a:r>
          </a:p>
        </p:txBody>
      </p:sp>
      <p:pic>
        <p:nvPicPr>
          <p:cNvPr id="26624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975" y="1752600"/>
            <a:ext cx="8326041"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2775" y="198475"/>
            <a:ext cx="2400300"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502907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2" name="Rectangle 4"/>
          <p:cNvSpPr>
            <a:spLocks noGrp="1" noChangeArrowheads="1"/>
          </p:cNvSpPr>
          <p:nvPr>
            <p:ph type="title"/>
          </p:nvPr>
        </p:nvSpPr>
        <p:spPr/>
        <p:txBody>
          <a:bodyPr/>
          <a:lstStyle/>
          <a:p>
            <a:r>
              <a:rPr lang="en-US"/>
              <a:t>Example</a:t>
            </a:r>
          </a:p>
        </p:txBody>
      </p:sp>
      <p:pic>
        <p:nvPicPr>
          <p:cNvPr id="26829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426" y="2286001"/>
            <a:ext cx="8047434" cy="301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39474163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p:cNvSpPr>
            <a:spLocks noGrp="1"/>
          </p:cNvSpPr>
          <p:nvPr>
            <p:ph type="sldNum" sz="quarter" idx="12"/>
          </p:nvPr>
        </p:nvSpPr>
        <p:spPr/>
        <p:txBody>
          <a:bodyPr/>
          <a:lstStyle/>
          <a:p>
            <a:fld id="{95800EFB-2199-4BC3-92D1-8D0246CF5E60}" type="slidenum">
              <a:rPr lang="en-US"/>
              <a:pPr/>
              <a:t>57</a:t>
            </a:fld>
            <a:endParaRPr lang="en-US"/>
          </a:p>
        </p:txBody>
      </p:sp>
      <p:sp>
        <p:nvSpPr>
          <p:cNvPr id="270340" name="Rectangle 4"/>
          <p:cNvSpPr>
            <a:spLocks noGrp="1" noChangeArrowheads="1"/>
          </p:cNvSpPr>
          <p:nvPr>
            <p:ph type="title"/>
          </p:nvPr>
        </p:nvSpPr>
        <p:spPr>
          <a:xfrm>
            <a:off x="470885" y="25003"/>
            <a:ext cx="8743950" cy="1456267"/>
          </a:xfrm>
        </p:spPr>
        <p:txBody>
          <a:bodyPr/>
          <a:lstStyle/>
          <a:p>
            <a:r>
              <a:rPr lang="en-US" dirty="0"/>
              <a:t>Example</a:t>
            </a:r>
          </a:p>
        </p:txBody>
      </p:sp>
      <p:pic>
        <p:nvPicPr>
          <p:cNvPr id="27034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975" y="1027031"/>
            <a:ext cx="8379619"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15689250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6978" name="Group 2"/>
          <p:cNvGrpSpPr>
            <a:grpSpLocks/>
          </p:cNvGrpSpPr>
          <p:nvPr/>
        </p:nvGrpSpPr>
        <p:grpSpPr bwMode="auto">
          <a:xfrm>
            <a:off x="0" y="1"/>
            <a:ext cx="10287000" cy="6119813"/>
            <a:chOff x="0" y="0"/>
            <a:chExt cx="5760" cy="3855"/>
          </a:xfrm>
        </p:grpSpPr>
        <p:pic>
          <p:nvPicPr>
            <p:cNvPr id="1269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760" cy="3855"/>
            </a:xfrm>
            <a:prstGeom prst="rect">
              <a:avLst/>
            </a:prstGeom>
            <a:noFill/>
            <a:extLst>
              <a:ext uri="{909E8E84-426E-40DD-AFC4-6F175D3DCCD1}">
                <a14:hiddenFill xmlns:a14="http://schemas.microsoft.com/office/drawing/2010/main">
                  <a:solidFill>
                    <a:srgbClr val="FFFFFF"/>
                  </a:solidFill>
                </a14:hiddenFill>
              </a:ext>
            </a:extLst>
          </p:spPr>
        </p:pic>
        <p:sp>
          <p:nvSpPr>
            <p:cNvPr id="126980" name="Rectangle 4"/>
            <p:cNvSpPr>
              <a:spLocks noChangeArrowheads="1"/>
            </p:cNvSpPr>
            <p:nvPr/>
          </p:nvSpPr>
          <p:spPr bwMode="auto">
            <a:xfrm>
              <a:off x="336" y="2352"/>
              <a:ext cx="3648" cy="144"/>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imes New Roman" pitchFamily="18" charset="0"/>
              </a:endParaRPr>
            </a:p>
          </p:txBody>
        </p:sp>
        <p:sp>
          <p:nvSpPr>
            <p:cNvPr id="126981" name="Rectangle 5"/>
            <p:cNvSpPr>
              <a:spLocks noChangeArrowheads="1"/>
            </p:cNvSpPr>
            <p:nvPr/>
          </p:nvSpPr>
          <p:spPr bwMode="auto">
            <a:xfrm>
              <a:off x="336" y="2832"/>
              <a:ext cx="3936" cy="192"/>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imes New Roman" pitchFamily="18" charset="0"/>
              </a:endParaRPr>
            </a:p>
          </p:txBody>
        </p:sp>
        <p:sp>
          <p:nvSpPr>
            <p:cNvPr id="126982" name="Rectangle 6"/>
            <p:cNvSpPr>
              <a:spLocks noChangeArrowheads="1"/>
            </p:cNvSpPr>
            <p:nvPr/>
          </p:nvSpPr>
          <p:spPr bwMode="auto">
            <a:xfrm>
              <a:off x="3792" y="2352"/>
              <a:ext cx="192" cy="96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983" name="Rectangle 7"/>
            <p:cNvSpPr>
              <a:spLocks noChangeArrowheads="1"/>
            </p:cNvSpPr>
            <p:nvPr/>
          </p:nvSpPr>
          <p:spPr bwMode="auto">
            <a:xfrm>
              <a:off x="4080" y="2832"/>
              <a:ext cx="192" cy="48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8" name="Rectangle 7"/>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8874401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7" y="46307"/>
            <a:ext cx="9605560" cy="6395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4468980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r>
              <a:rPr lang="en-US"/>
              <a:t>Comparison</a:t>
            </a:r>
          </a:p>
        </p:txBody>
      </p:sp>
      <p:sp>
        <p:nvSpPr>
          <p:cNvPr id="128003" name="Rectangle 3"/>
          <p:cNvSpPr>
            <a:spLocks noGrp="1" noChangeArrowheads="1"/>
          </p:cNvSpPr>
          <p:nvPr>
            <p:ph type="body" idx="1"/>
          </p:nvPr>
        </p:nvSpPr>
        <p:spPr>
          <a:xfrm>
            <a:off x="771525" y="1981200"/>
            <a:ext cx="8743950" cy="1981200"/>
          </a:xfrm>
        </p:spPr>
        <p:txBody>
          <a:bodyPr>
            <a:normAutofit/>
          </a:bodyPr>
          <a:lstStyle/>
          <a:p>
            <a:pPr>
              <a:lnSpc>
                <a:spcPct val="90000"/>
              </a:lnSpc>
            </a:pPr>
            <a:r>
              <a:rPr lang="en-US" sz="2000" dirty="0"/>
              <a:t>PAM is based on an evolutionary model using phylogenetic trees</a:t>
            </a:r>
          </a:p>
          <a:p>
            <a:pPr>
              <a:lnSpc>
                <a:spcPct val="90000"/>
              </a:lnSpc>
            </a:pPr>
            <a:r>
              <a:rPr lang="en-US" sz="2000" dirty="0"/>
              <a:t>BLOSUM assumes no evolutionary model, but rather conserved “blocks” of proteins</a:t>
            </a:r>
          </a:p>
        </p:txBody>
      </p:sp>
      <p:pic>
        <p:nvPicPr>
          <p:cNvPr id="128004" name="Picture 4" descr="MATRIX"/>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789963" y="4237150"/>
            <a:ext cx="6780085" cy="142231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Rectangle 5"/>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6176013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p:txBody>
          <a:bodyPr>
            <a:normAutofit fontScale="90000"/>
          </a:bodyPr>
          <a:lstStyle/>
          <a:p>
            <a:r>
              <a:rPr lang="en-US" sz="3600" b="1"/>
              <a:t>Equivalent PAM and Blossum matrices (according to </a:t>
            </a:r>
            <a:r>
              <a:rPr lang="en-US" sz="3600" b="1" i="1"/>
              <a:t>H</a:t>
            </a:r>
            <a:r>
              <a:rPr lang="en-US" sz="3600" b="1"/>
              <a:t>)</a:t>
            </a:r>
            <a:br>
              <a:rPr lang="en-US" sz="3600" b="1"/>
            </a:br>
            <a:endParaRPr lang="en-US" sz="3600" b="1"/>
          </a:p>
        </p:txBody>
      </p:sp>
      <p:sp>
        <p:nvSpPr>
          <p:cNvPr id="231427" name="Rectangle 3"/>
          <p:cNvSpPr>
            <a:spLocks noGrp="1" noChangeArrowheads="1"/>
          </p:cNvSpPr>
          <p:nvPr>
            <p:ph type="body" idx="1"/>
          </p:nvPr>
        </p:nvSpPr>
        <p:spPr/>
        <p:txBody>
          <a:bodyPr/>
          <a:lstStyle/>
          <a:p>
            <a:r>
              <a:rPr lang="en-US"/>
              <a:t>PAM100 ==&gt; Blosum90 </a:t>
            </a:r>
          </a:p>
          <a:p>
            <a:r>
              <a:rPr lang="en-US"/>
              <a:t>PAM120 ==&gt; Blosum80 </a:t>
            </a:r>
          </a:p>
          <a:p>
            <a:r>
              <a:rPr lang="en-US"/>
              <a:t>PAM160 ==&gt; Blosum60 </a:t>
            </a:r>
          </a:p>
          <a:p>
            <a:r>
              <a:rPr lang="en-US"/>
              <a:t>PAM200 ==&gt; Blosum52 </a:t>
            </a:r>
          </a:p>
          <a:p>
            <a:r>
              <a:rPr lang="en-US"/>
              <a:t>PAM250 ==&gt; Blosum45</a:t>
            </a:r>
            <a:br>
              <a:rPr lang="en-US"/>
            </a:br>
            <a:endParaRPr lang="en-US"/>
          </a:p>
          <a:p>
            <a:endParaRPr lang="en-US"/>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60557411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0287000" cy="6858000"/>
          </a:xfrm>
          <a:prstGeom prst="rect">
            <a:avLst/>
          </a:prstGeom>
        </p:spPr>
      </p:pic>
    </p:spTree>
    <p:extLst>
      <p:ext uri="{BB962C8B-B14F-4D97-AF65-F5344CB8AC3E}">
        <p14:creationId xmlns:p14="http://schemas.microsoft.com/office/powerpoint/2010/main" val="11762831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TM03457452[[fn=Celestial]]</Template>
  <TotalTime>3567</TotalTime>
  <Words>3386</Words>
  <Application>Microsoft Office PowerPoint</Application>
  <PresentationFormat>35mm Slides</PresentationFormat>
  <Paragraphs>396</Paragraphs>
  <Slides>62</Slides>
  <Notes>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64" baseType="lpstr">
      <vt:lpstr>Celestial</vt:lpstr>
      <vt:lpstr>Photo Editor Photo</vt:lpstr>
      <vt:lpstr>PowerPoint Presentation</vt:lpstr>
      <vt:lpstr>PowerPoint Presentation</vt:lpstr>
      <vt:lpstr>PowerPoint Presentation</vt:lpstr>
      <vt:lpstr>PowerPoint Presentation</vt:lpstr>
      <vt:lpstr>PowerPoint Presentation</vt:lpstr>
      <vt:lpstr>Concept of Sequence Alignments</vt:lpstr>
      <vt:lpstr>Motivations for Sequence Comparison</vt:lpstr>
      <vt:lpstr>PowerPoint Presentation</vt:lpstr>
      <vt:lpstr>PowerPoint Presentation</vt:lpstr>
      <vt:lpstr>Sequence Alignment</vt:lpstr>
      <vt:lpstr>Pairwise Sequence Alignment</vt:lpstr>
      <vt:lpstr>PowerPoint Presentation</vt:lpstr>
      <vt:lpstr>Pairwise Alignments</vt:lpstr>
      <vt:lpstr>PowerPoint Presentation</vt:lpstr>
      <vt:lpstr>PowerPoint Presentation</vt:lpstr>
      <vt:lpstr>PowerPoint Presentation</vt:lpstr>
      <vt:lpstr>PowerPoint Presentation</vt:lpstr>
      <vt:lpstr>Multiple Sequence Alignments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Multiple Sequence Alignment in Clustal 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Constructing BLOSUM r</vt:lpstr>
      <vt:lpstr>Collecting substitution statistics</vt:lpstr>
      <vt:lpstr>Computing probabilities</vt:lpstr>
      <vt:lpstr>Computing probabilities</vt:lpstr>
      <vt:lpstr>Computing probabilities</vt:lpstr>
      <vt:lpstr>Example</vt:lpstr>
      <vt:lpstr>Example</vt:lpstr>
      <vt:lpstr>Example</vt:lpstr>
      <vt:lpstr>Example</vt:lpstr>
      <vt:lpstr>PowerPoint Presentation</vt:lpstr>
      <vt:lpstr>PowerPoint Presentation</vt:lpstr>
      <vt:lpstr>Comparison</vt:lpstr>
      <vt:lpstr>Equivalent PAM and Blossum matrices (according to H)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Pritam</dc:creator>
  <cp:lastModifiedBy>Pritam</cp:lastModifiedBy>
  <cp:revision>140</cp:revision>
  <dcterms:created xsi:type="dcterms:W3CDTF">2020-08-29T16:56:40Z</dcterms:created>
  <dcterms:modified xsi:type="dcterms:W3CDTF">2021-10-23T10:42:20Z</dcterms:modified>
</cp:coreProperties>
</file>